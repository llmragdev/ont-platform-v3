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81" r:id="rId2"/>
    <p:sldId id="2580" r:id="rId3"/>
    <p:sldId id="2586" r:id="rId4"/>
    <p:sldId id="2585" r:id="rId5"/>
    <p:sldId id="2587" r:id="rId6"/>
    <p:sldId id="258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F76"/>
    <a:srgbClr val="42509E"/>
    <a:srgbClr val="F9184F"/>
    <a:srgbClr val="FFFFFF"/>
    <a:srgbClr val="F1975A"/>
    <a:srgbClr val="169EF2"/>
    <a:srgbClr val="2ECBDA"/>
    <a:srgbClr val="F9FDFF"/>
    <a:srgbClr val="E8E9EB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" y="228"/>
      </p:cViewPr>
      <p:guideLst>
        <p:guide orient="horz" pos="8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76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1F260-32CA-41B4-A733-496D529D4740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6F8FD-4449-42DA-9A8A-E0E5719C93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063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7E0FDD19-4017-4B76-A812-93629D63E246}" type="datetimeFigureOut">
              <a:rPr lang="ko-KR" altLang="en-US" smtClean="0"/>
              <a:pPr/>
              <a:t>2024-03-18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37675A1A-250A-472F-8E7E-7344F46CE81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97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B5C081C-0225-4033-BE8D-240089830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AA629F3D-2A7D-45DF-ABB6-66C122C06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9310088-4269-439C-A43B-7803A25F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01FD29E-2510-4574-BD20-3846FAC8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A019438-DAA4-4432-A610-FF0E4B86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6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825F111-25E5-44D4-8E6F-AD1B37D0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CAD6EA4-D624-465E-B0DC-6B11A4C6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ADFFC33-5751-4B5E-B402-888155A1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25F5FDD-C8C4-45A1-BE02-07B53A28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C05CCBA-ABC1-4FE6-BEBD-53AB4D47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93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61DD8E8-5AF2-4F42-ACBE-EFE38864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17AB6B25-9814-4D89-9F5F-ACCE58B2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BFEFBB0-CFB6-4114-8546-6D3950A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D888CC2-E073-442B-A357-892CF92C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1A129A0-1A15-4A23-AF06-33669514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18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6AB2591-3631-49A8-BC7C-C03A198A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C4245E0-9C36-49CE-A5B3-B961520EE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1358270-5833-481D-838E-E2CAC9034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D77D0C-9E33-4497-B7A4-D01E249E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A51C26B-AB35-4DE8-B654-0063C911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EA67C4B-DC62-415C-9C92-70A97F65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90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8BF841F-42DB-4BB1-BF08-ECA0450B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B4F28ED5-EC90-42B8-A00B-5FAAF39AB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D2FA54C-4A3F-4677-88A5-8746F7619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9C0E51AB-3C6B-49CA-B1E2-70543D681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9A8F0528-71C9-4947-BBA7-443FE13BC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05CB37C4-2FAE-4BFA-96CB-D8EFC95B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C1E671E0-2671-4C33-BB0D-7E83C85A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309B7117-549B-442F-9E87-07755B220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39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581C4F7-CB97-444A-83B3-478BAFE03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F5EFAB5B-731A-4345-8F7A-B8C821AC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7AC6905-1D1F-4C97-8540-A881416A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5296442-D259-43E1-B490-BAD6F8E1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70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6868928-D140-467B-A9ED-C308ED6B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8E2C1105-9A16-43EB-8A0E-1FECA319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C2598145-54D8-4F19-BD64-B012C17C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280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F6B30D6-74BD-4357-A234-6DD955CE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2B10199-114E-4F70-A51F-A77DB0D2F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5A2CE97-BF85-4CF4-A64A-3B428374E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0CCA711-5286-4D71-9911-403D04AF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388C05F-5FD7-4B07-9198-F5353262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675022A-D81D-44B1-942E-CAE06C56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09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B74DF49-C287-4C8C-A952-C031AEC46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83C60C7-5A7A-4552-89EC-9222B73F5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3D33E10-3A50-4793-803E-47899ACDA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073EE4C-A28B-4AA0-9F70-473DCF5C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B5653AE-0398-4F2B-B563-9CD622FD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22114AB5-BAAD-4177-ABF2-1EEDCF15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65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6A437-89D0-49F2-8787-46FC012A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A1D093D-49E1-4C8E-854D-7E98ABC16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2B80BB7-4519-4F30-B7DA-7979FB21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48334E80-2887-44F3-B375-AF1AED4E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1395012-8E0E-497E-A43D-02D35E69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5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8DA67B11-638E-4425-B00B-66844A849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3E976878-824A-4C8B-B634-FEE862E3B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D76A6B9-BAE4-47F4-B897-DA88F075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26D10-B61C-4D41-BF47-F13EBCAF00B6}" type="datetimeFigureOut">
              <a:rPr lang="ko-KR" altLang="en-US" smtClean="0"/>
              <a:t>2024-03-18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8BD76DB-C81A-4992-8C51-DAC60D89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5E66F00-668D-4CC4-9E23-6BA6F668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90EE4-5187-411C-925E-401CDEC94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083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524000" y="697279"/>
            <a:ext cx="9144000" cy="436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MY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21B3B8DA-BFB2-4224-99D4-72D676F8C673}"/>
              </a:ext>
            </a:extLst>
          </p:cNvPr>
          <p:cNvSpPr/>
          <p:nvPr userDrawn="1"/>
        </p:nvSpPr>
        <p:spPr>
          <a:xfrm>
            <a:off x="0" y="-4817"/>
            <a:ext cx="12192000" cy="702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82" tIns="47891" rIns="95782" bIns="47891" rtlCol="0" anchor="ctr"/>
          <a:lstStyle/>
          <a:p>
            <a:pPr algn="ctr" defTabSz="957816"/>
            <a:endParaRPr lang="ko-KR" altLang="en-US" sz="1900" dirty="0"/>
          </a:p>
        </p:txBody>
      </p:sp>
      <p:pic>
        <p:nvPicPr>
          <p:cNvPr id="6" name="Picture 2" descr="C:\Users\KT\Desktop\제주지방경찰청\패턴b.png">
            <a:extLst>
              <a:ext uri="{FF2B5EF4-FFF2-40B4-BE49-F238E27FC236}">
                <a16:creationId xmlns:a16="http://schemas.microsoft.com/office/drawing/2014/main" xmlns="" id="{14F6063E-65F2-44DC-8863-2C4C40A1352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1" b="90000" l="10000" r="9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-30783"/>
          <a:stretch/>
        </p:blipFill>
        <p:spPr bwMode="auto">
          <a:xfrm>
            <a:off x="2" y="-4817"/>
            <a:ext cx="4600449" cy="657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-4816"/>
            <a:ext cx="10515600" cy="471646"/>
          </a:xfr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395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42AC7BF2-CF02-47D0-AA1C-6AE74D80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8B44EBA-0B68-4292-B10D-7947E08BA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5AEF4FE-3F42-42A1-BFB8-8F8F495B5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AA426D10-B61C-4D41-BF47-F13EBCAF00B6}" type="datetimeFigureOut">
              <a:rPr lang="ko-KR" altLang="en-US" smtClean="0"/>
              <a:pPr/>
              <a:t>2024-03-18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7252682-BF41-4B85-A6F8-96E39B488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16CFF57-D196-4EC6-814F-0488D7E76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F2390EE4-5187-411C-925E-401CDEC94A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93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S/W</a:t>
            </a:r>
            <a:r>
              <a:rPr lang="ko-KR" altLang="en-US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구성</a:t>
            </a:r>
            <a:endParaRPr lang="en-MY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xmlns="" id="{5777C4B1-2FC7-4ECC-8729-A024C669288D}"/>
              </a:ext>
            </a:extLst>
          </p:cNvPr>
          <p:cNvSpPr/>
          <p:nvPr/>
        </p:nvSpPr>
        <p:spPr>
          <a:xfrm>
            <a:off x="905640" y="942402"/>
            <a:ext cx="321117" cy="2880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xmlns="" id="{D9CBA88D-D16F-4864-B3BE-0C166F5D88C9}"/>
              </a:ext>
            </a:extLst>
          </p:cNvPr>
          <p:cNvSpPr/>
          <p:nvPr/>
        </p:nvSpPr>
        <p:spPr>
          <a:xfrm>
            <a:off x="1280613" y="942402"/>
            <a:ext cx="12241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OS </a:t>
            </a:r>
            <a:r>
              <a:rPr lang="ko-KR" altLang="en-US" sz="1000" dirty="0">
                <a:solidFill>
                  <a:schemeClr val="tx1"/>
                </a:solidFill>
              </a:rPr>
              <a:t>또는</a:t>
            </a:r>
            <a:r>
              <a:rPr lang="en-US" altLang="ko-KR" sz="1000" dirty="0">
                <a:solidFill>
                  <a:schemeClr val="tx1"/>
                </a:solidFill>
              </a:rPr>
              <a:t> Package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xmlns="" id="{9394EE0F-76A7-4760-BDCA-B9275E63B36E}"/>
              </a:ext>
            </a:extLst>
          </p:cNvPr>
          <p:cNvSpPr/>
          <p:nvPr/>
        </p:nvSpPr>
        <p:spPr>
          <a:xfrm>
            <a:off x="2625767" y="942402"/>
            <a:ext cx="321117" cy="2880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xmlns="" id="{F6AE27E7-D886-4C5A-AB00-59B537C513A2}"/>
              </a:ext>
            </a:extLst>
          </p:cNvPr>
          <p:cNvSpPr/>
          <p:nvPr/>
        </p:nvSpPr>
        <p:spPr>
          <a:xfrm>
            <a:off x="3000740" y="942402"/>
            <a:ext cx="12241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TA Application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xmlns="" id="{35A77CE0-1DA7-4D74-BD7A-27BF8ACDB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270901"/>
              </p:ext>
            </p:extLst>
          </p:nvPr>
        </p:nvGraphicFramePr>
        <p:xfrm>
          <a:off x="905640" y="4561783"/>
          <a:ext cx="4750201" cy="731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761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740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468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01610639"/>
                  </a:ext>
                </a:extLst>
              </a:tr>
              <a:tr h="1468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Classification Train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상담유형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분류 학습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Process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5630435"/>
                  </a:ext>
                </a:extLst>
              </a:tr>
              <a:tr h="1468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Classification Inference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상담유형 분류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Daemon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42007842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xmlns="" id="{458B9080-9FCA-40D3-AD5D-6659C9F1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762244"/>
              </p:ext>
            </p:extLst>
          </p:nvPr>
        </p:nvGraphicFramePr>
        <p:xfrm>
          <a:off x="6096000" y="4566301"/>
          <a:ext cx="4821919" cy="975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393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825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46896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7086029"/>
                  </a:ext>
                </a:extLst>
              </a:tr>
              <a:tr h="1468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Analyzer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STT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 분석요청에 따라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상담콜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분석 및 색인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68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Dashboard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TA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</a:rPr>
                        <a:t>분석결과를 확인할 수 있는 사용자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468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Scheduler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TA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주기적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Batch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작업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0BB656F2-1D58-FD8C-64B1-BBE854C42A5B}"/>
              </a:ext>
            </a:extLst>
          </p:cNvPr>
          <p:cNvGrpSpPr/>
          <p:nvPr/>
        </p:nvGrpSpPr>
        <p:grpSpPr>
          <a:xfrm>
            <a:off x="6096000" y="1792095"/>
            <a:ext cx="4751303" cy="2619850"/>
            <a:chOff x="4048659" y="1968648"/>
            <a:chExt cx="4751303" cy="2619850"/>
          </a:xfrm>
        </p:grpSpPr>
        <p:sp>
          <p:nvSpPr>
            <p:cNvPr id="30" name="모서리가 둥근 직사각형 5">
              <a:extLst>
                <a:ext uri="{FF2B5EF4-FFF2-40B4-BE49-F238E27FC236}">
                  <a16:creationId xmlns:a16="http://schemas.microsoft.com/office/drawing/2014/main" xmlns="" id="{1C3E5C10-7764-84E1-61E2-6BAE490C1CDF}"/>
                </a:ext>
              </a:extLst>
            </p:cNvPr>
            <p:cNvSpPr/>
            <p:nvPr/>
          </p:nvSpPr>
          <p:spPr>
            <a:xfrm>
              <a:off x="4048659" y="1968648"/>
              <a:ext cx="4751303" cy="2619850"/>
            </a:xfrm>
            <a:prstGeom prst="roundRect">
              <a:avLst>
                <a:gd name="adj" fmla="val 466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TA WEB/WAS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xmlns="" id="{B53F31EF-E659-02B1-BD69-A20DEC740299}"/>
                </a:ext>
              </a:extLst>
            </p:cNvPr>
            <p:cNvSpPr/>
            <p:nvPr/>
          </p:nvSpPr>
          <p:spPr>
            <a:xfrm>
              <a:off x="4334561" y="4214234"/>
              <a:ext cx="4237649" cy="2495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Centos 7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xmlns="" id="{5E2E5702-FD59-4D5A-73BA-BB937A150653}"/>
                </a:ext>
              </a:extLst>
            </p:cNvPr>
            <p:cNvSpPr/>
            <p:nvPr/>
          </p:nvSpPr>
          <p:spPr>
            <a:xfrm>
              <a:off x="4334561" y="3902347"/>
              <a:ext cx="1344559" cy="2495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</a:rPr>
                <a:t>OpenJDK</a:t>
              </a:r>
              <a:r>
                <a:rPr lang="en-US" altLang="ko-KR" sz="1000" dirty="0">
                  <a:solidFill>
                    <a:schemeClr val="tx1"/>
                  </a:solidFill>
                </a:rPr>
                <a:t> 1.8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xmlns="" id="{FB147970-76D0-82E5-0C43-EEE8F995C950}"/>
                </a:ext>
              </a:extLst>
            </p:cNvPr>
            <p:cNvSpPr/>
            <p:nvPr/>
          </p:nvSpPr>
          <p:spPr>
            <a:xfrm>
              <a:off x="4339284" y="3278573"/>
              <a:ext cx="1344559" cy="2495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Tomcat 8.x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xmlns="" id="{4B76D1B2-E85E-E75B-6E0F-43715BA35E10}"/>
                </a:ext>
              </a:extLst>
            </p:cNvPr>
            <p:cNvSpPr/>
            <p:nvPr/>
          </p:nvSpPr>
          <p:spPr>
            <a:xfrm>
              <a:off x="5781106" y="3891130"/>
              <a:ext cx="1344559" cy="2495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Elasticsearch 6.8.23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9" name="모서리가 둥근 직사각형 23">
              <a:extLst>
                <a:ext uri="{FF2B5EF4-FFF2-40B4-BE49-F238E27FC236}">
                  <a16:creationId xmlns:a16="http://schemas.microsoft.com/office/drawing/2014/main" xmlns="" id="{DF382FA7-DAA0-B943-8E20-5CF6D79FF0DE}"/>
                </a:ext>
              </a:extLst>
            </p:cNvPr>
            <p:cNvSpPr/>
            <p:nvPr/>
          </p:nvSpPr>
          <p:spPr>
            <a:xfrm>
              <a:off x="4339284" y="2654799"/>
              <a:ext cx="1339834" cy="24951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Analyzer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0" name="모서리가 둥근 직사각형 24">
              <a:extLst>
                <a:ext uri="{FF2B5EF4-FFF2-40B4-BE49-F238E27FC236}">
                  <a16:creationId xmlns:a16="http://schemas.microsoft.com/office/drawing/2014/main" xmlns="" id="{37D317E0-79D4-96D7-4817-231B80D31211}"/>
                </a:ext>
              </a:extLst>
            </p:cNvPr>
            <p:cNvSpPr/>
            <p:nvPr/>
          </p:nvSpPr>
          <p:spPr>
            <a:xfrm>
              <a:off x="5767673" y="2654799"/>
              <a:ext cx="1339834" cy="24951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Dashboard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1" name="모서리가 둥근 직사각형 25">
              <a:extLst>
                <a:ext uri="{FF2B5EF4-FFF2-40B4-BE49-F238E27FC236}">
                  <a16:creationId xmlns:a16="http://schemas.microsoft.com/office/drawing/2014/main" xmlns="" id="{EDC01CAC-67DC-B73A-30D8-D60BCF173A48}"/>
                </a:ext>
              </a:extLst>
            </p:cNvPr>
            <p:cNvSpPr/>
            <p:nvPr/>
          </p:nvSpPr>
          <p:spPr>
            <a:xfrm>
              <a:off x="7215598" y="2654799"/>
              <a:ext cx="1339834" cy="24951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Scheduler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47" name="모서리가 둥근 직사각형 4">
            <a:extLst>
              <a:ext uri="{FF2B5EF4-FFF2-40B4-BE49-F238E27FC236}">
                <a16:creationId xmlns:a16="http://schemas.microsoft.com/office/drawing/2014/main" xmlns="" id="{D56C4002-C288-A606-F172-D577E818BCDC}"/>
              </a:ext>
            </a:extLst>
          </p:cNvPr>
          <p:cNvSpPr/>
          <p:nvPr/>
        </p:nvSpPr>
        <p:spPr>
          <a:xfrm>
            <a:off x="975583" y="1783822"/>
            <a:ext cx="3306189" cy="2591519"/>
          </a:xfrm>
          <a:prstGeom prst="roundRect">
            <a:avLst>
              <a:gd name="adj" fmla="val 50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 Classification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6BCDBB90-7540-9F6D-2379-D50FA178ED8C}"/>
              </a:ext>
            </a:extLst>
          </p:cNvPr>
          <p:cNvSpPr/>
          <p:nvPr/>
        </p:nvSpPr>
        <p:spPr>
          <a:xfrm>
            <a:off x="1261485" y="4001078"/>
            <a:ext cx="2757303" cy="249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Centos 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모서리가 둥근 직사각형 33">
            <a:extLst>
              <a:ext uri="{FF2B5EF4-FFF2-40B4-BE49-F238E27FC236}">
                <a16:creationId xmlns:a16="http://schemas.microsoft.com/office/drawing/2014/main" xmlns="" id="{0FBEED76-E26C-18D1-57B0-2C0327A34BCE}"/>
              </a:ext>
            </a:extLst>
          </p:cNvPr>
          <p:cNvSpPr/>
          <p:nvPr/>
        </p:nvSpPr>
        <p:spPr>
          <a:xfrm>
            <a:off x="1266210" y="2965693"/>
            <a:ext cx="1339834" cy="24951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Classification Train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F2C66BB2-EF5B-6E08-E3B2-D0D8919E1885}"/>
              </a:ext>
            </a:extLst>
          </p:cNvPr>
          <p:cNvSpPr/>
          <p:nvPr/>
        </p:nvSpPr>
        <p:spPr>
          <a:xfrm>
            <a:off x="1261485" y="3657734"/>
            <a:ext cx="1344559" cy="249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Miniconda</a:t>
            </a:r>
            <a:r>
              <a:rPr lang="en-US" altLang="ko-KR" sz="1000" dirty="0">
                <a:solidFill>
                  <a:schemeClr val="tx1"/>
                </a:solidFill>
              </a:rPr>
              <a:t> 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D8F91E74-467E-8567-C835-9043B2A3650B}"/>
              </a:ext>
            </a:extLst>
          </p:cNvPr>
          <p:cNvSpPr/>
          <p:nvPr/>
        </p:nvSpPr>
        <p:spPr>
          <a:xfrm>
            <a:off x="2678954" y="3653424"/>
            <a:ext cx="1344559" cy="249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CUDA11.3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모서리가 둥근 직사각형 33">
            <a:extLst>
              <a:ext uri="{FF2B5EF4-FFF2-40B4-BE49-F238E27FC236}">
                <a16:creationId xmlns:a16="http://schemas.microsoft.com/office/drawing/2014/main" xmlns="" id="{D43F80DD-0563-EF89-71AC-2E697BF82C53}"/>
              </a:ext>
            </a:extLst>
          </p:cNvPr>
          <p:cNvSpPr/>
          <p:nvPr/>
        </p:nvSpPr>
        <p:spPr>
          <a:xfrm>
            <a:off x="2678954" y="2963080"/>
            <a:ext cx="1339834" cy="24951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Classification Inference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ADEA4741-C26E-D7AC-8388-019A0BB4EDE9}"/>
              </a:ext>
            </a:extLst>
          </p:cNvPr>
          <p:cNvSpPr/>
          <p:nvPr/>
        </p:nvSpPr>
        <p:spPr>
          <a:xfrm>
            <a:off x="1256760" y="3315067"/>
            <a:ext cx="1344559" cy="249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Pytorch</a:t>
            </a:r>
            <a:r>
              <a:rPr lang="en-US" altLang="ko-KR" sz="1000" dirty="0">
                <a:solidFill>
                  <a:schemeClr val="tx1"/>
                </a:solidFill>
              </a:rPr>
              <a:t> 1.10.1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0703B21A-3547-7DB6-328B-717E1211AE9B}"/>
              </a:ext>
            </a:extLst>
          </p:cNvPr>
          <p:cNvSpPr/>
          <p:nvPr/>
        </p:nvSpPr>
        <p:spPr>
          <a:xfrm>
            <a:off x="2674229" y="3310757"/>
            <a:ext cx="1344559" cy="2495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Kobart0.5.1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28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US" altLang="ko-KR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N/W </a:t>
            </a:r>
            <a:r>
              <a:rPr lang="ko-KR" altLang="en-US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구성</a:t>
            </a:r>
            <a:endParaRPr lang="en-MY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모서리가 둥근 직사각형 28">
            <a:extLst>
              <a:ext uri="{FF2B5EF4-FFF2-40B4-BE49-F238E27FC236}">
                <a16:creationId xmlns:a16="http://schemas.microsoft.com/office/drawing/2014/main" xmlns="" id="{E3AF21D0-D171-7BE9-9268-6F71AD62B338}"/>
              </a:ext>
            </a:extLst>
          </p:cNvPr>
          <p:cNvSpPr/>
          <p:nvPr/>
        </p:nvSpPr>
        <p:spPr>
          <a:xfrm>
            <a:off x="2479815" y="2069533"/>
            <a:ext cx="5468144" cy="4234288"/>
          </a:xfrm>
          <a:prstGeom prst="roundRect">
            <a:avLst>
              <a:gd name="adj" fmla="val 538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 WEB/WAS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3A0D051-4841-989B-4EC2-5147F7C504D1}"/>
              </a:ext>
            </a:extLst>
          </p:cNvPr>
          <p:cNvSpPr/>
          <p:nvPr/>
        </p:nvSpPr>
        <p:spPr>
          <a:xfrm>
            <a:off x="4737859" y="2522525"/>
            <a:ext cx="944718" cy="3847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Apache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B6F1A31B-FDF4-74A2-06D4-BC998409DADA}"/>
              </a:ext>
            </a:extLst>
          </p:cNvPr>
          <p:cNvSpPr/>
          <p:nvPr/>
        </p:nvSpPr>
        <p:spPr>
          <a:xfrm>
            <a:off x="4737859" y="4014171"/>
            <a:ext cx="944718" cy="3847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Elasticsearch (TCP: 9200)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모서리가 둥근 직사각형 45">
            <a:extLst>
              <a:ext uri="{FF2B5EF4-FFF2-40B4-BE49-F238E27FC236}">
                <a16:creationId xmlns:a16="http://schemas.microsoft.com/office/drawing/2014/main" xmlns="" id="{05CB1BAE-4304-113B-53BB-2C6847AB50D9}"/>
              </a:ext>
            </a:extLst>
          </p:cNvPr>
          <p:cNvSpPr/>
          <p:nvPr/>
        </p:nvSpPr>
        <p:spPr>
          <a:xfrm>
            <a:off x="2790053" y="5488553"/>
            <a:ext cx="944718" cy="32061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Analyzer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8180)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8" name="모서리가 둥근 직사각형 46">
            <a:extLst>
              <a:ext uri="{FF2B5EF4-FFF2-40B4-BE49-F238E27FC236}">
                <a16:creationId xmlns:a16="http://schemas.microsoft.com/office/drawing/2014/main" xmlns="" id="{D66ED80C-9D6B-E227-32E6-0520806EFAB7}"/>
              </a:ext>
            </a:extLst>
          </p:cNvPr>
          <p:cNvSpPr/>
          <p:nvPr/>
        </p:nvSpPr>
        <p:spPr>
          <a:xfrm>
            <a:off x="2790053" y="3204549"/>
            <a:ext cx="944718" cy="32061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Dashboard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8080)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0" name="모서리가 둥근 직사각형 47">
            <a:extLst>
              <a:ext uri="{FF2B5EF4-FFF2-40B4-BE49-F238E27FC236}">
                <a16:creationId xmlns:a16="http://schemas.microsoft.com/office/drawing/2014/main" xmlns="" id="{97FBFE1A-A136-2B0D-B7CD-E71FA3E029F3}"/>
              </a:ext>
            </a:extLst>
          </p:cNvPr>
          <p:cNvSpPr/>
          <p:nvPr/>
        </p:nvSpPr>
        <p:spPr>
          <a:xfrm>
            <a:off x="4737859" y="5024331"/>
            <a:ext cx="944718" cy="32061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Scheduler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8280)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xmlns="" id="{72C2DC85-F020-9ECA-D11E-1F5BAD8CACA6}"/>
              </a:ext>
            </a:extLst>
          </p:cNvPr>
          <p:cNvCxnSpPr>
            <a:stCxn id="60" idx="0"/>
            <a:endCxn id="39" idx="2"/>
          </p:cNvCxnSpPr>
          <p:nvPr/>
        </p:nvCxnSpPr>
        <p:spPr>
          <a:xfrm flipV="1">
            <a:off x="5210218" y="4398903"/>
            <a:ext cx="0" cy="62542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xmlns="" id="{D898A6EB-D71B-C08A-52D8-38F480715F9B}"/>
              </a:ext>
            </a:extLst>
          </p:cNvPr>
          <p:cNvCxnSpPr>
            <a:cxnSpLocks/>
            <a:stCxn id="53" idx="3"/>
            <a:endCxn id="39" idx="1"/>
          </p:cNvCxnSpPr>
          <p:nvPr/>
        </p:nvCxnSpPr>
        <p:spPr>
          <a:xfrm flipV="1">
            <a:off x="3734771" y="4206537"/>
            <a:ext cx="1003088" cy="144232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xmlns="" id="{39FBB5AA-E1DE-132B-947C-8D240D622C30}"/>
              </a:ext>
            </a:extLst>
          </p:cNvPr>
          <p:cNvCxnSpPr>
            <a:cxnSpLocks/>
            <a:stCxn id="58" idx="3"/>
            <a:endCxn id="39" idx="1"/>
          </p:cNvCxnSpPr>
          <p:nvPr/>
        </p:nvCxnSpPr>
        <p:spPr>
          <a:xfrm>
            <a:off x="3734771" y="3364854"/>
            <a:ext cx="1003088" cy="84168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순서도: 연결자 140">
            <a:extLst>
              <a:ext uri="{FF2B5EF4-FFF2-40B4-BE49-F238E27FC236}">
                <a16:creationId xmlns:a16="http://schemas.microsoft.com/office/drawing/2014/main" xmlns="" id="{90F6CA19-A537-895C-6241-900AA77076BD}"/>
              </a:ext>
            </a:extLst>
          </p:cNvPr>
          <p:cNvSpPr/>
          <p:nvPr/>
        </p:nvSpPr>
        <p:spPr>
          <a:xfrm>
            <a:off x="1492076" y="3161266"/>
            <a:ext cx="461458" cy="407175"/>
          </a:xfrm>
          <a:prstGeom prst="flowChartConnector">
            <a:avLst/>
          </a:pr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사용자</a:t>
            </a: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xmlns="" id="{895DE5B0-7D49-49D3-CD98-59D4DD4CA670}"/>
              </a:ext>
            </a:extLst>
          </p:cNvPr>
          <p:cNvCxnSpPr>
            <a:cxnSpLocks/>
            <a:stCxn id="141" idx="6"/>
            <a:endCxn id="58" idx="1"/>
          </p:cNvCxnSpPr>
          <p:nvPr/>
        </p:nvCxnSpPr>
        <p:spPr>
          <a:xfrm>
            <a:off x="1953534" y="3364854"/>
            <a:ext cx="836519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xmlns="" id="{A460BF73-F8DC-F6BF-80FC-BD7F55B71618}"/>
              </a:ext>
            </a:extLst>
          </p:cNvPr>
          <p:cNvSpPr/>
          <p:nvPr/>
        </p:nvSpPr>
        <p:spPr>
          <a:xfrm>
            <a:off x="1344810" y="5455341"/>
            <a:ext cx="654108" cy="3847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STT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xmlns="" id="{8E4D2E85-23D7-6642-FB15-FEEC88E7C9B5}"/>
              </a:ext>
            </a:extLst>
          </p:cNvPr>
          <p:cNvCxnSpPr>
            <a:cxnSpLocks/>
            <a:stCxn id="143" idx="3"/>
            <a:endCxn id="53" idx="1"/>
          </p:cNvCxnSpPr>
          <p:nvPr/>
        </p:nvCxnSpPr>
        <p:spPr>
          <a:xfrm>
            <a:off x="1998918" y="5647707"/>
            <a:ext cx="791135" cy="1151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>
            <a:extLst>
              <a:ext uri="{FF2B5EF4-FFF2-40B4-BE49-F238E27FC236}">
                <a16:creationId xmlns:a16="http://schemas.microsoft.com/office/drawing/2014/main" xmlns="" id="{0512D21B-1A24-C13E-111C-CEDF1F70E688}"/>
              </a:ext>
            </a:extLst>
          </p:cNvPr>
          <p:cNvSpPr/>
          <p:nvPr/>
        </p:nvSpPr>
        <p:spPr>
          <a:xfrm>
            <a:off x="2022226" y="5444981"/>
            <a:ext cx="799465" cy="256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녹취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메타</a:t>
            </a:r>
          </a:p>
        </p:txBody>
      </p:sp>
      <p:sp>
        <p:nvSpPr>
          <p:cNvPr id="149" name="모서리가 둥근 직사각형 28">
            <a:extLst>
              <a:ext uri="{FF2B5EF4-FFF2-40B4-BE49-F238E27FC236}">
                <a16:creationId xmlns:a16="http://schemas.microsoft.com/office/drawing/2014/main" xmlns="" id="{A8C17504-EC4E-4131-DFA0-A670DE254BFA}"/>
              </a:ext>
            </a:extLst>
          </p:cNvPr>
          <p:cNvSpPr/>
          <p:nvPr/>
        </p:nvSpPr>
        <p:spPr>
          <a:xfrm>
            <a:off x="8146891" y="2069533"/>
            <a:ext cx="2248881" cy="4234288"/>
          </a:xfrm>
          <a:prstGeom prst="roundRect">
            <a:avLst>
              <a:gd name="adj" fmla="val 538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 Classification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xmlns="" id="{744D13D2-0F47-42A6-1DC3-DAD1DDF69B10}"/>
              </a:ext>
            </a:extLst>
          </p:cNvPr>
          <p:cNvCxnSpPr>
            <a:cxnSpLocks/>
            <a:stCxn id="53" idx="3"/>
            <a:endCxn id="11" idx="1"/>
          </p:cNvCxnSpPr>
          <p:nvPr/>
        </p:nvCxnSpPr>
        <p:spPr>
          <a:xfrm flipV="1">
            <a:off x="3734771" y="5635678"/>
            <a:ext cx="5084240" cy="1318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>
            <a:extLst>
              <a:ext uri="{FF2B5EF4-FFF2-40B4-BE49-F238E27FC236}">
                <a16:creationId xmlns:a16="http://schemas.microsoft.com/office/drawing/2014/main" xmlns="" id="{5F927BC9-7B8A-2343-25BA-D38A87EEB18D}"/>
              </a:ext>
            </a:extLst>
          </p:cNvPr>
          <p:cNvSpPr/>
          <p:nvPr/>
        </p:nvSpPr>
        <p:spPr>
          <a:xfrm>
            <a:off x="3609100" y="4896073"/>
            <a:ext cx="774616" cy="256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분석결과색인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xmlns="" id="{E94D2F89-4CB5-CF5F-DDCA-C51F3A369393}"/>
              </a:ext>
            </a:extLst>
          </p:cNvPr>
          <p:cNvSpPr/>
          <p:nvPr/>
        </p:nvSpPr>
        <p:spPr>
          <a:xfrm>
            <a:off x="5201184" y="4711617"/>
            <a:ext cx="774616" cy="256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분석결과조회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xmlns="" id="{0464962F-2D0E-5B63-CD64-BF253EAF3F24}"/>
              </a:ext>
            </a:extLst>
          </p:cNvPr>
          <p:cNvSpPr/>
          <p:nvPr/>
        </p:nvSpPr>
        <p:spPr>
          <a:xfrm>
            <a:off x="3857801" y="3967090"/>
            <a:ext cx="774616" cy="256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분석결과조회</a:t>
            </a:r>
          </a:p>
        </p:txBody>
      </p:sp>
      <p:sp>
        <p:nvSpPr>
          <p:cNvPr id="11" name="모서리가 둥근 직사각형 125">
            <a:extLst>
              <a:ext uri="{FF2B5EF4-FFF2-40B4-BE49-F238E27FC236}">
                <a16:creationId xmlns:a16="http://schemas.microsoft.com/office/drawing/2014/main" xmlns="" id="{F1CDF8D9-6D48-EB29-362A-9D3CF19F9957}"/>
              </a:ext>
            </a:extLst>
          </p:cNvPr>
          <p:cNvSpPr/>
          <p:nvPr/>
        </p:nvSpPr>
        <p:spPr>
          <a:xfrm>
            <a:off x="8819011" y="5426499"/>
            <a:ext cx="944718" cy="4183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Classification inference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8104)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25">
            <a:extLst>
              <a:ext uri="{FF2B5EF4-FFF2-40B4-BE49-F238E27FC236}">
                <a16:creationId xmlns:a16="http://schemas.microsoft.com/office/drawing/2014/main" xmlns="" id="{76C8BAD0-31C1-5925-2D5D-E464B4B7FDDE}"/>
              </a:ext>
            </a:extLst>
          </p:cNvPr>
          <p:cNvSpPr/>
          <p:nvPr/>
        </p:nvSpPr>
        <p:spPr>
          <a:xfrm>
            <a:off x="8819011" y="3788180"/>
            <a:ext cx="944718" cy="4183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Classification inference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8101)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5">
            <a:extLst>
              <a:ext uri="{FF2B5EF4-FFF2-40B4-BE49-F238E27FC236}">
                <a16:creationId xmlns:a16="http://schemas.microsoft.com/office/drawing/2014/main" xmlns="" id="{D17F7313-23B8-347D-B305-FBDEE50BA92C}"/>
              </a:ext>
            </a:extLst>
          </p:cNvPr>
          <p:cNvSpPr/>
          <p:nvPr/>
        </p:nvSpPr>
        <p:spPr>
          <a:xfrm>
            <a:off x="8801642" y="4330687"/>
            <a:ext cx="944718" cy="4183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Classification inference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8102)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25">
            <a:extLst>
              <a:ext uri="{FF2B5EF4-FFF2-40B4-BE49-F238E27FC236}">
                <a16:creationId xmlns:a16="http://schemas.microsoft.com/office/drawing/2014/main" xmlns="" id="{CCA3116A-F994-12FE-C1A9-3B2CE86F3E6B}"/>
              </a:ext>
            </a:extLst>
          </p:cNvPr>
          <p:cNvSpPr/>
          <p:nvPr/>
        </p:nvSpPr>
        <p:spPr>
          <a:xfrm>
            <a:off x="8819011" y="4880690"/>
            <a:ext cx="944718" cy="4183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Classification inference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(TCP: 8103)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17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서버 계정</a:t>
            </a:r>
            <a:endParaRPr lang="en-MY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xmlns="" id="{DDB1155B-FB19-407B-8195-FAF97D28A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313832"/>
              </p:ext>
            </p:extLst>
          </p:nvPr>
        </p:nvGraphicFramePr>
        <p:xfrm>
          <a:off x="664480" y="1463040"/>
          <a:ext cx="7546070" cy="1219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093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148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8598">
                  <a:extLst>
                    <a:ext uri="{9D8B030D-6E8A-4147-A177-3AD203B41FA5}">
                      <a16:colId xmlns:a16="http://schemas.microsoft.com/office/drawing/2014/main" xmlns="" val="2121239190"/>
                    </a:ext>
                  </a:extLst>
                </a:gridCol>
                <a:gridCol w="1208598">
                  <a:extLst>
                    <a:ext uri="{9D8B030D-6E8A-4147-A177-3AD203B41FA5}">
                      <a16:colId xmlns:a16="http://schemas.microsoft.com/office/drawing/2014/main" xmlns="" val="3297714595"/>
                    </a:ext>
                  </a:extLst>
                </a:gridCol>
                <a:gridCol w="2804686">
                  <a:extLst>
                    <a:ext uri="{9D8B030D-6E8A-4147-A177-3AD203B41FA5}">
                      <a16:colId xmlns:a16="http://schemas.microsoft.com/office/drawing/2014/main" xmlns="" val="1699290913"/>
                    </a:ext>
                  </a:extLst>
                </a:gridCol>
              </a:tblGrid>
              <a:tr h="1601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서버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IP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Password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1610639"/>
                  </a:ext>
                </a:extLst>
              </a:tr>
              <a:tr h="146896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CA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122.49.74.2</a:t>
                      </a:r>
                      <a:endParaRPr lang="ko-KR" altLang="ko-K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root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doub!IX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6896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deepca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deepca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!@#45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81376490"/>
                  </a:ext>
                </a:extLst>
              </a:tr>
              <a:tr h="146896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122.49.74.2</a:t>
                      </a:r>
                      <a:endParaRPr lang="ko-KR" altLang="ko-K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root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endbql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!@#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6896"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tadev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tadev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!@#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99436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F4EC766-39E3-4446-8F72-A6C7DE879B14}"/>
              </a:ext>
            </a:extLst>
          </p:cNvPr>
          <p:cNvSpPr txBox="1"/>
          <p:nvPr/>
        </p:nvSpPr>
        <p:spPr>
          <a:xfrm>
            <a:off x="510989" y="941294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1) </a:t>
            </a:r>
            <a:r>
              <a:rPr lang="ko-KR" altLang="en-US" sz="1200"/>
              <a:t>서버</a:t>
            </a:r>
            <a:r>
              <a:rPr lang="en-US" altLang="ko-KR" sz="1200"/>
              <a:t> </a:t>
            </a:r>
            <a:r>
              <a:rPr lang="ko-KR" altLang="en-US" sz="1200"/>
              <a:t>접속</a:t>
            </a:r>
          </a:p>
        </p:txBody>
      </p:sp>
    </p:spTree>
    <p:extLst>
      <p:ext uri="{BB962C8B-B14F-4D97-AF65-F5344CB8AC3E}">
        <p14:creationId xmlns:p14="http://schemas.microsoft.com/office/powerpoint/2010/main" val="268609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en-US" altLang="ko-KR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File</a:t>
            </a:r>
            <a:r>
              <a:rPr lang="ko-KR" altLang="en-US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System </a:t>
            </a:r>
            <a:r>
              <a:rPr lang="ko-KR" altLang="en-US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구성</a:t>
            </a:r>
            <a:endParaRPr lang="en-MY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" name="Group 264">
            <a:extLst>
              <a:ext uri="{FF2B5EF4-FFF2-40B4-BE49-F238E27FC236}">
                <a16:creationId xmlns:a16="http://schemas.microsoft.com/office/drawing/2014/main" xmlns="" id="{8716F23E-CB36-99DD-0CB4-1C37A2377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84622"/>
              </p:ext>
            </p:extLst>
          </p:nvPr>
        </p:nvGraphicFramePr>
        <p:xfrm>
          <a:off x="453572" y="1021961"/>
          <a:ext cx="10674097" cy="46919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05515">
                  <a:extLst>
                    <a:ext uri="{9D8B030D-6E8A-4147-A177-3AD203B41FA5}">
                      <a16:colId xmlns:a16="http://schemas.microsoft.com/office/drawing/2014/main" xmlns="" val="11294509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174478918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2853841821"/>
                    </a:ext>
                  </a:extLst>
                </a:gridCol>
                <a:gridCol w="360858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904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Filesystem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1depth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2depth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3depth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4depth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00">
                <a:tc rowSpan="1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/app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/tomcat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Tomcat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설치 경로 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CATALINA_HOME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5227644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/miniconda3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Miniconda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설치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06863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cadev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/ta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DLA_dic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형태소 분석기 사전파일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2365285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download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엑셀다운로드 임시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346755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embedding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연관키워드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모델 저장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1109109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/bin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Application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shell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1601671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/service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/analyzer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Analyzer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/dashboard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Dashboard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49604068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/scheduler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Scheduler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20293598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/AI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/classification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감성학습 및 추론 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04905257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/model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감성학습 모델 경로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29273354"/>
                  </a:ext>
                </a:extLst>
              </a:tr>
              <a:tr h="19126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/data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elasticsearch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/backup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Elasticsearch snapshot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경로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.(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백업 필요 시 사용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2846322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/data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Elasticsearch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데이터 파일 경로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67776736"/>
                  </a:ext>
                </a:extLst>
              </a:tr>
              <a:tr h="19126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/log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elasticsearch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Elasticsearch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로그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14063273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cadev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/ta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/analyzer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Analyzer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로그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6032076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/dashboard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Dashboard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로그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48612206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/scheduler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Scheduler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로그 경로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10341147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/train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감성학습 로그 경로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5116366"/>
                  </a:ext>
                </a:extLst>
              </a:tr>
              <a:tr h="19126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/inference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감성추론 로그 경로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9404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78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서버 구동 ① </a:t>
            </a:r>
            <a:r>
              <a:rPr lang="en-US" altLang="ko-KR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 Application</a:t>
            </a:r>
            <a:endParaRPr lang="en-MY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" name="Group 264">
            <a:extLst>
              <a:ext uri="{FF2B5EF4-FFF2-40B4-BE49-F238E27FC236}">
                <a16:creationId xmlns:a16="http://schemas.microsoft.com/office/drawing/2014/main" xmlns="" id="{8716F23E-CB36-99DD-0CB4-1C37A2377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46555"/>
              </p:ext>
            </p:extLst>
          </p:nvPr>
        </p:nvGraphicFramePr>
        <p:xfrm>
          <a:off x="356754" y="1408529"/>
          <a:ext cx="10571072" cy="31976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77488">
                  <a:extLst>
                    <a:ext uri="{9D8B030D-6E8A-4147-A177-3AD203B41FA5}">
                      <a16:colId xmlns:a16="http://schemas.microsoft.com/office/drawing/2014/main" xmlns="" val="1129450907"/>
                    </a:ext>
                  </a:extLst>
                </a:gridCol>
                <a:gridCol w="1261105">
                  <a:extLst>
                    <a:ext uri="{9D8B030D-6E8A-4147-A177-3AD203B41FA5}">
                      <a16:colId xmlns:a16="http://schemas.microsoft.com/office/drawing/2014/main" xmlns="" val="1744789180"/>
                    </a:ext>
                  </a:extLst>
                </a:gridCol>
                <a:gridCol w="1261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71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4845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357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93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기동여부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618"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cadev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deepca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cd /app/ta/bin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stop-snalyzer.sh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start-analyzer.sh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ef|grep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deepta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-analyzer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52276441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$ tail –f /log/ta/analyzer/analyzer.log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01233865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cadev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deepca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분석결과 조회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</a:t>
                      </a:r>
                      <a:r>
                        <a:rPr kumimoji="0" lang="fr-F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cd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/app/ta</a:t>
                      </a:r>
                      <a:r>
                        <a:rPr kumimoji="0" lang="fr-F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/bin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./stop-dashboard.sh</a:t>
                      </a:r>
                      <a:endParaRPr kumimoji="0" lang="fr-F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./start-dashboard.sh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ef|grep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deepta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-dashboard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23652854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/log/ta/dashboard/dashboard.log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7857366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deepca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</a:t>
                      </a:r>
                      <a:r>
                        <a:rPr kumimoji="0" lang="fr-F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cd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/app/ta</a:t>
                      </a:r>
                      <a:r>
                        <a:rPr kumimoji="0" lang="fr-F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/bin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./stop-scheduler.sh</a:t>
                      </a:r>
                      <a:endParaRPr kumimoji="0" lang="fr-F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./start-scheduler.sh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ef|grep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deepta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-scheduler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/log/ca/scheduler/scheduler.log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deepca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유형분류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</a:t>
                      </a:r>
                      <a:r>
                        <a:rPr kumimoji="0" lang="fr-F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cd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/app</a:t>
                      </a:r>
                      <a:r>
                        <a:rPr kumimoji="0" lang="fr-F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/t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a/service/AI/classification</a:t>
                      </a:r>
                      <a:endParaRPr kumimoji="0" lang="fr-F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./stop_inference.sh {GROUP}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./start_inference.sh –group={GROUP} –port={PORT}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–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ef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|grep inference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/log/ta/inference/inference.log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deepca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유형학습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</a:t>
                      </a:r>
                      <a:r>
                        <a:rPr kumimoji="0" lang="fr-F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cd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/app/ta/service/AI/classification</a:t>
                      </a:r>
                      <a:endParaRPr kumimoji="0" lang="fr-F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./start_train.sh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49604068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tail –f /log/ta/train/train.log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9533927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05435" y="4787153"/>
            <a:ext cx="2392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systemctl 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</a:rPr>
              <a:t>start </a:t>
            </a:r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mysql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881717" y="485264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/>
              <a:t>cd /app/ta/service/AI/classification</a:t>
            </a:r>
            <a:endParaRPr lang="ko-KR" altLang="ko-KR" sz="1200"/>
          </a:p>
          <a:p>
            <a:r>
              <a:rPr lang="en-US" altLang="ko-KR" sz="1200"/>
              <a:t>./start_inference.sh STOCK 8101</a:t>
            </a:r>
            <a:endParaRPr lang="ko-KR" altLang="ko-KR" sz="1200"/>
          </a:p>
          <a:p>
            <a:r>
              <a:rPr lang="en-US" altLang="ko-KR" sz="1200"/>
              <a:t>sleep 1</a:t>
            </a:r>
            <a:endParaRPr lang="ko-KR" altLang="ko-KR" sz="1200"/>
          </a:p>
          <a:p>
            <a:r>
              <a:rPr lang="en-US" altLang="ko-KR" sz="1200"/>
              <a:t>./start_inference.sh INSURANCE 8102</a:t>
            </a:r>
            <a:endParaRPr lang="ko-KR" altLang="ko-KR" sz="1200"/>
          </a:p>
          <a:p>
            <a:r>
              <a:rPr lang="en-US" altLang="ko-KR" sz="1200"/>
              <a:t>sleep 1</a:t>
            </a:r>
            <a:endParaRPr lang="ko-KR" altLang="ko-KR" sz="1200"/>
          </a:p>
          <a:p>
            <a:r>
              <a:rPr lang="en-US" altLang="ko-KR" sz="1200"/>
              <a:t>./start_inference.sh CARD 8103</a:t>
            </a:r>
            <a:endParaRPr lang="ko-KR" altLang="ko-KR" sz="1200"/>
          </a:p>
          <a:p>
            <a:r>
              <a:rPr lang="en-US" altLang="ko-KR" sz="1200"/>
              <a:t>sleep 1</a:t>
            </a:r>
            <a:endParaRPr lang="ko-KR" altLang="ko-KR" sz="1200"/>
          </a:p>
          <a:p>
            <a:r>
              <a:rPr lang="en-US" altLang="ko-KR" sz="1200"/>
              <a:t>./start_inference.sh ASSET 8104</a:t>
            </a:r>
            <a:endParaRPr lang="ko-KR" altLang="ko-KR" sz="1200"/>
          </a:p>
          <a:p>
            <a:r>
              <a:rPr lang="en-US" altLang="ko-KR" sz="1200"/>
              <a:t>sleep 1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45955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>
            <a:extLst>
              <a:ext uri="{FF2B5EF4-FFF2-40B4-BE49-F238E27FC236}">
                <a16:creationId xmlns:a16="http://schemas.microsoft.com/office/drawing/2014/main" xmlns="" id="{5F142DB7-D081-4E73-BB97-5E9B4A5772AF}"/>
              </a:ext>
            </a:extLst>
          </p:cNvPr>
          <p:cNvSpPr txBox="1">
            <a:spLocks/>
          </p:cNvSpPr>
          <p:nvPr/>
        </p:nvSpPr>
        <p:spPr>
          <a:xfrm>
            <a:off x="38100" y="99396"/>
            <a:ext cx="10820400" cy="571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+mj-cs"/>
              </a:defRPr>
            </a:lvl1pPr>
          </a:lstStyle>
          <a:p>
            <a:pPr algn="l"/>
            <a:r>
              <a:rPr lang="ko-KR" altLang="en-US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서버 구동 ② </a:t>
            </a:r>
            <a:r>
              <a:rPr lang="en-US" altLang="ko-KR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tool</a:t>
            </a:r>
            <a:endParaRPr lang="en-MY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6" name="Group 264">
            <a:extLst>
              <a:ext uri="{FF2B5EF4-FFF2-40B4-BE49-F238E27FC236}">
                <a16:creationId xmlns:a16="http://schemas.microsoft.com/office/drawing/2014/main" xmlns="" id="{20540EC4-DF39-4760-922B-FCFBAB5AE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144504"/>
              </p:ext>
            </p:extLst>
          </p:nvPr>
        </p:nvGraphicFramePr>
        <p:xfrm>
          <a:off x="356754" y="1408529"/>
          <a:ext cx="10571072" cy="8136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77488">
                  <a:extLst>
                    <a:ext uri="{9D8B030D-6E8A-4147-A177-3AD203B41FA5}">
                      <a16:colId xmlns:a16="http://schemas.microsoft.com/office/drawing/2014/main" xmlns="" val="1129450907"/>
                    </a:ext>
                  </a:extLst>
                </a:gridCol>
                <a:gridCol w="1261105">
                  <a:extLst>
                    <a:ext uri="{9D8B030D-6E8A-4147-A177-3AD203B41FA5}">
                      <a16:colId xmlns:a16="http://schemas.microsoft.com/office/drawing/2014/main" xmlns="" val="1744789180"/>
                    </a:ext>
                  </a:extLst>
                </a:gridCol>
                <a:gridCol w="1261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71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4845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357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93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기동여부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</a:t>
                      </a: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cadev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root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검색엔진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재시작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systemctl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stop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elasticsearch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$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systemctl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start Elasticsearch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ps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-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ef|grep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elasticsearch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23652854"/>
                  </a:ext>
                </a:extLst>
              </a:tr>
              <a:tr h="19307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확인</a:t>
                      </a: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tail –f /log/</a:t>
                      </a:r>
                      <a:r>
                        <a:rPr kumimoji="0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elasticsaerch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/ca_dev.log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http://122.49.74.2:9200/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1" marR="68581" marT="33231" marB="33231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7857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2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3052</TotalTime>
  <Words>506</Words>
  <Application>Microsoft Office PowerPoint</Application>
  <PresentationFormat>와이드스크린</PresentationFormat>
  <Paragraphs>210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KoPubWorld돋움체 Bold</vt:lpstr>
      <vt:lpstr>KoPubWorld돋움체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 소열</dc:creator>
  <cp:lastModifiedBy>Microsoft 계정</cp:lastModifiedBy>
  <cp:revision>29</cp:revision>
  <dcterms:created xsi:type="dcterms:W3CDTF">2021-12-03T01:44:44Z</dcterms:created>
  <dcterms:modified xsi:type="dcterms:W3CDTF">2024-03-18T08:58:18Z</dcterms:modified>
</cp:coreProperties>
</file>