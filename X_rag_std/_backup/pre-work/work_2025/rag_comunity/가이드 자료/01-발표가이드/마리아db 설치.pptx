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4" r:id="rId3"/>
    <p:sldId id="293" r:id="rId4"/>
    <p:sldId id="280" r:id="rId5"/>
    <p:sldId id="287" r:id="rId6"/>
    <p:sldId id="288" r:id="rId7"/>
    <p:sldId id="289" r:id="rId8"/>
    <p:sldId id="282" r:id="rId9"/>
    <p:sldId id="281" r:id="rId10"/>
    <p:sldId id="283" r:id="rId11"/>
    <p:sldId id="286" r:id="rId12"/>
    <p:sldId id="284" r:id="rId13"/>
    <p:sldId id="285" r:id="rId14"/>
    <p:sldId id="264" r:id="rId15"/>
    <p:sldId id="273" r:id="rId16"/>
    <p:sldId id="272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6" r:id="rId25"/>
    <p:sldId id="268" r:id="rId26"/>
    <p:sldId id="269" r:id="rId27"/>
    <p:sldId id="265" r:id="rId28"/>
    <p:sldId id="267" r:id="rId29"/>
    <p:sldId id="270" r:id="rId30"/>
    <p:sldId id="271" r:id="rId31"/>
    <p:sldId id="274" r:id="rId32"/>
    <p:sldId id="275" r:id="rId33"/>
    <p:sldId id="276" r:id="rId34"/>
    <p:sldId id="277" r:id="rId35"/>
    <p:sldId id="278" r:id="rId36"/>
    <p:sldId id="279" r:id="rId37"/>
    <p:sldId id="290" r:id="rId38"/>
    <p:sldId id="291" r:id="rId39"/>
    <p:sldId id="292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9E41-FBE4-4E51-82F8-344270A9987A}" type="datetimeFigureOut">
              <a:rPr lang="ko-KR" altLang="en-US" smtClean="0"/>
              <a:t>2024-04-16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C568-D8D1-4C70-9085-34A8BC083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11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9E41-FBE4-4E51-82F8-344270A9987A}" type="datetimeFigureOut">
              <a:rPr lang="ko-KR" altLang="en-US" smtClean="0"/>
              <a:t>2024-04-16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C568-D8D1-4C70-9085-34A8BC083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67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9E41-FBE4-4E51-82F8-344270A9987A}" type="datetimeFigureOut">
              <a:rPr lang="ko-KR" altLang="en-US" smtClean="0"/>
              <a:t>2024-04-16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C568-D8D1-4C70-9085-34A8BC083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59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9E41-FBE4-4E51-82F8-344270A9987A}" type="datetimeFigureOut">
              <a:rPr lang="ko-KR" altLang="en-US" smtClean="0"/>
              <a:t>2024-04-16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C568-D8D1-4C70-9085-34A8BC083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711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9E41-FBE4-4E51-82F8-344270A9987A}" type="datetimeFigureOut">
              <a:rPr lang="ko-KR" altLang="en-US" smtClean="0"/>
              <a:t>2024-04-16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C568-D8D1-4C70-9085-34A8BC083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845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9E41-FBE4-4E51-82F8-344270A9987A}" type="datetimeFigureOut">
              <a:rPr lang="ko-KR" altLang="en-US" smtClean="0"/>
              <a:t>2024-04-16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C568-D8D1-4C70-9085-34A8BC083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56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9E41-FBE4-4E51-82F8-344270A9987A}" type="datetimeFigureOut">
              <a:rPr lang="ko-KR" altLang="en-US" smtClean="0"/>
              <a:t>2024-04-16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C568-D8D1-4C70-9085-34A8BC083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548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9E41-FBE4-4E51-82F8-344270A9987A}" type="datetimeFigureOut">
              <a:rPr lang="ko-KR" altLang="en-US" smtClean="0"/>
              <a:t>2024-04-16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C568-D8D1-4C70-9085-34A8BC083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50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9E41-FBE4-4E51-82F8-344270A9987A}" type="datetimeFigureOut">
              <a:rPr lang="ko-KR" altLang="en-US" smtClean="0"/>
              <a:t>2024-04-16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C568-D8D1-4C70-9085-34A8BC083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627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9E41-FBE4-4E51-82F8-344270A9987A}" type="datetimeFigureOut">
              <a:rPr lang="ko-KR" altLang="en-US" smtClean="0"/>
              <a:t>2024-04-16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C568-D8D1-4C70-9085-34A8BC083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68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69E41-FBE4-4E51-82F8-344270A9987A}" type="datetimeFigureOut">
              <a:rPr lang="ko-KR" altLang="en-US" smtClean="0"/>
              <a:t>2024-04-16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7C568-D8D1-4C70-9085-34A8BC083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98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69E41-FBE4-4E51-82F8-344270A9987A}" type="datetimeFigureOut">
              <a:rPr lang="ko-KR" altLang="en-US" smtClean="0"/>
              <a:t>2024-04-16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7C568-D8D1-4C70-9085-34A8BC083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091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deep.kbig.kr:18608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lmRagApp/ragChatbot.git" TargetMode="External"/><Relationship Id="rId2" Type="http://schemas.openxmlformats.org/officeDocument/2006/relationships/hyperlink" Target="https://github.com/llmRagApp/ragChatbo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NamkyuChoi@github.com:llmRagApp/ragChatbot.git" TargetMode="External"/><Relationship Id="rId4" Type="http://schemas.openxmlformats.org/officeDocument/2006/relationships/hyperlink" Target="mailto:git@github.com:llmRagApp/ragChatbot.gi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NamkyuChoi@github.com:llmRagApp/ragChatbot.git" TargetMode="External"/><Relationship Id="rId2" Type="http://schemas.openxmlformats.org/officeDocument/2006/relationships/hyperlink" Target="https://github.com/llmRagApp/ragChatbotPublic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hyperlink" Target="https://github.com/llmRagApp/ragChatbo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base.tistory.com/355" TargetMode="External"/><Relationship Id="rId4" Type="http://schemas.openxmlformats.org/officeDocument/2006/relationships/hyperlink" Target="https://cnam9@naver.com@github.com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ger.pe.kr/1037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blog.naver.com/hongganz/222817487107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mariadb.org/mariadb-10.3.18/bintar-linux-x86_64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mariadb.org/mariadb-10.3.18/bintar-linux-x86_64/mariadb-10.3.18-linux-x86_64.tar.gz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jstar0525.tistory.com/14" TargetMode="External"/><Relationship Id="rId2" Type="http://schemas.openxmlformats.org/officeDocument/2006/relationships/hyperlink" Target="https://jjeongil.tistory.com/191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elog.io/@falling_star3/GitHub-Git-Repository-%EC%83%9D%EC%84%B1-%EB%B0%8F-git-init%EC%9C%BC%EB%A1%9C-%EB%A1%9C%EC%BB%AC-%EC%97%B0%EB%8F%99%ED%95%98%EB%8A%94-%EB%B0%A9%EB%B2%95%EB%A1%9C%EC%BB%AC-%EA%B9%83%ED%97%88%EB%B8%8C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choiseokwon.tistory.com/291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800" y="226963"/>
            <a:ext cx="699135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/>
              <a:t>https://fastcampus.co.kr/</a:t>
            </a:r>
          </a:p>
          <a:p>
            <a:r>
              <a:rPr lang="en-US" altLang="ko-KR" sz="1200"/>
              <a:t>hans@eicn.co.kr / eicn123!!</a:t>
            </a:r>
          </a:p>
          <a:p>
            <a:endParaRPr lang="en-US" altLang="ko-KR" sz="1200"/>
          </a:p>
          <a:p>
            <a:r>
              <a:rPr lang="ko-KR" altLang="en-US" sz="1200"/>
              <a:t>수강자료 위치 입니다</a:t>
            </a:r>
            <a:r>
              <a:rPr lang="en-US" altLang="ko-KR" sz="1200"/>
              <a:t>. https://drive.google.com/drive/folders/1StX2q_NosWdz0f9MgR7h9kcZm4xzhmgf</a:t>
            </a:r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코드</a:t>
            </a:r>
            <a:r>
              <a:rPr lang="en-US" altLang="ko-KR" sz="1200"/>
              <a:t>:</a:t>
            </a:r>
          </a:p>
          <a:p>
            <a:r>
              <a:rPr lang="en-US" altLang="ko-KR" sz="1200"/>
              <a:t>https://github.com/joowon-dm-snu/fastcampus-chatgpt-intro-frameworks</a:t>
            </a:r>
          </a:p>
          <a:p>
            <a:r>
              <a:rPr lang="ko-KR" altLang="en-US" sz="1200"/>
              <a:t>실습용파이썬가상환경구축</a:t>
            </a:r>
            <a:r>
              <a:rPr lang="en-US" altLang="ko-KR" sz="1200"/>
              <a:t>:</a:t>
            </a:r>
          </a:p>
          <a:p>
            <a:r>
              <a:rPr lang="en-US" altLang="ko-KR" sz="1200"/>
              <a:t>https://github.com/joowon-dm-snu/fastcampus-chatgpt-intro-frameworks/blob/main/setup.md</a:t>
            </a:r>
            <a:endParaRPr lang="ko-KR" altLang="en-US" sz="1200"/>
          </a:p>
        </p:txBody>
      </p:sp>
      <p:sp>
        <p:nvSpPr>
          <p:cNvPr id="5" name="직사각형 4"/>
          <p:cNvSpPr/>
          <p:nvPr/>
        </p:nvSpPr>
        <p:spPr>
          <a:xfrm>
            <a:off x="7207723" y="602735"/>
            <a:ext cx="42821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smtClean="0"/>
              <a:t>실습서버 </a:t>
            </a:r>
            <a:r>
              <a:rPr lang="en-US" altLang="ko-KR" sz="1200" smtClean="0"/>
              <a:t>VM</a:t>
            </a:r>
            <a:r>
              <a:rPr lang="ko-KR" altLang="en-US" sz="1200"/>
              <a:t>명	</a:t>
            </a:r>
            <a:r>
              <a:rPr lang="en-US" altLang="ko-KR" sz="1200"/>
              <a:t>dev_cnam9_2024-02-19 </a:t>
            </a:r>
            <a:r>
              <a:rPr lang="en-US" altLang="ko-KR" sz="1200" smtClean="0"/>
              <a:t>17:15:59</a:t>
            </a:r>
          </a:p>
          <a:p>
            <a:endParaRPr lang="en-US" altLang="ko-KR" sz="1200"/>
          </a:p>
          <a:p>
            <a:r>
              <a:rPr lang="ko-KR" altLang="en-US" sz="1200" smtClean="0"/>
              <a:t>SSH </a:t>
            </a:r>
            <a:r>
              <a:rPr lang="ko-KR" altLang="en-US" sz="1200"/>
              <a:t>접속 정보	IP : 210.114.91.91 Port : 26867</a:t>
            </a:r>
          </a:p>
          <a:p>
            <a:r>
              <a:rPr lang="ko-KR" altLang="en-US" sz="1200"/>
              <a:t>서비스포트1	=&gt; 26868</a:t>
            </a:r>
          </a:p>
          <a:p>
            <a:r>
              <a:rPr lang="ko-KR" altLang="en-US" sz="1200"/>
              <a:t>서비스포트2	=&gt; 26869</a:t>
            </a:r>
          </a:p>
          <a:p>
            <a:r>
              <a:rPr lang="ko-KR" altLang="en-US" sz="1200"/>
              <a:t>서비스포트3	=&gt; 26870</a:t>
            </a:r>
          </a:p>
          <a:p>
            <a:r>
              <a:rPr lang="ko-KR" altLang="en-US" sz="1200"/>
              <a:t>아이디	devuser</a:t>
            </a:r>
          </a:p>
          <a:p>
            <a:r>
              <a:rPr lang="ko-KR" altLang="en-US" sz="1200"/>
              <a:t>비밀번호	hello.dev</a:t>
            </a:r>
          </a:p>
          <a:p>
            <a:r>
              <a:rPr lang="ko-KR" altLang="en-US" sz="1200"/>
              <a:t>서버상태	서버가동중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472649" y="4189195"/>
            <a:ext cx="286020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smtClean="0"/>
              <a:t>https://kbig.kr/portal/kbig/user/login</a:t>
            </a:r>
          </a:p>
          <a:p>
            <a:r>
              <a:rPr lang="ko-KR" altLang="en-US" sz="1000" smtClean="0"/>
              <a:t>cnam9 / llmrag2024!</a:t>
            </a:r>
          </a:p>
          <a:p>
            <a:endParaRPr lang="en-US" altLang="ko-KR" sz="1000" smtClean="0"/>
          </a:p>
          <a:p>
            <a:r>
              <a:rPr lang="ko-KR" altLang="en-US" sz="1000" smtClean="0"/>
              <a:t>도메인</a:t>
            </a:r>
            <a:r>
              <a:rPr lang="ko-KR" altLang="en-US" sz="1000"/>
              <a:t>	deep.kbig.kr</a:t>
            </a:r>
          </a:p>
          <a:p>
            <a:r>
              <a:rPr lang="ko-KR" altLang="en-US" sz="1000"/>
              <a:t>비밀번호	Ii2phahT</a:t>
            </a:r>
          </a:p>
          <a:p>
            <a:r>
              <a:rPr lang="ko-KR" altLang="en-US" sz="1000"/>
              <a:t>컨테이너 접속 포트	12608</a:t>
            </a:r>
          </a:p>
          <a:p>
            <a:r>
              <a:rPr lang="ko-KR" altLang="en-US" sz="1000"/>
              <a:t>H20 포트	13608</a:t>
            </a:r>
          </a:p>
          <a:p>
            <a:r>
              <a:rPr lang="ko-KR" altLang="en-US" sz="1000"/>
              <a:t>DIGITS 포트	15608</a:t>
            </a:r>
          </a:p>
          <a:p>
            <a:r>
              <a:rPr lang="ko-KR" altLang="en-US" sz="1000"/>
              <a:t>Tensorboard 포트	16608</a:t>
            </a:r>
          </a:p>
          <a:p>
            <a:r>
              <a:rPr lang="ko-KR" altLang="en-US" sz="1000"/>
              <a:t>Jupyter notebook 포트	18608</a:t>
            </a:r>
          </a:p>
        </p:txBody>
      </p:sp>
    </p:spTree>
    <p:extLst>
      <p:ext uri="{BB962C8B-B14F-4D97-AF65-F5344CB8AC3E}">
        <p14:creationId xmlns:p14="http://schemas.microsoft.com/office/powerpoint/2010/main" val="3953488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04825" y="696010"/>
            <a:ext cx="912495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smtClean="0"/>
              <a:t>su </a:t>
            </a:r>
          </a:p>
          <a:p>
            <a:r>
              <a:rPr lang="ko-KR" altLang="en-US" sz="1400" smtClean="0"/>
              <a:t>  </a:t>
            </a:r>
            <a:r>
              <a:rPr lang="en-US" altLang="ko-KR" sz="1400" smtClean="0"/>
              <a:t>password: </a:t>
            </a:r>
            <a:r>
              <a:rPr lang="ko-KR" altLang="en-US" sz="1400" smtClean="0"/>
              <a:t>hello.dev</a:t>
            </a:r>
            <a:endParaRPr lang="en-US" altLang="ko-KR" sz="1400" smtClean="0">
              <a:solidFill>
                <a:srgbClr val="EFB080"/>
              </a:solidFill>
              <a:latin typeface="Consolas" panose="020B0609020204030204" pitchFamily="49" charset="0"/>
            </a:endParaRPr>
          </a:p>
          <a:p>
            <a:endParaRPr lang="en-US" altLang="ko-KR" sz="1400" smtClean="0">
              <a:solidFill>
                <a:srgbClr val="EFB080"/>
              </a:solidFill>
              <a:latin typeface="Consolas" panose="020B0609020204030204" pitchFamily="49" charset="0"/>
            </a:endParaRPr>
          </a:p>
          <a:p>
            <a:r>
              <a:rPr lang="en-US" altLang="ko-KR" sz="1400" smtClean="0">
                <a:solidFill>
                  <a:srgbClr val="EFB080"/>
                </a:solidFill>
                <a:latin typeface="Consolas" panose="020B0609020204030204" pitchFamily="49" charset="0"/>
              </a:rPr>
              <a:t>source</a:t>
            </a:r>
            <a:r>
              <a:rPr lang="en-US" altLang="ko-KR" sz="1400" smtClean="0">
                <a:solidFill>
                  <a:srgbClr val="D6D6DD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rgbClr val="E394DC"/>
                </a:solidFill>
                <a:latin typeface="Consolas" panose="020B0609020204030204" pitchFamily="49" charset="0"/>
              </a:rPr>
              <a:t>/app/miniconda3/bin/activate</a:t>
            </a:r>
            <a:endParaRPr lang="en-US" altLang="ko-KR" sz="1400">
              <a:solidFill>
                <a:srgbClr val="D6D6DD"/>
              </a:solidFill>
              <a:latin typeface="Consolas" panose="020B0609020204030204" pitchFamily="49" charset="0"/>
            </a:endParaRPr>
          </a:p>
          <a:p>
            <a:r>
              <a:rPr lang="en-US" altLang="ko-KR" sz="1400">
                <a:solidFill>
                  <a:srgbClr val="D6D6DD"/>
                </a:solidFill>
                <a:latin typeface="Consolas" panose="020B0609020204030204" pitchFamily="49" charset="0"/>
              </a:rPr>
              <a:t>conda </a:t>
            </a:r>
            <a:r>
              <a:rPr lang="en-US" altLang="ko-KR" sz="1400">
                <a:solidFill>
                  <a:srgbClr val="E394DC"/>
                </a:solidFill>
                <a:latin typeface="Consolas" panose="020B0609020204030204" pitchFamily="49" charset="0"/>
              </a:rPr>
              <a:t>activate</a:t>
            </a:r>
            <a:r>
              <a:rPr lang="en-US" altLang="ko-KR" sz="1400">
                <a:solidFill>
                  <a:srgbClr val="D6D6DD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smtClean="0">
                <a:solidFill>
                  <a:srgbClr val="E394DC"/>
                </a:solidFill>
                <a:latin typeface="Consolas" panose="020B0609020204030204" pitchFamily="49" charset="0"/>
              </a:rPr>
              <a:t>wc</a:t>
            </a:r>
          </a:p>
          <a:p>
            <a:endParaRPr lang="en-US" altLang="ko-KR" sz="1400" b="0">
              <a:solidFill>
                <a:srgbClr val="E394D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>
                <a:solidFill>
                  <a:srgbClr val="EFB080"/>
                </a:solidFill>
                <a:latin typeface="Consolas" panose="020B0609020204030204" pitchFamily="49" charset="0"/>
              </a:rPr>
              <a:t>cd /home/ai/src/ragChatbot/mngChatBot</a:t>
            </a:r>
          </a:p>
          <a:p>
            <a:r>
              <a:rPr lang="ko-KR" altLang="en-US" sz="1400"/>
              <a:t>export OPENAI_API_KEY="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"</a:t>
            </a:r>
          </a:p>
          <a:p>
            <a:endParaRPr lang="en-US" altLang="ko-KR" b="0" smtClean="0">
              <a:solidFill>
                <a:srgbClr val="D6D6DD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mtClean="0">
                <a:solidFill>
                  <a:srgbClr val="D6D6DD"/>
                </a:solidFill>
                <a:latin typeface="Consolas" panose="020B0609020204030204" pitchFamily="49" charset="0"/>
              </a:rPr>
              <a:t>cd /home/ai/src/ragChatbot/wcChat</a:t>
            </a:r>
          </a:p>
          <a:p>
            <a:r>
              <a:rPr lang="en-US" altLang="ko-KR" b="0" smtClean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python wcChat_app.py</a:t>
            </a:r>
          </a:p>
          <a:p>
            <a:endParaRPr lang="en-US" altLang="ko-KR">
              <a:solidFill>
                <a:srgbClr val="D6D6DD"/>
              </a:solidFill>
              <a:latin typeface="Consolas" panose="020B0609020204030204" pitchFamily="49" charset="0"/>
            </a:endParaRPr>
          </a:p>
          <a:p>
            <a:r>
              <a:rPr lang="en-US" altLang="ko-KR" b="0" smtClean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ps -ef | grep wcChat</a:t>
            </a:r>
          </a:p>
          <a:p>
            <a:r>
              <a:rPr lang="en-US" altLang="ko-KR" smtClean="0">
                <a:solidFill>
                  <a:srgbClr val="D6D6DD"/>
                </a:solidFill>
                <a:latin typeface="Consolas" panose="020B0609020204030204" pitchFamily="49" charset="0"/>
              </a:rPr>
              <a:t>kill -9 </a:t>
            </a:r>
            <a:endParaRPr lang="en-US" altLang="ko-KR" b="0">
              <a:solidFill>
                <a:srgbClr val="D6D6DD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67429" y="4596884"/>
            <a:ext cx="409439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mtClean="0"/>
              <a:t>pip list </a:t>
            </a:r>
          </a:p>
          <a:p>
            <a:r>
              <a:rPr lang="ko-KR" altLang="en-US" smtClean="0"/>
              <a:t>urllib3                                  2.1.0</a:t>
            </a:r>
            <a:endParaRPr lang="en-US" altLang="ko-KR" smtClean="0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624915" y="148709"/>
            <a:ext cx="648587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mtClean="0">
                <a:solidFill>
                  <a:srgbClr val="000000"/>
                </a:solidFill>
                <a:latin typeface="맑은 고딕" panose="020B0503020000020004" pitchFamily="50" charset="-127"/>
              </a:rPr>
              <a:t>ragChatbot  - api </a:t>
            </a:r>
            <a:r>
              <a:rPr lang="ko-KR" altLang="en-US" smtClean="0">
                <a:solidFill>
                  <a:srgbClr val="000000"/>
                </a:solidFill>
                <a:latin typeface="맑은 고딕" panose="020B0503020000020004" pitchFamily="50" charset="-127"/>
              </a:rPr>
              <a:t>발급</a:t>
            </a:r>
            <a:endParaRPr lang="en-US" altLang="ko-KR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200" smtClean="0"/>
              <a:t>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</a:t>
            </a:r>
          </a:p>
          <a:p>
            <a:r>
              <a:rPr lang="ko-KR" altLang="en-US" sz="1200"/>
              <a:t>export </a:t>
            </a:r>
            <a:r>
              <a:rPr lang="ko-KR" altLang="en-US" sz="1200"/>
              <a:t>OPENAI_API_KEY</a:t>
            </a:r>
            <a:r>
              <a:rPr lang="ko-KR" altLang="en-US" sz="1200" smtClean="0"/>
              <a:t>="</a:t>
            </a:r>
            <a:r>
              <a:rPr lang="en-US" altLang="ko-KR" sz="1200" smtClean="0"/>
              <a:t>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</a:t>
            </a:r>
            <a:r>
              <a:rPr lang="ko-KR" altLang="en-US" sz="1200" smtClean="0"/>
              <a:t>"</a:t>
            </a:r>
            <a:endParaRPr lang="ko-KR" altLang="en-US" sz="1200"/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84521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8472649" y="4189195"/>
            <a:ext cx="286020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smtClean="0"/>
              <a:t>https://kbig.kr/portal/kbig/user/login</a:t>
            </a:r>
          </a:p>
          <a:p>
            <a:r>
              <a:rPr lang="ko-KR" altLang="en-US" sz="1000" smtClean="0"/>
              <a:t>cnam9 / llmrag2024!</a:t>
            </a:r>
          </a:p>
          <a:p>
            <a:endParaRPr lang="en-US" altLang="ko-KR" sz="1000" smtClean="0"/>
          </a:p>
          <a:p>
            <a:r>
              <a:rPr lang="ko-KR" altLang="en-US" sz="1000" smtClean="0"/>
              <a:t>도메인</a:t>
            </a:r>
            <a:r>
              <a:rPr lang="ko-KR" altLang="en-US" sz="1000"/>
              <a:t>	deep.kbig.kr</a:t>
            </a:r>
          </a:p>
          <a:p>
            <a:r>
              <a:rPr lang="ko-KR" altLang="en-US" sz="1000"/>
              <a:t>비밀번호	Ii2phahT</a:t>
            </a:r>
          </a:p>
          <a:p>
            <a:r>
              <a:rPr lang="ko-KR" altLang="en-US" sz="1000"/>
              <a:t>컨테이너 접속 포트	12608</a:t>
            </a:r>
          </a:p>
          <a:p>
            <a:r>
              <a:rPr lang="ko-KR" altLang="en-US" sz="1000"/>
              <a:t>H20 포트	13608</a:t>
            </a:r>
          </a:p>
          <a:p>
            <a:r>
              <a:rPr lang="ko-KR" altLang="en-US" sz="1000"/>
              <a:t>DIGITS 포트	15608</a:t>
            </a:r>
          </a:p>
          <a:p>
            <a:r>
              <a:rPr lang="ko-KR" altLang="en-US" sz="1000"/>
              <a:t>Tensorboard 포트	16608</a:t>
            </a:r>
          </a:p>
          <a:p>
            <a:r>
              <a:rPr lang="ko-KR" altLang="en-US" sz="1000"/>
              <a:t>Jupyter notebook 포트	18608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50455" y="509854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0"/>
              </a:spcAft>
            </a:pPr>
            <a:r>
              <a:rPr lang="en-US" altLang="ko-KR" sz="1200" smtClean="0">
                <a:solidFill>
                  <a:srgbClr val="FF0000"/>
                </a:solidFill>
              </a:rPr>
              <a:t># </a:t>
            </a:r>
            <a:r>
              <a:rPr lang="ko-KR" altLang="en-US" sz="1200" smtClean="0">
                <a:solidFill>
                  <a:srgbClr val="FF0000"/>
                </a:solidFill>
              </a:rPr>
              <a:t>가상환경 생성  </a:t>
            </a:r>
            <a:r>
              <a:rPr lang="en-US" altLang="ko-KR" sz="1200" smtClean="0">
                <a:solidFill>
                  <a:srgbClr val="FF0000"/>
                </a:solidFill>
              </a:rPr>
              <a:t>- </a:t>
            </a:r>
            <a:r>
              <a:rPr lang="ko-KR" altLang="en-US" sz="1200" smtClean="0">
                <a:solidFill>
                  <a:srgbClr val="FF0000"/>
                </a:solidFill>
              </a:rPr>
              <a:t>딥러닝 인프라 </a:t>
            </a:r>
            <a:endParaRPr lang="en-US" altLang="ko-KR" sz="1200" smtClean="0">
              <a:solidFill>
                <a:srgbClr val="FF0000"/>
              </a:solidFill>
            </a:endParaRPr>
          </a:p>
          <a:p>
            <a:pPr algn="just">
              <a:spcAft>
                <a:spcPts val="0"/>
              </a:spcAft>
            </a:pPr>
            <a:r>
              <a:rPr lang="en-US" altLang="ko-KR" sz="1200" smtClean="0"/>
              <a:t>conda create –n wc_test1 python=3.8  #</a:t>
            </a:r>
            <a:r>
              <a:rPr lang="ko-KR" altLang="en-US" sz="1200" smtClean="0"/>
              <a:t>가상환경 </a:t>
            </a:r>
            <a:r>
              <a:rPr lang="en-US" altLang="ko-KR" sz="1200" smtClean="0"/>
              <a:t>ac</a:t>
            </a:r>
            <a:r>
              <a:rPr lang="ko-KR" altLang="en-US" sz="1200" smtClean="0"/>
              <a:t>만들기 </a:t>
            </a:r>
            <a:endParaRPr lang="en-US" altLang="ko-KR" sz="1200" smtClean="0"/>
          </a:p>
          <a:p>
            <a:pPr algn="just">
              <a:spcAft>
                <a:spcPts val="0"/>
              </a:spcAft>
            </a:pPr>
            <a:r>
              <a:rPr lang="en-US" altLang="ko-KR" sz="1200" smtClean="0"/>
              <a:t>conda activate wc_test1</a:t>
            </a:r>
          </a:p>
          <a:p>
            <a:pPr algn="just">
              <a:spcAft>
                <a:spcPts val="0"/>
              </a:spcAft>
            </a:pPr>
            <a:r>
              <a:rPr lang="en-US" altLang="ko-KR" sz="1200" smtClean="0"/>
              <a:t>conda env list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33631" y="1453634"/>
            <a:ext cx="32290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ssh </a:t>
            </a:r>
            <a:r>
              <a:rPr lang="en-US" altLang="ko-KR" smtClean="0"/>
              <a:t>root@</a:t>
            </a:r>
            <a:r>
              <a:rPr lang="ko-KR" altLang="en-US" smtClean="0"/>
              <a:t>deep.kbig.kr</a:t>
            </a:r>
            <a:r>
              <a:rPr lang="en-US" altLang="ko-KR" smtClean="0"/>
              <a:t>:12608</a:t>
            </a: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438381" y="4763691"/>
            <a:ext cx="6096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/>
              <a:t>1) Windows : PuTTY	컨테이너 접속후	컨테이너 접속 후</a:t>
            </a:r>
          </a:p>
          <a:p>
            <a:r>
              <a:rPr lang="ko-KR" altLang="en-US" sz="1000"/>
              <a:t>   Hostname : deep.kbig.kr</a:t>
            </a:r>
          </a:p>
          <a:p>
            <a:r>
              <a:rPr lang="ko-KR" altLang="en-US" sz="1000"/>
              <a:t>   port: 12608	cd /root/h2o	cd /root/digits</a:t>
            </a:r>
          </a:p>
          <a:p>
            <a:r>
              <a:rPr lang="ko-KR" altLang="en-US" sz="1000"/>
              <a:t>   ID : root</a:t>
            </a:r>
          </a:p>
          <a:p>
            <a:r>
              <a:rPr lang="ko-KR" altLang="en-US" sz="1000"/>
              <a:t>   PW : Ii2phahT	./start-h2o-docker.sh 명령어 실행	./digits-devserver &amp; 명령어 실행</a:t>
            </a:r>
          </a:p>
          <a:p>
            <a:r>
              <a:rPr lang="ko-KR" altLang="en-US" sz="1000"/>
              <a:t>2) Mac, Linux	http://deep.kbig.kr:13608 접속</a:t>
            </a:r>
          </a:p>
          <a:p>
            <a:r>
              <a:rPr lang="ko-KR" altLang="en-US" sz="1000"/>
              <a:t>*빅데이터센터 오픈랩 내에서만 접속 가능	http://deep.kbig.kr:15608 접속</a:t>
            </a:r>
          </a:p>
          <a:p>
            <a:r>
              <a:rPr lang="ko-KR" altLang="en-US" sz="1000"/>
              <a:t>*빅데이터센터 오픈랩 내에서만 접속 가능</a:t>
            </a:r>
          </a:p>
          <a:p>
            <a:r>
              <a:rPr lang="ko-KR" altLang="en-US" sz="1000"/>
              <a:t>   ssh root@deep.kbig.kr -p 12608</a:t>
            </a:r>
          </a:p>
          <a:p>
            <a:r>
              <a:rPr lang="ko-KR" altLang="en-US" sz="1000"/>
              <a:t>   PW : Ii2phahT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50455" y="2120384"/>
            <a:ext cx="2748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conda </a:t>
            </a:r>
            <a:r>
              <a:rPr lang="en-US" altLang="ko-KR" smtClean="0"/>
              <a:t>activate</a:t>
            </a:r>
            <a:r>
              <a:rPr lang="en-US" altLang="ko-KR"/>
              <a:t> wc_test1</a:t>
            </a:r>
            <a:r>
              <a:rPr lang="en-US" altLang="ko-KR" smtClean="0"/>
              <a:t> </a:t>
            </a: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38381" y="2682939"/>
            <a:ext cx="282038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mtClean="0">
                <a:hlinkClick r:id="rId2"/>
              </a:rPr>
              <a:t>http://</a:t>
            </a:r>
            <a:r>
              <a:rPr lang="ko-KR" altLang="en-US" smtClean="0">
                <a:hlinkClick r:id="rId2"/>
              </a:rPr>
              <a:t>deep.kbig.kr</a:t>
            </a:r>
            <a:r>
              <a:rPr lang="en-US" altLang="ko-KR" smtClean="0">
                <a:hlinkClick r:id="rId2"/>
              </a:rPr>
              <a:t>:18608</a:t>
            </a:r>
            <a:endParaRPr lang="en-US" altLang="ko-KR" smtClean="0"/>
          </a:p>
          <a:p>
            <a:r>
              <a:rPr lang="en-US" altLang="ko-KR"/>
              <a:t>http://</a:t>
            </a:r>
            <a:r>
              <a:rPr lang="ko-KR" altLang="en-US" smtClean="0"/>
              <a:t>deep.kbig.kr</a:t>
            </a:r>
            <a:r>
              <a:rPr lang="en-US" altLang="ko-KR" smtClean="0"/>
              <a:t>:16608</a:t>
            </a:r>
            <a:endParaRPr lang="ko-KR" altLang="en-US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336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045024" y="348734"/>
            <a:ext cx="512031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>
                <a:hlinkClick r:id="rId2"/>
              </a:rPr>
              <a:t>https://</a:t>
            </a:r>
            <a:r>
              <a:rPr lang="ko-KR" altLang="en-US" smtClean="0">
                <a:hlinkClick r:id="rId2"/>
              </a:rPr>
              <a:t>github.com/llmRagApp/ragChatbot</a:t>
            </a:r>
            <a:endParaRPr lang="en-US" altLang="ko-KR" smtClean="0"/>
          </a:p>
          <a:p>
            <a:r>
              <a:rPr lang="en-US" altLang="ko-KR"/>
              <a:t>https://github.com/llmRagApp/ragChatbotPulic</a:t>
            </a:r>
          </a:p>
          <a:p>
            <a:r>
              <a:rPr lang="en-US" altLang="ko-KR">
                <a:hlinkClick r:id="rId3"/>
              </a:rPr>
              <a:t>https://</a:t>
            </a:r>
            <a:r>
              <a:rPr lang="en-US" altLang="ko-KR" smtClean="0">
                <a:hlinkClick r:id="rId3"/>
              </a:rPr>
              <a:t>github.com/llmRagApp/ragChatbot.git</a:t>
            </a:r>
            <a:endParaRPr lang="en-US" altLang="ko-KR" smtClean="0"/>
          </a:p>
          <a:p>
            <a:r>
              <a:rPr lang="en-US" altLang="ko-KR"/>
              <a:t>git@github.com:llmRagApp/ragChatbot.git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00025" y="1847850"/>
            <a:ext cx="745800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/>
              <a:t>cd </a:t>
            </a:r>
            <a:r>
              <a:rPr lang="en-US" altLang="ko-KR" sz="1200"/>
              <a:t>/</a:t>
            </a:r>
            <a:r>
              <a:rPr lang="en-US" altLang="ko-KR" sz="1200" smtClean="0"/>
              <a:t>home/ai/src/ragChatbot</a:t>
            </a:r>
          </a:p>
          <a:p>
            <a:r>
              <a:rPr lang="en-US" altLang="ko-KR" sz="1200"/>
              <a:t>echo "# ragChatbot" &gt;&gt; README.md</a:t>
            </a:r>
          </a:p>
          <a:p>
            <a:r>
              <a:rPr lang="en-US" altLang="ko-KR" sz="1200" smtClean="0"/>
              <a:t>git init</a:t>
            </a:r>
          </a:p>
          <a:p>
            <a:r>
              <a:rPr lang="en-US" altLang="ko-KR" sz="1200" smtClean="0"/>
              <a:t>git add README.md</a:t>
            </a:r>
            <a:endParaRPr lang="en-US" altLang="ko-KR" sz="1200"/>
          </a:p>
          <a:p>
            <a:r>
              <a:rPr lang="en-US" altLang="ko-KR" sz="1200" smtClean="0"/>
              <a:t>git </a:t>
            </a:r>
            <a:r>
              <a:rPr lang="en-US" altLang="ko-KR" sz="1200"/>
              <a:t>add </a:t>
            </a:r>
            <a:r>
              <a:rPr lang="en-US" altLang="ko-KR" sz="1200" smtClean="0"/>
              <a:t>--all</a:t>
            </a:r>
            <a:endParaRPr lang="en-US" altLang="ko-KR" sz="1200"/>
          </a:p>
          <a:p>
            <a:r>
              <a:rPr lang="en-US" altLang="ko-KR" sz="1200" smtClean="0"/>
              <a:t>git commit –m ‘first commit’</a:t>
            </a:r>
          </a:p>
          <a:p>
            <a:r>
              <a:rPr lang="en-US" altLang="ko-KR" sz="1200" smtClean="0"/>
              <a:t>git branch –M main</a:t>
            </a:r>
          </a:p>
          <a:p>
            <a:r>
              <a:rPr lang="en-US" altLang="ko-KR" sz="1200" smtClean="0"/>
              <a:t>git remote add origin </a:t>
            </a:r>
            <a:r>
              <a:rPr lang="en-US" altLang="ko-KR" sz="1200" smtClean="0">
                <a:hlinkClick r:id="rId4"/>
              </a:rPr>
              <a:t>git@github.com:llmRagApp/ragChatbot.git</a:t>
            </a:r>
            <a:endParaRPr lang="en-US" altLang="ko-KR" sz="1200" smtClean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ko-KR" sz="1200" smtClean="0"/>
              <a:t>fatal</a:t>
            </a:r>
            <a:r>
              <a:rPr lang="en-US" altLang="ko-KR" sz="1200"/>
              <a:t>: remote origin already exists</a:t>
            </a:r>
            <a:r>
              <a:rPr lang="en-US" altLang="ko-KR" sz="1200" smtClean="0"/>
              <a:t>. </a:t>
            </a:r>
            <a:r>
              <a:rPr lang="ko-KR" altLang="en-US" sz="1200" smtClean="0"/>
              <a:t>에러 나는 경우 </a:t>
            </a:r>
            <a:r>
              <a:rPr lang="en-US" altLang="ko-KR" sz="1200" smtClean="0"/>
              <a:t>: </a:t>
            </a:r>
            <a:r>
              <a:rPr lang="ko-KR" altLang="en-US" sz="1200" smtClean="0"/>
              <a:t>다른 소스 복사 후 이미 깃 </a:t>
            </a:r>
            <a:r>
              <a:rPr lang="en-US" altLang="ko-KR" sz="1200" smtClean="0"/>
              <a:t>remote </a:t>
            </a:r>
            <a:r>
              <a:rPr lang="ko-KR" altLang="en-US" sz="1200" smtClean="0"/>
              <a:t>정보 있는 경우 </a:t>
            </a:r>
            <a:endParaRPr lang="en-US" altLang="ko-KR" sz="1200" smtClean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altLang="ko-KR" sz="1200" smtClean="0"/>
              <a:t>git remote -v</a:t>
            </a:r>
            <a:endParaRPr lang="en-US" altLang="ko-KR" sz="120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sz="1200" smtClean="0"/>
              <a:t>git </a:t>
            </a:r>
            <a:r>
              <a:rPr lang="en-US" altLang="ko-KR" sz="1200"/>
              <a:t>remote rm </a:t>
            </a:r>
            <a:r>
              <a:rPr lang="en-US" altLang="ko-KR" sz="1200" smtClean="0"/>
              <a:t>origin  (</a:t>
            </a:r>
            <a:r>
              <a:rPr lang="ko-KR" altLang="en-US" sz="1200" smtClean="0"/>
              <a:t>연결되어 있는 저장소 정보 삭제하고 재설정 필요 </a:t>
            </a:r>
            <a:r>
              <a:rPr lang="en-US" altLang="ko-KR" sz="1200" smtClean="0"/>
              <a:t>) 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sz="1200"/>
              <a:t>git remote rm </a:t>
            </a:r>
            <a:r>
              <a:rPr lang="en-US" altLang="ko-KR" sz="1200" smtClean="0"/>
              <a:t>ac</a:t>
            </a:r>
          </a:p>
          <a:p>
            <a:r>
              <a:rPr lang="ko-KR" altLang="en-US" sz="1200" smtClean="0"/>
              <a:t>다시 </a:t>
            </a:r>
            <a:r>
              <a:rPr lang="en-US" altLang="ko-KR" sz="1200" smtClean="0"/>
              <a:t>remote </a:t>
            </a:r>
            <a:r>
              <a:rPr lang="ko-KR" altLang="en-US" sz="1200" smtClean="0"/>
              <a:t>추가 </a:t>
            </a:r>
            <a:endParaRPr lang="en-US" altLang="ko-KR" sz="1200" smtClean="0"/>
          </a:p>
          <a:p>
            <a:endParaRPr lang="en-US" altLang="ko-KR" sz="1200"/>
          </a:p>
          <a:p>
            <a:r>
              <a:rPr lang="en-US" altLang="ko-KR" sz="1200"/>
              <a:t>git push -u origin </a:t>
            </a:r>
            <a:r>
              <a:rPr lang="en-US" altLang="ko-KR" sz="1200" smtClean="0"/>
              <a:t>main</a:t>
            </a:r>
          </a:p>
          <a:p>
            <a:r>
              <a:rPr lang="en-US" altLang="ko-KR" sz="1200" smtClean="0"/>
              <a:t>================================================</a:t>
            </a:r>
          </a:p>
          <a:p>
            <a:endParaRPr lang="en-US" altLang="ko-KR" sz="1200" smtClean="0">
              <a:solidFill>
                <a:srgbClr val="00B050"/>
              </a:solidFill>
            </a:endParaRPr>
          </a:p>
          <a:p>
            <a:r>
              <a:rPr lang="en-US" altLang="ko-KR" sz="1200" smtClean="0">
                <a:solidFill>
                  <a:srgbClr val="00B050"/>
                </a:solidFill>
              </a:rPr>
              <a:t>git </a:t>
            </a:r>
            <a:r>
              <a:rPr lang="en-US" altLang="ko-KR" sz="1200">
                <a:solidFill>
                  <a:srgbClr val="00B050"/>
                </a:solidFill>
              </a:rPr>
              <a:t>add --all</a:t>
            </a:r>
          </a:p>
          <a:p>
            <a:r>
              <a:rPr lang="en-US" altLang="ko-KR" sz="1200">
                <a:solidFill>
                  <a:srgbClr val="00B050"/>
                </a:solidFill>
              </a:rPr>
              <a:t>git commit -m 'delete s3, modified s2'</a:t>
            </a:r>
          </a:p>
          <a:p>
            <a:r>
              <a:rPr lang="en-US" altLang="ko-KR" sz="1200">
                <a:solidFill>
                  <a:srgbClr val="00B050"/>
                </a:solidFill>
              </a:rPr>
              <a:t>git push -u origin master</a:t>
            </a:r>
          </a:p>
          <a:p>
            <a:endParaRPr lang="ko-KR" altLang="en-US" sz="1200"/>
          </a:p>
        </p:txBody>
      </p:sp>
      <p:sp>
        <p:nvSpPr>
          <p:cNvPr id="4" name="직사각형 3"/>
          <p:cNvSpPr/>
          <p:nvPr/>
        </p:nvSpPr>
        <p:spPr>
          <a:xfrm>
            <a:off x="7312498" y="288410"/>
            <a:ext cx="42821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smtClean="0"/>
              <a:t>실습서버 </a:t>
            </a:r>
            <a:r>
              <a:rPr lang="en-US" altLang="ko-KR" sz="1200" smtClean="0"/>
              <a:t>VM</a:t>
            </a:r>
            <a:r>
              <a:rPr lang="ko-KR" altLang="en-US" sz="1200"/>
              <a:t>명	</a:t>
            </a:r>
            <a:r>
              <a:rPr lang="en-US" altLang="ko-KR" sz="1200"/>
              <a:t>dev_cnam9_2024-02-19 </a:t>
            </a:r>
            <a:r>
              <a:rPr lang="en-US" altLang="ko-KR" sz="1200" smtClean="0"/>
              <a:t>17:15:59</a:t>
            </a:r>
          </a:p>
          <a:p>
            <a:endParaRPr lang="en-US" altLang="ko-KR" sz="1200"/>
          </a:p>
          <a:p>
            <a:r>
              <a:rPr lang="ko-KR" altLang="en-US" sz="1200" smtClean="0"/>
              <a:t>SSH </a:t>
            </a:r>
            <a:r>
              <a:rPr lang="ko-KR" altLang="en-US" sz="1200"/>
              <a:t>접속 정보	IP : 210.114.91.91 Port : 26867</a:t>
            </a:r>
          </a:p>
          <a:p>
            <a:r>
              <a:rPr lang="ko-KR" altLang="en-US" sz="1200"/>
              <a:t>서비스포트1	=&gt; 26868</a:t>
            </a:r>
          </a:p>
          <a:p>
            <a:r>
              <a:rPr lang="ko-KR" altLang="en-US" sz="1200"/>
              <a:t>서비스포트2	=&gt; 26869</a:t>
            </a:r>
          </a:p>
          <a:p>
            <a:r>
              <a:rPr lang="ko-KR" altLang="en-US" sz="1200"/>
              <a:t>서비스포트3	=&gt; 26870</a:t>
            </a:r>
          </a:p>
          <a:p>
            <a:r>
              <a:rPr lang="ko-KR" altLang="en-US" sz="1200"/>
              <a:t>아이디	devuser</a:t>
            </a:r>
          </a:p>
          <a:p>
            <a:r>
              <a:rPr lang="ko-KR" altLang="en-US" sz="1200"/>
              <a:t>비밀번호	hello.dev</a:t>
            </a:r>
          </a:p>
          <a:p>
            <a:r>
              <a:rPr lang="ko-KR" altLang="en-US" sz="1200"/>
              <a:t>서버상태	서버가동중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366" y="5676900"/>
            <a:ext cx="73128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/>
            </a:r>
            <a:br>
              <a:rPr lang="en-US" altLang="ko-KR"/>
            </a:br>
            <a:r>
              <a:rPr lang="en-US" altLang="ko-KR" b="1" smtClean="0">
                <a:hlinkClick r:id="rId5"/>
              </a:rPr>
              <a:t>NamkyuChoi</a:t>
            </a:r>
            <a:r>
              <a:rPr lang="en-US" altLang="ko-KR" smtClean="0">
                <a:hlinkClick r:id="rId5"/>
              </a:rPr>
              <a:t>@github.com:llmRagApp/ragChatbot.git</a:t>
            </a:r>
            <a:endParaRPr lang="en-US" altLang="ko-KR" smtClean="0"/>
          </a:p>
          <a:p>
            <a:r>
              <a:rPr lang="en-US" altLang="ko-KR"/>
              <a:t>git remote add origin https://github.com/llmRagApp/ragChatbot.git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286826" y="4203700"/>
            <a:ext cx="530780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username : </a:t>
            </a:r>
            <a:r>
              <a:rPr lang="en-US" altLang="ko-KR" b="1" smtClean="0">
                <a:hlinkClick r:id="rId5"/>
              </a:rPr>
              <a:t>NamkyuChoi</a:t>
            </a:r>
            <a:endParaRPr lang="en-US" altLang="ko-KR" b="1" smtClean="0"/>
          </a:p>
          <a:p>
            <a:r>
              <a:rPr lang="en-US" altLang="ko-KR" b="1" smtClean="0"/>
              <a:t>email : cnam9@naver.com</a:t>
            </a:r>
            <a:endParaRPr lang="en-US" altLang="ko-KR" smtClean="0"/>
          </a:p>
          <a:p>
            <a:r>
              <a:rPr lang="en-US" altLang="ko-KR" smtClean="0"/>
              <a:t>personal access tokens : </a:t>
            </a:r>
          </a:p>
          <a:p>
            <a:r>
              <a:rPr lang="en-US" altLang="ko-KR" strike="sngStrike" smtClean="0"/>
              <a:t>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</a:t>
            </a:r>
          </a:p>
          <a:p>
            <a:r>
              <a:rPr lang="en-US" altLang="ko-KR"/>
              <a:t>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</a:t>
            </a: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8558374" y="2379445"/>
            <a:ext cx="286020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smtClean="0"/>
              <a:t>https://kbig.kr/portal/kbig/user/login</a:t>
            </a:r>
          </a:p>
          <a:p>
            <a:r>
              <a:rPr lang="ko-KR" altLang="en-US" sz="1000" smtClean="0"/>
              <a:t>cnam9 / llmrag2024!</a:t>
            </a:r>
          </a:p>
          <a:p>
            <a:endParaRPr lang="en-US" altLang="ko-KR" sz="1000" smtClean="0"/>
          </a:p>
          <a:p>
            <a:r>
              <a:rPr lang="ko-KR" altLang="en-US" sz="1000" smtClean="0"/>
              <a:t>도메인</a:t>
            </a:r>
            <a:r>
              <a:rPr lang="ko-KR" altLang="en-US" sz="1000"/>
              <a:t>	deep.kbig.kr</a:t>
            </a:r>
          </a:p>
          <a:p>
            <a:r>
              <a:rPr lang="ko-KR" altLang="en-US" sz="1000"/>
              <a:t>비밀번호	Ii2phahT</a:t>
            </a:r>
          </a:p>
          <a:p>
            <a:r>
              <a:rPr lang="ko-KR" altLang="en-US" sz="1000"/>
              <a:t>컨테이너 접속 포트	12608</a:t>
            </a:r>
          </a:p>
          <a:p>
            <a:r>
              <a:rPr lang="ko-KR" altLang="en-US" sz="1000"/>
              <a:t>H20 포트	13608</a:t>
            </a:r>
          </a:p>
          <a:p>
            <a:r>
              <a:rPr lang="ko-KR" altLang="en-US" sz="1000"/>
              <a:t>DIGITS 포트	15608</a:t>
            </a:r>
          </a:p>
          <a:p>
            <a:r>
              <a:rPr lang="ko-KR" altLang="en-US" sz="1000"/>
              <a:t>Tensorboard 포트	16608</a:t>
            </a:r>
          </a:p>
          <a:p>
            <a:r>
              <a:rPr lang="ko-KR" altLang="en-US" sz="1000"/>
              <a:t>Jupyter notebook 포트	18608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029575" y="5676900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깃 홈페이지 비밀번호</a:t>
            </a:r>
            <a:endParaRPr lang="en-US" altLang="ko-KR" smtClean="0"/>
          </a:p>
          <a:p>
            <a:r>
              <a:rPr lang="en-US" altLang="ko-KR" smtClean="0"/>
              <a:t>llmrag2024!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271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76064" y="682109"/>
            <a:ext cx="6256841" cy="25853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>
                <a:hlinkClick r:id="rId2"/>
              </a:rPr>
              <a:t>https://</a:t>
            </a:r>
            <a:r>
              <a:rPr lang="ko-KR" altLang="en-US" smtClean="0">
                <a:hlinkClick r:id="rId2"/>
              </a:rPr>
              <a:t>github.com/llmRagApp/ragChatbotPublic</a:t>
            </a:r>
            <a:endParaRPr lang="en-US" altLang="ko-KR" smtClean="0"/>
          </a:p>
          <a:p>
            <a:endParaRPr lang="en-US" altLang="ko-KR"/>
          </a:p>
          <a:p>
            <a:endParaRPr lang="en-US" altLang="ko-KR" smtClean="0"/>
          </a:p>
          <a:p>
            <a:r>
              <a:rPr lang="en-US" altLang="ko-KR" smtClean="0"/>
              <a:t>git clone </a:t>
            </a:r>
            <a:r>
              <a:rPr lang="ko-KR" altLang="en-US">
                <a:hlinkClick r:id="rId2"/>
              </a:rPr>
              <a:t>https://</a:t>
            </a:r>
            <a:r>
              <a:rPr lang="ko-KR" altLang="en-US" smtClean="0">
                <a:hlinkClick r:id="rId2"/>
              </a:rPr>
              <a:t>github.com/llmRagApp/ragChatbotPublic</a:t>
            </a:r>
            <a:endParaRPr lang="en-US" altLang="ko-KR" smtClean="0"/>
          </a:p>
          <a:p>
            <a:endParaRPr lang="en-US" altLang="ko-KR" smtClean="0"/>
          </a:p>
          <a:p>
            <a:r>
              <a:rPr lang="en-US" altLang="ko-KR" smtClean="0"/>
              <a:t># </a:t>
            </a:r>
            <a:r>
              <a:rPr lang="ko-KR" altLang="en-US"/>
              <a:t>이후 소스 내려받기 </a:t>
            </a:r>
            <a:endParaRPr lang="en-US" altLang="ko-KR"/>
          </a:p>
          <a:p>
            <a:r>
              <a:rPr lang="en-US" altLang="ko-KR" b="1"/>
              <a:t>git pull</a:t>
            </a:r>
          </a:p>
          <a:p>
            <a:r>
              <a:rPr lang="en-US" altLang="ko-KR"/>
              <a:t>git pull -f</a:t>
            </a:r>
          </a:p>
          <a:p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859443" y="2215873"/>
            <a:ext cx="53078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username : </a:t>
            </a:r>
            <a:r>
              <a:rPr lang="en-US" altLang="ko-KR" b="1" smtClean="0">
                <a:hlinkClick r:id="rId3"/>
              </a:rPr>
              <a:t>NamkyuChoi</a:t>
            </a:r>
            <a:endParaRPr lang="en-US" altLang="ko-KR" b="1" smtClean="0"/>
          </a:p>
          <a:p>
            <a:r>
              <a:rPr lang="en-US" altLang="ko-KR" b="1" smtClean="0"/>
              <a:t>email : cnam9@naver.com</a:t>
            </a:r>
            <a:endParaRPr lang="en-US" altLang="ko-KR" smtClean="0"/>
          </a:p>
          <a:p>
            <a:r>
              <a:rPr lang="en-US" altLang="ko-KR" smtClean="0"/>
              <a:t>personal access tokens : </a:t>
            </a:r>
          </a:p>
          <a:p>
            <a:r>
              <a:rPr lang="en-US" altLang="ko-KR" smtClean="0"/>
              <a:t>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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781675" y="3943350"/>
            <a:ext cx="5444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 git config --global user.name </a:t>
            </a:r>
            <a:r>
              <a:rPr lang="en-US" altLang="ko-KR" b="1" smtClean="0">
                <a:hlinkClick r:id="rId3"/>
              </a:rPr>
              <a:t>NamkyuChoi</a:t>
            </a:r>
            <a:endParaRPr lang="en-US" altLang="ko-KR" b="1" smtClean="0"/>
          </a:p>
          <a:p>
            <a:r>
              <a:rPr lang="en-US" altLang="ko-KR" smtClean="0"/>
              <a:t> git </a:t>
            </a:r>
            <a:r>
              <a:rPr lang="en-US" altLang="ko-KR"/>
              <a:t>config --global user.email </a:t>
            </a:r>
            <a:r>
              <a:rPr lang="en-US" altLang="ko-KR" b="1"/>
              <a:t>cnam9@naver.com</a:t>
            </a: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56484" y="519181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/>
              <a:t>git config --global user.name </a:t>
            </a:r>
            <a:r>
              <a:rPr lang="en-US" altLang="ko-KR" sz="1200" b="1">
                <a:hlinkClick r:id="rId3"/>
              </a:rPr>
              <a:t>NamkyuChoi </a:t>
            </a:r>
            <a:endParaRPr lang="en-US" altLang="ko-KR" sz="1200" b="1" smtClean="0"/>
          </a:p>
          <a:p>
            <a:r>
              <a:rPr lang="ko-KR" altLang="en-US" sz="1200" smtClean="0"/>
              <a:t>git </a:t>
            </a:r>
            <a:r>
              <a:rPr lang="ko-KR" altLang="en-US" sz="1200"/>
              <a:t>config --global user.password </a:t>
            </a:r>
            <a:r>
              <a:rPr lang="en-US" altLang="ko-KR" sz="1200"/>
              <a:t>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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935466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35474" y="367784"/>
            <a:ext cx="46346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https://github.com/llmRagApp/ragChatbot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28600" y="1043791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+mj-lt"/>
              <a:buAutoNum type="arabicPeriod"/>
            </a:pPr>
            <a:r>
              <a:rPr lang="en-US" altLang="ko-KR">
                <a:solidFill>
                  <a:srgbClr val="1F2328"/>
                </a:solidFill>
                <a:latin typeface="-apple-system"/>
              </a:rPr>
              <a:t>ragChatbot </a:t>
            </a:r>
            <a:r>
              <a:rPr lang="ko-KR" altLang="en-US">
                <a:solidFill>
                  <a:srgbClr val="1F2328"/>
                </a:solidFill>
                <a:latin typeface="-apple-system"/>
              </a:rPr>
              <a:t>접근 위한 팀 초대 신청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ko-KR">
                <a:solidFill>
                  <a:srgbClr val="1F2328"/>
                </a:solidFill>
                <a:latin typeface="-apple-system"/>
              </a:rPr>
              <a:t>llmRagApp </a:t>
            </a:r>
            <a:r>
              <a:rPr lang="ko-KR" altLang="en-US">
                <a:solidFill>
                  <a:srgbClr val="1F2328"/>
                </a:solidFill>
                <a:latin typeface="-apple-system"/>
              </a:rPr>
              <a:t>조직내에 </a:t>
            </a:r>
            <a:r>
              <a:rPr lang="en-US" altLang="ko-KR">
                <a:solidFill>
                  <a:srgbClr val="1F2328"/>
                </a:solidFill>
                <a:latin typeface="-apple-system"/>
              </a:rPr>
              <a:t>admin</a:t>
            </a:r>
            <a:r>
              <a:rPr lang="ko-KR" altLang="en-US">
                <a:solidFill>
                  <a:srgbClr val="1F2328"/>
                </a:solidFill>
                <a:latin typeface="-apple-system"/>
              </a:rPr>
              <a:t>팀 또는 </a:t>
            </a:r>
            <a:r>
              <a:rPr lang="en-US" altLang="ko-KR">
                <a:solidFill>
                  <a:srgbClr val="1F2328"/>
                </a:solidFill>
                <a:latin typeface="-apple-system"/>
              </a:rPr>
              <a:t>committer</a:t>
            </a:r>
            <a:r>
              <a:rPr lang="ko-KR" altLang="en-US">
                <a:solidFill>
                  <a:srgbClr val="1F2328"/>
                </a:solidFill>
                <a:latin typeface="-apple-system"/>
              </a:rPr>
              <a:t>팀에 초대 신청</a:t>
            </a:r>
          </a:p>
          <a:p>
            <a:pPr>
              <a:buFont typeface="+mj-lt"/>
              <a:buAutoNum type="arabicPeriod"/>
            </a:pPr>
            <a:r>
              <a:rPr lang="ko-KR" altLang="en-US">
                <a:solidFill>
                  <a:srgbClr val="1F2328"/>
                </a:solidFill>
                <a:latin typeface="-apple-system"/>
              </a:rPr>
              <a:t>초대 완료된 이후에 </a:t>
            </a:r>
            <a:r>
              <a:rPr lang="en-US" altLang="ko-KR">
                <a:solidFill>
                  <a:srgbClr val="1F2328"/>
                </a:solidFill>
                <a:latin typeface="-apple-system"/>
              </a:rPr>
              <a:t>git clone </a:t>
            </a:r>
            <a:r>
              <a:rPr lang="ko-KR" altLang="en-US">
                <a:solidFill>
                  <a:srgbClr val="1F2328"/>
                </a:solidFill>
                <a:latin typeface="-apple-system"/>
              </a:rPr>
              <a:t>진행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1F2328"/>
                </a:solidFill>
                <a:latin typeface="-apple-system"/>
              </a:rPr>
              <a:t>(base) [root@localhost ai ]# cd /home/ai/src/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1F2328"/>
                </a:solidFill>
                <a:latin typeface="-apple-system"/>
              </a:rPr>
              <a:t>(base) [root@localhost ai]# git clone </a:t>
            </a:r>
            <a:r>
              <a:rPr lang="en-US" altLang="ko-KR" u="sng">
                <a:solidFill>
                  <a:srgbClr val="1F2328"/>
                </a:solidFill>
                <a:latin typeface="-apple-system"/>
                <a:hlinkClick r:id="rId2"/>
              </a:rPr>
              <a:t>https://github.com/llmRagApp/ragChatbot</a:t>
            </a:r>
            <a:endParaRPr lang="ko-KR" altLang="en-US">
              <a:solidFill>
                <a:srgbClr val="1F2328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1F2328"/>
                </a:solidFill>
                <a:latin typeface="-apple-system"/>
              </a:rPr>
              <a:t>Cloning into 'ragChatbot'...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1F2328"/>
                </a:solidFill>
                <a:latin typeface="-apple-system"/>
              </a:rPr>
              <a:t>Username for '</a:t>
            </a:r>
            <a:r>
              <a:rPr lang="en-US" altLang="ko-KR" u="sng">
                <a:solidFill>
                  <a:srgbClr val="1F2328"/>
                </a:solidFill>
                <a:latin typeface="-apple-system"/>
                <a:hlinkClick r:id="rId3"/>
              </a:rPr>
              <a:t>https://github.com</a:t>
            </a:r>
            <a:r>
              <a:rPr lang="en-US" altLang="ko-KR">
                <a:solidFill>
                  <a:srgbClr val="1F2328"/>
                </a:solidFill>
                <a:latin typeface="-apple-system"/>
              </a:rPr>
              <a:t>': </a:t>
            </a:r>
            <a:r>
              <a:rPr lang="ko-KR" altLang="en-US">
                <a:solidFill>
                  <a:srgbClr val="1F2328"/>
                </a:solidFill>
                <a:latin typeface="-apple-system"/>
              </a:rPr>
              <a:t>이메일 주소입력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1F2328"/>
                </a:solidFill>
                <a:latin typeface="-apple-system"/>
              </a:rPr>
              <a:t>Password for '</a:t>
            </a:r>
            <a:r>
              <a:rPr lang="en-US" altLang="ko-KR" u="sng">
                <a:solidFill>
                  <a:srgbClr val="1F2328"/>
                </a:solidFill>
                <a:latin typeface="-apple-system"/>
                <a:hlinkClick r:id="rId4"/>
              </a:rPr>
              <a:t>https://cnam9@naver.com@github.com</a:t>
            </a:r>
            <a:r>
              <a:rPr lang="en-US" altLang="ko-KR">
                <a:solidFill>
                  <a:srgbClr val="1F2328"/>
                </a:solidFill>
                <a:latin typeface="-apple-system"/>
              </a:rPr>
              <a:t>': access</a:t>
            </a:r>
            <a:r>
              <a:rPr lang="ko-KR" altLang="en-US">
                <a:solidFill>
                  <a:srgbClr val="1F2328"/>
                </a:solidFill>
                <a:latin typeface="-apple-system"/>
              </a:rPr>
              <a:t>키 입력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1F2328"/>
                </a:solidFill>
                <a:latin typeface="-apple-system"/>
              </a:rPr>
              <a:t>access</a:t>
            </a:r>
            <a:r>
              <a:rPr lang="ko-KR" altLang="en-US">
                <a:solidFill>
                  <a:srgbClr val="1F2328"/>
                </a:solidFill>
                <a:latin typeface="-apple-system"/>
              </a:rPr>
              <a:t>키 등록 방법 </a:t>
            </a:r>
            <a:r>
              <a:rPr lang="en-US" altLang="ko-KR">
                <a:solidFill>
                  <a:srgbClr val="1F2328"/>
                </a:solidFill>
                <a:latin typeface="-apple-system"/>
              </a:rPr>
              <a:t>: </a:t>
            </a:r>
            <a:r>
              <a:rPr lang="ko-KR" altLang="en-US">
                <a:solidFill>
                  <a:srgbClr val="1F2328"/>
                </a:solidFill>
                <a:latin typeface="-apple-system"/>
              </a:rPr>
              <a:t>토큰의 권한정보 모두 선택 참조 </a:t>
            </a:r>
            <a:r>
              <a:rPr lang="en-US" altLang="ko-KR">
                <a:solidFill>
                  <a:srgbClr val="1F2328"/>
                </a:solidFill>
                <a:latin typeface="-apple-system"/>
              </a:rPr>
              <a:t>: </a:t>
            </a:r>
            <a:r>
              <a:rPr lang="en-US" altLang="ko-KR" u="sng">
                <a:solidFill>
                  <a:srgbClr val="1F2328"/>
                </a:solidFill>
                <a:latin typeface="-apple-system"/>
                <a:hlinkClick r:id="rId5"/>
              </a:rPr>
              <a:t>https://hbase.tistory.com/355</a:t>
            </a:r>
            <a:endParaRPr lang="ko-KR" altLang="en-US" b="0" i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011901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65044" y="57265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/>
              <a:t>https://wotres.tistory.com/entry/Github-%EC%97%90%EB%9F%AC-%ED%95%B4%EA%B2%B0%EB%B2%95-Authentication-failed-for-use-a-personal-access-token-instead</a:t>
            </a: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692426" y="189585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/>
              <a:t>7. 로컬 컴퓨터의 깃에 등록</a:t>
            </a:r>
          </a:p>
          <a:p>
            <a:r>
              <a:rPr lang="ko-KR" altLang="en-US"/>
              <a:t>git config --global user.name ‘아이디’</a:t>
            </a:r>
          </a:p>
          <a:p>
            <a:r>
              <a:rPr lang="ko-KR" altLang="en-US"/>
              <a:t>git config --global user.password ‘복사한 토큰’</a:t>
            </a:r>
          </a:p>
          <a:p>
            <a:r>
              <a:rPr lang="ko-KR" altLang="en-US"/>
              <a:t>출처: https://wotres.tistory.com/entry/Github-에러-해결법-Authentication-failed-for-use-a-personal-access-token-instead [Carl's Tech Blog:티스토리]</a:t>
            </a:r>
          </a:p>
        </p:txBody>
      </p:sp>
    </p:spTree>
    <p:extLst>
      <p:ext uri="{BB962C8B-B14F-4D97-AF65-F5344CB8AC3E}">
        <p14:creationId xmlns:p14="http://schemas.microsoft.com/office/powerpoint/2010/main" val="2480001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740400" y="897047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/>
              <a:t>git remote rm &lt;origin/org...&gt;</a:t>
            </a:r>
          </a:p>
          <a:p>
            <a:r>
              <a:rPr lang="ko-KR" altLang="en-US" sz="1200"/>
              <a:t>-&gt; 원격 저장소 삭제. 연결 끊기.</a:t>
            </a:r>
          </a:p>
          <a:p>
            <a:endParaRPr lang="ko-KR" altLang="en-US" sz="1200"/>
          </a:p>
          <a:p>
            <a:r>
              <a:rPr lang="ko-KR" altLang="en-US" sz="1200"/>
              <a:t>git remote -v</a:t>
            </a:r>
          </a:p>
          <a:p>
            <a:r>
              <a:rPr lang="ko-KR" altLang="en-US" sz="1200"/>
              <a:t>-&gt; 연결된 원격 저장소 확인.</a:t>
            </a:r>
          </a:p>
          <a:p>
            <a:endParaRPr lang="ko-KR" altLang="en-US" sz="1200"/>
          </a:p>
          <a:p>
            <a:r>
              <a:rPr lang="ko-KR" altLang="en-US" sz="1200"/>
              <a:t>git remote update</a:t>
            </a:r>
          </a:p>
          <a:p>
            <a:r>
              <a:rPr lang="ko-KR" altLang="en-US" sz="1200"/>
              <a:t>-&gt; 원격 브랜치 업데이트 - 원격 브랜치의 내용들이 로컬에도 반영됩니다. 수시로 하는게 좋은듯.</a:t>
            </a:r>
          </a:p>
          <a:p>
            <a:endParaRPr lang="ko-KR" altLang="en-US" sz="1200"/>
          </a:p>
          <a:p>
            <a:r>
              <a:rPr lang="ko-KR" altLang="en-US" sz="1200"/>
              <a:t>git branch -a</a:t>
            </a:r>
          </a:p>
          <a:p>
            <a:r>
              <a:rPr lang="ko-KR" altLang="en-US" sz="1200"/>
              <a:t>-&gt; 모든 브랜치 보여줌</a:t>
            </a:r>
          </a:p>
          <a:p>
            <a:endParaRPr lang="ko-KR" altLang="en-US" sz="1200"/>
          </a:p>
          <a:p>
            <a:r>
              <a:rPr lang="ko-KR" altLang="en-US" sz="1200"/>
              <a:t>git branch -r</a:t>
            </a:r>
          </a:p>
          <a:p>
            <a:r>
              <a:rPr lang="ko-KR" altLang="en-US" sz="1200"/>
              <a:t>&gt; remote 브랜치 보여줌.</a:t>
            </a:r>
          </a:p>
          <a:p>
            <a:endParaRPr lang="ko-KR" altLang="en-US" sz="1200"/>
          </a:p>
          <a:p>
            <a:r>
              <a:rPr lang="ko-KR" altLang="en-US" sz="1200"/>
              <a:t>git checkout -t &lt;원격브랜치&gt;</a:t>
            </a:r>
          </a:p>
          <a:p>
            <a:r>
              <a:rPr lang="ko-KR" altLang="en-US" sz="1200"/>
              <a:t>-&gt; 원격브랜치를 tracking.  로컬브랜치 이름은 원격브랜치를 따라감.</a:t>
            </a:r>
          </a:p>
          <a:p>
            <a:endParaRPr lang="ko-KR" altLang="en-US" sz="1200"/>
          </a:p>
          <a:p>
            <a:r>
              <a:rPr lang="ko-KR" altLang="en-US" sz="1200"/>
              <a:t>git chekcout -b &lt;생성할 브랜치&gt; &lt;원격브랜치&gt;</a:t>
            </a:r>
          </a:p>
          <a:p>
            <a:r>
              <a:rPr lang="ko-KR" altLang="en-US" sz="1200"/>
              <a:t>-&gt; 위와 달리 로컬에서 브랜치이름을 따로 정하고싶을때.</a:t>
            </a:r>
          </a:p>
          <a:p>
            <a:r>
              <a:rPr lang="ko-KR" altLang="en-US" sz="1200"/>
              <a:t>[출처] [git/github] remote, origin - 아직도 모르는것 투성이|작성자 꼴명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40400" y="373827"/>
            <a:ext cx="31678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git </a:t>
            </a:r>
            <a:r>
              <a:rPr lang="ko-KR" altLang="en-US" smtClean="0"/>
              <a:t>명령어 모음</a:t>
            </a:r>
            <a:endParaRPr lang="en-US" altLang="ko-KR" smtClean="0"/>
          </a:p>
          <a:p>
            <a:r>
              <a:rPr lang="en-US" altLang="ko-KR" sz="1000"/>
              <a:t>(https://</a:t>
            </a:r>
            <a:r>
              <a:rPr lang="en-US" altLang="ko-KR" sz="1000" smtClean="0"/>
              <a:t>blog.naver.com/cakcakcakk/223099822567)</a:t>
            </a:r>
            <a:endParaRPr lang="ko-KR" altLang="en-US" sz="1000"/>
          </a:p>
        </p:txBody>
      </p:sp>
      <p:sp>
        <p:nvSpPr>
          <p:cNvPr id="7" name="직사각형 6"/>
          <p:cNvSpPr/>
          <p:nvPr/>
        </p:nvSpPr>
        <p:spPr>
          <a:xfrm>
            <a:off x="107078" y="373827"/>
            <a:ext cx="537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mtClean="0"/>
              <a:t>기존 원격저장소 해제</a:t>
            </a:r>
            <a:endParaRPr lang="en-US" altLang="ko-KR" smtClean="0"/>
          </a:p>
          <a:p>
            <a:r>
              <a:rPr lang="ko-KR" altLang="en-US" smtClean="0"/>
              <a:t>https</a:t>
            </a:r>
            <a:r>
              <a:rPr lang="ko-KR" altLang="en-US"/>
              <a:t>://blog.naver.com/gksthf4140/222662119625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1204912"/>
            <a:ext cx="4114800" cy="231457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30200" y="3718679"/>
            <a:ext cx="5150721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/>
              <a:t>[Github] "fatal: remote origin already exists." 원격 저장소 연결 문제 해결하기!</a:t>
            </a:r>
          </a:p>
          <a:p>
            <a:r>
              <a:rPr lang="ko-KR" altLang="en-US" sz="1400"/>
              <a:t>https://heytech.tistory.com/153</a:t>
            </a:r>
          </a:p>
          <a:p>
            <a:endParaRPr lang="ko-KR" altLang="en-US" sz="1400"/>
          </a:p>
          <a:p>
            <a:r>
              <a:rPr lang="ko-KR" altLang="en-US" sz="1400"/>
              <a:t>git remote -v</a:t>
            </a:r>
          </a:p>
          <a:p>
            <a:endParaRPr lang="ko-KR" altLang="en-US" sz="1400"/>
          </a:p>
          <a:p>
            <a:r>
              <a:rPr lang="ko-KR" altLang="en-US" sz="1400"/>
              <a:t>다른 저장소에 연결되어 있는 상태라면 </a:t>
            </a:r>
          </a:p>
          <a:p>
            <a:r>
              <a:rPr lang="ko-KR" altLang="en-US" sz="1400"/>
              <a:t>git remote rm origin</a:t>
            </a:r>
          </a:p>
          <a:p>
            <a:r>
              <a:rPr lang="ko-KR" altLang="en-US" sz="1400"/>
              <a:t>하고 다시 </a:t>
            </a:r>
          </a:p>
          <a:p>
            <a:r>
              <a:rPr lang="ko-KR" altLang="en-US" sz="1400"/>
              <a:t>git remote add origin git@github.com:llmRagApp/ragChatbot.git</a:t>
            </a:r>
          </a:p>
        </p:txBody>
      </p:sp>
    </p:spTree>
    <p:extLst>
      <p:ext uri="{BB962C8B-B14F-4D97-AF65-F5344CB8AC3E}">
        <p14:creationId xmlns:p14="http://schemas.microsoft.com/office/powerpoint/2010/main" val="3823421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7" y="187325"/>
            <a:ext cx="8658225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1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7955168" y="234434"/>
            <a:ext cx="3266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https://lxxyeon.tistory.com/72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362700" y="36900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/>
              <a:t>https://steemit.com/hive-137029/@anpigon/20220605t141226727z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1" y="872139"/>
            <a:ext cx="6781800" cy="201024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66700" y="514402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mtClean="0"/>
              <a:t>깃 토큰 발급 받기 </a:t>
            </a:r>
            <a:endParaRPr lang="en-US" altLang="ko-KR" smtClean="0"/>
          </a:p>
          <a:p>
            <a:r>
              <a:rPr lang="ko-KR" altLang="en-US" smtClean="0"/>
              <a:t>https</a:t>
            </a:r>
            <a:r>
              <a:rPr lang="ko-KR" altLang="en-US"/>
              <a:t>://inpa.tistory.com/entry/GitHub-%F0%9F%8F%9B%EF%B8%8F-%EA%B9%83%ED%97%99-%ED%86%A0%ED%81%B0-%EB%B0%9B%EA%B8%B0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6900" y="4902200"/>
            <a:ext cx="23215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mtClean="0"/>
          </a:p>
          <a:p>
            <a:r>
              <a:rPr lang="en-US" altLang="ko-KR" smtClean="0"/>
              <a:t>git config user.name</a:t>
            </a:r>
          </a:p>
          <a:p>
            <a:r>
              <a:rPr lang="en-US" altLang="ko-KR"/>
              <a:t>git config user.email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51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39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55700" y="406400"/>
            <a:ext cx="98933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/>
              <a:t>깃 </a:t>
            </a:r>
            <a:r>
              <a:rPr lang="en-US" altLang="ko-KR" sz="1100" smtClean="0"/>
              <a:t>– </a:t>
            </a:r>
          </a:p>
          <a:p>
            <a:r>
              <a:rPr lang="en-US" altLang="ko-KR" sz="1100"/>
              <a:t>https://velog.io/@shin6949/Github-Token-%EB%B0%A9%EC%8B%9D%EC%9C%BC%EB%A1%9C-%EB%A1%9C%EA%B7%B8%EC%9D%B8%ED%95%98%EA%B8%B0-ch3ra7vc</a:t>
            </a:r>
            <a:endParaRPr lang="ko-KR" altLang="en-US" sz="1100"/>
          </a:p>
        </p:txBody>
      </p:sp>
      <p:sp>
        <p:nvSpPr>
          <p:cNvPr id="6" name="직사각형 5"/>
          <p:cNvSpPr/>
          <p:nvPr/>
        </p:nvSpPr>
        <p:spPr>
          <a:xfrm>
            <a:off x="254000" y="16084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/>
              <a:t>https://docs.github.com/ko/authentication/connecting-to-github-with-ssh/generating-a-new-ssh-key-and-adding-it-to-the-ssh-agent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2" y="2678112"/>
            <a:ext cx="70389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445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739775"/>
            <a:ext cx="11277600" cy="23812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2" y="3306762"/>
            <a:ext cx="5819775" cy="1285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44600" y="330200"/>
            <a:ext cx="319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간단히 우선 사용자로만 생성</a:t>
            </a: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702300" y="6178371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 smtClean="0"/>
              <a:t>참조</a:t>
            </a:r>
            <a:r>
              <a:rPr lang="en-US" altLang="ko-KR" sz="1000" smtClean="0"/>
              <a:t>: </a:t>
            </a:r>
            <a:r>
              <a:rPr lang="ko-KR" altLang="en-US" sz="1000" smtClean="0"/>
              <a:t>https</a:t>
            </a:r>
            <a:r>
              <a:rPr lang="ko-KR" altLang="en-US" sz="1000"/>
              <a:t>://velog.io/@shin6949/Github-Token-%EB%B0%A9%EC%8B%9D%EC%9C%BC%EB%A1%9C-%EB%A1%9C%EA%B7%B8%EC%9D%B8%ED%95%98%EA%B8%B0-ch3ra7vc</a:t>
            </a:r>
          </a:p>
        </p:txBody>
      </p:sp>
    </p:spTree>
    <p:extLst>
      <p:ext uri="{BB962C8B-B14F-4D97-AF65-F5344CB8AC3E}">
        <p14:creationId xmlns:p14="http://schemas.microsoft.com/office/powerpoint/2010/main" val="2393114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7312498" y="288410"/>
            <a:ext cx="42821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smtClean="0"/>
              <a:t>실습서버 </a:t>
            </a:r>
            <a:r>
              <a:rPr lang="en-US" altLang="ko-KR" sz="1200" smtClean="0"/>
              <a:t>VM</a:t>
            </a:r>
            <a:r>
              <a:rPr lang="ko-KR" altLang="en-US" sz="1200"/>
              <a:t>명	</a:t>
            </a:r>
            <a:r>
              <a:rPr lang="en-US" altLang="ko-KR" sz="1200"/>
              <a:t>dev_cnam9_2024-02-19 </a:t>
            </a:r>
            <a:r>
              <a:rPr lang="en-US" altLang="ko-KR" sz="1200" smtClean="0"/>
              <a:t>17:15:59</a:t>
            </a:r>
          </a:p>
          <a:p>
            <a:endParaRPr lang="en-US" altLang="ko-KR" sz="1200"/>
          </a:p>
          <a:p>
            <a:r>
              <a:rPr lang="ko-KR" altLang="en-US" sz="1200" smtClean="0"/>
              <a:t>SSH </a:t>
            </a:r>
            <a:r>
              <a:rPr lang="ko-KR" altLang="en-US" sz="1200"/>
              <a:t>접속 정보	IP : 210.114.91.91 Port : 26867</a:t>
            </a:r>
          </a:p>
          <a:p>
            <a:r>
              <a:rPr lang="ko-KR" altLang="en-US" sz="1200"/>
              <a:t>서비스포트1	=&gt; 26868</a:t>
            </a:r>
          </a:p>
          <a:p>
            <a:r>
              <a:rPr lang="ko-KR" altLang="en-US" sz="1200"/>
              <a:t>서비스포트2	=&gt; 26869</a:t>
            </a:r>
          </a:p>
          <a:p>
            <a:r>
              <a:rPr lang="ko-KR" altLang="en-US" sz="1200"/>
              <a:t>서비스포트3	=&gt; 26870</a:t>
            </a:r>
          </a:p>
          <a:p>
            <a:r>
              <a:rPr lang="ko-KR" altLang="en-US" sz="1200"/>
              <a:t>아이디	devuser</a:t>
            </a:r>
          </a:p>
          <a:p>
            <a:r>
              <a:rPr lang="ko-KR" altLang="en-US" sz="1200"/>
              <a:t>비밀번호	hello.dev</a:t>
            </a:r>
          </a:p>
          <a:p>
            <a:r>
              <a:rPr lang="ko-KR" altLang="en-US" sz="1200"/>
              <a:t>서버상태	서버가동중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6848475" y="2358241"/>
            <a:ext cx="496353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smtClean="0"/>
              <a:t>제이크 </a:t>
            </a:r>
            <a:r>
              <a:rPr lang="en-US" altLang="ko-KR" sz="1200" smtClean="0"/>
              <a:t>: =</a:t>
            </a:r>
            <a:r>
              <a:rPr lang="en-US" altLang="ko-KR" sz="1200" smtClean="0">
                <a:sym typeface="Wingdings" panose="05000000000000000000" pitchFamily="2" charset="2"/>
              </a:rPr>
              <a:t> </a:t>
            </a:r>
            <a:r>
              <a:rPr lang="ko-KR" altLang="en-US" sz="1200" smtClean="0"/>
              <a:t>VM</a:t>
            </a:r>
            <a:r>
              <a:rPr lang="ko-KR" altLang="en-US" sz="1200"/>
              <a:t>명	dev_och9854_2024-03-05 09:02:05</a:t>
            </a:r>
          </a:p>
          <a:p>
            <a:r>
              <a:rPr lang="ko-KR" altLang="en-US" sz="1200"/>
              <a:t>호스트서버	dev01</a:t>
            </a:r>
          </a:p>
          <a:p>
            <a:r>
              <a:rPr lang="ko-KR" altLang="en-US" sz="1200"/>
              <a:t>실습명	LLM&amp;Langchain 개발</a:t>
            </a:r>
          </a:p>
          <a:p>
            <a:r>
              <a:rPr lang="ko-KR" altLang="en-US" sz="1200"/>
              <a:t>사용기간	2024-03-04 ~ 2024-06-03</a:t>
            </a:r>
          </a:p>
          <a:p>
            <a:r>
              <a:rPr lang="ko-KR" altLang="en-US" sz="1200"/>
              <a:t>서버사양	CPU	8 Core Core</a:t>
            </a:r>
          </a:p>
          <a:p>
            <a:r>
              <a:rPr lang="ko-KR" altLang="en-US" sz="1200"/>
              <a:t>Memory	16 Gb GB Memory</a:t>
            </a:r>
          </a:p>
          <a:p>
            <a:r>
              <a:rPr lang="ko-KR" altLang="en-US" sz="1200"/>
              <a:t>Disk	150 Gb GB Disk</a:t>
            </a:r>
          </a:p>
          <a:p>
            <a:r>
              <a:rPr lang="ko-KR" altLang="en-US" sz="1200"/>
              <a:t>SSH 접속 정보	IP : 210.114.91.91 Port : 26947</a:t>
            </a:r>
          </a:p>
          <a:p>
            <a:r>
              <a:rPr lang="ko-KR" altLang="en-US" sz="1200"/>
              <a:t>서비스포트1	=&gt; 26948</a:t>
            </a:r>
          </a:p>
          <a:p>
            <a:r>
              <a:rPr lang="ko-KR" altLang="en-US" sz="1200"/>
              <a:t>서비스포트2	=&gt; 26949</a:t>
            </a:r>
          </a:p>
          <a:p>
            <a:r>
              <a:rPr lang="ko-KR" altLang="en-US" sz="1200"/>
              <a:t>서비스포트3	=&gt; 26950</a:t>
            </a:r>
          </a:p>
          <a:p>
            <a:r>
              <a:rPr lang="ko-KR" altLang="en-US" sz="1200"/>
              <a:t>아이디	devuser</a:t>
            </a:r>
          </a:p>
          <a:p>
            <a:r>
              <a:rPr lang="ko-KR" altLang="en-US" sz="1200"/>
              <a:t>비밀번호	hello.dev</a:t>
            </a:r>
          </a:p>
          <a:p>
            <a:r>
              <a:rPr lang="ko-KR" altLang="en-US" sz="1200"/>
              <a:t>서버상태	서버가동중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85775" y="650081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sz="1200">
                <a:solidFill>
                  <a:srgbClr val="000000"/>
                </a:solidFill>
                <a:latin typeface="HelveticaNeue"/>
              </a:rPr>
              <a:t>(base) [root@localhost devuser]# mysql -u root -p</a:t>
            </a:r>
            <a:endParaRPr lang="en-US" altLang="ko-KR" sz="1200">
              <a:solidFill>
                <a:srgbClr val="000000"/>
              </a:solidFill>
              <a:latin typeface="Apple SD Gothic Neo"/>
            </a:endParaRPr>
          </a:p>
          <a:p>
            <a:pPr fontAlgn="base"/>
            <a:r>
              <a:rPr lang="en-US" altLang="ko-KR" sz="1200">
                <a:solidFill>
                  <a:srgbClr val="000000"/>
                </a:solidFill>
                <a:latin typeface="HelveticaNeue"/>
              </a:rPr>
              <a:t>Enter password: ==&gt; llmrag</a:t>
            </a:r>
            <a:endParaRPr lang="en-US" altLang="ko-KR" sz="1200">
              <a:solidFill>
                <a:srgbClr val="000000"/>
              </a:solidFill>
              <a:latin typeface="Apple SD Gothic Neo"/>
            </a:endParaRPr>
          </a:p>
          <a:p>
            <a:pPr fontAlgn="base"/>
            <a:r>
              <a:rPr lang="en-US" altLang="ko-KR" sz="1200">
                <a:solidFill>
                  <a:srgbClr val="000000"/>
                </a:solidFill>
                <a:latin typeface="HelveticaNeue"/>
              </a:rPr>
              <a:t>​</a:t>
            </a:r>
            <a:endParaRPr lang="en-US" altLang="ko-KR" sz="1200">
              <a:solidFill>
                <a:srgbClr val="000000"/>
              </a:solidFill>
              <a:latin typeface="Apple SD Gothic Neo"/>
            </a:endParaRPr>
          </a:p>
          <a:p>
            <a:pPr fontAlgn="base"/>
            <a:r>
              <a:rPr lang="en-US" altLang="ko-KR" sz="1200">
                <a:solidFill>
                  <a:srgbClr val="000000"/>
                </a:solidFill>
                <a:latin typeface="HelveticaNeue"/>
              </a:rPr>
              <a:t>17. </a:t>
            </a:r>
            <a:r>
              <a:rPr lang="ko-KR" altLang="en-US" sz="1200">
                <a:solidFill>
                  <a:srgbClr val="000000"/>
                </a:solidFill>
                <a:latin typeface="HelveticaNeue"/>
              </a:rPr>
              <a:t>데이터 베이스 추가 </a:t>
            </a:r>
            <a:r>
              <a:rPr lang="en-US" altLang="ko-KR" sz="1200">
                <a:solidFill>
                  <a:srgbClr val="000000"/>
                </a:solidFill>
                <a:latin typeface="HelveticaNeue"/>
              </a:rPr>
              <a:t>/ </a:t>
            </a:r>
            <a:r>
              <a:rPr lang="ko-KR" altLang="en-US" sz="1200">
                <a:solidFill>
                  <a:srgbClr val="000000"/>
                </a:solidFill>
                <a:latin typeface="HelveticaNeue"/>
              </a:rPr>
              <a:t>사용자 추가</a:t>
            </a:r>
            <a:endParaRPr lang="ko-KR" altLang="en-US" sz="1200">
              <a:solidFill>
                <a:srgbClr val="000000"/>
              </a:solidFill>
              <a:latin typeface="Apple SD Gothic Neo"/>
            </a:endParaRPr>
          </a:p>
          <a:p>
            <a:pPr fontAlgn="base"/>
            <a:r>
              <a:rPr lang="en-US" altLang="ko-KR" sz="1200">
                <a:solidFill>
                  <a:srgbClr val="000000"/>
                </a:solidFill>
                <a:latin typeface="HelveticaNeue"/>
              </a:rPr>
              <a:t>17-1 </a:t>
            </a:r>
            <a:r>
              <a:rPr lang="ko-KR" altLang="en-US" sz="1200">
                <a:solidFill>
                  <a:srgbClr val="000000"/>
                </a:solidFill>
                <a:latin typeface="HelveticaNeue"/>
              </a:rPr>
              <a:t>데이터 베이스 추가</a:t>
            </a:r>
            <a:endParaRPr lang="ko-KR" altLang="en-US" sz="1200">
              <a:solidFill>
                <a:srgbClr val="000000"/>
              </a:solidFill>
              <a:latin typeface="Apple SD Gothic Neo"/>
            </a:endParaRPr>
          </a:p>
          <a:p>
            <a:pPr fontAlgn="base"/>
            <a:r>
              <a:rPr lang="en-US" altLang="ko-KR" sz="1200">
                <a:solidFill>
                  <a:srgbClr val="000000"/>
                </a:solidFill>
                <a:latin typeface="HelveticaNeue"/>
              </a:rPr>
              <a:t>mysql&gt; create database wc;</a:t>
            </a:r>
            <a:endParaRPr lang="en-US" altLang="ko-KR" sz="1200">
              <a:solidFill>
                <a:srgbClr val="000000"/>
              </a:solidFill>
              <a:latin typeface="Apple SD Gothic Neo"/>
            </a:endParaRPr>
          </a:p>
          <a:p>
            <a:pPr fontAlgn="base"/>
            <a:r>
              <a:rPr lang="en-US" altLang="ko-KR" sz="1200">
                <a:solidFill>
                  <a:srgbClr val="000000"/>
                </a:solidFill>
                <a:latin typeface="HelveticaNeue"/>
              </a:rPr>
              <a:t>​</a:t>
            </a:r>
            <a:endParaRPr lang="en-US" altLang="ko-KR" sz="1200">
              <a:solidFill>
                <a:srgbClr val="000000"/>
              </a:solidFill>
              <a:latin typeface="Apple SD Gothic Neo"/>
            </a:endParaRPr>
          </a:p>
          <a:p>
            <a:pPr fontAlgn="base"/>
            <a:r>
              <a:rPr lang="en-US" altLang="ko-KR" sz="1200">
                <a:solidFill>
                  <a:srgbClr val="000000"/>
                </a:solidFill>
                <a:latin typeface="HelveticaNeue"/>
              </a:rPr>
              <a:t>17-2 </a:t>
            </a:r>
            <a:r>
              <a:rPr lang="ko-KR" altLang="en-US" sz="1200">
                <a:solidFill>
                  <a:srgbClr val="000000"/>
                </a:solidFill>
                <a:latin typeface="HelveticaNeue"/>
              </a:rPr>
              <a:t>사용자 추가 및 접속 권한 부여 </a:t>
            </a:r>
            <a:r>
              <a:rPr lang="en-US" altLang="ko-KR" sz="1200">
                <a:solidFill>
                  <a:srgbClr val="000000"/>
                </a:solidFill>
                <a:latin typeface="HelveticaNeue"/>
              </a:rPr>
              <a:t>(%</a:t>
            </a:r>
            <a:r>
              <a:rPr lang="ko-KR" altLang="en-US" sz="1200">
                <a:solidFill>
                  <a:srgbClr val="000000"/>
                </a:solidFill>
                <a:latin typeface="HelveticaNeue"/>
              </a:rPr>
              <a:t>대신 </a:t>
            </a:r>
            <a:r>
              <a:rPr lang="en-US" altLang="ko-KR" sz="1200">
                <a:solidFill>
                  <a:srgbClr val="000000"/>
                </a:solidFill>
                <a:latin typeface="HelveticaNeue"/>
              </a:rPr>
              <a:t>ip</a:t>
            </a:r>
            <a:r>
              <a:rPr lang="ko-KR" altLang="en-US" sz="1200">
                <a:solidFill>
                  <a:srgbClr val="000000"/>
                </a:solidFill>
                <a:latin typeface="HelveticaNeue"/>
              </a:rPr>
              <a:t>입력시 해당 </a:t>
            </a:r>
            <a:r>
              <a:rPr lang="en-US" altLang="ko-KR" sz="1200">
                <a:solidFill>
                  <a:srgbClr val="000000"/>
                </a:solidFill>
                <a:latin typeface="HelveticaNeue"/>
              </a:rPr>
              <a:t>ip</a:t>
            </a:r>
            <a:r>
              <a:rPr lang="ko-KR" altLang="en-US" sz="1200">
                <a:solidFill>
                  <a:srgbClr val="000000"/>
                </a:solidFill>
                <a:latin typeface="HelveticaNeue"/>
              </a:rPr>
              <a:t>에서만 접속가능함 </a:t>
            </a:r>
            <a:r>
              <a:rPr lang="en-US" altLang="ko-KR" sz="1200">
                <a:solidFill>
                  <a:srgbClr val="000000"/>
                </a:solidFill>
                <a:latin typeface="HelveticaNeue"/>
              </a:rPr>
              <a:t>)</a:t>
            </a:r>
            <a:endParaRPr lang="ko-KR" altLang="en-US" sz="1200">
              <a:solidFill>
                <a:srgbClr val="000000"/>
              </a:solidFill>
              <a:latin typeface="Apple SD Gothic Neo"/>
            </a:endParaRPr>
          </a:p>
          <a:p>
            <a:pPr fontAlgn="base"/>
            <a:r>
              <a:rPr lang="en-US" altLang="ko-KR" sz="1200" strike="sngStrike">
                <a:solidFill>
                  <a:srgbClr val="000000"/>
                </a:solidFill>
                <a:latin typeface="HelveticaNeue"/>
              </a:rPr>
              <a:t>mysql&gt;grant all on wc.* to 'wc'@'%' identified by 'wc1@#';</a:t>
            </a:r>
            <a:endParaRPr lang="en-US" altLang="ko-KR" sz="1200" strike="sngStrike">
              <a:solidFill>
                <a:srgbClr val="000000"/>
              </a:solidFill>
              <a:latin typeface="Apple SD Gothic Neo"/>
            </a:endParaRPr>
          </a:p>
          <a:p>
            <a:pPr fontAlgn="base"/>
            <a:r>
              <a:rPr lang="en-US" altLang="ko-KR" sz="1200">
                <a:solidFill>
                  <a:srgbClr val="000000"/>
                </a:solidFill>
                <a:latin typeface="HelveticaNeue"/>
              </a:rPr>
              <a:t>mysql&gt; select user, host from mysql.user</a:t>
            </a:r>
            <a:r>
              <a:rPr lang="en-US" altLang="ko-KR" sz="1200" smtClean="0">
                <a:solidFill>
                  <a:srgbClr val="000000"/>
                </a:solidFill>
                <a:latin typeface="HelveticaNeue"/>
              </a:rPr>
              <a:t>;</a:t>
            </a:r>
          </a:p>
          <a:p>
            <a:pPr fontAlgn="base"/>
            <a:r>
              <a:rPr lang="en-US" altLang="ko-KR" sz="1200" b="1">
                <a:solidFill>
                  <a:srgbClr val="FF0000"/>
                </a:solidFill>
                <a:latin typeface="HelveticaNeue"/>
              </a:rPr>
              <a:t>grant all on wc.* to 'wc'@'%' identified by 'wc1</a:t>
            </a:r>
            <a:r>
              <a:rPr lang="en-US" altLang="ko-KR" sz="1200" b="1" smtClean="0">
                <a:solidFill>
                  <a:srgbClr val="FF0000"/>
                </a:solidFill>
                <a:latin typeface="HelveticaNeue"/>
              </a:rPr>
              <a:t>!#';</a:t>
            </a:r>
          </a:p>
          <a:p>
            <a:pPr fontAlgn="base"/>
            <a:r>
              <a:rPr lang="en-US" altLang="ko-KR" sz="1200" b="1">
                <a:solidFill>
                  <a:srgbClr val="FF0000"/>
                </a:solidFill>
                <a:latin typeface="HelveticaNeue"/>
              </a:rPr>
              <a:t>grant all on wc.* to 'wc</a:t>
            </a:r>
            <a:r>
              <a:rPr lang="en-US" altLang="ko-KR" sz="1200" b="1" smtClean="0">
                <a:solidFill>
                  <a:srgbClr val="FF0000"/>
                </a:solidFill>
                <a:latin typeface="HelveticaNeue"/>
              </a:rPr>
              <a:t>'@‘127.0.0.1' </a:t>
            </a:r>
            <a:r>
              <a:rPr lang="en-US" altLang="ko-KR" sz="1200" b="1">
                <a:solidFill>
                  <a:srgbClr val="FF0000"/>
                </a:solidFill>
                <a:latin typeface="HelveticaNeue"/>
              </a:rPr>
              <a:t>identified by 'wc1!#';</a:t>
            </a:r>
          </a:p>
          <a:p>
            <a:pPr fontAlgn="base"/>
            <a:endParaRPr lang="en-US" altLang="ko-KR" sz="1200" b="1" i="0">
              <a:solidFill>
                <a:srgbClr val="FF0000"/>
              </a:solidFill>
              <a:effectLst/>
              <a:latin typeface="HelveticaNeue"/>
            </a:endParaRPr>
          </a:p>
          <a:p>
            <a:pPr fontAlgn="base"/>
            <a:endParaRPr lang="en-US" altLang="ko-KR" sz="1200" smtClean="0">
              <a:solidFill>
                <a:srgbClr val="000000"/>
              </a:solidFill>
              <a:latin typeface="HelveticaNeue"/>
            </a:endParaRPr>
          </a:p>
          <a:p>
            <a:pPr fontAlgn="base"/>
            <a:r>
              <a:rPr lang="en-US" altLang="ko-KR" sz="1200" b="1">
                <a:solidFill>
                  <a:srgbClr val="FF0000"/>
                </a:solidFill>
              </a:rPr>
              <a:t>/etc/init.d/mysqld </a:t>
            </a:r>
            <a:r>
              <a:rPr lang="en-US" altLang="ko-KR" sz="1200" b="1" smtClean="0">
                <a:solidFill>
                  <a:srgbClr val="FF0000"/>
                </a:solidFill>
              </a:rPr>
              <a:t>start</a:t>
            </a:r>
          </a:p>
          <a:p>
            <a:pPr fontAlgn="base"/>
            <a:endParaRPr lang="en-US" altLang="ko-KR" sz="1200" b="1" i="0">
              <a:solidFill>
                <a:srgbClr val="FF0000"/>
              </a:solidFill>
              <a:effectLst/>
              <a:latin typeface="Apple SD Gothic Neo"/>
            </a:endParaRPr>
          </a:p>
          <a:p>
            <a:pPr fontAlgn="base"/>
            <a:endParaRPr lang="en-US" altLang="ko-KR" sz="1200" b="1" smtClean="0">
              <a:solidFill>
                <a:srgbClr val="FF0000"/>
              </a:solidFill>
              <a:latin typeface="Apple SD Gothic Neo"/>
            </a:endParaRPr>
          </a:p>
          <a:p>
            <a:pPr fontAlgn="base"/>
            <a:r>
              <a:rPr lang="en-US" altLang="ko-KR" sz="1200" b="1">
                <a:solidFill>
                  <a:srgbClr val="FF0000"/>
                </a:solidFill>
                <a:latin typeface="Apple SD Gothic Neo"/>
              </a:rPr>
              <a:t>/</a:t>
            </a:r>
            <a:r>
              <a:rPr lang="en-US" altLang="ko-KR" sz="1200" b="1" smtClean="0">
                <a:solidFill>
                  <a:srgbClr val="FF0000"/>
                </a:solidFill>
                <a:latin typeface="Apple SD Gothic Neo"/>
              </a:rPr>
              <a:t>home/ai/src/wc</a:t>
            </a:r>
            <a:endParaRPr lang="en-US" altLang="ko-KR" sz="1200" b="1" i="0">
              <a:solidFill>
                <a:srgbClr val="FF0000"/>
              </a:solidFill>
              <a:effectLst/>
              <a:latin typeface="Apple SD Gothic Neo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245285" y="1067990"/>
            <a:ext cx="25667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smtClean="0"/>
              <a:t>ssh </a:t>
            </a:r>
            <a:r>
              <a:rPr lang="ko-KR" altLang="en-US" sz="1200" smtClean="0"/>
              <a:t>devuser</a:t>
            </a:r>
            <a:r>
              <a:rPr lang="en-US" altLang="ko-KR" sz="1200" smtClean="0"/>
              <a:t>@210.114.91.91:26867</a:t>
            </a:r>
            <a:endParaRPr lang="ko-KR" altLang="en-US" sz="1200"/>
          </a:p>
        </p:txBody>
      </p:sp>
      <p:sp>
        <p:nvSpPr>
          <p:cNvPr id="7" name="직사각형 6"/>
          <p:cNvSpPr/>
          <p:nvPr/>
        </p:nvSpPr>
        <p:spPr>
          <a:xfrm>
            <a:off x="8923249" y="5611058"/>
            <a:ext cx="1877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mtClean="0"/>
              <a:t>root / </a:t>
            </a:r>
            <a:r>
              <a:rPr lang="en-US" altLang="ko-KR"/>
              <a:t>ippbx@IX</a:t>
            </a: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286750" y="5956816"/>
            <a:ext cx="25522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파워쉘에서 접속</a:t>
            </a:r>
            <a:endParaRPr lang="en-US" altLang="ko-KR" smtClean="0"/>
          </a:p>
          <a:p>
            <a:r>
              <a:rPr lang="en-US" altLang="ko-KR" smtClean="0"/>
              <a:t>ssh root@122.49.74.14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9016222" y="5209965"/>
            <a:ext cx="1691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root / doub!IX</a:t>
            </a: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318322" y="5172698"/>
            <a:ext cx="1604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122.49.74.237</a:t>
            </a: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00075" y="4152900"/>
            <a:ext cx="40462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altLang="ko-KR"/>
              <a:t># </a:t>
            </a:r>
            <a:r>
              <a:rPr lang="ko-KR" altLang="en-US"/>
              <a:t>가상환경 실행 </a:t>
            </a:r>
          </a:p>
          <a:p>
            <a:pPr fontAlgn="base"/>
            <a:r>
              <a:rPr lang="en-US" altLang="ko-KR"/>
              <a:t>source /app/miniconda3/bin/activate</a:t>
            </a:r>
          </a:p>
          <a:p>
            <a:pPr fontAlgn="base"/>
            <a:r>
              <a:rPr lang="en-US" altLang="ko-KR"/>
              <a:t>conda activate wc</a:t>
            </a:r>
          </a:p>
          <a:p>
            <a:pPr fontAlgn="base"/>
            <a:r>
              <a:rPr lang="en-US" altLang="ko-KR"/>
              <a:t>/home/ai/src/ragChatbot</a:t>
            </a: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61925" y="5439728"/>
            <a:ext cx="62870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altLang="ko-KR"/>
              <a:t>(base) [root@localhost src]# mysql -h 127.0.0.1 -u root </a:t>
            </a:r>
            <a:r>
              <a:rPr lang="nl-NL" altLang="ko-KR" smtClean="0"/>
              <a:t>–p</a:t>
            </a:r>
          </a:p>
          <a:p>
            <a:r>
              <a:rPr lang="en-US" altLang="ko-KR"/>
              <a:t>mysql –u root -p</a:t>
            </a:r>
            <a:endParaRPr lang="ko-KR" altLang="en-US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altLang="ko-KR" smtClean="0"/>
              <a:t>llmrag</a:t>
            </a:r>
          </a:p>
          <a:p>
            <a:r>
              <a:rPr lang="pl-PL" altLang="ko-KR">
                <a:solidFill>
                  <a:srgbClr val="FF0000"/>
                </a:solidFill>
              </a:rPr>
              <a:t>mysql -h 127.0.0.1 -u wc -p</a:t>
            </a:r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941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2950" y="933450"/>
            <a:ext cx="85572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 warnings.warn(message, UserWarning)</a:t>
            </a:r>
          </a:p>
          <a:p>
            <a:r>
              <a:rPr lang="en-US" altLang="ko-KR"/>
              <a:t>DB_URL---: mysql+pymysql://acdev:ac!@#@122.49.74.237:3306/ac?charset=utf8</a:t>
            </a:r>
          </a:p>
          <a:p>
            <a:r>
              <a:rPr lang="en-US" altLang="ko-KR"/>
              <a:t>======project_biz path:  /home/ai/src/ac/mngChatBot</a:t>
            </a:r>
          </a:p>
          <a:p>
            <a:r>
              <a:rPr lang="en-US" altLang="ko-KR"/>
              <a:t>======project_biz path:  /home/ai/src/ac</a:t>
            </a:r>
          </a:p>
          <a:p>
            <a:r>
              <a:rPr lang="en-US" altLang="ko-KR"/>
              <a:t>DB_URL---: mysql+pymysql://acdev:ac!@#@122.49.74.237:3306/ac?charset=utf8</a:t>
            </a: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76300" y="2698314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i="1">
                <a:solidFill>
                  <a:srgbClr val="898989"/>
                </a:solidFill>
                <a:latin typeface="Consolas" panose="020B0609020204030204" pitchFamily="49" charset="0"/>
              </a:rPr>
              <a:t># </a:t>
            </a:r>
            <a:r>
              <a:rPr lang="ko-KR" altLang="en-US" i="1">
                <a:solidFill>
                  <a:srgbClr val="898989"/>
                </a:solidFill>
                <a:latin typeface="Consolas" panose="020B0609020204030204" pitchFamily="49" charset="0"/>
              </a:rPr>
              <a:t>접속레이아웃 참조</a:t>
            </a:r>
            <a:r>
              <a:rPr lang="en-US" altLang="ko-KR" i="1">
                <a:solidFill>
                  <a:srgbClr val="898989"/>
                </a:solidFill>
                <a:latin typeface="Consolas" panose="020B0609020204030204" pitchFamily="49" charset="0"/>
              </a:rPr>
              <a:t>: https://lovelydiary.tistory.com/324</a:t>
            </a:r>
            <a:endParaRPr lang="en-US" altLang="ko-KR">
              <a:solidFill>
                <a:srgbClr val="D6D6DD"/>
              </a:solidFill>
              <a:latin typeface="Consolas" panose="020B0609020204030204" pitchFamily="49" charset="0"/>
            </a:endParaRPr>
          </a:p>
          <a:p>
            <a:r>
              <a:rPr lang="en-US" altLang="ko-KR">
                <a:solidFill>
                  <a:srgbClr val="D6D6DD"/>
                </a:solidFill>
                <a:latin typeface="Consolas" panose="020B0609020204030204" pitchFamily="49" charset="0"/>
              </a:rPr>
              <a:t>HOSTNAME =</a:t>
            </a:r>
            <a:r>
              <a:rPr lang="en-US" altLang="ko-KR">
                <a:solidFill>
                  <a:srgbClr val="E394DC"/>
                </a:solidFill>
                <a:latin typeface="Consolas" panose="020B0609020204030204" pitchFamily="49" charset="0"/>
              </a:rPr>
              <a:t>'210.114.91.91'</a:t>
            </a:r>
            <a:endParaRPr lang="en-US" altLang="ko-KR">
              <a:solidFill>
                <a:srgbClr val="D6D6DD"/>
              </a:solidFill>
              <a:latin typeface="Consolas" panose="020B0609020204030204" pitchFamily="49" charset="0"/>
            </a:endParaRPr>
          </a:p>
          <a:p>
            <a:r>
              <a:rPr lang="en-US" altLang="ko-KR">
                <a:solidFill>
                  <a:srgbClr val="D6D6DD"/>
                </a:solidFill>
                <a:latin typeface="Consolas" panose="020B0609020204030204" pitchFamily="49" charset="0"/>
              </a:rPr>
              <a:t>PORT = </a:t>
            </a:r>
            <a:r>
              <a:rPr lang="en-US" altLang="ko-KR">
                <a:solidFill>
                  <a:srgbClr val="EBC88D"/>
                </a:solidFill>
                <a:latin typeface="Consolas" panose="020B0609020204030204" pitchFamily="49" charset="0"/>
              </a:rPr>
              <a:t>26868</a:t>
            </a:r>
            <a:endParaRPr lang="en-US" altLang="ko-KR">
              <a:solidFill>
                <a:srgbClr val="D6D6DD"/>
              </a:solidFill>
              <a:latin typeface="Consolas" panose="020B0609020204030204" pitchFamily="49" charset="0"/>
            </a:endParaRPr>
          </a:p>
          <a:p>
            <a:r>
              <a:rPr lang="en-US" altLang="ko-KR">
                <a:solidFill>
                  <a:srgbClr val="D6D6DD"/>
                </a:solidFill>
                <a:latin typeface="Consolas" panose="020B0609020204030204" pitchFamily="49" charset="0"/>
              </a:rPr>
              <a:t>USERNAME= </a:t>
            </a:r>
            <a:r>
              <a:rPr lang="en-US" altLang="ko-KR">
                <a:solidFill>
                  <a:srgbClr val="E394DC"/>
                </a:solidFill>
                <a:latin typeface="Consolas" panose="020B0609020204030204" pitchFamily="49" charset="0"/>
              </a:rPr>
              <a:t>'wc'</a:t>
            </a:r>
            <a:endParaRPr lang="en-US" altLang="ko-KR">
              <a:solidFill>
                <a:srgbClr val="D6D6DD"/>
              </a:solidFill>
              <a:latin typeface="Consolas" panose="020B0609020204030204" pitchFamily="49" charset="0"/>
            </a:endParaRPr>
          </a:p>
          <a:p>
            <a:r>
              <a:rPr lang="en-US" altLang="ko-KR">
                <a:solidFill>
                  <a:srgbClr val="D6D6DD"/>
                </a:solidFill>
                <a:latin typeface="Consolas" panose="020B0609020204030204" pitchFamily="49" charset="0"/>
              </a:rPr>
              <a:t>PASSWORD=</a:t>
            </a:r>
            <a:r>
              <a:rPr lang="en-US" altLang="ko-KR">
                <a:solidFill>
                  <a:srgbClr val="E394DC"/>
                </a:solidFill>
                <a:latin typeface="Consolas" panose="020B0609020204030204" pitchFamily="49" charset="0"/>
              </a:rPr>
              <a:t>'wc1@#'</a:t>
            </a:r>
            <a:endParaRPr lang="en-US" altLang="ko-KR">
              <a:solidFill>
                <a:srgbClr val="D6D6DD"/>
              </a:solidFill>
              <a:latin typeface="Consolas" panose="020B0609020204030204" pitchFamily="49" charset="0"/>
            </a:endParaRPr>
          </a:p>
          <a:p>
            <a:r>
              <a:rPr lang="en-US" altLang="ko-KR">
                <a:solidFill>
                  <a:srgbClr val="D6D6DD"/>
                </a:solidFill>
                <a:latin typeface="Consolas" panose="020B0609020204030204" pitchFamily="49" charset="0"/>
              </a:rPr>
              <a:t>DATABASE=</a:t>
            </a:r>
            <a:r>
              <a:rPr lang="en-US" altLang="ko-KR">
                <a:solidFill>
                  <a:srgbClr val="E394DC"/>
                </a:solidFill>
                <a:latin typeface="Consolas" panose="020B0609020204030204" pitchFamily="49" charset="0"/>
              </a:rPr>
              <a:t>'wc'</a:t>
            </a:r>
            <a:endParaRPr lang="en-US" altLang="ko-KR">
              <a:solidFill>
                <a:srgbClr val="D6D6DD"/>
              </a:solidFill>
              <a:latin typeface="Consolas" panose="020B0609020204030204" pitchFamily="49" charset="0"/>
            </a:endParaRPr>
          </a:p>
          <a:p>
            <a:r>
              <a:rPr lang="en-US" altLang="ko-KR">
                <a:solidFill>
                  <a:srgbClr val="D6D6DD"/>
                </a:solidFill>
                <a:latin typeface="Consolas" panose="020B0609020204030204" pitchFamily="49" charset="0"/>
              </a:rPr>
              <a:t>CHARSET1=</a:t>
            </a:r>
            <a:r>
              <a:rPr lang="en-US" altLang="ko-KR">
                <a:solidFill>
                  <a:srgbClr val="E394DC"/>
                </a:solidFill>
                <a:latin typeface="Consolas" panose="020B0609020204030204" pitchFamily="49" charset="0"/>
              </a:rPr>
              <a:t>'utf8'</a:t>
            </a:r>
            <a:r>
              <a:rPr lang="en-US" altLang="ko-KR">
                <a:solidFill>
                  <a:srgbClr val="D6D6DD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altLang="ko-KR">
                <a:solidFill>
                  <a:srgbClr val="D6D6DD"/>
                </a:solidFill>
                <a:latin typeface="Consolas" panose="020B0609020204030204" pitchFamily="49" charset="0"/>
              </a:rPr>
              <a:t>CHARSET2=</a:t>
            </a:r>
            <a:r>
              <a:rPr lang="en-US" altLang="ko-KR">
                <a:solidFill>
                  <a:srgbClr val="E394DC"/>
                </a:solidFill>
                <a:latin typeface="Consolas" panose="020B0609020204030204" pitchFamily="49" charset="0"/>
              </a:rPr>
              <a:t>'utf-8'</a:t>
            </a:r>
            <a:endParaRPr lang="en-US" altLang="ko-KR" b="0">
              <a:solidFill>
                <a:srgbClr val="D6D6DD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759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76225" y="428625"/>
            <a:ext cx="527685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/>
              <a:t>Building wheels for collected packages: mysqlclient, pypika</a:t>
            </a:r>
          </a:p>
          <a:p>
            <a:r>
              <a:rPr lang="en-US" altLang="ko-KR" sz="1000"/>
              <a:t>  Building wheel for mysqlclient (setup.py) ... error</a:t>
            </a:r>
          </a:p>
          <a:p>
            <a:r>
              <a:rPr lang="en-US" altLang="ko-KR" sz="1000"/>
              <a:t>  error: subprocess-exited-with-error</a:t>
            </a:r>
          </a:p>
          <a:p>
            <a:r>
              <a:rPr lang="en-US" altLang="ko-KR" sz="1000"/>
              <a:t>  </a:t>
            </a:r>
          </a:p>
          <a:p>
            <a:r>
              <a:rPr lang="en-US" altLang="ko-KR" sz="1000"/>
              <a:t>  × python setup.py bdist_wheel did not run successfully.</a:t>
            </a:r>
          </a:p>
          <a:p>
            <a:r>
              <a:rPr lang="en-US" altLang="ko-KR" sz="1000"/>
              <a:t>  │ exit code: 1</a:t>
            </a:r>
          </a:p>
          <a:p>
            <a:r>
              <a:rPr lang="en-US" altLang="ko-KR" sz="1000"/>
              <a:t>  ╰─&gt; [40 lines of output]</a:t>
            </a:r>
          </a:p>
          <a:p>
            <a:r>
              <a:rPr lang="en-US" altLang="ko-KR" sz="1000"/>
              <a:t>      mysql_config --version</a:t>
            </a:r>
          </a:p>
          <a:p>
            <a:r>
              <a:rPr lang="en-US" altLang="ko-KR" sz="1000"/>
              <a:t>      ['5.6.31']</a:t>
            </a:r>
          </a:p>
          <a:p>
            <a:r>
              <a:rPr lang="en-US" altLang="ko-KR" sz="1000"/>
              <a:t>      mysql_config --libs</a:t>
            </a:r>
          </a:p>
          <a:p>
            <a:r>
              <a:rPr lang="en-US" altLang="ko-KR" sz="1000"/>
              <a:t>      ['-L/usr/lib64/mysql', '-lmysqlclient', '-lpthread', '-lm', '-lrt', '-ldl']</a:t>
            </a:r>
          </a:p>
          <a:p>
            <a:r>
              <a:rPr lang="en-US" altLang="ko-KR" sz="1000"/>
              <a:t>      mysql_config --cflags</a:t>
            </a:r>
          </a:p>
          <a:p>
            <a:r>
              <a:rPr lang="en-US" altLang="ko-KR" sz="1000"/>
              <a:t>      ['-I/usr/include/mysql', '-g', '-fstack-protector', '-m64', '-fPIC', '-g', '-fabi-version=2', '-fno-omit-frame-pointer', '-fno-strict-aliasing']</a:t>
            </a:r>
          </a:p>
          <a:p>
            <a:r>
              <a:rPr lang="en-US" altLang="ko-KR" sz="1000"/>
              <a:t>      ext_options:</a:t>
            </a:r>
          </a:p>
          <a:p>
            <a:r>
              <a:rPr lang="en-US" altLang="ko-KR" sz="1000"/>
              <a:t>        library_dirs: ['/usr/lib64/mysql']</a:t>
            </a:r>
          </a:p>
          <a:p>
            <a:r>
              <a:rPr lang="en-US" altLang="ko-KR" sz="1000"/>
              <a:t>        libraries: ['mysqlclient', 'pthread', 'm', 'rt', 'dl']</a:t>
            </a:r>
          </a:p>
          <a:p>
            <a:r>
              <a:rPr lang="en-US" altLang="ko-KR" sz="1000"/>
              <a:t>        extra_compile_args: ['-std=c99', '-g', '-fstack-protector', '-m64', '-fPIC', '-g', '-fabi-version=2', '-fno-omit-frame-pointer', '-fno-strict-aliasing']</a:t>
            </a:r>
          </a:p>
          <a:p>
            <a:r>
              <a:rPr lang="en-US" altLang="ko-KR" sz="1000"/>
              <a:t>        extra_link_args: []</a:t>
            </a:r>
          </a:p>
          <a:p>
            <a:r>
              <a:rPr lang="en-US" altLang="ko-KR" sz="1000"/>
              <a:t>        include_dirs: ['/usr/include/mysql']</a:t>
            </a:r>
          </a:p>
          <a:p>
            <a:r>
              <a:rPr lang="en-US" altLang="ko-KR" sz="1000"/>
              <a:t>        extra_objects: []</a:t>
            </a:r>
          </a:p>
          <a:p>
            <a:r>
              <a:rPr lang="en-US" altLang="ko-KR" sz="1000"/>
              <a:t>        define_macros: [('version_info', "(2,0,3,'final',0)"), ('__version__', '2.0.3')]</a:t>
            </a:r>
          </a:p>
          <a:p>
            <a:r>
              <a:rPr lang="en-US" altLang="ko-KR" sz="1000"/>
              <a:t>      running bdist_wheel</a:t>
            </a:r>
          </a:p>
          <a:p>
            <a:r>
              <a:rPr lang="en-US" altLang="ko-KR" sz="1000"/>
              <a:t>      running build</a:t>
            </a:r>
          </a:p>
          <a:p>
            <a:r>
              <a:rPr lang="en-US" altLang="ko-KR" sz="1000"/>
              <a:t>      running build_py</a:t>
            </a:r>
          </a:p>
          <a:p>
            <a:r>
              <a:rPr lang="en-US" altLang="ko-KR" sz="1000"/>
              <a:t>      creating build</a:t>
            </a:r>
          </a:p>
          <a:p>
            <a:r>
              <a:rPr lang="en-US" altLang="ko-KR" sz="1000"/>
              <a:t>      creating build/lib.linux-x86_64-cpython-38</a:t>
            </a:r>
          </a:p>
          <a:p>
            <a:r>
              <a:rPr lang="en-US" altLang="ko-KR" sz="1000"/>
              <a:t>      creating build/lib.linux-x86_64-cpython-38/MySQLdb</a:t>
            </a:r>
          </a:p>
          <a:p>
            <a:r>
              <a:rPr lang="en-US" altLang="ko-KR" sz="1000"/>
              <a:t>      copying MySQLdb/__init__.py -&gt; build/lib.linux-x86_64-cpython-38/MySQLdb</a:t>
            </a:r>
          </a:p>
          <a:p>
            <a:r>
              <a:rPr lang="en-US" altLang="ko-KR" sz="1000"/>
              <a:t>      copying MySQLdb/_exceptions.py -&gt; build/lib.linux-x86_64-cpython-38/MySQLdb</a:t>
            </a:r>
          </a:p>
          <a:p>
            <a:r>
              <a:rPr lang="en-US" altLang="ko-KR" sz="1000"/>
              <a:t>      copying MySQLdb/connections.py -&gt; build/lib.linux-x86_64-cpython-38/MySQLdb</a:t>
            </a:r>
          </a:p>
          <a:p>
            <a:r>
              <a:rPr lang="en-US" altLang="ko-KR" sz="1000"/>
              <a:t>      copying MySQLdb/converters.py -&gt; build/lib.linux-x86_64-cpython-38/MySQLdb</a:t>
            </a:r>
          </a:p>
          <a:p>
            <a:r>
              <a:rPr lang="en-US" altLang="ko-KR" sz="1000"/>
              <a:t>      copying MySQLdb/cursors.py -&gt; build/lib.linux-x86_64-cpython-38/MySQLdb</a:t>
            </a:r>
          </a:p>
          <a:p>
            <a:r>
              <a:rPr lang="en-US" altLang="ko-KR" sz="1000"/>
              <a:t>      copying MySQLdb/release.py -&gt; build/lib.linux-x86_64-cpython-38/MySQLdb</a:t>
            </a:r>
          </a:p>
          <a:p>
            <a:r>
              <a:rPr lang="en-US" altLang="ko-KR" sz="1000"/>
              <a:t>      copying MySQLdb/times.py -&gt; build/lib.linux-x86_64-cpython-38/MySQLdb</a:t>
            </a:r>
          </a:p>
          <a:p>
            <a:r>
              <a:rPr lang="en-US" altLang="ko-KR" sz="1000"/>
              <a:t>      creating build/lib.linux-x86_64-cpython-38/MySQLdb/constants</a:t>
            </a:r>
          </a:p>
          <a:p>
            <a:r>
              <a:rPr lang="en-US" altLang="ko-KR" sz="1000"/>
              <a:t>      copying MySQLdb/constants/__init__.py -&gt; </a:t>
            </a:r>
            <a:r>
              <a:rPr lang="en-US" altLang="ko-KR" sz="1000" smtClean="0"/>
              <a:t>build/lib.linux-x86_64-cpython-38/MySQLdb/constants</a:t>
            </a:r>
            <a:endParaRPr lang="en-US" altLang="ko-KR" sz="1000"/>
          </a:p>
        </p:txBody>
      </p:sp>
      <p:sp>
        <p:nvSpPr>
          <p:cNvPr id="5" name="직사각형 4"/>
          <p:cNvSpPr/>
          <p:nvPr/>
        </p:nvSpPr>
        <p:spPr>
          <a:xfrm>
            <a:off x="5638800" y="661750"/>
            <a:ext cx="6096000" cy="486287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/>
              <a:t> copying MySQLdb/constants/CLIENT.py -&gt; build/lib.linux-x86_64-cpython-38/MySQLdb/constants</a:t>
            </a:r>
          </a:p>
          <a:p>
            <a:r>
              <a:rPr lang="en-US" altLang="ko-KR" sz="1000"/>
              <a:t>      copying MySQLdb/constants/CR.py -&gt; build/lib.linux-x86_64-cpython-38/MySQLdb/constants</a:t>
            </a:r>
          </a:p>
          <a:p>
            <a:r>
              <a:rPr lang="en-US" altLang="ko-KR" sz="1000"/>
              <a:t>      copying MySQLdb/constants/ER.py -&gt; build/lib.linux-x86_64-cpython-38/MySQLdb/constants</a:t>
            </a:r>
          </a:p>
          <a:p>
            <a:r>
              <a:rPr lang="en-US" altLang="ko-KR" sz="1000"/>
              <a:t>      copying MySQLdb/constants/FIELD_TYPE.py -&gt; build/lib.linux-x86_64-cpython-38/MySQLdb/constants</a:t>
            </a:r>
          </a:p>
          <a:p>
            <a:r>
              <a:rPr lang="en-US" altLang="ko-KR" sz="1000"/>
              <a:t>      copying MySQLdb/constants/FLAG.py -&gt; build/lib.linux-x86_64-cpython-38/MySQLdb/constants</a:t>
            </a:r>
          </a:p>
          <a:p>
            <a:r>
              <a:rPr lang="en-US" altLang="ko-KR" sz="1000"/>
              <a:t>      running build_ext</a:t>
            </a:r>
          </a:p>
          <a:p>
            <a:r>
              <a:rPr lang="en-US" altLang="ko-KR" sz="1000"/>
              <a:t>      building 'MySQLdb._mysql' extension</a:t>
            </a:r>
          </a:p>
          <a:p>
            <a:r>
              <a:rPr lang="en-US" altLang="ko-KR" sz="1000"/>
              <a:t>      creating build/temp.linux-x86_64-cpython-38</a:t>
            </a:r>
          </a:p>
          <a:p>
            <a:r>
              <a:rPr lang="en-US" altLang="ko-KR" sz="1000"/>
              <a:t>      creating build/temp.linux-x86_64-cpython-38/MySQLdb</a:t>
            </a:r>
          </a:p>
          <a:p>
            <a:r>
              <a:rPr lang="en-US" altLang="ko-KR" sz="1000"/>
              <a:t>      gcc -pthread -B /app/miniconda3/envs/wc/compiler_compat -Wl,--sysroot=/ -Wsign-compare -</a:t>
            </a:r>
            <a:endParaRPr lang="en-US" altLang="ko-KR" sz="1000" smtClean="0"/>
          </a:p>
          <a:p>
            <a:r>
              <a:rPr lang="en-US" altLang="ko-KR" sz="1000" smtClean="0"/>
              <a:t>DNDEBUG </a:t>
            </a:r>
            <a:r>
              <a:rPr lang="en-US" altLang="ko-KR" sz="1000"/>
              <a:t>-g -fwrapv -O3 -Wall -Wstrict-prototypes -fPIC -Dversion_info=(2,0,3,'final',0) -D__version__=2.0.3 -I/usr/include/mysql -I/app/miniconda3/envs/wc/include/python3.8 -c MySQLdb/_mysql.c -o build/temp.linux-x86_64-cpython-38/MySQLdb/_mysql.o -std=c99 -g -fstack-protector -m64 -fPIC -g -fabi-version=2 -fno-omit-frame-pointer -fno-strict-aliasing</a:t>
            </a:r>
          </a:p>
          <a:p>
            <a:r>
              <a:rPr lang="en-US" altLang="ko-KR" sz="1000"/>
              <a:t>      error: command 'gcc' failed: No such file or directory</a:t>
            </a:r>
          </a:p>
          <a:p>
            <a:r>
              <a:rPr lang="en-US" altLang="ko-KR" sz="1000"/>
              <a:t>      [end of output]</a:t>
            </a:r>
          </a:p>
          <a:p>
            <a:r>
              <a:rPr lang="en-US" altLang="ko-KR" sz="1000"/>
              <a:t>  </a:t>
            </a:r>
          </a:p>
          <a:p>
            <a:r>
              <a:rPr lang="en-US" altLang="ko-KR" sz="1000"/>
              <a:t>  note: This error originates from a subprocess, and is likely not a problem with pip.</a:t>
            </a:r>
          </a:p>
          <a:p>
            <a:r>
              <a:rPr lang="en-US" altLang="ko-KR" sz="1000"/>
              <a:t>  ERROR: Failed building wheel for mysqlclient</a:t>
            </a:r>
          </a:p>
          <a:p>
            <a:r>
              <a:rPr lang="en-US" altLang="ko-KR" sz="1000"/>
              <a:t>  Running setup.py clean for mysqlclient</a:t>
            </a:r>
          </a:p>
          <a:p>
            <a:r>
              <a:rPr lang="en-US" altLang="ko-KR" sz="1000"/>
              <a:t>  Building wheel for pypika (pyproject.toml) ... done</a:t>
            </a:r>
          </a:p>
          <a:p>
            <a:r>
              <a:rPr lang="en-US" altLang="ko-KR" sz="1000"/>
              <a:t>  Created wheel for pypika: filename=PyPika-0.48.9-py2.py3-none-any.whl size=53723 sha256=18ed9518f32190e3da7b069e136e5fb2286864e0f5bf98cb150b41a2a47c6491</a:t>
            </a:r>
          </a:p>
          <a:p>
            <a:r>
              <a:rPr lang="en-US" altLang="ko-KR" sz="1000"/>
              <a:t>  Stored in directory: /root/.cache/pip/wheels/54/4a/f8/2803c6041841502d0d21fb2a62d401d14716dfeb2261a3a70b</a:t>
            </a:r>
          </a:p>
          <a:p>
            <a:r>
              <a:rPr lang="en-US" altLang="ko-KR" sz="1000"/>
              <a:t>Successfully built pypika</a:t>
            </a:r>
          </a:p>
          <a:p>
            <a:r>
              <a:rPr lang="en-US" altLang="ko-KR" sz="1000"/>
              <a:t>Failed to build mysqlclient</a:t>
            </a:r>
          </a:p>
          <a:p>
            <a:r>
              <a:rPr lang="en-US" altLang="ko-KR" sz="1000"/>
              <a:t>ERROR: Could not build wheels for mysqlclient, which is required to install pyproject.toml-based projects</a:t>
            </a:r>
          </a:p>
          <a:p>
            <a:r>
              <a:rPr lang="en-US" altLang="ko-KR" sz="1000"/>
              <a:t>(wc) [root@localhost wchat]# AAAAAA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285266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03563" y="94452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mtClean="0">
                <a:hlinkClick r:id="rId2"/>
              </a:rPr>
              <a:t>CentOS 7.9</a:t>
            </a:r>
            <a:r>
              <a:rPr lang="ko-KR" altLang="en-US" smtClean="0">
                <a:hlinkClick r:id="rId2"/>
              </a:rPr>
              <a:t>에 </a:t>
            </a:r>
            <a:r>
              <a:rPr lang="en-US" altLang="ko-KR" smtClean="0">
                <a:hlinkClick r:id="rId2"/>
              </a:rPr>
              <a:t>MySQL 8.x </a:t>
            </a:r>
            <a:r>
              <a:rPr lang="ko-KR" altLang="en-US" smtClean="0">
                <a:hlinkClick r:id="rId2"/>
              </a:rPr>
              <a:t>설치하기 </a:t>
            </a:r>
            <a:r>
              <a:rPr lang="en-US" altLang="ko-KR" smtClean="0">
                <a:hlinkClick r:id="rId2"/>
              </a:rPr>
              <a:t>– taeho's life logger (blogger.pe.kr)</a:t>
            </a: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736969" y="501134"/>
            <a:ext cx="29964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mtClean="0"/>
              <a:t>https://blogger.pe.kr/1037/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447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97555" y="935243"/>
            <a:ext cx="61080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mtClean="0">
                <a:hlinkClick r:id="rId2"/>
              </a:rPr>
              <a:t>MariaDB </a:t>
            </a:r>
            <a:r>
              <a:rPr lang="ko-KR" altLang="en-US" smtClean="0">
                <a:hlinkClick r:id="rId2"/>
              </a:rPr>
              <a:t>마리아</a:t>
            </a:r>
            <a:r>
              <a:rPr lang="en-US" altLang="ko-KR" smtClean="0">
                <a:hlinkClick r:id="rId2"/>
              </a:rPr>
              <a:t>DB </a:t>
            </a:r>
            <a:r>
              <a:rPr lang="ko-KR" altLang="en-US" smtClean="0">
                <a:hlinkClick r:id="rId2"/>
              </a:rPr>
              <a:t>설치하기 </a:t>
            </a:r>
            <a:r>
              <a:rPr lang="en-US" altLang="ko-KR" smtClean="0">
                <a:hlinkClick r:id="rId2"/>
              </a:rPr>
              <a:t>: </a:t>
            </a:r>
            <a:r>
              <a:rPr lang="ko-KR" altLang="en-US" smtClean="0">
                <a:hlinkClick r:id="rId2"/>
              </a:rPr>
              <a:t>네이버 블로그 </a:t>
            </a:r>
            <a:r>
              <a:rPr lang="en-US" altLang="ko-KR" smtClean="0">
                <a:hlinkClick r:id="rId2"/>
              </a:rPr>
              <a:t>(naver.com)</a:t>
            </a: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24813" y="399534"/>
            <a:ext cx="5268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mtClean="0"/>
              <a:t>https://blog.naver.com/hongganz/222817487107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13" y="1490002"/>
            <a:ext cx="965835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04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21938" y="420111"/>
            <a:ext cx="36477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mtClean="0"/>
              <a:t>centos </a:t>
            </a:r>
            <a:r>
              <a:rPr lang="ko-KR" altLang="en-US" smtClean="0"/>
              <a:t>마리아</a:t>
            </a:r>
            <a:r>
              <a:rPr lang="en-US" altLang="ko-KR" smtClean="0"/>
              <a:t>db </a:t>
            </a:r>
            <a:r>
              <a:rPr lang="ko-KR" altLang="en-US" smtClean="0"/>
              <a:t>포트 변경 </a:t>
            </a:r>
            <a:endParaRPr lang="en-US" altLang="ko-KR" smtClean="0"/>
          </a:p>
          <a:p>
            <a:r>
              <a:rPr lang="en-US" altLang="ko-KR" smtClean="0"/>
              <a:t>https://growingdevl.tistory.com/9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11" y="1236441"/>
            <a:ext cx="7162800" cy="13525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21938" y="301442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mtClean="0"/>
              <a:t>- 현재 port = 3306</a:t>
            </a:r>
          </a:p>
          <a:p>
            <a:endParaRPr lang="ko-KR" altLang="en-US" smtClean="0"/>
          </a:p>
          <a:p>
            <a:r>
              <a:rPr lang="ko-KR" altLang="en-US" smtClean="0"/>
              <a:t>- 설정 파일 열기</a:t>
            </a:r>
          </a:p>
          <a:p>
            <a:endParaRPr lang="ko-KR" altLang="en-US" smtClean="0"/>
          </a:p>
          <a:p>
            <a:r>
              <a:rPr lang="ko-KR" altLang="en-US" smtClean="0"/>
              <a:t>vi /etc/my.cnf.d/server.cnf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38" y="5080321"/>
            <a:ext cx="6791325" cy="6096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28" y="5838681"/>
            <a:ext cx="595312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27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72200" y="210235"/>
            <a:ext cx="6096000" cy="249299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>
                <a:hlinkClick r:id="rId2"/>
              </a:rPr>
              <a:t>https://archive.mariadb.org/mariadb-10.3.18/bintar-linux-x86_64</a:t>
            </a:r>
            <a:r>
              <a:rPr lang="en-US" altLang="ko-KR" sz="1200" smtClean="0">
                <a:hlinkClick r:id="rId2"/>
              </a:rPr>
              <a:t>/</a:t>
            </a:r>
            <a:endParaRPr lang="en-US" altLang="ko-KR" sz="1200" smtClean="0"/>
          </a:p>
          <a:p>
            <a:r>
              <a:rPr lang="en-US" altLang="ko-KR" sz="1200"/>
              <a:t>../</a:t>
            </a:r>
          </a:p>
          <a:p>
            <a:r>
              <a:rPr lang="en-US" altLang="ko-KR" sz="1200"/>
              <a:t>mariadb-10.3.18-linux-x86_64.tar.gz                09-Sep-2019 18:23    717M</a:t>
            </a:r>
          </a:p>
          <a:p>
            <a:r>
              <a:rPr lang="en-US" altLang="ko-KR" sz="1200"/>
              <a:t>mariadb-10.3.18-linux-x86_64.tar.gz.asc            09-Sep-2019 18:23     195</a:t>
            </a:r>
          </a:p>
          <a:p>
            <a:r>
              <a:rPr lang="en-US" altLang="ko-KR" sz="1200"/>
              <a:t>mariadb-10.3.18-linux-x86_64.tar.gz.orig           08-Sep-2019 17:17    705M</a:t>
            </a:r>
          </a:p>
          <a:p>
            <a:r>
              <a:rPr lang="en-US" altLang="ko-KR" sz="1200"/>
              <a:t>md5sums.txt                                        09-Sep-2019 18:23      72</a:t>
            </a:r>
          </a:p>
          <a:p>
            <a:r>
              <a:rPr lang="en-US" altLang="ko-KR" sz="1200"/>
              <a:t>md5sums.txt.asc                                    09-Sep-2019 18:23     195</a:t>
            </a:r>
          </a:p>
          <a:p>
            <a:r>
              <a:rPr lang="en-US" altLang="ko-KR" sz="1200"/>
              <a:t>sha1sums.txt                                       09-Sep-2019 18:23      80</a:t>
            </a:r>
          </a:p>
          <a:p>
            <a:r>
              <a:rPr lang="en-US" altLang="ko-KR" sz="1200"/>
              <a:t>sha1sums.txt.asc                                   09-Sep-2019 18:23     195</a:t>
            </a:r>
          </a:p>
          <a:p>
            <a:r>
              <a:rPr lang="en-US" altLang="ko-KR" sz="1200"/>
              <a:t>sha256sums.txt                                     09-Sep-2019 18:23     104</a:t>
            </a:r>
          </a:p>
          <a:p>
            <a:r>
              <a:rPr lang="en-US" altLang="ko-KR" sz="1200"/>
              <a:t>sha256sums.txt.asc                                 09-Sep-2019 18:23     195</a:t>
            </a:r>
          </a:p>
          <a:p>
            <a:r>
              <a:rPr lang="en-US" altLang="ko-KR" sz="1200"/>
              <a:t>sha512sums.txt                                     09-Sep-2019 18:23     168</a:t>
            </a:r>
          </a:p>
          <a:p>
            <a:r>
              <a:rPr lang="en-US" altLang="ko-KR" sz="1200"/>
              <a:t>sha512sums.txt.asc                                 09-Sep-2019 18:23     195</a:t>
            </a:r>
            <a:endParaRPr lang="ko-KR" altLang="en-US" sz="1200"/>
          </a:p>
        </p:txBody>
      </p:sp>
      <p:sp>
        <p:nvSpPr>
          <p:cNvPr id="5" name="직사각형 4"/>
          <p:cNvSpPr/>
          <p:nvPr/>
        </p:nvSpPr>
        <p:spPr>
          <a:xfrm>
            <a:off x="442716" y="210235"/>
            <a:ext cx="45674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/>
              <a:t>https://louky0714.tistory.com/87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14326" y="625733"/>
            <a:ext cx="56769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222222"/>
                </a:solidFill>
                <a:latin typeface="-apple-system"/>
              </a:rPr>
              <a:t>CMD ) wget -O mariadb-10.3.22-linux-systemd-x86_64.tar.gz https://downloads.mariadb.org/interstitial/mariadb-10.3.22/bintar-linux-systemd-x86_64/mariadb-10.3.22-linux-systemd-x86_64.tar.gz/from/http%3A//mariadb.mirror.liquidtelecom.com/</a:t>
            </a:r>
            <a:endParaRPr lang="ko-KR" altLang="en-US" sz="1200"/>
          </a:p>
        </p:txBody>
      </p:sp>
      <p:sp>
        <p:nvSpPr>
          <p:cNvPr id="7" name="직사각형 6"/>
          <p:cNvSpPr/>
          <p:nvPr/>
        </p:nvSpPr>
        <p:spPr>
          <a:xfrm>
            <a:off x="314326" y="1595229"/>
            <a:ext cx="527684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/>
              <a:t>my.cnf설정을 한다. (여기서는 config 파일의 위치만  변경하고 추후 다른 페이지를 통해 config내 필드에 대해 설명하고자 한다. )</a:t>
            </a:r>
          </a:p>
          <a:p>
            <a:endParaRPr lang="ko-KR" altLang="en-US" sz="1200"/>
          </a:p>
          <a:p>
            <a:r>
              <a:rPr lang="ko-KR" altLang="en-US" sz="1200"/>
              <a:t>## 주석과 공백 라인을 제거하고 필요한 부분만 출력!!! </a:t>
            </a:r>
          </a:p>
          <a:p>
            <a:endParaRPr lang="ko-KR" altLang="en-US" sz="1200"/>
          </a:p>
          <a:p>
            <a:r>
              <a:rPr lang="ko-KR" altLang="en-US" sz="1200"/>
              <a:t>[root@TEST-DB bin]# cat /usr/local/mysql/my.cnf | grep -Ev "^#|^$" |sed -e "s/\[/\n\[/g"</a:t>
            </a:r>
          </a:p>
          <a:p>
            <a:endParaRPr lang="ko-KR" altLang="en-US" sz="1200"/>
          </a:p>
          <a:p>
            <a:endParaRPr lang="ko-KR" altLang="en-US" sz="1200"/>
          </a:p>
          <a:p>
            <a:r>
              <a:rPr lang="ko-KR" altLang="en-US" sz="1200"/>
              <a:t>** /etc/my.cnf가 있는데 필자는 한곳에서 관리를 하고자 /etc/my.cnf는 삭제 또는 이동하여 Mysql이 설치 되어 있는 /usr/local/mysql 하위에 위치하도록 하였고 /etc/my.cnf는 소프트 링크를 걸어 설정하였다. </a:t>
            </a:r>
          </a:p>
          <a:p>
            <a:endParaRPr lang="ko-KR" altLang="en-US" sz="1200"/>
          </a:p>
          <a:p>
            <a:r>
              <a:rPr lang="ko-KR" altLang="en-US" sz="1200"/>
              <a:t>[root@TEST-DB local]# mv /etc/my.cnf /usr/local/mysql/</a:t>
            </a:r>
          </a:p>
          <a:p>
            <a:r>
              <a:rPr lang="ko-KR" altLang="en-US" sz="1200"/>
              <a:t>[root@TEST-DB local]# ln -s /usr/local/mysql/my.cnf /etc/my.cnf</a:t>
            </a:r>
          </a:p>
          <a:p>
            <a:r>
              <a:rPr lang="ko-KR" altLang="en-US" sz="1200"/>
              <a:t>[root@TEST-DB local]# cd mysql</a:t>
            </a:r>
          </a:p>
          <a:p>
            <a:r>
              <a:rPr lang="ko-KR" altLang="en-US" sz="1200"/>
              <a:t>[root@TEST-DB mysql]# cksum my.cnf /etc/my.cnf</a:t>
            </a:r>
          </a:p>
          <a:p>
            <a:endParaRPr lang="ko-KR" altLang="en-US" sz="1200"/>
          </a:p>
        </p:txBody>
      </p:sp>
      <p:sp>
        <p:nvSpPr>
          <p:cNvPr id="8" name="직사각형 7"/>
          <p:cNvSpPr/>
          <p:nvPr/>
        </p:nvSpPr>
        <p:spPr>
          <a:xfrm>
            <a:off x="5743575" y="2913162"/>
            <a:ext cx="6096000" cy="37548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400"/>
              <a:t>mysql유저를 생성하고  퍼미션을 변경한다. ( 필요하지 않을 경우 변경하지 않아도 된다.)</a:t>
            </a:r>
          </a:p>
          <a:p>
            <a:endParaRPr lang="ko-KR" altLang="en-US" sz="1400"/>
          </a:p>
          <a:p>
            <a:r>
              <a:rPr lang="ko-KR" altLang="en-US" sz="1400"/>
              <a:t>[root@TEST-DB local]# groupadd -g 501 mysql</a:t>
            </a:r>
          </a:p>
          <a:p>
            <a:r>
              <a:rPr lang="ko-KR" altLang="en-US" sz="1400"/>
              <a:t>[root@TEST-DB local]# useradd -g501 -u501 -d /home/mysql/ -m -s /bin/bash  -c "Mysql USER" mysql</a:t>
            </a:r>
          </a:p>
          <a:p>
            <a:r>
              <a:rPr lang="ko-KR" altLang="en-US" sz="1400"/>
              <a:t>[root@TEST-DB local]# passwd mysql</a:t>
            </a:r>
          </a:p>
          <a:p>
            <a:r>
              <a:rPr lang="ko-KR" altLang="en-US" sz="1400"/>
              <a:t>mysql 사용자의 비밀 번호 변경 중</a:t>
            </a:r>
          </a:p>
          <a:p>
            <a:r>
              <a:rPr lang="ko-KR" altLang="en-US" sz="1400"/>
              <a:t>새  암호:</a:t>
            </a:r>
          </a:p>
          <a:p>
            <a:r>
              <a:rPr lang="ko-KR" altLang="en-US" sz="1400"/>
              <a:t>새  암호 재입력:</a:t>
            </a:r>
          </a:p>
          <a:p>
            <a:r>
              <a:rPr lang="ko-KR" altLang="en-US" sz="1400"/>
              <a:t>passwd: 모든 인증 토큰이 성공적으로 업데이트 되었습니다.</a:t>
            </a:r>
          </a:p>
          <a:p>
            <a:endParaRPr lang="ko-KR" altLang="en-US" sz="1400"/>
          </a:p>
          <a:p>
            <a:r>
              <a:rPr lang="ko-KR" altLang="en-US" sz="1400"/>
              <a:t>[root@TEST-DB local]# cd /usr/local</a:t>
            </a:r>
          </a:p>
          <a:p>
            <a:endParaRPr lang="ko-KR" altLang="en-US" sz="1400"/>
          </a:p>
          <a:p>
            <a:r>
              <a:rPr lang="ko-KR" altLang="en-US" sz="1400"/>
              <a:t>##그룹 퍼미션만 앞서 만든 계정으로 변경</a:t>
            </a:r>
          </a:p>
          <a:p>
            <a:r>
              <a:rPr lang="ko-KR" altLang="en-US" sz="1400"/>
              <a:t>[root@TEST-DB local]# chgrp -R mysql mariadb-10.3.22-linux-systemd-x86_64</a:t>
            </a:r>
          </a:p>
        </p:txBody>
      </p:sp>
    </p:spTree>
    <p:extLst>
      <p:ext uri="{BB962C8B-B14F-4D97-AF65-F5344CB8AC3E}">
        <p14:creationId xmlns:p14="http://schemas.microsoft.com/office/powerpoint/2010/main" val="3097310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942668" y="291584"/>
            <a:ext cx="3507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https://arcworld.tistory.com/119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83" y="1014808"/>
            <a:ext cx="7915275" cy="17335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83" y="3082409"/>
            <a:ext cx="4838700" cy="3524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749" y="3403137"/>
            <a:ext cx="1438275" cy="8382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949" y="4366802"/>
            <a:ext cx="5705475" cy="39052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4" y="5036832"/>
            <a:ext cx="3924300" cy="130492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2113" y="817101"/>
            <a:ext cx="4857750" cy="17621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5690" y="2935366"/>
            <a:ext cx="4943475" cy="157162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0238" y="4841587"/>
            <a:ext cx="481012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51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611444" y="282770"/>
            <a:ext cx="31304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https://da-new.tistory.com/5</a:t>
            </a: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09624" y="1210360"/>
            <a:ext cx="861060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/>
              <a:t>wget </a:t>
            </a:r>
            <a:r>
              <a:rPr lang="en-US" altLang="ko-KR" sz="1000">
                <a:hlinkClick r:id="rId2"/>
              </a:rPr>
              <a:t>https://</a:t>
            </a:r>
            <a:r>
              <a:rPr lang="en-US" altLang="ko-KR" sz="1000" smtClean="0">
                <a:hlinkClick r:id="rId2"/>
              </a:rPr>
              <a:t>archive.mariadb.org/mariadb-10.3.18/bintar-linux-x86_64/mariadb-10.3.18-linux-x86_64.tar.gz</a:t>
            </a:r>
            <a:r>
              <a:rPr lang="en-US" altLang="ko-KR" sz="1000" smtClean="0"/>
              <a:t> --no-check-certificate</a:t>
            </a:r>
            <a:endParaRPr lang="ko-KR" altLang="en-US" sz="1000"/>
          </a:p>
        </p:txBody>
      </p:sp>
      <p:sp>
        <p:nvSpPr>
          <p:cNvPr id="6" name="직사각형 5"/>
          <p:cNvSpPr/>
          <p:nvPr/>
        </p:nvSpPr>
        <p:spPr>
          <a:xfrm>
            <a:off x="904874" y="1657767"/>
            <a:ext cx="1046797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/>
              <a:t>[eduuser@localhost Downloads]$ wget https://archive.mariadb.org/mariadb-10.3.18/bintar-linux-x86_64/mariadb-10.3.18-linux-x86_64.tar.gz</a:t>
            </a:r>
          </a:p>
          <a:p>
            <a:r>
              <a:rPr lang="en-US" altLang="ko-KR" sz="1000"/>
              <a:t>--2024-03-04 07:27:03--  https://archive.mariadb.org/mariadb-10.3.18/bintar-linux-x86_64/mariadb-10.3.18-linux-x86_64.tar.gz</a:t>
            </a:r>
          </a:p>
          <a:p>
            <a:r>
              <a:rPr lang="en-US" altLang="ko-KR" sz="1000"/>
              <a:t>Resolving archive.mariadb.org (archive.mariadb.org)... 138.201.152.105</a:t>
            </a:r>
          </a:p>
          <a:p>
            <a:r>
              <a:rPr lang="en-US" altLang="ko-KR" sz="1000"/>
              <a:t>Connecting to archive.mariadb.org (archive.mariadb.org)|138.201.152.105|:443... connected.</a:t>
            </a:r>
          </a:p>
          <a:p>
            <a:r>
              <a:rPr lang="en-US" altLang="ko-KR" sz="1000"/>
              <a:t>ERROR: cannot verify archive.mariadb.org's certificate, issued by ‘/C=US/O=Let's Encrypt/CN=R3’:</a:t>
            </a:r>
          </a:p>
          <a:p>
            <a:r>
              <a:rPr lang="en-US" altLang="ko-KR" sz="1000"/>
              <a:t>  Unable to locally verify the issuer's authority.</a:t>
            </a:r>
          </a:p>
          <a:p>
            <a:r>
              <a:rPr lang="en-US" altLang="ko-KR" sz="1000"/>
              <a:t>To connect to archive.mariadb.org insecurely, use `--no-check-certificate'.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97243" y="3257982"/>
            <a:ext cx="5441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./bin/mysqladmin -u root password 'llmrag2024!1'</a:t>
            </a:r>
          </a:p>
        </p:txBody>
      </p:sp>
    </p:spTree>
    <p:extLst>
      <p:ext uri="{BB962C8B-B14F-4D97-AF65-F5344CB8AC3E}">
        <p14:creationId xmlns:p14="http://schemas.microsoft.com/office/powerpoint/2010/main" val="2517877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590916"/>
            <a:ext cx="10115550" cy="414777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343" y="4093191"/>
            <a:ext cx="818197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38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562600" y="183118"/>
            <a:ext cx="6096000" cy="9387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100"/>
              <a:t>설치 중인 서버 : </a:t>
            </a:r>
          </a:p>
          <a:p>
            <a:r>
              <a:rPr lang="ko-KR" altLang="en-US" sz="1100"/>
              <a:t>  # IP : 210.114.91.91 Port : </a:t>
            </a:r>
            <a:r>
              <a:rPr lang="ko-KR" altLang="en-US" sz="1100">
                <a:solidFill>
                  <a:srgbClr val="FF0000"/>
                </a:solidFill>
              </a:rPr>
              <a:t>22304</a:t>
            </a:r>
          </a:p>
          <a:p>
            <a:r>
              <a:rPr lang="ko-KR" altLang="en-US" sz="1100"/>
              <a:t>  # 원격 접속 정보	210.114.91.91 Port : 22305</a:t>
            </a:r>
          </a:p>
          <a:p>
            <a:r>
              <a:rPr lang="ko-KR" altLang="en-US" sz="1100"/>
              <a:t>  # 아이디	eduuser</a:t>
            </a:r>
          </a:p>
          <a:p>
            <a:r>
              <a:rPr lang="ko-KR" altLang="en-US" sz="1100"/>
              <a:t>  # 비밀번호	hello.edu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47940" y="1586984"/>
            <a:ext cx="5314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https://blog.naver.com/islove8587/221970366883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124075"/>
            <a:ext cx="6934200" cy="260985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804781" y="1253624"/>
            <a:ext cx="3257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mysql -h localhost -u root -p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334375" y="2124075"/>
            <a:ext cx="2725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find / -name mysql.sock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170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76275" y="212527"/>
            <a:ext cx="6096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bashrc</a:t>
            </a:r>
          </a:p>
          <a:p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Bash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는 </a:t>
            </a:r>
            <a:r>
              <a:rPr lang="en-US" altLang="ko-KR" sz="1200" b="1">
                <a:solidFill>
                  <a:srgbClr val="333333"/>
                </a:solidFill>
                <a:latin typeface="-apple-system"/>
              </a:rPr>
              <a:t>Bourne Again Shell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의 축약어다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리눅스에서 가장 널리 사용되는 쉘이다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 bash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는 다섯 개의 공통된 설정 파일들을 가지고 있다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모든 리눅스 배포본에서 이들을 찾아볼 수 있지는 않지만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,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이 파일들을 만드는 것은 어렵지 않다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이 설정  파일들은 다음과 같다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: (bash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는 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5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개의 설정 파일을 갖는다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/etc/profile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/etc/bashrc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~/.bash_profile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~/.bashrc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~/.bash_logout</a:t>
            </a:r>
          </a:p>
          <a:p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일반적으로 전역적인 파일은 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/etc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디렉토리에 위치한다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지역적인 파일은 사용자 개개인을 위한 설정 내용을 담고 있어서 그 파일을 사용하는 특정 사용자에게만 영향을 끼치는 파일들을 뜻한다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이들은 대개 사용자의 홈 디렉토리에서 찾아 볼 수 있는 숨김 파일이다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 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숨김 파일은 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~/.bashrc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와 같이 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'</a:t>
            </a:r>
            <a:r>
              <a:rPr lang="en-US" altLang="ko-KR" sz="1200" b="1">
                <a:solidFill>
                  <a:srgbClr val="333333"/>
                </a:solidFill>
                <a:latin typeface="-apple-system"/>
              </a:rPr>
              <a:t>.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'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으로 시작한다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전역적인 설정인 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/etc/profile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과 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/etc/bashrc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개별 사용자마다 다른 설정을 담는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,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지역적 설정인 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~/.bashrc, ~/.bash_profile, ~/.bash_logout</a:t>
            </a:r>
          </a:p>
          <a:p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수행순서는 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/etc/profile --&gt; /etc/bashrc(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추정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) --&gt; ~/.bash_profile ( --&gt; ~/.bashrc ;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처음 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bash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로 로그인할 때 자동 참조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) [--&gt; ~/.bashrc ;bash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가 실행될 때마다 실행됨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]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즉 처음에 한 번 수행되는 게 전역파일들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,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그 다음엔 매번 지역적인 파일들이 참조된다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</a:t>
            </a:r>
            <a:br>
              <a:rPr lang="en-US" altLang="ko-KR" sz="1200">
                <a:solidFill>
                  <a:srgbClr val="333333"/>
                </a:solidFill>
                <a:latin typeface="-apple-system"/>
              </a:rPr>
            </a:b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/>
            </a:r>
            <a:br>
              <a:rPr lang="en-US" altLang="ko-KR" sz="1200">
                <a:solidFill>
                  <a:srgbClr val="333333"/>
                </a:solidFill>
                <a:latin typeface="-apple-system"/>
              </a:rPr>
            </a:b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bashrc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는 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bash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에서 작업할 때마다 수행되는 파일로서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,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우리가 그냥 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python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이라고 입력만 해도 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python3.x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버전으로 연결되어 작업할 수 있게 해준다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즉 환경변수 개념이라고 생각하면 편하다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만약 모든 사용자에게 적용되게 하려면 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/etc/profile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에 설정해주면 된다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 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개별 사용자에게 적용되게 하려면 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.bash</a:t>
            </a:r>
            <a:r>
              <a:rPr lang="ko-KR" altLang="en-US" sz="1200">
                <a:solidFill>
                  <a:srgbClr val="333333"/>
                </a:solidFill>
                <a:latin typeface="-apple-system"/>
              </a:rPr>
              <a:t>에 설정한다</a:t>
            </a:r>
            <a:r>
              <a:rPr lang="en-US" altLang="ko-KR" sz="1200">
                <a:solidFill>
                  <a:srgbClr val="333333"/>
                </a:solidFill>
                <a:latin typeface="-apple-system"/>
              </a:rPr>
              <a:t>.</a:t>
            </a:r>
            <a:endParaRPr lang="en-US" altLang="ko-KR" sz="1200" b="0" i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586749" y="301109"/>
            <a:ext cx="31528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https://dohk.tistory.com/191</a:t>
            </a:r>
          </a:p>
        </p:txBody>
      </p:sp>
    </p:spTree>
    <p:extLst>
      <p:ext uri="{BB962C8B-B14F-4D97-AF65-F5344CB8AC3E}">
        <p14:creationId xmlns:p14="http://schemas.microsoft.com/office/powerpoint/2010/main" val="436288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839566" y="491609"/>
            <a:ext cx="5066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https://blog.naver.com/andwise/220874411097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3155681"/>
            <a:ext cx="7858125" cy="328340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41" y="599540"/>
            <a:ext cx="4847609" cy="61568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" y="998661"/>
            <a:ext cx="6838950" cy="10096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2008311"/>
            <a:ext cx="46005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903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3108" y="984010"/>
            <a:ext cx="3296415" cy="41549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>
                <a:solidFill>
                  <a:srgbClr val="FF0000"/>
                </a:solidFill>
              </a:rPr>
              <a:t>1. Service </a:t>
            </a:r>
            <a:r>
              <a:rPr lang="ko-KR" altLang="en-US" sz="1200" b="1">
                <a:solidFill>
                  <a:srgbClr val="FF0000"/>
                </a:solidFill>
              </a:rPr>
              <a:t>파일 생성</a:t>
            </a:r>
          </a:p>
          <a:p>
            <a:endParaRPr lang="ko-KR" altLang="en-US" sz="1200" b="1">
              <a:solidFill>
                <a:srgbClr val="FF0000"/>
              </a:solidFill>
            </a:endParaRPr>
          </a:p>
          <a:p>
            <a:r>
              <a:rPr lang="en-US" altLang="ko-KR" sz="1200" b="1">
                <a:solidFill>
                  <a:srgbClr val="FF0000"/>
                </a:solidFill>
              </a:rPr>
              <a:t>$ vi /etc/systemd/system/mariadb.service</a:t>
            </a:r>
          </a:p>
          <a:p>
            <a:endParaRPr lang="en-US" altLang="ko-KR" sz="1200"/>
          </a:p>
          <a:p>
            <a:r>
              <a:rPr lang="en-US" altLang="ko-KR" sz="1200"/>
              <a:t> </a:t>
            </a:r>
          </a:p>
          <a:p>
            <a:endParaRPr lang="en-US" altLang="ko-KR" sz="1200"/>
          </a:p>
          <a:p>
            <a:r>
              <a:rPr lang="en-US" altLang="ko-KR" sz="1200"/>
              <a:t>[Unit]</a:t>
            </a:r>
          </a:p>
          <a:p>
            <a:r>
              <a:rPr lang="en-US" altLang="ko-KR" sz="1200"/>
              <a:t>Description=MariaDB 10.5.8 database server</a:t>
            </a:r>
          </a:p>
          <a:p>
            <a:r>
              <a:rPr lang="en-US" altLang="ko-KR" sz="1200"/>
              <a:t>After=network.target</a:t>
            </a:r>
          </a:p>
          <a:p>
            <a:r>
              <a:rPr lang="en-US" altLang="ko-KR" sz="1200"/>
              <a:t>After=syslog.target</a:t>
            </a:r>
          </a:p>
          <a:p>
            <a:endParaRPr lang="en-US" altLang="ko-KR" sz="1200"/>
          </a:p>
          <a:p>
            <a:r>
              <a:rPr lang="en-US" altLang="ko-KR" sz="1200"/>
              <a:t>[Install]</a:t>
            </a:r>
          </a:p>
          <a:p>
            <a:r>
              <a:rPr lang="en-US" altLang="ko-KR" sz="1200"/>
              <a:t>WantedBy=multi-user.target</a:t>
            </a:r>
          </a:p>
          <a:p>
            <a:r>
              <a:rPr lang="en-US" altLang="ko-KR" sz="1200"/>
              <a:t>Alias=mariadbd.service</a:t>
            </a:r>
          </a:p>
          <a:p>
            <a:endParaRPr lang="en-US" altLang="ko-KR" sz="1200"/>
          </a:p>
          <a:p>
            <a:r>
              <a:rPr lang="en-US" altLang="ko-KR" sz="1200"/>
              <a:t>[Service]</a:t>
            </a:r>
          </a:p>
          <a:p>
            <a:endParaRPr lang="en-US" altLang="ko-KR" sz="1200"/>
          </a:p>
          <a:p>
            <a:r>
              <a:rPr lang="en-US" altLang="ko-KR" sz="1200"/>
              <a:t>User=maria</a:t>
            </a:r>
          </a:p>
          <a:p>
            <a:r>
              <a:rPr lang="en-US" altLang="ko-KR" sz="1200"/>
              <a:t>Group=maria</a:t>
            </a:r>
          </a:p>
          <a:p>
            <a:endParaRPr lang="en-US" altLang="ko-KR" sz="1200"/>
          </a:p>
          <a:p>
            <a:r>
              <a:rPr lang="en-US" altLang="ko-KR" sz="1200"/>
              <a:t># Execute pre and post scripts as root</a:t>
            </a:r>
          </a:p>
          <a:p>
            <a:r>
              <a:rPr lang="en-US" altLang="ko-KR" sz="1200" smtClean="0"/>
              <a:t>PermissionsStartOnly=true</a:t>
            </a:r>
            <a:endParaRPr lang="en-US" altLang="ko-KR" sz="1200"/>
          </a:p>
        </p:txBody>
      </p:sp>
      <p:sp>
        <p:nvSpPr>
          <p:cNvPr id="5" name="직사각형 4"/>
          <p:cNvSpPr/>
          <p:nvPr/>
        </p:nvSpPr>
        <p:spPr>
          <a:xfrm>
            <a:off x="4591050" y="604600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200"/>
          </a:p>
          <a:p>
            <a:r>
              <a:rPr lang="en-US" altLang="ko-KR" sz="1200"/>
              <a:t># Needed to create system tables etc.</a:t>
            </a:r>
          </a:p>
          <a:p>
            <a:r>
              <a:rPr lang="en-US" altLang="ko-KR" sz="1200"/>
              <a:t>#ExecStartPre=</a:t>
            </a:r>
          </a:p>
          <a:p>
            <a:endParaRPr lang="en-US" altLang="ko-KR" sz="1200"/>
          </a:p>
          <a:p>
            <a:r>
              <a:rPr lang="en-US" altLang="ko-KR" sz="1200"/>
              <a:t># Start main service</a:t>
            </a:r>
          </a:p>
          <a:p>
            <a:r>
              <a:rPr lang="en-US" altLang="ko-KR" sz="1200"/>
              <a:t>ExecStart=/usr/local/src/mariadb-10.5.8-linux-systemd-x86_64/bin/mariadbd-safe</a:t>
            </a:r>
          </a:p>
          <a:p>
            <a:endParaRPr lang="en-US" altLang="ko-KR" sz="1200"/>
          </a:p>
          <a:p>
            <a:r>
              <a:rPr lang="en-US" altLang="ko-KR" sz="1200"/>
              <a:t># Don't signal startup success before a ping works</a:t>
            </a:r>
          </a:p>
          <a:p>
            <a:r>
              <a:rPr lang="en-US" altLang="ko-KR" sz="1200"/>
              <a:t>#ExecStartPost=</a:t>
            </a:r>
          </a:p>
          <a:p>
            <a:endParaRPr lang="en-US" altLang="ko-KR" sz="1200"/>
          </a:p>
          <a:p>
            <a:r>
              <a:rPr lang="en-US" altLang="ko-KR" sz="1200"/>
              <a:t># Give up if ping don't get an answer</a:t>
            </a:r>
          </a:p>
          <a:p>
            <a:r>
              <a:rPr lang="en-US" altLang="ko-KR" sz="1200"/>
              <a:t>TimeoutSec=300</a:t>
            </a:r>
          </a:p>
          <a:p>
            <a:r>
              <a:rPr lang="en-US" altLang="ko-KR" sz="1200"/>
              <a:t>PrivateTmp=false</a:t>
            </a:r>
          </a:p>
          <a:p>
            <a:r>
              <a:rPr lang="en-US" altLang="ko-KR" sz="1200"/>
              <a:t> </a:t>
            </a:r>
          </a:p>
          <a:p>
            <a:endParaRPr lang="en-US" altLang="ko-KR" sz="1200"/>
          </a:p>
          <a:p>
            <a:r>
              <a:rPr lang="en-US" altLang="ko-KR" sz="1200"/>
              <a:t> </a:t>
            </a:r>
          </a:p>
          <a:p>
            <a:endParaRPr lang="en-US" altLang="ko-KR" sz="1200"/>
          </a:p>
          <a:p>
            <a:r>
              <a:rPr lang="en-US" altLang="ko-KR" sz="1200"/>
              <a:t>2. systemctl daemon </a:t>
            </a:r>
            <a:r>
              <a:rPr lang="ko-KR" altLang="en-US" sz="1200"/>
              <a:t>재시작</a:t>
            </a:r>
          </a:p>
          <a:p>
            <a:endParaRPr lang="ko-KR" altLang="en-US" sz="1200"/>
          </a:p>
          <a:p>
            <a:r>
              <a:rPr lang="en-US" altLang="ko-KR" sz="1200"/>
              <a:t>$ systemctl daemon-reload</a:t>
            </a:r>
          </a:p>
          <a:p>
            <a:endParaRPr lang="en-US" altLang="ko-KR" sz="1200"/>
          </a:p>
          <a:p>
            <a:r>
              <a:rPr lang="en-US" altLang="ko-KR" sz="1200"/>
              <a:t> </a:t>
            </a:r>
          </a:p>
          <a:p>
            <a:endParaRPr lang="en-US" altLang="ko-KR" sz="1200"/>
          </a:p>
          <a:p>
            <a:r>
              <a:rPr lang="en-US" altLang="ko-KR" sz="1200"/>
              <a:t> </a:t>
            </a:r>
          </a:p>
          <a:p>
            <a:endParaRPr lang="en-US" altLang="ko-KR" sz="1200"/>
          </a:p>
          <a:p>
            <a:r>
              <a:rPr lang="en-US" altLang="ko-KR" sz="1200"/>
              <a:t>◎ </a:t>
            </a:r>
            <a:r>
              <a:rPr lang="ko-KR" altLang="en-US" sz="1200"/>
              <a:t>정상적으로 </a:t>
            </a:r>
            <a:r>
              <a:rPr lang="en-US" altLang="ko-KR" sz="1200"/>
              <a:t>Service</a:t>
            </a:r>
            <a:r>
              <a:rPr lang="ko-KR" altLang="en-US" sz="1200"/>
              <a:t>가 등록되었는지 확인</a:t>
            </a:r>
          </a:p>
          <a:p>
            <a:endParaRPr lang="ko-KR" altLang="en-US" sz="1200"/>
          </a:p>
          <a:p>
            <a:r>
              <a:rPr lang="en-US" altLang="ko-KR" sz="1200"/>
              <a:t>$ systemctl status mariadb.service</a:t>
            </a:r>
            <a:endParaRPr lang="ko-KR" altLang="en-US" sz="1200"/>
          </a:p>
        </p:txBody>
      </p:sp>
      <p:sp>
        <p:nvSpPr>
          <p:cNvPr id="6" name="직사각형 5"/>
          <p:cNvSpPr/>
          <p:nvPr/>
        </p:nvSpPr>
        <p:spPr>
          <a:xfrm>
            <a:off x="8293157" y="232857"/>
            <a:ext cx="3435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https://ta-starter.tistory.com/31</a:t>
            </a:r>
          </a:p>
        </p:txBody>
      </p:sp>
    </p:spTree>
    <p:extLst>
      <p:ext uri="{BB962C8B-B14F-4D97-AF65-F5344CB8AC3E}">
        <p14:creationId xmlns:p14="http://schemas.microsoft.com/office/powerpoint/2010/main" val="33881916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443716" y="339209"/>
            <a:ext cx="3553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https://louky0714.tistory.com/87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99482" y="339209"/>
            <a:ext cx="55733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[DATABASE] MariaDB 10.3.xx Install - 바이너리 설치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85774" y="1510010"/>
            <a:ext cx="113633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참고블로그: https://da-new.tistory.com/5</a:t>
            </a:r>
          </a:p>
          <a:p>
            <a:r>
              <a:rPr lang="ko-KR" altLang="en-US"/>
              <a:t>보완 가이드: https://change-words.tistory.com/entry/MariaDB-offline-install</a:t>
            </a:r>
          </a:p>
        </p:txBody>
      </p:sp>
    </p:spTree>
    <p:extLst>
      <p:ext uri="{BB962C8B-B14F-4D97-AF65-F5344CB8AC3E}">
        <p14:creationId xmlns:p14="http://schemas.microsoft.com/office/powerpoint/2010/main" val="36807891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331439" y="196334"/>
            <a:ext cx="33320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https://jojoldu.tistory.com/461</a:t>
            </a: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70559" y="1581329"/>
            <a:ext cx="11018521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/>
              <a:t>다음으로 ulimit 설정을 합니다.</a:t>
            </a:r>
          </a:p>
          <a:p>
            <a:endParaRPr lang="ko-KR" altLang="en-US" sz="1400"/>
          </a:p>
          <a:p>
            <a:r>
              <a:rPr lang="ko-KR" altLang="en-US" sz="1400"/>
              <a:t>ulimit에 대한 자세한 내용은 예전에 작성한 글을 참고해보세요.</a:t>
            </a:r>
          </a:p>
          <a:p>
            <a:endParaRPr lang="ko-KR" altLang="en-US" sz="1400"/>
          </a:p>
          <a:p>
            <a:r>
              <a:rPr lang="ko-KR" altLang="en-US" sz="1400"/>
              <a:t>아래 파일을 열어 확인해봅니다.</a:t>
            </a:r>
          </a:p>
          <a:p>
            <a:endParaRPr lang="ko-KR" altLang="en-US" sz="1400"/>
          </a:p>
          <a:p>
            <a:r>
              <a:rPr lang="ko-KR" altLang="en-US" sz="1400"/>
              <a:t>vim /etc/security/limits.conf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70559" y="381000"/>
            <a:ext cx="71170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2019-11-16  9:01:12 140219977733888 [Warning] </a:t>
            </a:r>
            <a:r>
              <a:rPr lang="ko-KR" altLang="en-US">
                <a:solidFill>
                  <a:srgbClr val="FF0000"/>
                </a:solidFill>
              </a:rPr>
              <a:t>Failed to load slave replication state </a:t>
            </a:r>
            <a:r>
              <a:rPr lang="ko-KR" altLang="en-US"/>
              <a:t>from table mysql.gtid_slave_pos: 1146: Table 'mysql.gtid_slave_pos' doesn't exist</a:t>
            </a:r>
          </a:p>
          <a:p>
            <a:r>
              <a:rPr lang="ko-KR" altLang="en-US"/>
              <a:t>2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87680" y="3366433"/>
            <a:ext cx="106375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/>
              <a:t>이는 처음 설치시 자동으로 생성되는 data 들이 기본 위치인 /var/lib/mysql 에 있기 때문입니다.</a:t>
            </a:r>
          </a:p>
          <a:p>
            <a:endParaRPr lang="ko-KR" altLang="en-US" sz="1400"/>
          </a:p>
          <a:p>
            <a:r>
              <a:rPr lang="ko-KR" altLang="en-US" sz="1400"/>
              <a:t>이들이 /etc/my.cnf에 지정된 위치에 있어야만 정상적으로 실행할 수 있습니다.</a:t>
            </a:r>
          </a:p>
          <a:p>
            <a:r>
              <a:rPr lang="ko-KR" altLang="en-US" sz="1400"/>
              <a:t>그래서 이 파일들을 모두 복사하겠습니다.</a:t>
            </a:r>
          </a:p>
          <a:p>
            <a:endParaRPr lang="ko-KR" altLang="en-US" sz="1400"/>
          </a:p>
          <a:p>
            <a:r>
              <a:rPr lang="ko-KR" altLang="en-US" sz="1400"/>
              <a:t>cp -R /var/lib/mysql/* /data/mysql/mysql-data/</a:t>
            </a:r>
          </a:p>
          <a:p>
            <a:r>
              <a:rPr lang="ko-KR" altLang="en-US" sz="1400"/>
              <a:t>복사하신뒤, 현재 계정이 root 계정이라면 복사된 파일들이 모두 root 권한이 되므로 다시 mysql 권한으로 변경합니다.</a:t>
            </a:r>
          </a:p>
          <a:p>
            <a:endParaRPr lang="ko-KR" altLang="en-US" sz="1400"/>
          </a:p>
          <a:p>
            <a:r>
              <a:rPr lang="ko-KR" altLang="en-US" sz="1400"/>
              <a:t>chown -R mysql:mysql /data/mysql</a:t>
            </a:r>
          </a:p>
        </p:txBody>
      </p:sp>
    </p:spTree>
    <p:extLst>
      <p:ext uri="{BB962C8B-B14F-4D97-AF65-F5344CB8AC3E}">
        <p14:creationId xmlns:p14="http://schemas.microsoft.com/office/powerpoint/2010/main" val="2733948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61950" y="768340"/>
            <a:ext cx="12439650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/>
              <a:t>﻿</a:t>
            </a:r>
            <a:r>
              <a:rPr lang="en-US" altLang="ko-KR" sz="1200">
                <a:solidFill>
                  <a:srgbClr val="000000"/>
                </a:solidFill>
              </a:rPr>
              <a:t>4. visual studio</a:t>
            </a:r>
            <a:r>
              <a:rPr lang="ko-KR" altLang="en-US" sz="1200">
                <a:solidFill>
                  <a:srgbClr val="000000"/>
                </a:solidFill>
              </a:rPr>
              <a:t>와 </a:t>
            </a:r>
            <a:r>
              <a:rPr lang="en-US" altLang="ko-KR" sz="1200">
                <a:solidFill>
                  <a:srgbClr val="000000"/>
                </a:solidFill>
              </a:rPr>
              <a:t>ssh </a:t>
            </a:r>
            <a:r>
              <a:rPr lang="ko-KR" altLang="en-US" sz="1200">
                <a:solidFill>
                  <a:srgbClr val="000000"/>
                </a:solidFill>
              </a:rPr>
              <a:t>연동 </a:t>
            </a:r>
            <a:endParaRPr lang="en-US" altLang="ko-KR" sz="1200" smtClean="0">
              <a:solidFill>
                <a:srgbClr val="000000"/>
              </a:solidFill>
            </a:endParaRPr>
          </a:p>
          <a:p>
            <a:r>
              <a:rPr lang="en-US" altLang="ko-KR" sz="1200" smtClean="0">
                <a:solidFill>
                  <a:srgbClr val="000000"/>
                </a:solidFill>
              </a:rPr>
              <a:t>   4-1 centos</a:t>
            </a:r>
            <a:r>
              <a:rPr lang="ko-KR" altLang="en-US" sz="1200" smtClean="0">
                <a:solidFill>
                  <a:srgbClr val="000000"/>
                </a:solidFill>
              </a:rPr>
              <a:t>에 </a:t>
            </a:r>
            <a:r>
              <a:rPr lang="en-US" altLang="ko-KR" sz="1200" smtClean="0">
                <a:solidFill>
                  <a:srgbClr val="000000"/>
                </a:solidFill>
              </a:rPr>
              <a:t>visual studio </a:t>
            </a:r>
            <a:r>
              <a:rPr lang="ko-KR" altLang="en-US" sz="1200" smtClean="0">
                <a:solidFill>
                  <a:srgbClr val="000000"/>
                </a:solidFill>
              </a:rPr>
              <a:t>설치 </a:t>
            </a:r>
            <a:endParaRPr lang="en-US" altLang="ko-KR" sz="1200" smtClean="0">
              <a:solidFill>
                <a:srgbClr val="000000"/>
              </a:solidFill>
            </a:endParaRPr>
          </a:p>
          <a:p>
            <a:r>
              <a:rPr lang="en-US" altLang="ko-KR" sz="1200">
                <a:solidFill>
                  <a:srgbClr val="000000"/>
                </a:solidFill>
              </a:rPr>
              <a:t> </a:t>
            </a:r>
            <a:r>
              <a:rPr lang="en-US" altLang="ko-KR" sz="1200" smtClean="0">
                <a:solidFill>
                  <a:srgbClr val="000000"/>
                </a:solidFill>
              </a:rPr>
              <a:t>    - </a:t>
            </a:r>
            <a:r>
              <a:rPr lang="ko-KR" altLang="en-US" sz="1200" smtClean="0">
                <a:solidFill>
                  <a:srgbClr val="000000"/>
                </a:solidFill>
              </a:rPr>
              <a:t>참고</a:t>
            </a:r>
            <a:r>
              <a:rPr lang="en-US" altLang="ko-KR" sz="1200" smtClean="0">
                <a:solidFill>
                  <a:srgbClr val="000000"/>
                </a:solidFill>
              </a:rPr>
              <a:t>: </a:t>
            </a:r>
            <a:r>
              <a:rPr lang="en-US" altLang="ko-KR" sz="1200">
                <a:latin typeface="Noto Sans KR"/>
                <a:hlinkClick r:id="rId2"/>
              </a:rPr>
              <a:t>https://jjeongil.tistory.com/1915</a:t>
            </a:r>
            <a:endParaRPr lang="en-US" altLang="ko-KR" sz="1200">
              <a:latin typeface="Noto Sans KR"/>
            </a:endParaRPr>
          </a:p>
          <a:p>
            <a:r>
              <a:rPr lang="en-US" altLang="ko-KR" sz="1200" smtClean="0">
                <a:solidFill>
                  <a:srgbClr val="000000"/>
                </a:solidFill>
              </a:rPr>
              <a:t>    4-2 </a:t>
            </a:r>
            <a:r>
              <a:rPr lang="en-US" altLang="ko-KR" sz="1200" smtClean="0">
                <a:latin typeface="Noto Sans KR"/>
              </a:rPr>
              <a:t>centos</a:t>
            </a:r>
            <a:r>
              <a:rPr lang="ko-KR" altLang="en-US" sz="1200" smtClean="0">
                <a:latin typeface="Noto Sans KR"/>
              </a:rPr>
              <a:t>에서 </a:t>
            </a:r>
            <a:r>
              <a:rPr lang="en-US" altLang="ko-KR" sz="1200" smtClean="0">
                <a:latin typeface="Noto Sans KR"/>
              </a:rPr>
              <a:t>vscode – </a:t>
            </a:r>
            <a:r>
              <a:rPr lang="en-US" altLang="ko-KR" sz="1200">
                <a:latin typeface="Noto Sans KR"/>
              </a:rPr>
              <a:t>ssh</a:t>
            </a:r>
            <a:r>
              <a:rPr lang="ko-KR" altLang="en-US" sz="1200">
                <a:latin typeface="Noto Sans KR"/>
              </a:rPr>
              <a:t>연결 </a:t>
            </a:r>
            <a:endParaRPr lang="en-US" altLang="ko-KR" sz="1200" smtClean="0">
              <a:latin typeface="Noto Sans KR"/>
            </a:endParaRPr>
          </a:p>
          <a:p>
            <a:r>
              <a:rPr lang="en-US" altLang="ko-KR" sz="1200">
                <a:latin typeface="Noto Sans KR"/>
              </a:rPr>
              <a:t> </a:t>
            </a:r>
            <a:r>
              <a:rPr lang="en-US" altLang="ko-KR" sz="1200" smtClean="0">
                <a:latin typeface="Noto Sans KR"/>
              </a:rPr>
              <a:t>     - </a:t>
            </a:r>
            <a:r>
              <a:rPr lang="ko-KR" altLang="en-US" sz="1200" smtClean="0">
                <a:latin typeface="Noto Sans KR"/>
              </a:rPr>
              <a:t>참고</a:t>
            </a:r>
            <a:r>
              <a:rPr lang="en-US" altLang="ko-KR" sz="1200" smtClean="0">
                <a:latin typeface="Noto Sans KR"/>
              </a:rPr>
              <a:t>1: </a:t>
            </a:r>
            <a:r>
              <a:rPr lang="en-US" altLang="ko-KR" sz="1200">
                <a:latin typeface="Noto Sans KR"/>
              </a:rPr>
              <a:t>https://yjshin.tistory.com/520</a:t>
            </a:r>
            <a:endParaRPr lang="ko-KR" altLang="en-US" sz="1200">
              <a:latin typeface="Noto Sans KR"/>
            </a:endParaRPr>
          </a:p>
          <a:p>
            <a:r>
              <a:rPr lang="en-US" altLang="ko-KR" sz="1200" smtClean="0">
                <a:latin typeface="Noto Sans KR"/>
              </a:rPr>
              <a:t>      - </a:t>
            </a:r>
            <a:r>
              <a:rPr lang="ko-KR" altLang="en-US" sz="1200" smtClean="0">
                <a:latin typeface="Noto Sans KR"/>
              </a:rPr>
              <a:t>참고</a:t>
            </a:r>
            <a:r>
              <a:rPr lang="en-US" altLang="ko-KR" sz="1200" smtClean="0">
                <a:latin typeface="Noto Sans KR"/>
              </a:rPr>
              <a:t>2: </a:t>
            </a:r>
            <a:r>
              <a:rPr lang="ko-KR" altLang="en-US" sz="1200" smtClean="0">
                <a:hlinkClick r:id="rId3"/>
              </a:rPr>
              <a:t>https</a:t>
            </a:r>
            <a:r>
              <a:rPr lang="ko-KR" altLang="en-US" sz="1200">
                <a:hlinkClick r:id="rId3"/>
              </a:rPr>
              <a:t>://</a:t>
            </a:r>
            <a:r>
              <a:rPr lang="ko-KR" altLang="en-US" sz="1200" smtClean="0">
                <a:hlinkClick r:id="rId3"/>
              </a:rPr>
              <a:t>jstar0525.tistory.com/14</a:t>
            </a:r>
            <a:endParaRPr lang="en-US" altLang="ko-KR" sz="1200" smtClean="0"/>
          </a:p>
          <a:p>
            <a:r>
              <a:rPr lang="en-US" altLang="ko-KR" sz="1200" smtClean="0"/>
              <a:t>      </a:t>
            </a:r>
            <a:r>
              <a:rPr lang="en-US" altLang="ko-KR" sz="1200" smtClean="0">
                <a:latin typeface="Noto Sans KR"/>
              </a:rPr>
              <a:t>- </a:t>
            </a:r>
            <a:r>
              <a:rPr lang="ko-KR" altLang="en-US" sz="1200" smtClean="0">
                <a:latin typeface="Noto Sans KR"/>
              </a:rPr>
              <a:t>참고</a:t>
            </a:r>
            <a:r>
              <a:rPr lang="en-US" altLang="ko-KR" sz="1200" smtClean="0">
                <a:latin typeface="Noto Sans KR"/>
              </a:rPr>
              <a:t>3:</a:t>
            </a:r>
            <a:r>
              <a:rPr lang="en-US" altLang="ko-KR" sz="1200" smtClean="0"/>
              <a:t> </a:t>
            </a:r>
            <a:r>
              <a:rPr lang="ko-KR" altLang="en-US" sz="1200" smtClean="0"/>
              <a:t>https</a:t>
            </a:r>
            <a:r>
              <a:rPr lang="ko-KR" altLang="en-US" sz="1200"/>
              <a:t>://myung-ho.tistory.com/111</a:t>
            </a:r>
          </a:p>
          <a:p>
            <a:endParaRPr lang="en-US" altLang="ko-KR" sz="1200"/>
          </a:p>
          <a:p>
            <a:endParaRPr lang="ko-KR" altLang="en-US" sz="1200"/>
          </a:p>
          <a:p>
            <a:r>
              <a:rPr lang="en-US" altLang="ko-KR" sz="1200">
                <a:solidFill>
                  <a:srgbClr val="000000"/>
                </a:solidFill>
              </a:rPr>
              <a:t>5. visual studio, ssh, git </a:t>
            </a:r>
            <a:r>
              <a:rPr lang="ko-KR" altLang="en-US" sz="1200">
                <a:solidFill>
                  <a:srgbClr val="000000"/>
                </a:solidFill>
              </a:rPr>
              <a:t>연동 </a:t>
            </a:r>
            <a:endParaRPr lang="ko-KR" altLang="en-US" sz="1200"/>
          </a:p>
          <a:p>
            <a:r>
              <a:rPr lang="ko-KR" altLang="en-US" sz="1200">
                <a:solidFill>
                  <a:srgbClr val="000000"/>
                </a:solidFill>
              </a:rPr>
              <a:t>참고</a:t>
            </a:r>
            <a:r>
              <a:rPr lang="en-US" altLang="ko-KR" sz="1200">
                <a:solidFill>
                  <a:srgbClr val="000000"/>
                </a:solidFill>
              </a:rPr>
              <a:t>: https://earth-95.tistory.com/87</a:t>
            </a:r>
            <a:endParaRPr lang="ko-KR" altLang="en-US" sz="1200"/>
          </a:p>
          <a:p>
            <a:r>
              <a:rPr lang="en-US" altLang="ko-KR" sz="1200">
                <a:solidFill>
                  <a:srgbClr val="000000"/>
                </a:solidFill>
              </a:rPr>
              <a:t>5-1 </a:t>
            </a:r>
            <a:r>
              <a:rPr lang="ko-KR" altLang="en-US" sz="1200">
                <a:solidFill>
                  <a:srgbClr val="000000"/>
                </a:solidFill>
              </a:rPr>
              <a:t>원격 저장소 생성 및 로컬 연동 </a:t>
            </a:r>
            <a:endParaRPr lang="en-US" altLang="ko-KR" sz="1200" smtClean="0">
              <a:solidFill>
                <a:srgbClr val="000000"/>
              </a:solidFill>
            </a:endParaRPr>
          </a:p>
          <a:p>
            <a:r>
              <a:rPr lang="en-US" altLang="ko-KR" sz="1200">
                <a:solidFill>
                  <a:srgbClr val="000000"/>
                </a:solidFill>
              </a:rPr>
              <a:t> </a:t>
            </a:r>
            <a:r>
              <a:rPr lang="en-US" altLang="ko-KR" sz="1200" smtClean="0">
                <a:solidFill>
                  <a:srgbClr val="000000"/>
                </a:solidFill>
              </a:rPr>
              <a:t>  </a:t>
            </a:r>
            <a:r>
              <a:rPr lang="ko-KR" altLang="en-US" sz="1200" smtClean="0">
                <a:solidFill>
                  <a:srgbClr val="000000"/>
                </a:solidFill>
              </a:rPr>
              <a:t>참고 사이트</a:t>
            </a:r>
            <a:r>
              <a:rPr lang="en-US" altLang="ko-KR" sz="1200" smtClean="0">
                <a:solidFill>
                  <a:srgbClr val="000000"/>
                </a:solidFill>
              </a:rPr>
              <a:t>: </a:t>
            </a:r>
            <a:r>
              <a:rPr lang="en-US" altLang="ko-KR" sz="1200" smtClean="0">
                <a:solidFill>
                  <a:srgbClr val="000000"/>
                </a:solidFill>
                <a:hlinkClick r:id="rId4"/>
              </a:rPr>
              <a:t>https</a:t>
            </a:r>
            <a:r>
              <a:rPr lang="en-US" altLang="ko-KR" sz="1200">
                <a:solidFill>
                  <a:srgbClr val="000000"/>
                </a:solidFill>
                <a:hlinkClick r:id="rId4"/>
              </a:rPr>
              <a:t>://velog.io/@falling_star3/GitHub-Git-Repository-%EC%83%9D%EC%84%B1-%EB%B0%8F-git-init%EC%9C%BC%EB%A1%9C-%EB%A1%9C%EC%BB%AC-%EC%97%B0%EB%8F%99%ED%95%98%EB%8A%94-%EB%B0%A9%EB%B2%95%EB%A1%9C%EC%BB%AC-%</a:t>
            </a:r>
            <a:r>
              <a:rPr lang="en-US" altLang="ko-KR" sz="1200" smtClean="0">
                <a:solidFill>
                  <a:srgbClr val="000000"/>
                </a:solidFill>
                <a:hlinkClick r:id="rId4"/>
              </a:rPr>
              <a:t>EA%B9%83%ED%97%88%EB%B8%8C</a:t>
            </a:r>
            <a:endParaRPr lang="en-US" altLang="ko-KR" sz="1200" smtClean="0">
              <a:solidFill>
                <a:srgbClr val="000000"/>
              </a:solidFill>
            </a:endParaRPr>
          </a:p>
          <a:p>
            <a:endParaRPr lang="en-US" altLang="ko-KR" sz="1200" smtClean="0">
              <a:solidFill>
                <a:srgbClr val="000000"/>
              </a:solidFill>
            </a:endParaRPr>
          </a:p>
          <a:p>
            <a:r>
              <a:rPr lang="en-US" altLang="ko-KR" sz="1200" smtClean="0">
                <a:solidFill>
                  <a:srgbClr val="000000"/>
                </a:solidFill>
              </a:rPr>
              <a:t>5-2 </a:t>
            </a:r>
            <a:r>
              <a:rPr lang="ko-KR" altLang="en-US" sz="1200" smtClean="0">
                <a:solidFill>
                  <a:srgbClr val="000000"/>
                </a:solidFill>
              </a:rPr>
              <a:t>깃허브에 반영 </a:t>
            </a:r>
            <a:endParaRPr lang="en-US" altLang="ko-KR" sz="1200" smtClean="0">
              <a:solidFill>
                <a:srgbClr val="000000"/>
              </a:solidFill>
            </a:endParaRPr>
          </a:p>
          <a:p>
            <a:r>
              <a:rPr lang="en-US" altLang="ko-KR" sz="1200" smtClean="0">
                <a:solidFill>
                  <a:srgbClr val="00B050"/>
                </a:solidFill>
              </a:rPr>
              <a:t>  git </a:t>
            </a:r>
            <a:r>
              <a:rPr lang="en-US" altLang="ko-KR" sz="1200">
                <a:solidFill>
                  <a:srgbClr val="00B050"/>
                </a:solidFill>
              </a:rPr>
              <a:t>add </a:t>
            </a:r>
            <a:r>
              <a:rPr lang="en-US" altLang="ko-KR" sz="1200" smtClean="0">
                <a:solidFill>
                  <a:srgbClr val="00B050"/>
                </a:solidFill>
              </a:rPr>
              <a:t>–all</a:t>
            </a:r>
          </a:p>
          <a:p>
            <a:r>
              <a:rPr lang="en-US" altLang="ko-KR" sz="1200" smtClean="0">
                <a:solidFill>
                  <a:srgbClr val="00B050"/>
                </a:solidFill>
              </a:rPr>
              <a:t>   </a:t>
            </a:r>
            <a:r>
              <a:rPr lang="en-US" altLang="ko-KR" sz="1200">
                <a:solidFill>
                  <a:srgbClr val="00B050"/>
                </a:solidFill>
              </a:rPr>
              <a:t>* </a:t>
            </a:r>
            <a:r>
              <a:rPr lang="ko-KR" altLang="en-US" sz="1200">
                <a:solidFill>
                  <a:srgbClr val="00B050"/>
                </a:solidFill>
              </a:rPr>
              <a:t>파일 삭제시</a:t>
            </a:r>
            <a:r>
              <a:rPr lang="en-US" altLang="ko-KR" sz="1200">
                <a:solidFill>
                  <a:srgbClr val="00B050"/>
                </a:solidFill>
              </a:rPr>
              <a:t>, </a:t>
            </a:r>
            <a:r>
              <a:rPr lang="ko-KR" altLang="en-US" sz="1200">
                <a:solidFill>
                  <a:srgbClr val="00B050"/>
                </a:solidFill>
              </a:rPr>
              <a:t>파일 추가시</a:t>
            </a:r>
            <a:r>
              <a:rPr lang="en-US" altLang="ko-KR" sz="1200">
                <a:solidFill>
                  <a:srgbClr val="00B050"/>
                </a:solidFill>
              </a:rPr>
              <a:t>, </a:t>
            </a:r>
            <a:r>
              <a:rPr lang="ko-KR" altLang="en-US" sz="1200">
                <a:solidFill>
                  <a:srgbClr val="00B050"/>
                </a:solidFill>
              </a:rPr>
              <a:t>폴더</a:t>
            </a:r>
            <a:r>
              <a:rPr lang="en-US" altLang="ko-KR" sz="1200">
                <a:solidFill>
                  <a:srgbClr val="00B050"/>
                </a:solidFill>
              </a:rPr>
              <a:t>/</a:t>
            </a:r>
            <a:r>
              <a:rPr lang="ko-KR" altLang="en-US" sz="1200">
                <a:solidFill>
                  <a:srgbClr val="00B050"/>
                </a:solidFill>
              </a:rPr>
              <a:t>파일명 수정시 처러가 </a:t>
            </a:r>
            <a:r>
              <a:rPr lang="ko-KR" altLang="en-US" sz="1200" smtClean="0">
                <a:solidFill>
                  <a:srgbClr val="00B050"/>
                </a:solidFill>
              </a:rPr>
              <a:t>다르나</a:t>
            </a:r>
            <a:r>
              <a:rPr lang="en-US" altLang="ko-KR" sz="1200" smtClean="0">
                <a:solidFill>
                  <a:srgbClr val="00B050"/>
                </a:solidFill>
              </a:rPr>
              <a:t>, git add –all</a:t>
            </a:r>
            <a:r>
              <a:rPr lang="ko-KR" altLang="en-US" sz="1200" smtClean="0">
                <a:solidFill>
                  <a:srgbClr val="00B050"/>
                </a:solidFill>
              </a:rPr>
              <a:t>로 하면 만능 반영 되는 것 같습니다</a:t>
            </a:r>
            <a:endParaRPr lang="en-US" altLang="ko-KR" sz="1200">
              <a:solidFill>
                <a:srgbClr val="00B050"/>
              </a:solidFill>
            </a:endParaRPr>
          </a:p>
          <a:p>
            <a:r>
              <a:rPr lang="en-US" altLang="ko-KR" sz="1200" smtClean="0">
                <a:solidFill>
                  <a:srgbClr val="00B050"/>
                </a:solidFill>
              </a:rPr>
              <a:t>  git </a:t>
            </a:r>
            <a:r>
              <a:rPr lang="en-US" altLang="ko-KR" sz="1200">
                <a:solidFill>
                  <a:srgbClr val="00B050"/>
                </a:solidFill>
              </a:rPr>
              <a:t>commit </a:t>
            </a:r>
            <a:r>
              <a:rPr lang="en-US" altLang="ko-KR" sz="1200" smtClean="0">
                <a:solidFill>
                  <a:srgbClr val="00B050"/>
                </a:solidFill>
              </a:rPr>
              <a:t>–m ＇</a:t>
            </a:r>
            <a:r>
              <a:rPr lang="ko-KR" altLang="en-US" sz="1200" smtClean="0">
                <a:solidFill>
                  <a:srgbClr val="00B050"/>
                </a:solidFill>
              </a:rPr>
              <a:t>코멘트</a:t>
            </a:r>
            <a:r>
              <a:rPr lang="en-US" altLang="ko-KR" sz="1200" smtClean="0">
                <a:solidFill>
                  <a:srgbClr val="00B050"/>
                </a:solidFill>
              </a:rPr>
              <a:t>＇</a:t>
            </a:r>
            <a:endParaRPr lang="en-US" altLang="ko-KR" sz="1200">
              <a:solidFill>
                <a:srgbClr val="00B050"/>
              </a:solidFill>
            </a:endParaRPr>
          </a:p>
          <a:p>
            <a:r>
              <a:rPr lang="en-US" altLang="ko-KR" sz="1200" smtClean="0">
                <a:solidFill>
                  <a:srgbClr val="00B050"/>
                </a:solidFill>
              </a:rPr>
              <a:t>  git </a:t>
            </a:r>
            <a:r>
              <a:rPr lang="en-US" altLang="ko-KR" sz="1200">
                <a:solidFill>
                  <a:srgbClr val="00B050"/>
                </a:solidFill>
              </a:rPr>
              <a:t>push </a:t>
            </a:r>
            <a:r>
              <a:rPr lang="en-US" altLang="ko-KR" sz="1200" smtClean="0">
                <a:solidFill>
                  <a:srgbClr val="00B050"/>
                </a:solidFill>
              </a:rPr>
              <a:t>–u </a:t>
            </a:r>
            <a:r>
              <a:rPr lang="en-US" altLang="ko-KR" sz="1200">
                <a:solidFill>
                  <a:srgbClr val="00B050"/>
                </a:solidFill>
              </a:rPr>
              <a:t>origin </a:t>
            </a:r>
            <a:r>
              <a:rPr lang="en-US" altLang="ko-KR" sz="1200" smtClean="0">
                <a:solidFill>
                  <a:srgbClr val="00B050"/>
                </a:solidFill>
              </a:rPr>
              <a:t>master</a:t>
            </a:r>
          </a:p>
          <a:p>
            <a:endParaRPr lang="en-US" altLang="ko-KR" sz="1200">
              <a:solidFill>
                <a:srgbClr val="00B050"/>
              </a:solidFill>
            </a:endParaRPr>
          </a:p>
          <a:p>
            <a:r>
              <a:rPr lang="en-US" altLang="ko-KR" sz="1200" smtClean="0">
                <a:solidFill>
                  <a:srgbClr val="00B050"/>
                </a:solidFill>
              </a:rPr>
              <a:t>5-3 </a:t>
            </a:r>
            <a:r>
              <a:rPr lang="ko-KR" altLang="en-US" sz="1200" smtClean="0">
                <a:solidFill>
                  <a:srgbClr val="00B050"/>
                </a:solidFill>
              </a:rPr>
              <a:t>다른 서버에서 다운로드</a:t>
            </a:r>
            <a:endParaRPr lang="en-US" altLang="ko-KR" sz="1200" smtClean="0">
              <a:solidFill>
                <a:srgbClr val="00B050"/>
              </a:solidFill>
            </a:endParaRPr>
          </a:p>
          <a:p>
            <a:r>
              <a:rPr lang="en-US" altLang="ko-KR" sz="1200">
                <a:solidFill>
                  <a:srgbClr val="00B050"/>
                </a:solidFill>
              </a:rPr>
              <a:t> </a:t>
            </a:r>
            <a:r>
              <a:rPr lang="en-US" altLang="ko-KR" sz="1200" smtClean="0">
                <a:solidFill>
                  <a:srgbClr val="00B050"/>
                </a:solidFill>
              </a:rPr>
              <a:t>  1) </a:t>
            </a:r>
            <a:r>
              <a:rPr lang="ko-KR" altLang="en-US" sz="1200" smtClean="0">
                <a:solidFill>
                  <a:srgbClr val="00B050"/>
                </a:solidFill>
              </a:rPr>
              <a:t>원하는 폴더로 이동</a:t>
            </a:r>
            <a:endParaRPr lang="en-US" altLang="ko-KR" sz="1200" smtClean="0">
              <a:solidFill>
                <a:srgbClr val="00B050"/>
              </a:solidFill>
            </a:endParaRPr>
          </a:p>
          <a:p>
            <a:r>
              <a:rPr lang="en-US" altLang="ko-KR" sz="1200">
                <a:solidFill>
                  <a:srgbClr val="00B050"/>
                </a:solidFill>
              </a:rPr>
              <a:t> </a:t>
            </a:r>
            <a:r>
              <a:rPr lang="en-US" altLang="ko-KR" sz="1200" smtClean="0">
                <a:solidFill>
                  <a:srgbClr val="00B050"/>
                </a:solidFill>
              </a:rPr>
              <a:t>  2) </a:t>
            </a:r>
            <a:r>
              <a:rPr lang="en-US" altLang="ko-KR" sz="1200"/>
              <a:t>git clone </a:t>
            </a:r>
            <a:endParaRPr lang="en-US" altLang="ko-KR" sz="1200" smtClean="0"/>
          </a:p>
          <a:p>
            <a:r>
              <a:rPr lang="en-US" altLang="ko-KR" sz="1200">
                <a:solidFill>
                  <a:srgbClr val="00B050"/>
                </a:solidFill>
              </a:rPr>
              <a:t> </a:t>
            </a:r>
            <a:r>
              <a:rPr lang="en-US" altLang="ko-KR" sz="1200" smtClean="0">
                <a:solidFill>
                  <a:srgbClr val="00B050"/>
                </a:solidFill>
              </a:rPr>
              <a:t>  3) </a:t>
            </a:r>
            <a:r>
              <a:rPr lang="en-US" altLang="ko-KR" sz="1200" b="1"/>
              <a:t>git </a:t>
            </a:r>
            <a:r>
              <a:rPr lang="en-US" altLang="ko-KR" sz="1200" b="1" smtClean="0"/>
              <a:t>pull </a:t>
            </a:r>
            <a:r>
              <a:rPr lang="ko-KR" altLang="en-US" sz="1200" b="1" smtClean="0"/>
              <a:t>또는 </a:t>
            </a:r>
            <a:r>
              <a:rPr lang="en-US" altLang="ko-KR" sz="1200" b="1" smtClean="0"/>
              <a:t>git pull –f (</a:t>
            </a:r>
            <a:r>
              <a:rPr lang="ko-KR" altLang="en-US" sz="1200" b="1" smtClean="0"/>
              <a:t>강제</a:t>
            </a:r>
            <a:r>
              <a:rPr lang="en-US" altLang="ko-KR" sz="1200" b="1" smtClean="0"/>
              <a:t>) </a:t>
            </a:r>
          </a:p>
          <a:p>
            <a:r>
              <a:rPr lang="en-US" altLang="ko-KR" sz="1200" b="1"/>
              <a:t> </a:t>
            </a:r>
            <a:r>
              <a:rPr lang="en-US" altLang="ko-KR" sz="1200" b="1" smtClean="0"/>
              <a:t>  * </a:t>
            </a:r>
            <a:r>
              <a:rPr lang="ko-KR" altLang="en-US" sz="1200" b="1" smtClean="0"/>
              <a:t>충돌이 난경우 조치 </a:t>
            </a:r>
            <a:r>
              <a:rPr lang="en-US" altLang="ko-KR" sz="1200" b="1" smtClean="0"/>
              <a:t>(</a:t>
            </a:r>
            <a:r>
              <a:rPr lang="ko-KR" altLang="en-US" sz="1200" b="1" smtClean="0"/>
              <a:t>협업시 소스가 날라갈 수 있음</a:t>
            </a:r>
            <a:r>
              <a:rPr lang="en-US" altLang="ko-KR" sz="1200" b="1" smtClean="0"/>
              <a:t>, </a:t>
            </a:r>
            <a:r>
              <a:rPr lang="ko-KR" altLang="en-US" sz="1200" b="1" smtClean="0"/>
              <a:t>숙달되면 </a:t>
            </a:r>
            <a:r>
              <a:rPr lang="en-US" altLang="ko-KR" sz="1200" b="1" smtClean="0"/>
              <a:t>merge</a:t>
            </a:r>
            <a:r>
              <a:rPr lang="ko-KR" altLang="en-US" sz="1200" b="1" smtClean="0"/>
              <a:t>방법 숙지 필요 </a:t>
            </a:r>
            <a:r>
              <a:rPr lang="en-US" altLang="ko-KR" sz="1200" b="1" smtClean="0"/>
              <a:t>)</a:t>
            </a:r>
            <a:endParaRPr lang="en-US" altLang="ko-KR" sz="1200" b="1"/>
          </a:p>
          <a:p>
            <a:r>
              <a:rPr lang="ko-KR" altLang="en-US" sz="1200" smtClean="0"/>
              <a:t>      git </a:t>
            </a:r>
            <a:r>
              <a:rPr lang="ko-KR" altLang="en-US" sz="1200"/>
              <a:t>fetch </a:t>
            </a:r>
            <a:r>
              <a:rPr lang="en-US" altLang="ko-KR" sz="1200" smtClean="0"/>
              <a:t>–</a:t>
            </a:r>
            <a:r>
              <a:rPr lang="ko-KR" altLang="en-US" sz="1200" smtClean="0"/>
              <a:t>all</a:t>
            </a:r>
            <a:endParaRPr lang="ko-KR" altLang="en-US" sz="1200"/>
          </a:p>
          <a:p>
            <a:r>
              <a:rPr lang="ko-KR" altLang="en-US" sz="1200" smtClean="0"/>
              <a:t>      git </a:t>
            </a:r>
            <a:r>
              <a:rPr lang="ko-KR" altLang="en-US" sz="1200"/>
              <a:t>reset </a:t>
            </a:r>
            <a:r>
              <a:rPr lang="en-US" altLang="ko-KR" sz="1200" smtClean="0"/>
              <a:t>–</a:t>
            </a:r>
            <a:r>
              <a:rPr lang="ko-KR" altLang="en-US" sz="1200" smtClean="0"/>
              <a:t>hard </a:t>
            </a:r>
            <a:r>
              <a:rPr lang="ko-KR" altLang="en-US" sz="1200"/>
              <a:t>origin/master</a:t>
            </a:r>
          </a:p>
          <a:p>
            <a:r>
              <a:rPr lang="ko-KR" altLang="en-US" sz="1200" smtClean="0"/>
              <a:t>      git </a:t>
            </a:r>
            <a:r>
              <a:rPr lang="ko-KR" altLang="en-US" sz="1200"/>
              <a:t>pull origin </a:t>
            </a:r>
            <a:r>
              <a:rPr lang="ko-KR" altLang="en-US" sz="1200" smtClean="0"/>
              <a:t>master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4262724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00100" y="490835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ko-KR" altLang="en-US"/>
          </a:p>
          <a:p>
            <a:r>
              <a:rPr lang="ko-KR" altLang="en-US"/>
              <a:t>https://incomeplus.tistory.com/280</a:t>
            </a:r>
          </a:p>
          <a:p>
            <a:r>
              <a:rPr lang="ko-KR" altLang="en-US"/>
              <a:t>pip install </a:t>
            </a:r>
            <a:r>
              <a:rPr lang="ko-KR" altLang="en-US" smtClean="0"/>
              <a:t>default-jdk</a:t>
            </a:r>
            <a:endParaRPr lang="en-US" altLang="ko-KR" smtClean="0"/>
          </a:p>
          <a:p>
            <a:endParaRPr lang="en-US" altLang="ko-KR"/>
          </a:p>
          <a:p>
            <a:endParaRPr lang="en-US" altLang="ko-KR" smtClean="0"/>
          </a:p>
          <a:p>
            <a:endParaRPr lang="en-US" altLang="ko-KR"/>
          </a:p>
          <a:p>
            <a:r>
              <a:rPr lang="en-US" altLang="ko-KR" sz="1000"/>
              <a:t>Traceback (most recent call last):</a:t>
            </a:r>
          </a:p>
          <a:p>
            <a:r>
              <a:rPr lang="en-US" altLang="ko-KR" sz="1000"/>
              <a:t>  File "wcChat_app.py", line 17, in &lt;module&gt;</a:t>
            </a:r>
          </a:p>
          <a:p>
            <a:r>
              <a:rPr lang="en-US" altLang="ko-KR" sz="1000"/>
              <a:t>    import chatMain_biz</a:t>
            </a:r>
          </a:p>
          <a:p>
            <a:r>
              <a:rPr lang="en-US" altLang="ko-KR" sz="1000"/>
              <a:t>  File "/home/ai/src/ragChatbot/wcChat/chatMain_biz.py", line 4, in &lt;module&gt;</a:t>
            </a:r>
          </a:p>
          <a:p>
            <a:r>
              <a:rPr lang="en-US" altLang="ko-KR" sz="1000"/>
              <a:t>    import simular_biz</a:t>
            </a:r>
          </a:p>
          <a:p>
            <a:r>
              <a:rPr lang="en-US" altLang="ko-KR" sz="1000"/>
              <a:t>  File "/home/ai/src/ragChatbot/wcChat/simular_biz.py", line 24, in &lt;module&gt;</a:t>
            </a:r>
          </a:p>
          <a:p>
            <a:r>
              <a:rPr lang="en-US" altLang="ko-KR" sz="1000"/>
              <a:t>    t = Okt()</a:t>
            </a:r>
          </a:p>
          <a:p>
            <a:r>
              <a:rPr lang="en-US" altLang="ko-KR" sz="1000"/>
              <a:t>  File "/app/miniconda3/envs/wc/lib/python3.8/site-packages/konlpy/tag/_okt.py", line 51, in __init__</a:t>
            </a:r>
          </a:p>
          <a:p>
            <a:r>
              <a:rPr lang="en-US" altLang="ko-KR" sz="1000"/>
              <a:t>    jvm.init_jvm(jvmpath, max_heap_size)</a:t>
            </a:r>
          </a:p>
          <a:p>
            <a:r>
              <a:rPr lang="en-US" altLang="ko-KR" sz="1000"/>
              <a:t>  File "/app/miniconda3/envs/wc/lib/python3.8/site-packages/konlpy/jvm.py", line 55, in init_jvm</a:t>
            </a:r>
          </a:p>
          <a:p>
            <a:r>
              <a:rPr lang="en-US" altLang="ko-KR" sz="1000"/>
              <a:t>    jvmpath = jvmpath or jpype.getDefaultJVMPath()</a:t>
            </a:r>
          </a:p>
          <a:p>
            <a:r>
              <a:rPr lang="en-US" altLang="ko-KR" sz="1000"/>
              <a:t>  File "/app/miniconda3/envs/wc/lib/python3.8/site-packages/jpype/_jvmfinder.py", line 74, in getDefaultJVMPath</a:t>
            </a:r>
          </a:p>
          <a:p>
            <a:r>
              <a:rPr lang="en-US" altLang="ko-KR" sz="1000"/>
              <a:t>    return finder.get_jvm_path()</a:t>
            </a:r>
          </a:p>
          <a:p>
            <a:r>
              <a:rPr lang="en-US" altLang="ko-KR" sz="1000"/>
              <a:t>  File "/app/miniconda3/envs/wc/lib/python3.8/site-packages/jpype/_jvmfinder.py", line 212, in get_jvm_path</a:t>
            </a:r>
          </a:p>
          <a:p>
            <a:r>
              <a:rPr lang="en-US" altLang="ko-KR" sz="1000"/>
              <a:t>    raise JVMNotFoundException("No JVM shared library file ({0}) "</a:t>
            </a:r>
          </a:p>
          <a:p>
            <a:r>
              <a:rPr lang="en-US" altLang="ko-KR" sz="1050" b="1">
                <a:solidFill>
                  <a:srgbClr val="FF0000"/>
                </a:solidFill>
              </a:rPr>
              <a:t>jpype._jvmfinder.JVMNotFoundException: No JVM shared library file (libjvm.so) found. </a:t>
            </a:r>
            <a:r>
              <a:rPr lang="en-US" altLang="ko-KR" sz="1000"/>
              <a:t>Try setting up the JAVA_HOME environment variable properly.</a:t>
            </a:r>
          </a:p>
          <a:p>
            <a:r>
              <a:rPr lang="en-US" altLang="ko-KR" sz="1000"/>
              <a:t>(wc) [root@localhost wcChat]#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5884789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8132" y="463034"/>
            <a:ext cx="50034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https://konlpy.org/_/downloads/ko/v0.6.0/pdf/</a:t>
            </a: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00074" y="967591"/>
            <a:ext cx="1062037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/>
              <a:t>5.1.2 CentOS</a:t>
            </a:r>
          </a:p>
          <a:p>
            <a:r>
              <a:rPr lang="ko-KR" altLang="en-US" sz="1200"/>
              <a:t>Supported: CentOS 7, 8</a:t>
            </a:r>
          </a:p>
          <a:p>
            <a:r>
              <a:rPr lang="ko-KR" altLang="en-US" sz="1200"/>
              <a:t>1. Install dependencies</a:t>
            </a:r>
          </a:p>
          <a:p>
            <a:r>
              <a:rPr lang="ko-KR" altLang="en-US" sz="1200"/>
              <a:t>$ sudo yum install gcc-c++ java-1.8.0-openjdk-devel python3 </a:t>
            </a:r>
            <a:r>
              <a:rPr lang="ko-KR" altLang="en-US" sz="1200" smtClean="0"/>
              <a:t>python3-</a:t>
            </a:r>
            <a:r>
              <a:rPr lang="en-US" altLang="ko-KR" sz="1200"/>
              <a:t>d</a:t>
            </a:r>
            <a:r>
              <a:rPr lang="ko-KR" altLang="en-US" sz="1200" smtClean="0"/>
              <a:t>evel </a:t>
            </a:r>
            <a:r>
              <a:rPr lang="ko-KR" altLang="en-US" sz="1200"/>
              <a:t>python3-pip make diffutils</a:t>
            </a:r>
          </a:p>
          <a:p>
            <a:r>
              <a:rPr lang="ko-KR" altLang="en-US" sz="1200"/>
              <a:t>2. Install KoNLPy</a:t>
            </a:r>
          </a:p>
          <a:p>
            <a:r>
              <a:rPr lang="ko-KR" altLang="en-US" sz="1200"/>
              <a:t>$ python3 -m pip install --upgrade pip</a:t>
            </a:r>
          </a:p>
          <a:p>
            <a:r>
              <a:rPr lang="ko-KR" altLang="en-US" sz="1200"/>
              <a:t>$ python3 -m pip install konlpy # Python 3.x</a:t>
            </a:r>
          </a:p>
          <a:p>
            <a:r>
              <a:rPr lang="ko-KR" altLang="en-US" sz="1200"/>
              <a:t>3. MeCab 설치하기 (선택사항)</a:t>
            </a:r>
          </a:p>
          <a:p>
            <a:r>
              <a:rPr lang="ko-KR" altLang="en-US" sz="1200"/>
              <a:t>$ sudo yum install curl git</a:t>
            </a:r>
          </a:p>
          <a:p>
            <a:r>
              <a:rPr lang="ko-KR" altLang="en-US" sz="1200"/>
              <a:t>$ bash &lt;(curl -s https://raw.githubusercontent.com/konlpy/konlpy/</a:t>
            </a:r>
          </a:p>
          <a:p>
            <a:r>
              <a:rPr lang="ko-KR" altLang="en-US" sz="1200"/>
              <a:t>˓→master/scripts/mecab.sh</a:t>
            </a:r>
            <a:r>
              <a:rPr lang="ko-KR" altLang="en-US" sz="1200" smtClean="0"/>
              <a:t>)</a:t>
            </a:r>
            <a:endParaRPr lang="en-US" altLang="ko-KR" sz="1200" smtClean="0"/>
          </a:p>
          <a:p>
            <a:endParaRPr lang="en-US" altLang="ko-KR" sz="1200"/>
          </a:p>
          <a:p>
            <a:endParaRPr lang="en-US" altLang="ko-KR" sz="1200" smtClean="0"/>
          </a:p>
          <a:p>
            <a:r>
              <a:rPr lang="ko-KR" altLang="en-US" sz="1200" smtClean="0"/>
              <a:t>윈도우에서는 </a:t>
            </a:r>
            <a:r>
              <a:rPr lang="en-US" altLang="ko-KR" sz="1200"/>
              <a:t>&gt; pip install JPype1-0.5.7-cp27-none-win_amd64.whl </a:t>
            </a:r>
            <a:r>
              <a:rPr lang="en-US" altLang="ko-KR" sz="1200" smtClean="0"/>
              <a:t> </a:t>
            </a:r>
            <a:r>
              <a:rPr lang="ko-KR" altLang="en-US" sz="1200" smtClean="0"/>
              <a:t>설치 과정 있음</a:t>
            </a:r>
            <a:r>
              <a:rPr lang="en-US" altLang="ko-KR" sz="1200" smtClean="0"/>
              <a:t>. </a:t>
            </a:r>
            <a:endParaRPr lang="ko-KR" altLang="en-US" sz="1200"/>
          </a:p>
        </p:txBody>
      </p:sp>
      <p:sp>
        <p:nvSpPr>
          <p:cNvPr id="6" name="TextBox 5"/>
          <p:cNvSpPr txBox="1"/>
          <p:nvPr/>
        </p:nvSpPr>
        <p:spPr>
          <a:xfrm>
            <a:off x="5057775" y="4476750"/>
            <a:ext cx="64107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저는 시작은 국방부 정보분석에 대한 검색엔진 </a:t>
            </a:r>
            <a:r>
              <a:rPr lang="en-US" altLang="ko-KR" sz="1400"/>
              <a:t>+ </a:t>
            </a:r>
            <a:r>
              <a:rPr lang="ko-KR" altLang="en-US" sz="1400"/>
              <a:t>자연어 처리</a:t>
            </a:r>
            <a:r>
              <a:rPr lang="en-US" altLang="ko-KR" sz="1400"/>
              <a:t>(</a:t>
            </a:r>
            <a:r>
              <a:rPr lang="ko-KR" altLang="en-US" sz="1400"/>
              <a:t>분류</a:t>
            </a:r>
            <a:r>
              <a:rPr lang="en-US" altLang="ko-KR" sz="1400"/>
              <a:t>, </a:t>
            </a:r>
            <a:r>
              <a:rPr lang="ko-KR" altLang="en-US" sz="1400"/>
              <a:t>유사도</a:t>
            </a:r>
            <a:r>
              <a:rPr lang="en-US" altLang="ko-KR" sz="1400"/>
              <a:t>, </a:t>
            </a:r>
            <a:r>
              <a:rPr lang="ko-KR" altLang="en-US" sz="1400"/>
              <a:t>워드클라우드</a:t>
            </a:r>
            <a:r>
              <a:rPr lang="en-US" altLang="ko-KR" sz="1400"/>
              <a:t>, </a:t>
            </a:r>
            <a:r>
              <a:rPr lang="ko-KR" altLang="en-US" sz="1400"/>
              <a:t>개체명인식</a:t>
            </a:r>
            <a:r>
              <a:rPr lang="en-US" altLang="ko-KR" sz="1400"/>
              <a:t>) </a:t>
            </a:r>
            <a:r>
              <a:rPr lang="ko-KR" altLang="en-US" sz="1400"/>
              <a:t>프로젝트로 시작했는데</a:t>
            </a:r>
            <a:r>
              <a:rPr lang="en-US" altLang="ko-KR" sz="1400"/>
              <a:t>,   </a:t>
            </a:r>
            <a:r>
              <a:rPr lang="ko-KR" altLang="en-US" sz="1400"/>
              <a:t>활용측면에서 자연어처리를 어디에 써먹어야 되는지는 감을 잡는데 도움이 많이 되었습니다</a:t>
            </a:r>
            <a:r>
              <a:rPr lang="en-US" altLang="ko-KR" sz="1400"/>
              <a:t>.  </a:t>
            </a:r>
            <a:r>
              <a:rPr lang="ko-KR" altLang="en-US" sz="1400"/>
              <a:t>다만 아쉬운 것은 너무 긴 프로젝트라서 짧은 프로젝트를 여러번 해서 파인튜닝이나 여러 </a:t>
            </a:r>
            <a:r>
              <a:rPr lang="ko-KR" altLang="en-US" sz="1400" smtClean="0"/>
              <a:t>적용 케이스를 </a:t>
            </a:r>
            <a:r>
              <a:rPr lang="ko-KR" altLang="en-US" sz="1400"/>
              <a:t>경험하지 </a:t>
            </a:r>
            <a:r>
              <a:rPr lang="ko-KR" altLang="en-US" sz="1400" smtClean="0"/>
              <a:t>못한 아쉬움이 있습니다</a:t>
            </a:r>
            <a:r>
              <a:rPr lang="en-US" altLang="ko-KR" sz="1400" smtClean="0"/>
              <a:t>. </a:t>
            </a:r>
          </a:p>
          <a:p>
            <a:endParaRPr lang="en-US" altLang="ko-KR" sz="1400"/>
          </a:p>
          <a:p>
            <a:r>
              <a:rPr lang="ko-KR" altLang="en-US" sz="1400" smtClean="0"/>
              <a:t>그때는 연구소에서 만든 솔루션으로 활용했고요</a:t>
            </a:r>
            <a:r>
              <a:rPr lang="en-US" altLang="ko-KR" sz="1400" smtClean="0"/>
              <a:t>. </a:t>
            </a:r>
          </a:p>
          <a:p>
            <a:r>
              <a:rPr lang="ko-KR" altLang="en-US" sz="1400" smtClean="0"/>
              <a:t>이후에는 직접 모델 조사해서 선정하고</a:t>
            </a:r>
            <a:r>
              <a:rPr lang="en-US" altLang="ko-KR" sz="1400" smtClean="0"/>
              <a:t>, </a:t>
            </a:r>
            <a:r>
              <a:rPr lang="ko-KR" altLang="en-US" sz="1400" smtClean="0"/>
              <a:t> 포트폴리오 겸 사내 파일럿 프로그램 개발을 했습니다</a:t>
            </a:r>
            <a:r>
              <a:rPr lang="en-US" altLang="ko-KR" sz="1400" smtClean="0"/>
              <a:t>. 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3481818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28484" y="661719"/>
            <a:ext cx="6096000" cy="57861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/>
              <a:t>라이브러리 설치</a:t>
            </a:r>
            <a:endParaRPr lang="en-US" altLang="ko-KR" sz="1000"/>
          </a:p>
          <a:p>
            <a:r>
              <a:rPr lang="en-US" altLang="ko-KR" sz="1000"/>
              <a:t> pip install python-dotenv</a:t>
            </a:r>
          </a:p>
          <a:p>
            <a:r>
              <a:rPr lang="en-US" altLang="ko-KR" sz="1000"/>
              <a:t> pip install -U langchain</a:t>
            </a:r>
          </a:p>
          <a:p>
            <a:r>
              <a:rPr lang="en-US" altLang="ko-KR" sz="1000"/>
              <a:t> pip install openai</a:t>
            </a:r>
          </a:p>
          <a:p>
            <a:r>
              <a:rPr lang="en-US" altLang="ko-KR" sz="1000"/>
              <a:t>pip install fastapi</a:t>
            </a:r>
          </a:p>
          <a:p>
            <a:r>
              <a:rPr lang="en-US" altLang="ko-KR" sz="1000"/>
              <a:t>pip install "uvicorn[standard]“</a:t>
            </a:r>
          </a:p>
          <a:p>
            <a:r>
              <a:rPr lang="en-US" altLang="ko-KR" sz="1000">
                <a:solidFill>
                  <a:srgbClr val="FF0000"/>
                </a:solidFill>
              </a:rPr>
              <a:t>conda install scikit-learn</a:t>
            </a:r>
          </a:p>
          <a:p>
            <a:r>
              <a:rPr lang="en-US" altLang="ko-KR" sz="1000" b="1"/>
              <a:t>python3 -m pip install konlpy</a:t>
            </a:r>
          </a:p>
          <a:p>
            <a:r>
              <a:rPr lang="en-US" altLang="ko-KR" sz="1000"/>
              <a:t>pip3 install chardet</a:t>
            </a:r>
          </a:p>
          <a:p>
            <a:r>
              <a:rPr lang="en-US" altLang="ko-KR" sz="1000"/>
              <a:t>pip install cchardet</a:t>
            </a:r>
          </a:p>
          <a:p>
            <a:r>
              <a:rPr lang="en-US" altLang="ko-KR" sz="1000" b="1"/>
              <a:t>pip install beautifulsoup4</a:t>
            </a:r>
          </a:p>
          <a:p>
            <a:r>
              <a:rPr lang="en-US" altLang="ko-KR" sz="1000" b="1"/>
              <a:t>pip install chromadb</a:t>
            </a:r>
          </a:p>
          <a:p>
            <a:r>
              <a:rPr lang="en-US" altLang="ko-KR" sz="1000" b="1"/>
              <a:t>pip install tiktoken</a:t>
            </a:r>
          </a:p>
          <a:p>
            <a:r>
              <a:rPr lang="en-US" altLang="ko-KR" sz="1000"/>
              <a:t>pip install flask</a:t>
            </a:r>
          </a:p>
          <a:p>
            <a:r>
              <a:rPr lang="en-US" altLang="ko-KR" sz="1000"/>
              <a:t>pip install mysql =&gt; </a:t>
            </a:r>
            <a:r>
              <a:rPr lang="en-US" altLang="ko-KR" sz="1000">
                <a:solidFill>
                  <a:srgbClr val="FF0000"/>
                </a:solidFill>
              </a:rPr>
              <a:t>conda install mysql  </a:t>
            </a:r>
            <a:r>
              <a:rPr lang="en-US" altLang="ko-KR" sz="1000"/>
              <a:t>(</a:t>
            </a:r>
            <a:r>
              <a:rPr lang="ko-KR" altLang="en-US" sz="1000"/>
              <a:t>에러나서 </a:t>
            </a:r>
            <a:r>
              <a:rPr lang="en-US" altLang="ko-KR" sz="1000"/>
              <a:t>) </a:t>
            </a:r>
          </a:p>
          <a:p>
            <a:r>
              <a:rPr lang="en-US" altLang="ko-KR" sz="1000">
                <a:solidFill>
                  <a:srgbClr val="FF0000"/>
                </a:solidFill>
              </a:rPr>
              <a:t> =&gt;  conda install mysqlclient</a:t>
            </a:r>
          </a:p>
          <a:p>
            <a:r>
              <a:rPr lang="en-US" altLang="ko-KR" sz="1000"/>
              <a:t>pip install mysql-connector-python   #   # </a:t>
            </a:r>
            <a:r>
              <a:rPr lang="ko-KR" altLang="en-US" sz="1000"/>
              <a:t>제작자가 업데이트 않해서 </a:t>
            </a:r>
            <a:r>
              <a:rPr lang="en-US" altLang="ko-KR" sz="1000"/>
              <a:t>oracle</a:t>
            </a:r>
            <a:r>
              <a:rPr lang="ko-KR" altLang="en-US" sz="1000"/>
              <a:t>에서 제작한 버전</a:t>
            </a:r>
            <a:r>
              <a:rPr lang="en-US" altLang="ko-KR" sz="1000"/>
              <a:t>(</a:t>
            </a:r>
            <a:r>
              <a:rPr lang="ko-KR" altLang="en-US" sz="1000"/>
              <a:t>참고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>
                <a:hlinkClick r:id="rId2"/>
              </a:rPr>
              <a:t>https://choiseokwon.tistory.com/291</a:t>
            </a:r>
            <a:r>
              <a:rPr lang="en-US" altLang="ko-KR" sz="1000"/>
              <a:t> )  : </a:t>
            </a:r>
            <a:r>
              <a:rPr lang="ko-KR" altLang="en-US" sz="1000"/>
              <a:t>import mysql.connector</a:t>
            </a:r>
          </a:p>
          <a:p>
            <a:endParaRPr lang="en-US" altLang="ko-KR" sz="1000"/>
          </a:p>
          <a:p>
            <a:r>
              <a:rPr lang="en-US" altLang="ko-KR" sz="1000"/>
              <a:t>pip install </a:t>
            </a:r>
            <a:r>
              <a:rPr lang="en-US" altLang="ko-KR" sz="1000" smtClean="0"/>
              <a:t>pymysql</a:t>
            </a:r>
          </a:p>
          <a:p>
            <a:endParaRPr lang="en-US" altLang="ko-KR" sz="1000"/>
          </a:p>
          <a:p>
            <a:r>
              <a:rPr lang="en-US" altLang="ko-KR" sz="1000" strike="sngStrike"/>
              <a:t>pip install databases -&gt; conda install databases  (</a:t>
            </a:r>
            <a:r>
              <a:rPr lang="ko-KR" altLang="en-US" sz="1000" strike="sngStrike"/>
              <a:t>예약 라이브러리 아님</a:t>
            </a:r>
            <a:r>
              <a:rPr lang="en-US" altLang="ko-KR" sz="1000" strike="sngStrike"/>
              <a:t>)     </a:t>
            </a:r>
            <a:r>
              <a:rPr lang="en-US" altLang="ko-KR" sz="1000"/>
              <a:t>-    pip uninstall databases </a:t>
            </a:r>
          </a:p>
          <a:p>
            <a:r>
              <a:rPr lang="en-US" altLang="ko-KR" sz="1000"/>
              <a:t>pip install sqlalchemy==2.0.22    -- </a:t>
            </a:r>
            <a:r>
              <a:rPr lang="ko-KR" altLang="en-US" sz="1000"/>
              <a:t>버전 낮아져서 다시 설치</a:t>
            </a:r>
          </a:p>
          <a:p>
            <a:endParaRPr lang="en-US" altLang="ko-KR" sz="1000" smtClean="0"/>
          </a:p>
          <a:p>
            <a:endParaRPr lang="en-US" altLang="ko-KR" sz="1000"/>
          </a:p>
          <a:p>
            <a:r>
              <a:rPr lang="en-US" altLang="ko-KR" sz="1000" smtClean="0"/>
              <a:t># 2024.01.30 </a:t>
            </a:r>
            <a:r>
              <a:rPr lang="ko-KR" altLang="en-US" sz="1000" smtClean="0"/>
              <a:t>설치 </a:t>
            </a:r>
            <a:endParaRPr lang="en-US" altLang="ko-KR" sz="1000" smtClean="0"/>
          </a:p>
          <a:p>
            <a:r>
              <a:rPr lang="en-US" altLang="ko-KR" sz="1000"/>
              <a:t>pip install </a:t>
            </a:r>
            <a:r>
              <a:rPr lang="en-US" altLang="ko-KR" sz="1000" smtClean="0"/>
              <a:t>python-multipart</a:t>
            </a:r>
          </a:p>
          <a:p>
            <a:endParaRPr lang="en-US" altLang="ko-KR" sz="1000"/>
          </a:p>
          <a:p>
            <a:r>
              <a:rPr lang="en-US" altLang="ko-KR" sz="1000" smtClean="0"/>
              <a:t># 2024.02.14 </a:t>
            </a:r>
            <a:r>
              <a:rPr lang="ko-KR" altLang="en-US" sz="1000" smtClean="0"/>
              <a:t>설치</a:t>
            </a:r>
            <a:endParaRPr lang="en-US" altLang="ko-KR" sz="1000" smtClean="0"/>
          </a:p>
          <a:p>
            <a:r>
              <a:rPr lang="en-US" altLang="ko-KR" sz="1000"/>
              <a:t>pip install </a:t>
            </a:r>
            <a:r>
              <a:rPr lang="en-US" altLang="ko-KR" sz="1000" smtClean="0"/>
              <a:t>llama-index</a:t>
            </a:r>
          </a:p>
          <a:p>
            <a:endParaRPr lang="en-US" altLang="ko-KR" sz="1000"/>
          </a:p>
          <a:p>
            <a:endParaRPr lang="en-US" altLang="ko-KR" sz="1000" smtClean="0"/>
          </a:p>
          <a:p>
            <a:r>
              <a:rPr lang="en-US" altLang="ko-KR" sz="1000"/>
              <a:t>pip install </a:t>
            </a:r>
            <a:r>
              <a:rPr lang="en-US" altLang="ko-KR" sz="1000" smtClean="0"/>
              <a:t>python-multipart</a:t>
            </a:r>
          </a:p>
          <a:p>
            <a:endParaRPr lang="en-US" altLang="ko-KR" sz="1000" smtClean="0"/>
          </a:p>
          <a:p>
            <a:r>
              <a:rPr lang="en-US" altLang="ko-KR" sz="1000" smtClean="0"/>
              <a:t>2024.03.13</a:t>
            </a:r>
            <a:endParaRPr lang="en-US" altLang="ko-KR" sz="1000"/>
          </a:p>
          <a:p>
            <a:r>
              <a:rPr lang="en-US" altLang="ko-KR" sz="1000"/>
              <a:t>pip install -U langchain-community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6305550" y="0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/>
              <a:t> from bs4 import BeautifulSoup</a:t>
            </a:r>
          </a:p>
          <a:p>
            <a:r>
              <a:rPr lang="ko-KR" altLang="en-US" sz="1000"/>
              <a:t>ModuleNotFoundError: No module named </a:t>
            </a:r>
            <a:r>
              <a:rPr lang="ko-KR" altLang="en-US" sz="1000" smtClean="0"/>
              <a:t>'bs4‘</a:t>
            </a:r>
            <a:endParaRPr lang="en-US" altLang="ko-KR" sz="1000" smtClean="0"/>
          </a:p>
          <a:p>
            <a:r>
              <a:rPr lang="en-US" altLang="ko-KR" sz="1000"/>
              <a:t>will no longer be supported as of langchain==0.2.0. Please import from langchain-community instead:</a:t>
            </a:r>
          </a:p>
          <a:p>
            <a:endParaRPr lang="en-US" altLang="ko-KR" sz="1000"/>
          </a:p>
          <a:p>
            <a:r>
              <a:rPr lang="en-US" altLang="ko-KR" sz="1000"/>
              <a:t>`from langchain_community.chat_models import ChatOpenAI`.</a:t>
            </a:r>
          </a:p>
          <a:p>
            <a:endParaRPr lang="en-US" altLang="ko-KR" sz="1000"/>
          </a:p>
          <a:p>
            <a:r>
              <a:rPr lang="en-US" altLang="ko-KR" sz="1000"/>
              <a:t>To install langchain-community run `pip install -U langchain-community`.</a:t>
            </a:r>
            <a:endParaRPr lang="ko-KR" altLang="en-US" sz="1000"/>
          </a:p>
        </p:txBody>
      </p:sp>
      <p:sp>
        <p:nvSpPr>
          <p:cNvPr id="3" name="직사각형 2"/>
          <p:cNvSpPr/>
          <p:nvPr/>
        </p:nvSpPr>
        <p:spPr>
          <a:xfrm>
            <a:off x="6842084" y="3409920"/>
            <a:ext cx="2358338" cy="12926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mtClean="0"/>
              <a:t>2024.03.13</a:t>
            </a:r>
          </a:p>
          <a:p>
            <a:r>
              <a:rPr lang="en-US" altLang="ko-KR" sz="1200" smtClean="0"/>
              <a:t>pip </a:t>
            </a:r>
            <a:r>
              <a:rPr lang="en-US" altLang="ko-KR" sz="1200"/>
              <a:t>install -U </a:t>
            </a:r>
            <a:r>
              <a:rPr lang="en-US" altLang="ko-KR" sz="1200" smtClean="0"/>
              <a:t>langchain-openai</a:t>
            </a:r>
          </a:p>
          <a:p>
            <a:r>
              <a:rPr lang="en-US" altLang="ko-KR" sz="1200"/>
              <a:t>pip install </a:t>
            </a:r>
            <a:r>
              <a:rPr lang="en-US" altLang="ko-KR" sz="1200" smtClean="0"/>
              <a:t>pypdf</a:t>
            </a:r>
          </a:p>
          <a:p>
            <a:endParaRPr lang="en-US" altLang="ko-KR" sz="1200"/>
          </a:p>
          <a:p>
            <a:r>
              <a:rPr lang="en-US" altLang="ko-KR" sz="1200"/>
              <a:t>pip install chardet</a:t>
            </a:r>
          </a:p>
          <a:p>
            <a:r>
              <a:rPr lang="en-US" altLang="ko-KR" sz="1200"/>
              <a:t>pip install </a:t>
            </a:r>
            <a:r>
              <a:rPr lang="en-US" altLang="ko-KR" sz="1200" smtClean="0"/>
              <a:t>cchardet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332201" y="3020303"/>
            <a:ext cx="352051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/>
              <a:t>ModuleNotFoundError: No module named 'chardet'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076950" y="1717900"/>
            <a:ext cx="58483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/>
              <a:t>yum install gcc-c++ java-1.8.0-openjdk-devel python3 python3-</a:t>
            </a:r>
            <a:r>
              <a:rPr lang="en-US" altLang="ko-KR" sz="1000"/>
              <a:t>d</a:t>
            </a:r>
            <a:r>
              <a:rPr lang="ko-KR" altLang="en-US" sz="1000"/>
              <a:t>evel python3-pip make </a:t>
            </a:r>
            <a:r>
              <a:rPr lang="ko-KR" altLang="en-US" sz="1000" smtClean="0"/>
              <a:t>diffutils</a:t>
            </a:r>
            <a:endParaRPr lang="en-US" altLang="ko-KR" sz="1000" smtClean="0"/>
          </a:p>
          <a:p>
            <a:r>
              <a:rPr lang="en-US" altLang="ko-KR" sz="1000"/>
              <a:t>yum install git</a:t>
            </a:r>
            <a:endParaRPr lang="ko-KR" altLang="en-US" sz="1000"/>
          </a:p>
        </p:txBody>
      </p:sp>
      <p:sp>
        <p:nvSpPr>
          <p:cNvPr id="8" name="TextBox 7"/>
          <p:cNvSpPr txBox="1"/>
          <p:nvPr/>
        </p:nvSpPr>
        <p:spPr>
          <a:xfrm>
            <a:off x="6076950" y="1451446"/>
            <a:ext cx="204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리눅스 사전 설치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828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04825" y="1132820"/>
            <a:ext cx="5486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/>
              <a:t>/app/miniconda3/envs/wc/lib/python3.8/site-packages/langchain/document_loaders/__init__.py:36: LangChainDeprecationWarning: Importing document loaders from langchain is deprecated. Importing from langchain will no longer be supported as of langchain==0.2.0. Please import from langchain-community instead:</a:t>
            </a:r>
          </a:p>
          <a:p>
            <a:endParaRPr lang="en-US" altLang="ko-KR" sz="1000"/>
          </a:p>
          <a:p>
            <a:r>
              <a:rPr lang="en-US" altLang="ko-KR" sz="1000"/>
              <a:t>`from langchain_community.document_loaders import PyPDFLoader`.</a:t>
            </a:r>
          </a:p>
          <a:p>
            <a:endParaRPr lang="en-US" altLang="ko-KR" sz="1000"/>
          </a:p>
          <a:p>
            <a:r>
              <a:rPr lang="en-US" altLang="ko-KR" sz="1000"/>
              <a:t>To install langchain-community run `pip install -U langchain-community`.</a:t>
            </a:r>
          </a:p>
          <a:p>
            <a:r>
              <a:rPr lang="en-US" altLang="ko-KR" sz="1000"/>
              <a:t>  warnings.warn(</a:t>
            </a:r>
          </a:p>
          <a:p>
            <a:r>
              <a:rPr lang="en-US" altLang="ko-KR" sz="1000"/>
              <a:t>/app/miniconda3/envs/wc/lib/python3.8/site-packages/langchain/embeddings/__init__.py:29: LangChainDeprecationWarning: Importing embeddings from langchain is deprecated. Importing from langchain will no longer be supported as of langchain==0.2.0. Please import from langchain-community instead:</a:t>
            </a:r>
          </a:p>
          <a:p>
            <a:endParaRPr lang="en-US" altLang="ko-KR" sz="1000"/>
          </a:p>
          <a:p>
            <a:r>
              <a:rPr lang="en-US" altLang="ko-KR" sz="1000"/>
              <a:t>`from langchain_community.embeddings import OpenAIEmbeddings`.</a:t>
            </a:r>
          </a:p>
          <a:p>
            <a:endParaRPr lang="en-US" altLang="ko-KR" sz="1000"/>
          </a:p>
          <a:p>
            <a:r>
              <a:rPr lang="en-US" altLang="ko-KR" sz="1000"/>
              <a:t>To install langchain-community run `pip install -U langchain-community`.</a:t>
            </a:r>
          </a:p>
          <a:p>
            <a:r>
              <a:rPr lang="en-US" altLang="ko-KR" sz="1000"/>
              <a:t>  warnings.warn(</a:t>
            </a:r>
          </a:p>
          <a:p>
            <a:r>
              <a:rPr lang="en-US" altLang="ko-KR" sz="1000"/>
              <a:t>/app/miniconda3/envs/wc/lib/python3.8/site-packages/langchain/vectorstores/__init__.py:35: LangChainDeprecationWarning: Importing vector stores from langchain is deprecated. Importing from langchain will no longer be supported as of langchain==0.2.0. Please import from langchain-community instead:</a:t>
            </a:r>
          </a:p>
          <a:p>
            <a:endParaRPr lang="en-US" altLang="ko-KR" sz="1000"/>
          </a:p>
          <a:p>
            <a:r>
              <a:rPr lang="en-US" altLang="ko-KR" sz="1000"/>
              <a:t>`from langchain_community.vectorstores import Chroma`.</a:t>
            </a:r>
          </a:p>
          <a:p>
            <a:endParaRPr lang="en-US" altLang="ko-KR" sz="1000"/>
          </a:p>
          <a:p>
            <a:r>
              <a:rPr lang="en-US" altLang="ko-KR" sz="1000"/>
              <a:t>To install langchain-community run `pip install -U langchain-community`.</a:t>
            </a:r>
          </a:p>
          <a:p>
            <a:r>
              <a:rPr lang="en-US" altLang="ko-KR" sz="1000"/>
              <a:t>  warnings.warn(</a:t>
            </a:r>
          </a:p>
          <a:p>
            <a:r>
              <a:rPr lang="en-US" altLang="ko-KR" sz="1000"/>
              <a:t>/home/ai/src/ragChatbot/mngChatBot</a:t>
            </a:r>
          </a:p>
          <a:p>
            <a:r>
              <a:rPr lang="en-US" altLang="ko-KR" sz="1000"/>
              <a:t>/app/miniconda3/envs/wc/lib/python3.8/site-packages/langchain/chat_models/__init__.py:31: LangChainDeprecationWarning: Importing chat models from langchain is deprecated. Importing from langchain will no longer be supported as of langchain==0.2.0. Please import from langchain-community instead:</a:t>
            </a:r>
          </a:p>
          <a:p>
            <a:endParaRPr lang="en-US" altLang="ko-KR" sz="1000"/>
          </a:p>
          <a:p>
            <a:r>
              <a:rPr lang="en-US" altLang="ko-KR" sz="1000"/>
              <a:t>`from langchain_community.chat_models import ChatOpenAI`.</a:t>
            </a:r>
          </a:p>
          <a:p>
            <a:endParaRPr lang="en-US" altLang="ko-KR" sz="1000"/>
          </a:p>
        </p:txBody>
      </p:sp>
      <p:sp>
        <p:nvSpPr>
          <p:cNvPr id="5" name="직사각형 4"/>
          <p:cNvSpPr/>
          <p:nvPr/>
        </p:nvSpPr>
        <p:spPr>
          <a:xfrm>
            <a:off x="6096000" y="1275993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100"/>
              <a:t>To install langchain-community run `pip install -U langchain-community`.</a:t>
            </a:r>
          </a:p>
          <a:p>
            <a:r>
              <a:rPr lang="en-US" altLang="ko-KR" sz="1100"/>
              <a:t>  warnings.warn(</a:t>
            </a:r>
          </a:p>
          <a:p>
            <a:r>
              <a:rPr lang="en-US" altLang="ko-KR" sz="1100"/>
              <a:t>/home/ai/src/ragChatbot/mngChatBot</a:t>
            </a:r>
          </a:p>
          <a:p>
            <a:r>
              <a:rPr lang="en-US" altLang="ko-KR" sz="1100"/>
              <a:t>/app/miniconda3/envs/wc/lib/python3.8/site-packages/langchain/document_loaders/__init__.py:36: LangChainDeprecationWarning: Importing document loaders from langchain is deprecated. Importing from langchain will no longer be supported as of langchain==0.2.0. Please import from langchain-community instead:</a:t>
            </a:r>
          </a:p>
          <a:p>
            <a:endParaRPr lang="en-US" altLang="ko-KR" sz="1100"/>
          </a:p>
          <a:p>
            <a:r>
              <a:rPr lang="en-US" altLang="ko-KR" sz="1100"/>
              <a:t>`from langchain_community.document_loaders import WebBaseLoader`.</a:t>
            </a:r>
          </a:p>
          <a:p>
            <a:endParaRPr lang="en-US" altLang="ko-KR" sz="1100"/>
          </a:p>
          <a:p>
            <a:r>
              <a:rPr lang="en-US" altLang="ko-KR" sz="1100"/>
              <a:t>To install langchain-community run `pip install -U langchain-community`.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827713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333374" y="431870"/>
            <a:ext cx="105251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/>
              <a:t>/app/miniconda3/envs/wc/lib/python3.8/site-packages/langchain_core/_api/deprecation.py:117: LangChainDeprecationWarning: The class `langchain_community.embeddings.openai.OpenAIEmbeddings` was deprecated in langchain-community 0.0.9 and will be removed in 0.2.0. An updated version of the class exists in the langchain-openai package and should be used instead. To use it run `pip install -U langchain-openai` and import as `from langchain_openai import OpenAIEmbeddings`.</a:t>
            </a:r>
          </a:p>
          <a:p>
            <a:r>
              <a:rPr lang="ko-KR" altLang="en-US" sz="1200"/>
              <a:t>  warn_deprecated(</a:t>
            </a:r>
          </a:p>
          <a:p>
            <a:r>
              <a:rPr lang="ko-KR" altLang="en-US" sz="1200"/>
              <a:t>/app/miniconda3/envs/wc/lib/python3.8/site-packages/langchain_community/embeddings/openai.py:268: UserWarning: WARNING! temperature is not default parameter.</a:t>
            </a:r>
          </a:p>
          <a:p>
            <a:r>
              <a:rPr lang="ko-KR" altLang="en-US" sz="1200"/>
              <a:t>                    temperature was transferred to model_kwargs.</a:t>
            </a:r>
          </a:p>
          <a:p>
            <a:r>
              <a:rPr lang="ko-KR" altLang="en-US" sz="1200"/>
              <a:t>                    Please confirm that temperature is what you intended.</a:t>
            </a:r>
          </a:p>
          <a:p>
            <a:r>
              <a:rPr lang="ko-KR" altLang="en-US" sz="1200"/>
              <a:t>  warnings.warn(</a:t>
            </a:r>
          </a:p>
        </p:txBody>
      </p:sp>
    </p:spTree>
    <p:extLst>
      <p:ext uri="{BB962C8B-B14F-4D97-AF65-F5344CB8AC3E}">
        <p14:creationId xmlns:p14="http://schemas.microsoft.com/office/powerpoint/2010/main" val="2429552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723899" y="0"/>
            <a:ext cx="11334751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/>
              <a:t>Traceback (most recent call last):</a:t>
            </a:r>
          </a:p>
          <a:p>
            <a:r>
              <a:rPr lang="ko-KR" altLang="en-US" sz="1050"/>
              <a:t>  File "/app/miniconda3/envs/wc/lib/python3.8/site-packages/requests/compat.py", line 11, in &lt;module&gt;</a:t>
            </a:r>
          </a:p>
          <a:p>
            <a:r>
              <a:rPr lang="ko-KR" altLang="en-US" sz="1050">
                <a:solidFill>
                  <a:srgbClr val="FF0000"/>
                </a:solidFill>
              </a:rPr>
              <a:t>    import chardet</a:t>
            </a:r>
          </a:p>
          <a:p>
            <a:r>
              <a:rPr lang="ko-KR" altLang="en-US" sz="1050">
                <a:solidFill>
                  <a:srgbClr val="FF0000"/>
                </a:solidFill>
              </a:rPr>
              <a:t>ModuleNotFoundError: No module named 'chardet'</a:t>
            </a:r>
          </a:p>
          <a:p>
            <a:endParaRPr lang="ko-KR" altLang="en-US" sz="1050"/>
          </a:p>
          <a:p>
            <a:r>
              <a:rPr lang="ko-KR" altLang="en-US" sz="1050"/>
              <a:t>During handling of the above exception, another exception occurred:</a:t>
            </a:r>
          </a:p>
          <a:p>
            <a:endParaRPr lang="ko-KR" altLang="en-US" sz="1050"/>
          </a:p>
          <a:p>
            <a:r>
              <a:rPr lang="ko-KR" altLang="en-US" sz="1050"/>
              <a:t>Traceback (most recent call last):</a:t>
            </a:r>
          </a:p>
          <a:p>
            <a:r>
              <a:rPr lang="ko-KR" altLang="en-US" sz="1050"/>
              <a:t>  File "wcChat_app.py", line 17, in &lt;module&gt;</a:t>
            </a:r>
          </a:p>
          <a:p>
            <a:r>
              <a:rPr lang="ko-KR" altLang="en-US" sz="1050"/>
              <a:t>    import chatMain_biz</a:t>
            </a:r>
          </a:p>
          <a:p>
            <a:r>
              <a:rPr lang="ko-KR" altLang="en-US" sz="1050"/>
              <a:t>  File "/home/ai/src/ragChatbot/wcChat/chatMain_biz.py", line 19, in &lt;module&gt;</a:t>
            </a:r>
          </a:p>
          <a:p>
            <a:r>
              <a:rPr lang="ko-KR" altLang="en-US" sz="1050"/>
              <a:t>    from chatLlm_101 import chatSubLlmPredict101_biz</a:t>
            </a:r>
          </a:p>
          <a:p>
            <a:r>
              <a:rPr lang="ko-KR" altLang="en-US" sz="1050"/>
              <a:t>  File "/home/ai/src/ragChatbot/wcChat/chatLlm_101/chatSubLlmPredict101_biz.py", line 1, in &lt;module&gt;</a:t>
            </a:r>
          </a:p>
          <a:p>
            <a:r>
              <a:rPr lang="ko-KR" altLang="en-US" sz="1050"/>
              <a:t>    from langchain.document_loaders import WebBaseLoader</a:t>
            </a:r>
          </a:p>
          <a:p>
            <a:r>
              <a:rPr lang="ko-KR" altLang="en-US" sz="1050"/>
              <a:t>  File "/app/miniconda3/envs/wc/lib/python3.8/site-packages/langchain/document_loaders/__init__.py", line 22, in &lt;module&gt;</a:t>
            </a:r>
          </a:p>
          <a:p>
            <a:r>
              <a:rPr lang="ko-KR" altLang="en-US" sz="1050"/>
              <a:t>    from langchain.utils.interactive_env import is_interactive_env</a:t>
            </a:r>
          </a:p>
          <a:p>
            <a:r>
              <a:rPr lang="ko-KR" altLang="en-US" sz="1050"/>
              <a:t>  File "/app/miniconda3/envs/wc/lib/python3.8/site-packages/langchain/utils/__init__.py", line 7, in &lt;module&gt;</a:t>
            </a:r>
          </a:p>
          <a:p>
            <a:r>
              <a:rPr lang="ko-KR" altLang="en-US" sz="1050"/>
              <a:t>    from langchain_core.utils.formatting import StrictFormatter, formatter</a:t>
            </a:r>
          </a:p>
          <a:p>
            <a:r>
              <a:rPr lang="ko-KR" altLang="en-US" sz="1050"/>
              <a:t>  File "/app/miniconda3/envs/wc/lib/python3.8/site-packages/langchain_core/utils/__init__.py", line 16, in &lt;module&gt;</a:t>
            </a:r>
          </a:p>
          <a:p>
            <a:r>
              <a:rPr lang="ko-KR" altLang="en-US" sz="1050"/>
              <a:t>    from langchain_core.utils.loading import try_load_from_hub</a:t>
            </a:r>
          </a:p>
          <a:p>
            <a:r>
              <a:rPr lang="ko-KR" altLang="en-US" sz="1050"/>
              <a:t>  File "/app/miniconda3/envs/wc/lib/python3.8/site-packages/langchain_core/utils/loading.py", line 10, in &lt;module&gt;</a:t>
            </a:r>
          </a:p>
          <a:p>
            <a:r>
              <a:rPr lang="ko-KR" altLang="en-US" sz="1050"/>
              <a:t>    import requests</a:t>
            </a:r>
          </a:p>
          <a:p>
            <a:r>
              <a:rPr lang="ko-KR" altLang="en-US" sz="1050"/>
              <a:t>  File "/app/miniconda3/envs/wc/lib/python3.8/site-packages/requests/__init__.py", line 45, in &lt;module&gt;</a:t>
            </a:r>
          </a:p>
          <a:p>
            <a:r>
              <a:rPr lang="ko-KR" altLang="en-US" sz="1050"/>
              <a:t>    from .exceptions import RequestsDependencyWarning</a:t>
            </a:r>
          </a:p>
          <a:p>
            <a:r>
              <a:rPr lang="ko-KR" altLang="en-US" sz="1050"/>
              <a:t>  File "/app/miniconda3/envs/wc/lib/python3.8/site-packages/requests/exceptions.py", line 9, in &lt;module&gt;</a:t>
            </a:r>
          </a:p>
          <a:p>
            <a:r>
              <a:rPr lang="ko-KR" altLang="en-US" sz="1050"/>
              <a:t>    from .compat import JSONDecodeError as CompatJSONDecodeError</a:t>
            </a:r>
          </a:p>
          <a:p>
            <a:r>
              <a:rPr lang="ko-KR" altLang="en-US" sz="1050"/>
              <a:t>  File "/app/miniconda3/envs/wc/lib/python3.8/site-packages/requests/compat.py", line 13, in &lt;module&gt;</a:t>
            </a:r>
          </a:p>
          <a:p>
            <a:r>
              <a:rPr lang="ko-KR" altLang="en-US" sz="1050">
                <a:solidFill>
                  <a:srgbClr val="FF0000"/>
                </a:solidFill>
              </a:rPr>
              <a:t>    import charset_normalizer as chardet</a:t>
            </a:r>
          </a:p>
          <a:p>
            <a:r>
              <a:rPr lang="ko-KR" altLang="en-US" sz="1050"/>
              <a:t>  File "/app/miniconda3/envs/wc/lib/python3.8/site-packages/charset_normalizer/__init__.py", line 23, in &lt;module&gt;</a:t>
            </a:r>
          </a:p>
          <a:p>
            <a:r>
              <a:rPr lang="ko-KR" altLang="en-US" sz="1050"/>
              <a:t>    from charset_normalizer.api import from_fp, from_path, from_bytes, normalize</a:t>
            </a:r>
          </a:p>
          <a:p>
            <a:r>
              <a:rPr lang="ko-KR" altLang="en-US" sz="1050"/>
              <a:t>  File "/app/miniconda3/envs/wc/lib/python3.8/site-packages/charset_normalizer/api.py", line 10, in &lt;module&gt;</a:t>
            </a:r>
          </a:p>
          <a:p>
            <a:r>
              <a:rPr lang="ko-KR" altLang="en-US" sz="1050"/>
              <a:t>    from charset_normalizer.md import mess_ratio</a:t>
            </a:r>
          </a:p>
          <a:p>
            <a:r>
              <a:rPr lang="ko-KR" altLang="en-US" sz="1050"/>
              <a:t>  File "charset_normalizer/md.py", line 5, in &lt;module&gt;</a:t>
            </a:r>
          </a:p>
          <a:p>
            <a:r>
              <a:rPr lang="ko-KR" altLang="en-US" sz="1050"/>
              <a:t>ImportError: cannot import name 'COMMON_SAFE_ASCII_CHARACTERS' from 'charset_normalizer.constant' (/app/miniconda3/envs/wc/lib/python3.8/site-packages/charset_normalizer/constant.py)</a:t>
            </a:r>
          </a:p>
          <a:p>
            <a:r>
              <a:rPr lang="ko-KR" altLang="en-US" sz="1050"/>
              <a:t>(wc) [root@localhost wcChat]# </a:t>
            </a:r>
          </a:p>
        </p:txBody>
      </p:sp>
    </p:spTree>
    <p:extLst>
      <p:ext uri="{BB962C8B-B14F-4D97-AF65-F5344CB8AC3E}">
        <p14:creationId xmlns:p14="http://schemas.microsoft.com/office/powerpoint/2010/main" val="3509625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90" y="445898"/>
            <a:ext cx="11000547" cy="390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92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33" y="453960"/>
            <a:ext cx="11167632" cy="415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564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0" y="440328"/>
            <a:ext cx="9072562" cy="562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59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8326</TotalTime>
  <Words>3203</Words>
  <Application>Microsoft Office PowerPoint</Application>
  <PresentationFormat>와이드스크린</PresentationFormat>
  <Paragraphs>685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9" baseType="lpstr">
      <vt:lpstr>-apple-system</vt:lpstr>
      <vt:lpstr>HelveticaNeue</vt:lpstr>
      <vt:lpstr>Noto Sans KR</vt:lpstr>
      <vt:lpstr>맑은 고딕</vt:lpstr>
      <vt:lpstr>Apple SD Gothic Neo</vt:lpstr>
      <vt:lpstr>Arial</vt:lpstr>
      <vt:lpstr>Consolas</vt:lpstr>
      <vt:lpstr>Symbol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LG</dc:creator>
  <cp:lastModifiedBy>Microsoft 계정</cp:lastModifiedBy>
  <cp:revision>136</cp:revision>
  <dcterms:created xsi:type="dcterms:W3CDTF">2024-03-02T23:49:52Z</dcterms:created>
  <dcterms:modified xsi:type="dcterms:W3CDTF">2024-04-17T01:27:01Z</dcterms:modified>
</cp:coreProperties>
</file>