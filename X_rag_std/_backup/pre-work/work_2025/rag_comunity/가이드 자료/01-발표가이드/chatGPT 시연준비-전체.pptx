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0" r:id="rId3"/>
    <p:sldId id="321" r:id="rId4"/>
    <p:sldId id="322" r:id="rId5"/>
    <p:sldId id="323" r:id="rId6"/>
    <p:sldId id="324" r:id="rId7"/>
    <p:sldId id="325" r:id="rId8"/>
    <p:sldId id="326" r:id="rId9"/>
    <p:sldId id="327" r:id="rId10"/>
    <p:sldId id="319" r:id="rId11"/>
    <p:sldId id="310" r:id="rId12"/>
    <p:sldId id="317" r:id="rId13"/>
    <p:sldId id="318" r:id="rId14"/>
    <p:sldId id="311" r:id="rId15"/>
    <p:sldId id="312" r:id="rId16"/>
    <p:sldId id="313" r:id="rId17"/>
    <p:sldId id="314" r:id="rId18"/>
    <p:sldId id="315" r:id="rId19"/>
    <p:sldId id="316" r:id="rId20"/>
    <p:sldId id="286" r:id="rId21"/>
    <p:sldId id="284" r:id="rId22"/>
    <p:sldId id="287" r:id="rId23"/>
    <p:sldId id="285" r:id="rId24"/>
    <p:sldId id="301" r:id="rId25"/>
    <p:sldId id="302" r:id="rId26"/>
    <p:sldId id="292" r:id="rId27"/>
    <p:sldId id="293" r:id="rId28"/>
    <p:sldId id="294" r:id="rId29"/>
    <p:sldId id="295" r:id="rId30"/>
    <p:sldId id="290" r:id="rId31"/>
    <p:sldId id="289" r:id="rId32"/>
    <p:sldId id="291" r:id="rId33"/>
    <p:sldId id="288" r:id="rId34"/>
    <p:sldId id="258" r:id="rId35"/>
    <p:sldId id="259" r:id="rId36"/>
    <p:sldId id="260" r:id="rId37"/>
    <p:sldId id="261" r:id="rId38"/>
    <p:sldId id="273" r:id="rId39"/>
    <p:sldId id="276" r:id="rId40"/>
    <p:sldId id="328" r:id="rId41"/>
    <p:sldId id="329" r:id="rId42"/>
    <p:sldId id="330" r:id="rId43"/>
    <p:sldId id="331" r:id="rId44"/>
    <p:sldId id="333" r:id="rId45"/>
    <p:sldId id="334" r:id="rId46"/>
    <p:sldId id="335" r:id="rId47"/>
    <p:sldId id="336" r:id="rId48"/>
    <p:sldId id="332" r:id="rId49"/>
    <p:sldId id="281" r:id="rId50"/>
    <p:sldId id="282" r:id="rId51"/>
    <p:sldId id="283" r:id="rId52"/>
    <p:sldId id="280" r:id="rId53"/>
    <p:sldId id="277" r:id="rId54"/>
    <p:sldId id="278" r:id="rId55"/>
    <p:sldId id="279" r:id="rId56"/>
    <p:sldId id="274" r:id="rId57"/>
    <p:sldId id="303" r:id="rId58"/>
    <p:sldId id="275" r:id="rId59"/>
    <p:sldId id="257" r:id="rId60"/>
    <p:sldId id="269" r:id="rId61"/>
    <p:sldId id="270" r:id="rId62"/>
    <p:sldId id="271" r:id="rId63"/>
    <p:sldId id="262" r:id="rId64"/>
    <p:sldId id="272" r:id="rId65"/>
    <p:sldId id="339" r:id="rId66"/>
    <p:sldId id="263" r:id="rId67"/>
    <p:sldId id="337" r:id="rId68"/>
    <p:sldId id="338" r:id="rId69"/>
    <p:sldId id="267" r:id="rId70"/>
    <p:sldId id="268" r:id="rId71"/>
    <p:sldId id="264" r:id="rId72"/>
    <p:sldId id="265" r:id="rId73"/>
    <p:sldId id="304" r:id="rId74"/>
    <p:sldId id="305" r:id="rId75"/>
    <p:sldId id="306" r:id="rId76"/>
    <p:sldId id="307" r:id="rId77"/>
    <p:sldId id="308" r:id="rId78"/>
    <p:sldId id="309" r:id="rId79"/>
    <p:sldId id="266" r:id="rId80"/>
    <p:sldId id="340" r:id="rId81"/>
    <p:sldId id="341" r:id="rId82"/>
    <p:sldId id="342" r:id="rId8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6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smtClean="0"/>
              <a:t>마스터 제목 스타일 편집</a:t>
            </a:r>
            <a:endParaRPr lang="ko-KR" altLang="en-US"/>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smtClean="0"/>
              <a:t>마스터 부제목 스타일 편집</a:t>
            </a:r>
            <a:endParaRPr lang="ko-KR" altLang="en-US"/>
          </a:p>
        </p:txBody>
      </p:sp>
      <p:sp>
        <p:nvSpPr>
          <p:cNvPr id="4" name="날짜 개체 틀 3"/>
          <p:cNvSpPr>
            <a:spLocks noGrp="1"/>
          </p:cNvSpPr>
          <p:nvPr>
            <p:ph type="dt" sz="half" idx="10"/>
          </p:nvPr>
        </p:nvSpPr>
        <p:spPr/>
        <p:txBody>
          <a:bodyPr/>
          <a:lstStyle/>
          <a:p>
            <a:fld id="{C91CBC17-7F9F-48F3-B5DD-59F9BF09A788}" type="datetimeFigureOut">
              <a:rPr lang="ko-KR" altLang="en-US" smtClean="0"/>
              <a:t>2023-10-23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6626FCD5-FCA3-4EED-AE05-3302DA637186}" type="slidenum">
              <a:rPr lang="ko-KR" altLang="en-US" smtClean="0"/>
              <a:t>‹#›</a:t>
            </a:fld>
            <a:endParaRPr lang="ko-KR" altLang="en-US"/>
          </a:p>
        </p:txBody>
      </p:sp>
    </p:spTree>
    <p:extLst>
      <p:ext uri="{BB962C8B-B14F-4D97-AF65-F5344CB8AC3E}">
        <p14:creationId xmlns:p14="http://schemas.microsoft.com/office/powerpoint/2010/main" val="160224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C91CBC17-7F9F-48F3-B5DD-59F9BF09A788}" type="datetimeFigureOut">
              <a:rPr lang="ko-KR" altLang="en-US" smtClean="0"/>
              <a:t>2023-10-23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6626FCD5-FCA3-4EED-AE05-3302DA637186}" type="slidenum">
              <a:rPr lang="ko-KR" altLang="en-US" smtClean="0"/>
              <a:t>‹#›</a:t>
            </a:fld>
            <a:endParaRPr lang="ko-KR" altLang="en-US"/>
          </a:p>
        </p:txBody>
      </p:sp>
    </p:spTree>
    <p:extLst>
      <p:ext uri="{BB962C8B-B14F-4D97-AF65-F5344CB8AC3E}">
        <p14:creationId xmlns:p14="http://schemas.microsoft.com/office/powerpoint/2010/main" val="3138111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smtClean="0"/>
              <a:t>마스터 텍스트 스타일을 편집합니다</a:t>
            </a:r>
          </a:p>
        </p:txBody>
      </p:sp>
      <p:sp>
        <p:nvSpPr>
          <p:cNvPr id="4" name="날짜 개체 틀 3"/>
          <p:cNvSpPr>
            <a:spLocks noGrp="1"/>
          </p:cNvSpPr>
          <p:nvPr>
            <p:ph type="dt" sz="half" idx="10"/>
          </p:nvPr>
        </p:nvSpPr>
        <p:spPr/>
        <p:txBody>
          <a:bodyPr/>
          <a:lstStyle/>
          <a:p>
            <a:fld id="{C91CBC17-7F9F-48F3-B5DD-59F9BF09A788}" type="datetimeFigureOut">
              <a:rPr lang="ko-KR" altLang="en-US" smtClean="0"/>
              <a:t>2023-10-23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6626FCD5-FCA3-4EED-AE05-3302DA637186}" type="slidenum">
              <a:rPr lang="ko-KR" altLang="en-US" smtClean="0"/>
              <a:t>‹#›</a:t>
            </a:fld>
            <a:endParaRPr lang="ko-KR" altLang="en-US"/>
          </a:p>
        </p:txBody>
      </p:sp>
    </p:spTree>
    <p:extLst>
      <p:ext uri="{BB962C8B-B14F-4D97-AF65-F5344CB8AC3E}">
        <p14:creationId xmlns:p14="http://schemas.microsoft.com/office/powerpoint/2010/main" val="230854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838200" y="1825625"/>
            <a:ext cx="5181600" cy="4351338"/>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6172200" y="1825625"/>
            <a:ext cx="5181600" cy="4351338"/>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C91CBC17-7F9F-48F3-B5DD-59F9BF09A788}" type="datetimeFigureOut">
              <a:rPr lang="ko-KR" altLang="en-US" smtClean="0"/>
              <a:t>2023-10-23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6626FCD5-FCA3-4EED-AE05-3302DA637186}" type="slidenum">
              <a:rPr lang="ko-KR" altLang="en-US" smtClean="0"/>
              <a:t>‹#›</a:t>
            </a:fld>
            <a:endParaRPr lang="ko-KR" altLang="en-US"/>
          </a:p>
        </p:txBody>
      </p:sp>
    </p:spTree>
    <p:extLst>
      <p:ext uri="{BB962C8B-B14F-4D97-AF65-F5344CB8AC3E}">
        <p14:creationId xmlns:p14="http://schemas.microsoft.com/office/powerpoint/2010/main" val="364753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839788" y="2505075"/>
            <a:ext cx="5157787" cy="3684588"/>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C91CBC17-7F9F-48F3-B5DD-59F9BF09A788}" type="datetimeFigureOut">
              <a:rPr lang="ko-KR" altLang="en-US" smtClean="0"/>
              <a:t>2023-10-23</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6626FCD5-FCA3-4EED-AE05-3302DA637186}" type="slidenum">
              <a:rPr lang="ko-KR" altLang="en-US" smtClean="0"/>
              <a:t>‹#›</a:t>
            </a:fld>
            <a:endParaRPr lang="ko-KR" altLang="en-US"/>
          </a:p>
        </p:txBody>
      </p:sp>
    </p:spTree>
    <p:extLst>
      <p:ext uri="{BB962C8B-B14F-4D97-AF65-F5344CB8AC3E}">
        <p14:creationId xmlns:p14="http://schemas.microsoft.com/office/powerpoint/2010/main" val="2074608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C91CBC17-7F9F-48F3-B5DD-59F9BF09A788}" type="datetimeFigureOut">
              <a:rPr lang="ko-KR" altLang="en-US" smtClean="0"/>
              <a:t>2023-10-23</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6626FCD5-FCA3-4EED-AE05-3302DA637186}" type="slidenum">
              <a:rPr lang="ko-KR" altLang="en-US" smtClean="0"/>
              <a:t>‹#›</a:t>
            </a:fld>
            <a:endParaRPr lang="ko-KR" altLang="en-US"/>
          </a:p>
        </p:txBody>
      </p:sp>
    </p:spTree>
    <p:extLst>
      <p:ext uri="{BB962C8B-B14F-4D97-AF65-F5344CB8AC3E}">
        <p14:creationId xmlns:p14="http://schemas.microsoft.com/office/powerpoint/2010/main" val="823705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C91CBC17-7F9F-48F3-B5DD-59F9BF09A788}" type="datetimeFigureOut">
              <a:rPr lang="ko-KR" altLang="en-US" smtClean="0"/>
              <a:t>2023-10-23</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6626FCD5-FCA3-4EED-AE05-3302DA637186}" type="slidenum">
              <a:rPr lang="ko-KR" altLang="en-US" smtClean="0"/>
              <a:t>‹#›</a:t>
            </a:fld>
            <a:endParaRPr lang="ko-KR" altLang="en-US"/>
          </a:p>
        </p:txBody>
      </p:sp>
    </p:spTree>
    <p:extLst>
      <p:ext uri="{BB962C8B-B14F-4D97-AF65-F5344CB8AC3E}">
        <p14:creationId xmlns:p14="http://schemas.microsoft.com/office/powerpoint/2010/main" val="3796934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smtClean="0"/>
              <a:t>마스터 제목 스타일 편집</a:t>
            </a:r>
            <a:endParaRPr lang="ko-KR" altLang="en-US"/>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C91CBC17-7F9F-48F3-B5DD-59F9BF09A788}" type="datetimeFigureOut">
              <a:rPr lang="ko-KR" altLang="en-US" smtClean="0"/>
              <a:t>2023-10-23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6626FCD5-FCA3-4EED-AE05-3302DA637186}" type="slidenum">
              <a:rPr lang="ko-KR" altLang="en-US" smtClean="0"/>
              <a:t>‹#›</a:t>
            </a:fld>
            <a:endParaRPr lang="ko-KR" altLang="en-US"/>
          </a:p>
        </p:txBody>
      </p:sp>
    </p:spTree>
    <p:extLst>
      <p:ext uri="{BB962C8B-B14F-4D97-AF65-F5344CB8AC3E}">
        <p14:creationId xmlns:p14="http://schemas.microsoft.com/office/powerpoint/2010/main" val="3653691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C91CBC17-7F9F-48F3-B5DD-59F9BF09A788}" type="datetimeFigureOut">
              <a:rPr lang="ko-KR" altLang="en-US" smtClean="0"/>
              <a:t>2023-10-23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6626FCD5-FCA3-4EED-AE05-3302DA637186}" type="slidenum">
              <a:rPr lang="ko-KR" altLang="en-US" smtClean="0"/>
              <a:t>‹#›</a:t>
            </a:fld>
            <a:endParaRPr lang="ko-KR" altLang="en-US"/>
          </a:p>
        </p:txBody>
      </p:sp>
    </p:spTree>
    <p:extLst>
      <p:ext uri="{BB962C8B-B14F-4D97-AF65-F5344CB8AC3E}">
        <p14:creationId xmlns:p14="http://schemas.microsoft.com/office/powerpoint/2010/main" val="539498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C91CBC17-7F9F-48F3-B5DD-59F9BF09A788}" type="datetimeFigureOut">
              <a:rPr lang="ko-KR" altLang="en-US" smtClean="0"/>
              <a:t>2023-10-23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6626FCD5-FCA3-4EED-AE05-3302DA637186}" type="slidenum">
              <a:rPr lang="ko-KR" altLang="en-US" smtClean="0"/>
              <a:t>‹#›</a:t>
            </a:fld>
            <a:endParaRPr lang="ko-KR" altLang="en-US"/>
          </a:p>
        </p:txBody>
      </p:sp>
    </p:spTree>
    <p:extLst>
      <p:ext uri="{BB962C8B-B14F-4D97-AF65-F5344CB8AC3E}">
        <p14:creationId xmlns:p14="http://schemas.microsoft.com/office/powerpoint/2010/main" val="3777619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C91CBC17-7F9F-48F3-B5DD-59F9BF09A788}" type="datetimeFigureOut">
              <a:rPr lang="ko-KR" altLang="en-US" smtClean="0"/>
              <a:t>2023-10-23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6626FCD5-FCA3-4EED-AE05-3302DA637186}" type="slidenum">
              <a:rPr lang="ko-KR" altLang="en-US" smtClean="0"/>
              <a:t>‹#›</a:t>
            </a:fld>
            <a:endParaRPr lang="ko-KR" altLang="en-US"/>
          </a:p>
        </p:txBody>
      </p:sp>
    </p:spTree>
    <p:extLst>
      <p:ext uri="{BB962C8B-B14F-4D97-AF65-F5344CB8AC3E}">
        <p14:creationId xmlns:p14="http://schemas.microsoft.com/office/powerpoint/2010/main" val="1522036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1CBC17-7F9F-48F3-B5DD-59F9BF09A788}" type="datetimeFigureOut">
              <a:rPr lang="ko-KR" altLang="en-US" smtClean="0"/>
              <a:t>2023-10-23</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26FCD5-FCA3-4EED-AE05-3302DA637186}" type="slidenum">
              <a:rPr lang="ko-KR" altLang="en-US" smtClean="0"/>
              <a:t>‹#›</a:t>
            </a:fld>
            <a:endParaRPr lang="ko-KR" altLang="en-US"/>
          </a:p>
        </p:txBody>
      </p:sp>
    </p:spTree>
    <p:extLst>
      <p:ext uri="{BB962C8B-B14F-4D97-AF65-F5344CB8AC3E}">
        <p14:creationId xmlns:p14="http://schemas.microsoft.com/office/powerpoint/2010/main" val="3237935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unicorn.org/" TargetMode="External"/><Relationship Id="rId7" Type="http://schemas.openxmlformats.org/officeDocument/2006/relationships/hyperlink" Target="https://sanic.readthedocs.io/en/latest/" TargetMode="External"/><Relationship Id="rId2" Type="http://schemas.openxmlformats.org/officeDocument/2006/relationships/hyperlink" Target="https://asgi.readthedocs.io/en/latest/specs/main.html" TargetMode="External"/><Relationship Id="rId1" Type="http://schemas.openxmlformats.org/officeDocument/2006/relationships/slideLayout" Target="../slideLayouts/slideLayout2.xml"/><Relationship Id="rId6" Type="http://schemas.openxmlformats.org/officeDocument/2006/relationships/hyperlink" Target="http://magic.io/" TargetMode="External"/><Relationship Id="rId5" Type="http://schemas.openxmlformats.org/officeDocument/2006/relationships/hyperlink" Target="https://github.com/MagicStack/uvloop" TargetMode="External"/><Relationship Id="rId4" Type="http://schemas.openxmlformats.org/officeDocument/2006/relationships/hyperlink" Target="https://github.com/libuv/libuv"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www.youtube.com/watch?v=oGuQwY0AGxg" TargetMode="External"/><Relationship Id="rId3" Type="http://schemas.openxmlformats.org/officeDocument/2006/relationships/image" Target="../media/image1.png"/><Relationship Id="rId7" Type="http://schemas.openxmlformats.org/officeDocument/2006/relationships/hyperlink" Target="https://mlrx.tistory.com/entry/%EC%B1%97%EB%B4%87-PDF-QA-%EC%B1%97%EB%B4%87-%EA%B0%9C%EB%B0%9C%ED%95%98%EA%B8%B0-1" TargetMode="External"/><Relationship Id="rId2" Type="http://schemas.openxmlformats.org/officeDocument/2006/relationships/hyperlink" Target="https://anpigon.tistory.com/389" TargetMode="Externa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youtube.com/watch?v=oGuQwY0AGx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odonam.tistory.com/417" TargetMode="External"/><Relationship Id="rId2" Type="http://schemas.openxmlformats.org/officeDocument/2006/relationships/hyperlink" Target="https://study-ihl.tistory.com/95"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95pbj.tistory.com/65"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hanswsw.tistory.com/22" TargetMode="External"/><Relationship Id="rId2" Type="http://schemas.openxmlformats.org/officeDocument/2006/relationships/hyperlink" Target="https://github.com/hyunjun/bookmarks/blob/master/web.md"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colab.research.google.com/drive/1Ain-2t_OI_llY0lSn0NEPJ1E7kNVdx5J?usp=sharing"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hyperlink" Target="https://youtu.be/KdbPZNdFJU0"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youtu.be/0fU7AS8qiwU" TargetMode="External"/><Relationship Id="rId2" Type="http://schemas.openxmlformats.org/officeDocument/2006/relationships/hyperlink" Target="https://youtu.be/2PI1-5a3uao"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ko.wikipedia.org/wiki/%EC%8B%A0%EC%9A%A9%EC%B9%B4%EB%93%9C"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4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48.xml.rels><?xml version="1.0" encoding="UTF-8" standalone="yes"?>
<Relationships xmlns="http://schemas.openxmlformats.org/package/2006/relationships"><Relationship Id="rId8" Type="http://schemas.openxmlformats.org/officeDocument/2006/relationships/hyperlink" Target="https://gist.github.com/youtube-jocoding/1f954877c62f42bfdb001aedd7a76c3a" TargetMode="External"/><Relationship Id="rId3" Type="http://schemas.openxmlformats.org/officeDocument/2006/relationships/hyperlink" Target="https://huggingface.co/TheBloke/Llama-2-7B-Chat-GGML/tree/main" TargetMode="External"/><Relationship Id="rId7" Type="http://schemas.openxmlformats.org/officeDocument/2006/relationships/hyperlink" Target="https://gist.github.com/youtube-jocoding/0b96f01710f166b52f171022376f19ec" TargetMode="External"/><Relationship Id="rId12" Type="http://schemas.openxmlformats.org/officeDocument/2006/relationships/hyperlink" Target="https://gist.github.com/youtube-jocoding/9dd7cd3a6cea48bc27eeb43923b7849b" TargetMode="External"/><Relationship Id="rId2" Type="http://schemas.openxmlformats.org/officeDocument/2006/relationships/hyperlink" Target="https://gist.github.com/youtube-jocoding/b4a9f2080e730c6818d53aeb7a21062d" TargetMode="External"/><Relationship Id="rId1" Type="http://schemas.openxmlformats.org/officeDocument/2006/relationships/slideLayout" Target="../slideLayouts/slideLayout2.xml"/><Relationship Id="rId6" Type="http://schemas.openxmlformats.org/officeDocument/2006/relationships/hyperlink" Target="https://gist.github.com/youtube-jocoding/a909a52065766328a9eb934b6b891e59" TargetMode="External"/><Relationship Id="rId11" Type="http://schemas.openxmlformats.org/officeDocument/2006/relationships/hyperlink" Target="https://gist.github.com/youtube-jocoding/b80e6cb9104198efbe8454463e255629" TargetMode="External"/><Relationship Id="rId5" Type="http://schemas.openxmlformats.org/officeDocument/2006/relationships/hyperlink" Target="https://gongu.copyright.or.kr/gongu/wrt/wrt/view.do?wrtSn=9002094&amp;menuNo=200030" TargetMode="External"/><Relationship Id="rId10" Type="http://schemas.openxmlformats.org/officeDocument/2006/relationships/hyperlink" Target="https://gist.github.com/youtube-jocoding/f5f9fa33216a08439658f790a66b60bd" TargetMode="External"/><Relationship Id="rId4" Type="http://schemas.openxmlformats.org/officeDocument/2006/relationships/hyperlink" Target="https://gist.github.com/youtube-jocoding/f255a3f29afb8944b1121b663c0d8412" TargetMode="External"/><Relationship Id="rId9" Type="http://schemas.openxmlformats.org/officeDocument/2006/relationships/hyperlink" Target="https://gist.github.com/youtube-jocoding/816bc06e7b7acb49ef55ee0ff5106637"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aifactory.space/learning/2446/discussion/402" TargetMode="External"/><Relationship Id="rId2" Type="http://schemas.openxmlformats.org/officeDocument/2006/relationships/hyperlink" Target="https://m.blog.naver.com/ulsancoding/223114445215"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beausty23.tistory.com/54"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hyperlink" Target="https://colab.research.google.com/drive/1MlrF0Mo8KHrxcrAeulCP3t9hroc073YN?usp=sharing"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velog.io/@xcellentbird/LangChain-Use-Case-1-Document-QA"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hyperlink" Target="https://github.com/langchain-ai/langchain"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hyperlink" Target="https://www.youtube.com/watch?v=J_tCD_J6w3s"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github.com/langchain-ai/langchain/issues/2133" TargetMode="External"/><Relationship Id="rId2" Type="http://schemas.openxmlformats.org/officeDocument/2006/relationships/hyperlink" Target="https://www.youtube.com/watch?v=ftXLn9DE7YY"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hyperlink" Target="https://stackoverflow.com/questions/77097064/retrievalqa-max-token-limit-reached-even-though-its-short-prompt"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s://www.youtube.com/watch?v=_TVyF_4JJgk"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hyperlink" Target="https://www.sedaily.com/NewsView/29PF8TONZ4"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www.data.go.kr/data/15084084/openapi.do" TargetMode="External"/><Relationship Id="rId2" Type="http://schemas.openxmlformats.org/officeDocument/2006/relationships/hyperlink" Target="https://blog.mnc.ai/71"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hyperlink" Target="https://blog.mnc.ai/71" TargetMode="Externa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https://www.youtube.com/watch?v=-B0dNAednJ8"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p:txBody>
          <a:bodyPr/>
          <a:lstStyle/>
          <a:p>
            <a:endParaRPr lang="ko-KR" altLang="en-US"/>
          </a:p>
        </p:txBody>
      </p:sp>
      <p:sp>
        <p:nvSpPr>
          <p:cNvPr id="3" name="부제목 2"/>
          <p:cNvSpPr>
            <a:spLocks noGrp="1"/>
          </p:cNvSpPr>
          <p:nvPr>
            <p:ph type="subTitle" idx="1"/>
          </p:nvPr>
        </p:nvSpPr>
        <p:spPr/>
        <p:txBody>
          <a:bodyPr/>
          <a:lstStyle/>
          <a:p>
            <a:endParaRPr lang="ko-KR" altLang="en-US"/>
          </a:p>
        </p:txBody>
      </p:sp>
    </p:spTree>
    <p:extLst>
      <p:ext uri="{BB962C8B-B14F-4D97-AF65-F5344CB8AC3E}">
        <p14:creationId xmlns:p14="http://schemas.microsoft.com/office/powerpoint/2010/main" val="2661884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85825" y="428625"/>
            <a:ext cx="1787605" cy="923330"/>
          </a:xfrm>
          <a:prstGeom prst="rect">
            <a:avLst/>
          </a:prstGeom>
          <a:noFill/>
        </p:spPr>
        <p:txBody>
          <a:bodyPr wrap="none" rtlCol="0">
            <a:spAutoFit/>
          </a:bodyPr>
          <a:lstStyle/>
          <a:p>
            <a:r>
              <a:rPr lang="en-US" altLang="ko-KR" smtClean="0"/>
              <a:t>chromadb </a:t>
            </a:r>
            <a:r>
              <a:rPr lang="ko-KR" altLang="en-US" smtClean="0"/>
              <a:t>삭제</a:t>
            </a:r>
            <a:endParaRPr lang="en-US" altLang="ko-KR" smtClean="0"/>
          </a:p>
          <a:p>
            <a:endParaRPr lang="en-US" altLang="ko-KR"/>
          </a:p>
          <a:p>
            <a:endParaRPr lang="ko-KR" altLang="en-US"/>
          </a:p>
        </p:txBody>
      </p:sp>
      <p:sp>
        <p:nvSpPr>
          <p:cNvPr id="5" name="직사각형 4"/>
          <p:cNvSpPr/>
          <p:nvPr/>
        </p:nvSpPr>
        <p:spPr>
          <a:xfrm>
            <a:off x="885824" y="1004411"/>
            <a:ext cx="10791825" cy="400110"/>
          </a:xfrm>
          <a:prstGeom prst="rect">
            <a:avLst/>
          </a:prstGeom>
        </p:spPr>
        <p:txBody>
          <a:bodyPr wrap="square">
            <a:spAutoFit/>
          </a:bodyPr>
          <a:lstStyle/>
          <a:p>
            <a:r>
              <a:rPr lang="ko-KR" altLang="en-US" sz="1000"/>
              <a:t>https://zephyrnet.com/ko/%EC%83%9D%EC%84%B1-AI%EB%A5%BC-%EC%9C%84%ED%95%9C-%EB%B2%A1%ED%84%B0-%EC%A0%80%EC%9E%A5%EC%86%8C%EC%9D%B8-Chroma-db-%EA%B0%80%EC%9D%B4%EB%93%9C/</a:t>
            </a:r>
          </a:p>
        </p:txBody>
      </p:sp>
      <p:sp>
        <p:nvSpPr>
          <p:cNvPr id="6" name="직사각형 5"/>
          <p:cNvSpPr/>
          <p:nvPr/>
        </p:nvSpPr>
        <p:spPr>
          <a:xfrm>
            <a:off x="952500" y="1980307"/>
            <a:ext cx="6096000" cy="1200329"/>
          </a:xfrm>
          <a:prstGeom prst="rect">
            <a:avLst/>
          </a:prstGeom>
        </p:spPr>
        <p:txBody>
          <a:bodyPr>
            <a:spAutoFit/>
          </a:bodyPr>
          <a:lstStyle/>
          <a:p>
            <a:r>
              <a:rPr lang="en-US" altLang="ko-KR">
                <a:latin typeface="Courier New" panose="02070309020205020404" pitchFamily="49" charset="0"/>
              </a:rPr>
              <a:t>collection.update( ids=["id2"], documents=["This is a document containing information about Cats"], metadatas=[{"source": "Cat Book"}], )</a:t>
            </a:r>
            <a:endParaRPr lang="ko-KR" altLang="en-US"/>
          </a:p>
        </p:txBody>
      </p:sp>
      <p:sp>
        <p:nvSpPr>
          <p:cNvPr id="8" name="직사각형 7"/>
          <p:cNvSpPr/>
          <p:nvPr/>
        </p:nvSpPr>
        <p:spPr>
          <a:xfrm>
            <a:off x="781050" y="3314611"/>
            <a:ext cx="6096000" cy="1200329"/>
          </a:xfrm>
          <a:prstGeom prst="rect">
            <a:avLst/>
          </a:prstGeom>
        </p:spPr>
        <p:txBody>
          <a:bodyPr>
            <a:spAutoFit/>
          </a:bodyPr>
          <a:lstStyle/>
          <a:p>
            <a:r>
              <a:rPr lang="ko-KR" altLang="en-US"/>
              <a:t>데이터베이스의 쿼리</a:t>
            </a:r>
          </a:p>
          <a:p>
            <a:r>
              <a:rPr lang="ko-KR" altLang="en-US"/>
              <a:t>results = collection.query( query_texts=["Felines"], n_results=1</a:t>
            </a:r>
          </a:p>
          <a:p>
            <a:r>
              <a:rPr lang="ko-KR" altLang="en-US"/>
              <a:t>) print(results)</a:t>
            </a:r>
          </a:p>
        </p:txBody>
      </p:sp>
      <p:sp>
        <p:nvSpPr>
          <p:cNvPr id="9" name="직사각형 8"/>
          <p:cNvSpPr/>
          <p:nvPr/>
        </p:nvSpPr>
        <p:spPr>
          <a:xfrm>
            <a:off x="866774" y="4681627"/>
            <a:ext cx="6096000" cy="923330"/>
          </a:xfrm>
          <a:prstGeom prst="rect">
            <a:avLst/>
          </a:prstGeom>
        </p:spPr>
        <p:txBody>
          <a:bodyPr>
            <a:spAutoFit/>
          </a:bodyPr>
          <a:lstStyle/>
          <a:p>
            <a:r>
              <a:rPr lang="ko-KR" altLang="en-US"/>
              <a:t>collection.delete(ids = ['id1']) results = collection.query( query_texts=["Car"], n_results=2</a:t>
            </a:r>
          </a:p>
          <a:p>
            <a:r>
              <a:rPr lang="ko-KR" altLang="en-US"/>
              <a:t>) print(results)</a:t>
            </a:r>
          </a:p>
        </p:txBody>
      </p:sp>
    </p:spTree>
    <p:extLst>
      <p:ext uri="{BB962C8B-B14F-4D97-AF65-F5344CB8AC3E}">
        <p14:creationId xmlns:p14="http://schemas.microsoft.com/office/powerpoint/2010/main" val="4128119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62050" y="447675"/>
            <a:ext cx="5584734" cy="923330"/>
          </a:xfrm>
          <a:prstGeom prst="rect">
            <a:avLst/>
          </a:prstGeom>
          <a:noFill/>
        </p:spPr>
        <p:txBody>
          <a:bodyPr wrap="none" rtlCol="0">
            <a:spAutoFit/>
          </a:bodyPr>
          <a:lstStyle/>
          <a:p>
            <a:r>
              <a:rPr lang="en-US" altLang="ko-KR"/>
              <a:t>Chroma.Collection.delete("my_collection</a:t>
            </a:r>
            <a:r>
              <a:rPr lang="en-US" altLang="ko-KR" smtClean="0"/>
              <a:t>")</a:t>
            </a:r>
          </a:p>
          <a:p>
            <a:endParaRPr lang="en-US" altLang="ko-KR"/>
          </a:p>
          <a:p>
            <a:r>
              <a:rPr lang="en-US" altLang="ko-KR"/>
              <a:t>https://hexdocs.pm/chroma/Chroma.Collection.html</a:t>
            </a:r>
            <a:endParaRPr lang="ko-KR" altLang="en-US"/>
          </a:p>
        </p:txBody>
      </p:sp>
      <p:sp>
        <p:nvSpPr>
          <p:cNvPr id="5" name="직사각형 4"/>
          <p:cNvSpPr/>
          <p:nvPr/>
        </p:nvSpPr>
        <p:spPr>
          <a:xfrm>
            <a:off x="1085850" y="1700510"/>
            <a:ext cx="6096000" cy="923330"/>
          </a:xfrm>
          <a:prstGeom prst="rect">
            <a:avLst/>
          </a:prstGeom>
        </p:spPr>
        <p:txBody>
          <a:bodyPr>
            <a:spAutoFit/>
          </a:bodyPr>
          <a:lstStyle/>
          <a:p>
            <a:r>
              <a:rPr lang="en-US" altLang="ko-KR">
                <a:solidFill>
                  <a:srgbClr val="0000CF"/>
                </a:solidFill>
                <a:latin typeface="Inconsolata"/>
              </a:rPr>
              <a:t>Chroma.Collection</a:t>
            </a:r>
            <a:r>
              <a:rPr lang="en-US" altLang="ko-KR">
                <a:solidFill>
                  <a:srgbClr val="BC5400"/>
                </a:solidFill>
                <a:latin typeface="Inconsolata"/>
              </a:rPr>
              <a:t>.</a:t>
            </a:r>
            <a:r>
              <a:rPr lang="en-US" altLang="ko-KR">
                <a:solidFill>
                  <a:srgbClr val="4D4D4C"/>
                </a:solidFill>
                <a:latin typeface="Inconsolata"/>
              </a:rPr>
              <a:t>get(</a:t>
            </a:r>
            <a:r>
              <a:rPr lang="en-US" altLang="ko-KR">
                <a:solidFill>
                  <a:srgbClr val="408200"/>
                </a:solidFill>
                <a:latin typeface="Inconsolata"/>
              </a:rPr>
              <a:t>"my_collection"</a:t>
            </a:r>
            <a:r>
              <a:rPr lang="en-US" altLang="ko-KR">
                <a:solidFill>
                  <a:srgbClr val="4D4D4C"/>
                </a:solidFill>
                <a:latin typeface="Inconsolata"/>
              </a:rPr>
              <a:t>)</a:t>
            </a:r>
            <a:r>
              <a:rPr lang="en-US" altLang="ko-KR">
                <a:solidFill>
                  <a:srgbClr val="1C2A3B"/>
                </a:solidFill>
                <a:latin typeface="Inconsolata"/>
              </a:rPr>
              <a:t> </a:t>
            </a:r>
            <a:r>
              <a:rPr lang="en-US" altLang="ko-KR">
                <a:solidFill>
                  <a:srgbClr val="4D4D4C"/>
                </a:solidFill>
                <a:latin typeface="Inconsolata"/>
              </a:rPr>
              <a:t>{</a:t>
            </a:r>
            <a:r>
              <a:rPr lang="en-US" altLang="ko-KR">
                <a:solidFill>
                  <a:srgbClr val="A06600"/>
                </a:solidFill>
                <a:latin typeface="Inconsolata"/>
              </a:rPr>
              <a:t>:ok</a:t>
            </a:r>
            <a:r>
              <a:rPr lang="en-US" altLang="ko-KR">
                <a:solidFill>
                  <a:srgbClr val="4D4D4C"/>
                </a:solidFill>
                <a:latin typeface="Inconsolata"/>
              </a:rPr>
              <a:t>,</a:t>
            </a:r>
            <a:r>
              <a:rPr lang="en-US" altLang="ko-KR">
                <a:solidFill>
                  <a:srgbClr val="1C2A3B"/>
                </a:solidFill>
                <a:latin typeface="Inconsolata"/>
              </a:rPr>
              <a:t> </a:t>
            </a:r>
            <a:r>
              <a:rPr lang="en-US" altLang="ko-KR">
                <a:solidFill>
                  <a:srgbClr val="4D4D4C"/>
                </a:solidFill>
                <a:latin typeface="Inconsolata"/>
              </a:rPr>
              <a:t>%</a:t>
            </a:r>
            <a:r>
              <a:rPr lang="en-US" altLang="ko-KR">
                <a:solidFill>
                  <a:srgbClr val="0000CF"/>
                </a:solidFill>
                <a:latin typeface="Inconsolata"/>
              </a:rPr>
              <a:t>Chroma.Collection</a:t>
            </a:r>
            <a:r>
              <a:rPr lang="en-US" altLang="ko-KR">
                <a:solidFill>
                  <a:srgbClr val="4D4D4C"/>
                </a:solidFill>
                <a:latin typeface="Inconsolata"/>
              </a:rPr>
              <a:t>{</a:t>
            </a:r>
            <a:r>
              <a:rPr lang="en-US" altLang="ko-KR">
                <a:solidFill>
                  <a:srgbClr val="A06600"/>
                </a:solidFill>
                <a:latin typeface="Inconsolata"/>
              </a:rPr>
              <a:t>id</a:t>
            </a:r>
            <a:r>
              <a:rPr lang="en-US" altLang="ko-KR">
                <a:solidFill>
                  <a:srgbClr val="4D4D4C"/>
                </a:solidFill>
                <a:latin typeface="Inconsolata"/>
              </a:rPr>
              <a:t>:</a:t>
            </a:r>
            <a:r>
              <a:rPr lang="en-US" altLang="ko-KR">
                <a:solidFill>
                  <a:srgbClr val="1C2A3B"/>
                </a:solidFill>
                <a:latin typeface="Inconsolata"/>
              </a:rPr>
              <a:t> </a:t>
            </a:r>
            <a:r>
              <a:rPr lang="en-US" altLang="ko-KR">
                <a:solidFill>
                  <a:srgbClr val="408200"/>
                </a:solidFill>
                <a:latin typeface="Inconsolata"/>
              </a:rPr>
              <a:t>"123"</a:t>
            </a:r>
            <a:r>
              <a:rPr lang="en-US" altLang="ko-KR">
                <a:solidFill>
                  <a:srgbClr val="4D4D4C"/>
                </a:solidFill>
                <a:latin typeface="Inconsolata"/>
              </a:rPr>
              <a:t>,</a:t>
            </a:r>
            <a:r>
              <a:rPr lang="en-US" altLang="ko-KR">
                <a:solidFill>
                  <a:srgbClr val="1C2A3B"/>
                </a:solidFill>
                <a:latin typeface="Inconsolata"/>
              </a:rPr>
              <a:t> </a:t>
            </a:r>
            <a:r>
              <a:rPr lang="en-US" altLang="ko-KR">
                <a:solidFill>
                  <a:srgbClr val="A06600"/>
                </a:solidFill>
                <a:latin typeface="Inconsolata"/>
              </a:rPr>
              <a:t>name</a:t>
            </a:r>
            <a:r>
              <a:rPr lang="en-US" altLang="ko-KR">
                <a:solidFill>
                  <a:srgbClr val="4D4D4C"/>
                </a:solidFill>
                <a:latin typeface="Inconsolata"/>
              </a:rPr>
              <a:t>:</a:t>
            </a:r>
            <a:r>
              <a:rPr lang="en-US" altLang="ko-KR">
                <a:solidFill>
                  <a:srgbClr val="1C2A3B"/>
                </a:solidFill>
                <a:latin typeface="Inconsolata"/>
              </a:rPr>
              <a:t> </a:t>
            </a:r>
            <a:r>
              <a:rPr lang="en-US" altLang="ko-KR">
                <a:solidFill>
                  <a:srgbClr val="408200"/>
                </a:solidFill>
                <a:latin typeface="Inconsolata"/>
              </a:rPr>
              <a:t>"my_collection"</a:t>
            </a:r>
            <a:r>
              <a:rPr lang="en-US" altLang="ko-KR">
                <a:solidFill>
                  <a:srgbClr val="4D4D4C"/>
                </a:solidFill>
                <a:latin typeface="Inconsolata"/>
              </a:rPr>
              <a:t>,</a:t>
            </a:r>
            <a:r>
              <a:rPr lang="en-US" altLang="ko-KR">
                <a:solidFill>
                  <a:srgbClr val="1C2A3B"/>
                </a:solidFill>
                <a:latin typeface="Inconsolata"/>
              </a:rPr>
              <a:t> </a:t>
            </a:r>
            <a:r>
              <a:rPr lang="en-US" altLang="ko-KR">
                <a:solidFill>
                  <a:srgbClr val="A06600"/>
                </a:solidFill>
                <a:latin typeface="Inconsolata"/>
              </a:rPr>
              <a:t>metadata</a:t>
            </a:r>
            <a:r>
              <a:rPr lang="en-US" altLang="ko-KR">
                <a:solidFill>
                  <a:srgbClr val="4D4D4C"/>
                </a:solidFill>
                <a:latin typeface="Inconsolata"/>
              </a:rPr>
              <a:t>:</a:t>
            </a:r>
            <a:r>
              <a:rPr lang="en-US" altLang="ko-KR">
                <a:solidFill>
                  <a:srgbClr val="1C2A3B"/>
                </a:solidFill>
                <a:latin typeface="Inconsolata"/>
              </a:rPr>
              <a:t> </a:t>
            </a:r>
            <a:r>
              <a:rPr lang="en-US" altLang="ko-KR">
                <a:solidFill>
                  <a:srgbClr val="4D4D4C"/>
                </a:solidFill>
                <a:latin typeface="Inconsolata"/>
              </a:rPr>
              <a:t>%{}}}</a:t>
            </a:r>
            <a:endParaRPr lang="ko-KR" altLang="en-US"/>
          </a:p>
        </p:txBody>
      </p:sp>
      <p:sp>
        <p:nvSpPr>
          <p:cNvPr id="8" name="직사각형 7"/>
          <p:cNvSpPr/>
          <p:nvPr/>
        </p:nvSpPr>
        <p:spPr>
          <a:xfrm>
            <a:off x="1162050" y="2790736"/>
            <a:ext cx="6096000" cy="1569660"/>
          </a:xfrm>
          <a:prstGeom prst="rect">
            <a:avLst/>
          </a:prstGeom>
        </p:spPr>
        <p:txBody>
          <a:bodyPr>
            <a:spAutoFit/>
          </a:bodyPr>
          <a:lstStyle/>
          <a:p>
            <a:r>
              <a:rPr lang="ko-KR" altLang="en-US" sz="1200"/>
              <a:t>Chroma.Collection.get_or_create("my_collection", metadata: %{type: "test"})</a:t>
            </a:r>
          </a:p>
          <a:p>
            <a:r>
              <a:rPr lang="ko-KR" altLang="en-US" sz="1200"/>
              <a:t>{:ok, %Chroma.Collection{id: "123", name: "my_collection", metadata: %{type: "test</a:t>
            </a:r>
            <a:r>
              <a:rPr lang="ko-KR" altLang="en-US" sz="1200" smtClean="0"/>
              <a:t>"})}}</a:t>
            </a:r>
            <a:endParaRPr lang="en-US" altLang="ko-KR" sz="1200" smtClean="0"/>
          </a:p>
          <a:p>
            <a:endParaRPr lang="en-US" altLang="ko-KR" sz="1200"/>
          </a:p>
          <a:p>
            <a:r>
              <a:rPr lang="en-US" altLang="ko-KR" sz="1200"/>
              <a:t>Chroma.Collection.list() {:ok, [%Chroma.Collection{id: "123", name: "my_collection", metadata: </a:t>
            </a:r>
            <a:r>
              <a:rPr lang="en-US" altLang="ko-KR" sz="1200" smtClean="0"/>
              <a:t>%{}}]}</a:t>
            </a:r>
          </a:p>
          <a:p>
            <a:endParaRPr lang="en-US" altLang="ko-KR" sz="1200"/>
          </a:p>
          <a:p>
            <a:r>
              <a:rPr lang="en-US" altLang="ko-KR" sz="1200"/>
              <a:t>Chroma.Collection.modify(%Chroma.Collection{id: "123"}, name: "new_name") {:ok, %Chroma.Collection{id: "123", name: "new_name", metadata: %{}}}</a:t>
            </a:r>
            <a:endParaRPr lang="ko-KR" altLang="en-US" sz="1200"/>
          </a:p>
        </p:txBody>
      </p:sp>
    </p:spTree>
    <p:extLst>
      <p:ext uri="{BB962C8B-B14F-4D97-AF65-F5344CB8AC3E}">
        <p14:creationId xmlns:p14="http://schemas.microsoft.com/office/powerpoint/2010/main" val="7752107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276224" y="172135"/>
            <a:ext cx="11382375" cy="369332"/>
          </a:xfrm>
          <a:prstGeom prst="rect">
            <a:avLst/>
          </a:prstGeom>
        </p:spPr>
        <p:txBody>
          <a:bodyPr wrap="square">
            <a:spAutoFit/>
          </a:bodyPr>
          <a:lstStyle/>
          <a:p>
            <a:r>
              <a:rPr lang="en-US" altLang="ko-KR" smtClean="0"/>
              <a:t>langchain / chromadb </a:t>
            </a:r>
            <a:r>
              <a:rPr lang="ko-KR" altLang="en-US" smtClean="0"/>
              <a:t>메뉴얼 </a:t>
            </a:r>
            <a:r>
              <a:rPr lang="en-US" altLang="ko-KR" smtClean="0"/>
              <a:t>- 1 </a:t>
            </a:r>
          </a:p>
        </p:txBody>
      </p:sp>
      <p:sp>
        <p:nvSpPr>
          <p:cNvPr id="5" name="직사각형 4"/>
          <p:cNvSpPr/>
          <p:nvPr/>
        </p:nvSpPr>
        <p:spPr>
          <a:xfrm>
            <a:off x="276223" y="541467"/>
            <a:ext cx="11382375" cy="369332"/>
          </a:xfrm>
          <a:prstGeom prst="rect">
            <a:avLst/>
          </a:prstGeom>
        </p:spPr>
        <p:txBody>
          <a:bodyPr wrap="square">
            <a:spAutoFit/>
          </a:bodyPr>
          <a:lstStyle/>
          <a:p>
            <a:r>
              <a:rPr lang="ko-KR" altLang="en-US"/>
              <a:t>https://python.langchain.com/docs/integrations/vectorstores/chroma</a:t>
            </a:r>
          </a:p>
        </p:txBody>
      </p:sp>
      <p:sp>
        <p:nvSpPr>
          <p:cNvPr id="6" name="직사각형 5"/>
          <p:cNvSpPr/>
          <p:nvPr/>
        </p:nvSpPr>
        <p:spPr>
          <a:xfrm>
            <a:off x="352425" y="1635889"/>
            <a:ext cx="8667750" cy="2862322"/>
          </a:xfrm>
          <a:prstGeom prst="rect">
            <a:avLst/>
          </a:prstGeom>
        </p:spPr>
        <p:txBody>
          <a:bodyPr wrap="square">
            <a:spAutoFit/>
          </a:bodyPr>
          <a:lstStyle/>
          <a:p>
            <a:r>
              <a:rPr lang="en-US" altLang="ko-KR">
                <a:solidFill>
                  <a:srgbClr val="008000"/>
                </a:solidFill>
                <a:latin typeface="SFMono-Regular"/>
              </a:rPr>
              <a:t># save to disk</a:t>
            </a:r>
            <a:r>
              <a:rPr lang="en-US" altLang="ko-KR">
                <a:solidFill>
                  <a:srgbClr val="000000"/>
                </a:solidFill>
                <a:latin typeface="SFMono-Regular"/>
              </a:rPr>
              <a:t/>
            </a:r>
            <a:br>
              <a:rPr lang="en-US" altLang="ko-KR">
                <a:solidFill>
                  <a:srgbClr val="000000"/>
                </a:solidFill>
                <a:latin typeface="SFMono-Regular"/>
              </a:rPr>
            </a:br>
            <a:r>
              <a:rPr lang="en-US" altLang="ko-KR">
                <a:solidFill>
                  <a:srgbClr val="000000"/>
                </a:solidFill>
                <a:latin typeface="SFMono-Regular"/>
              </a:rPr>
              <a:t>db2 = Chroma</a:t>
            </a:r>
            <a:r>
              <a:rPr lang="en-US" altLang="ko-KR">
                <a:solidFill>
                  <a:srgbClr val="0451A5"/>
                </a:solidFill>
                <a:latin typeface="SFMono-Regular"/>
              </a:rPr>
              <a:t>.</a:t>
            </a:r>
            <a:r>
              <a:rPr lang="en-US" altLang="ko-KR">
                <a:solidFill>
                  <a:srgbClr val="000000"/>
                </a:solidFill>
                <a:latin typeface="SFMono-Regular"/>
              </a:rPr>
              <a:t>from_documents</a:t>
            </a:r>
            <a:r>
              <a:rPr lang="en-US" altLang="ko-KR">
                <a:solidFill>
                  <a:srgbClr val="0451A5"/>
                </a:solidFill>
                <a:latin typeface="SFMono-Regular"/>
              </a:rPr>
              <a:t>(</a:t>
            </a:r>
            <a:r>
              <a:rPr lang="en-US" altLang="ko-KR">
                <a:solidFill>
                  <a:srgbClr val="000000"/>
                </a:solidFill>
                <a:latin typeface="SFMono-Regular"/>
              </a:rPr>
              <a:t>docs</a:t>
            </a:r>
            <a:r>
              <a:rPr lang="en-US" altLang="ko-KR">
                <a:solidFill>
                  <a:srgbClr val="0451A5"/>
                </a:solidFill>
                <a:latin typeface="SFMono-Regular"/>
              </a:rPr>
              <a:t>,</a:t>
            </a:r>
            <a:r>
              <a:rPr lang="en-US" altLang="ko-KR">
                <a:solidFill>
                  <a:srgbClr val="000000"/>
                </a:solidFill>
                <a:latin typeface="SFMono-Regular"/>
              </a:rPr>
              <a:t> embedding_function</a:t>
            </a:r>
            <a:r>
              <a:rPr lang="en-US" altLang="ko-KR">
                <a:solidFill>
                  <a:srgbClr val="0451A5"/>
                </a:solidFill>
                <a:latin typeface="SFMono-Regular"/>
              </a:rPr>
              <a:t>,</a:t>
            </a:r>
            <a:r>
              <a:rPr lang="en-US" altLang="ko-KR">
                <a:solidFill>
                  <a:srgbClr val="000000"/>
                </a:solidFill>
                <a:latin typeface="SFMono-Regular"/>
              </a:rPr>
              <a:t> persist_directory=</a:t>
            </a:r>
            <a:r>
              <a:rPr lang="en-US" altLang="ko-KR">
                <a:solidFill>
                  <a:srgbClr val="A31515"/>
                </a:solidFill>
                <a:latin typeface="SFMono-Regular"/>
              </a:rPr>
              <a:t>"./chroma_db"</a:t>
            </a:r>
            <a:r>
              <a:rPr lang="en-US" altLang="ko-KR">
                <a:solidFill>
                  <a:srgbClr val="0451A5"/>
                </a:solidFill>
                <a:latin typeface="SFMono-Regular"/>
              </a:rPr>
              <a:t>)</a:t>
            </a:r>
            <a:r>
              <a:rPr lang="en-US" altLang="ko-KR">
                <a:solidFill>
                  <a:srgbClr val="000000"/>
                </a:solidFill>
                <a:latin typeface="SFMono-Regular"/>
              </a:rPr>
              <a:t/>
            </a:r>
            <a:br>
              <a:rPr lang="en-US" altLang="ko-KR">
                <a:solidFill>
                  <a:srgbClr val="000000"/>
                </a:solidFill>
                <a:latin typeface="SFMono-Regular"/>
              </a:rPr>
            </a:br>
            <a:r>
              <a:rPr lang="en-US" altLang="ko-KR">
                <a:solidFill>
                  <a:srgbClr val="000000"/>
                </a:solidFill>
                <a:latin typeface="SFMono-Regular"/>
              </a:rPr>
              <a:t>docs = db2</a:t>
            </a:r>
            <a:r>
              <a:rPr lang="en-US" altLang="ko-KR">
                <a:solidFill>
                  <a:srgbClr val="0451A5"/>
                </a:solidFill>
                <a:latin typeface="SFMono-Regular"/>
              </a:rPr>
              <a:t>.</a:t>
            </a:r>
            <a:r>
              <a:rPr lang="en-US" altLang="ko-KR">
                <a:solidFill>
                  <a:srgbClr val="000000"/>
                </a:solidFill>
                <a:latin typeface="SFMono-Regular"/>
              </a:rPr>
              <a:t>similarity_search</a:t>
            </a:r>
            <a:r>
              <a:rPr lang="en-US" altLang="ko-KR">
                <a:solidFill>
                  <a:srgbClr val="0451A5"/>
                </a:solidFill>
                <a:latin typeface="SFMono-Regular"/>
              </a:rPr>
              <a:t>(</a:t>
            </a:r>
            <a:r>
              <a:rPr lang="en-US" altLang="ko-KR">
                <a:solidFill>
                  <a:srgbClr val="000000"/>
                </a:solidFill>
                <a:latin typeface="SFMono-Regular"/>
              </a:rPr>
              <a:t>query</a:t>
            </a:r>
            <a:r>
              <a:rPr lang="en-US" altLang="ko-KR">
                <a:solidFill>
                  <a:srgbClr val="0451A5"/>
                </a:solidFill>
                <a:latin typeface="SFMono-Regular"/>
              </a:rPr>
              <a:t>)</a:t>
            </a:r>
            <a:r>
              <a:rPr lang="en-US" altLang="ko-KR">
                <a:solidFill>
                  <a:srgbClr val="000000"/>
                </a:solidFill>
                <a:latin typeface="SFMono-Regular"/>
              </a:rPr>
              <a:t/>
            </a:r>
            <a:br>
              <a:rPr lang="en-US" altLang="ko-KR">
                <a:solidFill>
                  <a:srgbClr val="000000"/>
                </a:solidFill>
                <a:latin typeface="SFMono-Regular"/>
              </a:rPr>
            </a:br>
            <a:r>
              <a:rPr lang="en-US" altLang="ko-KR">
                <a:solidFill>
                  <a:srgbClr val="000000"/>
                </a:solidFill>
                <a:latin typeface="SFMono-Regular"/>
              </a:rPr>
              <a:t/>
            </a:r>
            <a:br>
              <a:rPr lang="en-US" altLang="ko-KR">
                <a:solidFill>
                  <a:srgbClr val="000000"/>
                </a:solidFill>
                <a:latin typeface="SFMono-Regular"/>
              </a:rPr>
            </a:br>
            <a:r>
              <a:rPr lang="en-US" altLang="ko-KR">
                <a:solidFill>
                  <a:srgbClr val="008000"/>
                </a:solidFill>
                <a:latin typeface="SFMono-Regular"/>
              </a:rPr>
              <a:t># load from disk</a:t>
            </a:r>
            <a:r>
              <a:rPr lang="en-US" altLang="ko-KR">
                <a:solidFill>
                  <a:srgbClr val="000000"/>
                </a:solidFill>
                <a:latin typeface="SFMono-Regular"/>
              </a:rPr>
              <a:t/>
            </a:r>
            <a:br>
              <a:rPr lang="en-US" altLang="ko-KR">
                <a:solidFill>
                  <a:srgbClr val="000000"/>
                </a:solidFill>
                <a:latin typeface="SFMono-Regular"/>
              </a:rPr>
            </a:br>
            <a:r>
              <a:rPr lang="en-US" altLang="ko-KR">
                <a:solidFill>
                  <a:srgbClr val="000000"/>
                </a:solidFill>
                <a:latin typeface="SFMono-Regular"/>
              </a:rPr>
              <a:t>db3 = Chroma</a:t>
            </a:r>
            <a:r>
              <a:rPr lang="en-US" altLang="ko-KR">
                <a:solidFill>
                  <a:srgbClr val="0451A5"/>
                </a:solidFill>
                <a:latin typeface="SFMono-Regular"/>
              </a:rPr>
              <a:t>(</a:t>
            </a:r>
            <a:r>
              <a:rPr lang="en-US" altLang="ko-KR">
                <a:solidFill>
                  <a:srgbClr val="000000"/>
                </a:solidFill>
                <a:latin typeface="SFMono-Regular"/>
              </a:rPr>
              <a:t>persist_directory=</a:t>
            </a:r>
            <a:r>
              <a:rPr lang="en-US" altLang="ko-KR">
                <a:solidFill>
                  <a:srgbClr val="A31515"/>
                </a:solidFill>
                <a:latin typeface="SFMono-Regular"/>
              </a:rPr>
              <a:t>"./chroma_db"</a:t>
            </a:r>
            <a:r>
              <a:rPr lang="en-US" altLang="ko-KR">
                <a:solidFill>
                  <a:srgbClr val="0451A5"/>
                </a:solidFill>
                <a:latin typeface="SFMono-Regular"/>
              </a:rPr>
              <a:t>,</a:t>
            </a:r>
            <a:r>
              <a:rPr lang="en-US" altLang="ko-KR">
                <a:solidFill>
                  <a:srgbClr val="000000"/>
                </a:solidFill>
                <a:latin typeface="SFMono-Regular"/>
              </a:rPr>
              <a:t> embedding_function=embedding_function</a:t>
            </a:r>
            <a:r>
              <a:rPr lang="en-US" altLang="ko-KR">
                <a:solidFill>
                  <a:srgbClr val="0451A5"/>
                </a:solidFill>
                <a:latin typeface="SFMono-Regular"/>
              </a:rPr>
              <a:t>)</a:t>
            </a:r>
            <a:r>
              <a:rPr lang="en-US" altLang="ko-KR">
                <a:solidFill>
                  <a:srgbClr val="000000"/>
                </a:solidFill>
                <a:latin typeface="SFMono-Regular"/>
              </a:rPr>
              <a:t/>
            </a:r>
            <a:br>
              <a:rPr lang="en-US" altLang="ko-KR">
                <a:solidFill>
                  <a:srgbClr val="000000"/>
                </a:solidFill>
                <a:latin typeface="SFMono-Regular"/>
              </a:rPr>
            </a:br>
            <a:r>
              <a:rPr lang="en-US" altLang="ko-KR">
                <a:solidFill>
                  <a:srgbClr val="000000"/>
                </a:solidFill>
                <a:latin typeface="SFMono-Regular"/>
              </a:rPr>
              <a:t>docs = db3</a:t>
            </a:r>
            <a:r>
              <a:rPr lang="en-US" altLang="ko-KR">
                <a:solidFill>
                  <a:srgbClr val="0451A5"/>
                </a:solidFill>
                <a:latin typeface="SFMono-Regular"/>
              </a:rPr>
              <a:t>.</a:t>
            </a:r>
            <a:r>
              <a:rPr lang="en-US" altLang="ko-KR">
                <a:solidFill>
                  <a:srgbClr val="000000"/>
                </a:solidFill>
                <a:latin typeface="SFMono-Regular"/>
              </a:rPr>
              <a:t>similarity_search</a:t>
            </a:r>
            <a:r>
              <a:rPr lang="en-US" altLang="ko-KR">
                <a:solidFill>
                  <a:srgbClr val="0451A5"/>
                </a:solidFill>
                <a:latin typeface="SFMono-Regular"/>
              </a:rPr>
              <a:t>(</a:t>
            </a:r>
            <a:r>
              <a:rPr lang="en-US" altLang="ko-KR">
                <a:solidFill>
                  <a:srgbClr val="000000"/>
                </a:solidFill>
                <a:latin typeface="SFMono-Regular"/>
              </a:rPr>
              <a:t>query</a:t>
            </a:r>
            <a:r>
              <a:rPr lang="en-US" altLang="ko-KR">
                <a:solidFill>
                  <a:srgbClr val="0451A5"/>
                </a:solidFill>
                <a:latin typeface="SFMono-Regular"/>
              </a:rPr>
              <a:t>)</a:t>
            </a:r>
            <a:r>
              <a:rPr lang="en-US" altLang="ko-KR">
                <a:solidFill>
                  <a:srgbClr val="000000"/>
                </a:solidFill>
                <a:latin typeface="SFMono-Regular"/>
              </a:rPr>
              <a:t/>
            </a:r>
            <a:br>
              <a:rPr lang="en-US" altLang="ko-KR">
                <a:solidFill>
                  <a:srgbClr val="000000"/>
                </a:solidFill>
                <a:latin typeface="SFMono-Regular"/>
              </a:rPr>
            </a:br>
            <a:r>
              <a:rPr lang="en-US" altLang="ko-KR">
                <a:solidFill>
                  <a:srgbClr val="0000FF"/>
                </a:solidFill>
                <a:latin typeface="SFMono-Regular"/>
              </a:rPr>
              <a:t>print</a:t>
            </a:r>
            <a:r>
              <a:rPr lang="en-US" altLang="ko-KR">
                <a:solidFill>
                  <a:srgbClr val="0451A5"/>
                </a:solidFill>
                <a:latin typeface="SFMono-Regular"/>
              </a:rPr>
              <a:t>(</a:t>
            </a:r>
            <a:r>
              <a:rPr lang="en-US" altLang="ko-KR">
                <a:solidFill>
                  <a:srgbClr val="000000"/>
                </a:solidFill>
                <a:latin typeface="SFMono-Regular"/>
              </a:rPr>
              <a:t>docs</a:t>
            </a:r>
            <a:r>
              <a:rPr lang="en-US" altLang="ko-KR">
                <a:solidFill>
                  <a:srgbClr val="0451A5"/>
                </a:solidFill>
                <a:latin typeface="SFMono-Regular"/>
              </a:rPr>
              <a:t>[</a:t>
            </a:r>
            <a:r>
              <a:rPr lang="en-US" altLang="ko-KR">
                <a:solidFill>
                  <a:srgbClr val="098658"/>
                </a:solidFill>
                <a:latin typeface="SFMono-Regular"/>
              </a:rPr>
              <a:t>0</a:t>
            </a:r>
            <a:r>
              <a:rPr lang="en-US" altLang="ko-KR">
                <a:solidFill>
                  <a:srgbClr val="0451A5"/>
                </a:solidFill>
                <a:latin typeface="SFMono-Regular"/>
              </a:rPr>
              <a:t>].</a:t>
            </a:r>
            <a:r>
              <a:rPr lang="en-US" altLang="ko-KR">
                <a:solidFill>
                  <a:srgbClr val="000000"/>
                </a:solidFill>
                <a:latin typeface="SFMono-Regular"/>
              </a:rPr>
              <a:t>page_content</a:t>
            </a:r>
            <a:r>
              <a:rPr lang="en-US" altLang="ko-KR">
                <a:solidFill>
                  <a:srgbClr val="0451A5"/>
                </a:solidFill>
                <a:latin typeface="SFMono-Regular"/>
              </a:rPr>
              <a:t>)</a:t>
            </a:r>
            <a:endParaRPr lang="ko-KR" altLang="en-US"/>
          </a:p>
        </p:txBody>
      </p:sp>
      <p:sp>
        <p:nvSpPr>
          <p:cNvPr id="7" name="직사각형 6"/>
          <p:cNvSpPr/>
          <p:nvPr/>
        </p:nvSpPr>
        <p:spPr>
          <a:xfrm>
            <a:off x="352425" y="1266557"/>
            <a:ext cx="4635180" cy="369332"/>
          </a:xfrm>
          <a:prstGeom prst="rect">
            <a:avLst/>
          </a:prstGeom>
        </p:spPr>
        <p:txBody>
          <a:bodyPr wrap="none">
            <a:spAutoFit/>
          </a:bodyPr>
          <a:lstStyle/>
          <a:p>
            <a:r>
              <a:rPr lang="en-US" altLang="ko-KR" b="1">
                <a:solidFill>
                  <a:srgbClr val="1C1E21"/>
                </a:solidFill>
                <a:latin typeface="var(--ifm-heading-font-family)"/>
              </a:rPr>
              <a:t>Basic Example (including saving to disk)</a:t>
            </a:r>
            <a:endParaRPr lang="en-US" altLang="ko-KR" b="1" i="0">
              <a:solidFill>
                <a:srgbClr val="1C1E21"/>
              </a:solidFill>
              <a:effectLst/>
              <a:latin typeface="var(--ifm-heading-font-family)"/>
            </a:endParaRPr>
          </a:p>
        </p:txBody>
      </p:sp>
      <p:sp>
        <p:nvSpPr>
          <p:cNvPr id="8" name="직사각형 7"/>
          <p:cNvSpPr/>
          <p:nvPr/>
        </p:nvSpPr>
        <p:spPr>
          <a:xfrm>
            <a:off x="6315075" y="1176368"/>
            <a:ext cx="6096000" cy="3323987"/>
          </a:xfrm>
          <a:prstGeom prst="rect">
            <a:avLst/>
          </a:prstGeom>
        </p:spPr>
        <p:txBody>
          <a:bodyPr>
            <a:spAutoFit/>
          </a:bodyPr>
          <a:lstStyle/>
          <a:p>
            <a:r>
              <a:rPr lang="en-US" altLang="ko-KR" sz="1400" b="1" smtClean="0">
                <a:solidFill>
                  <a:srgbClr val="000000"/>
                </a:solidFill>
                <a:latin typeface="SFMono-Regular"/>
              </a:rPr>
              <a:t># </a:t>
            </a:r>
            <a:r>
              <a:rPr lang="ko-KR" altLang="en-US" sz="1400" b="1" smtClean="0">
                <a:solidFill>
                  <a:srgbClr val="000000"/>
                </a:solidFill>
                <a:latin typeface="SFMono-Regular"/>
              </a:rPr>
              <a:t>저장없이</a:t>
            </a:r>
            <a:endParaRPr lang="en-US" altLang="ko-KR" sz="1400" b="1" smtClean="0">
              <a:solidFill>
                <a:srgbClr val="000000"/>
              </a:solidFill>
              <a:latin typeface="SFMono-Regular"/>
            </a:endParaRPr>
          </a:p>
          <a:p>
            <a:r>
              <a:rPr lang="en-US" altLang="ko-KR" sz="1400" smtClean="0">
                <a:solidFill>
                  <a:srgbClr val="000000"/>
                </a:solidFill>
                <a:latin typeface="SFMono-Regular"/>
              </a:rPr>
              <a:t>loader </a:t>
            </a:r>
            <a:r>
              <a:rPr lang="en-US" altLang="ko-KR" sz="1400">
                <a:solidFill>
                  <a:srgbClr val="000000"/>
                </a:solidFill>
                <a:latin typeface="SFMono-Regular"/>
              </a:rPr>
              <a:t>= TextLoader</a:t>
            </a:r>
            <a:r>
              <a:rPr lang="en-US" altLang="ko-KR" sz="1400">
                <a:solidFill>
                  <a:srgbClr val="0451A5"/>
                </a:solidFill>
                <a:latin typeface="SFMono-Regular"/>
              </a:rPr>
              <a:t>(</a:t>
            </a:r>
            <a:r>
              <a:rPr lang="en-US" altLang="ko-KR" sz="1400">
                <a:solidFill>
                  <a:srgbClr val="A31515"/>
                </a:solidFill>
                <a:latin typeface="SFMono-Regular"/>
              </a:rPr>
              <a:t>"../../../state_of_the_union.txt"</a:t>
            </a:r>
            <a:r>
              <a:rPr lang="en-US" altLang="ko-KR" sz="1400">
                <a:solidFill>
                  <a:srgbClr val="0451A5"/>
                </a:solidFill>
                <a:latin typeface="SFMono-Regular"/>
              </a:rPr>
              <a:t>)</a:t>
            </a:r>
            <a:r>
              <a:rPr lang="en-US" altLang="ko-KR" sz="1400">
                <a:solidFill>
                  <a:srgbClr val="000000"/>
                </a:solidFill>
                <a:latin typeface="SFMono-Regular"/>
              </a:rPr>
              <a:t/>
            </a:r>
            <a:br>
              <a:rPr lang="en-US" altLang="ko-KR" sz="1400">
                <a:solidFill>
                  <a:srgbClr val="000000"/>
                </a:solidFill>
                <a:latin typeface="SFMono-Regular"/>
              </a:rPr>
            </a:br>
            <a:r>
              <a:rPr lang="en-US" altLang="ko-KR" sz="1400">
                <a:solidFill>
                  <a:srgbClr val="000000"/>
                </a:solidFill>
                <a:latin typeface="SFMono-Regular"/>
              </a:rPr>
              <a:t>documents = loader</a:t>
            </a:r>
            <a:r>
              <a:rPr lang="en-US" altLang="ko-KR" sz="1400">
                <a:solidFill>
                  <a:srgbClr val="0451A5"/>
                </a:solidFill>
                <a:latin typeface="SFMono-Regular"/>
              </a:rPr>
              <a:t>.</a:t>
            </a:r>
            <a:r>
              <a:rPr lang="en-US" altLang="ko-KR" sz="1400">
                <a:solidFill>
                  <a:srgbClr val="000000"/>
                </a:solidFill>
                <a:latin typeface="SFMono-Regular"/>
              </a:rPr>
              <a:t>load</a:t>
            </a:r>
            <a:r>
              <a:rPr lang="en-US" altLang="ko-KR" sz="1400">
                <a:solidFill>
                  <a:srgbClr val="0451A5"/>
                </a:solidFill>
                <a:latin typeface="SFMono-Regular"/>
              </a:rPr>
              <a:t>()</a:t>
            </a:r>
            <a:r>
              <a:rPr lang="en-US" altLang="ko-KR" sz="1400">
                <a:solidFill>
                  <a:srgbClr val="000000"/>
                </a:solidFill>
                <a:latin typeface="SFMono-Regular"/>
              </a:rPr>
              <a:t/>
            </a:r>
            <a:br>
              <a:rPr lang="en-US" altLang="ko-KR" sz="1400">
                <a:solidFill>
                  <a:srgbClr val="000000"/>
                </a:solidFill>
                <a:latin typeface="SFMono-Regular"/>
              </a:rPr>
            </a:br>
            <a:r>
              <a:rPr lang="en-US" altLang="ko-KR" sz="1400">
                <a:solidFill>
                  <a:srgbClr val="000000"/>
                </a:solidFill>
                <a:latin typeface="SFMono-Regular"/>
              </a:rPr>
              <a:t/>
            </a:r>
            <a:br>
              <a:rPr lang="en-US" altLang="ko-KR" sz="1400">
                <a:solidFill>
                  <a:srgbClr val="000000"/>
                </a:solidFill>
                <a:latin typeface="SFMono-Regular"/>
              </a:rPr>
            </a:br>
            <a:r>
              <a:rPr lang="en-US" altLang="ko-KR" sz="1400">
                <a:solidFill>
                  <a:srgbClr val="008000"/>
                </a:solidFill>
                <a:latin typeface="SFMono-Regular"/>
              </a:rPr>
              <a:t># split it into chunks</a:t>
            </a:r>
            <a:r>
              <a:rPr lang="en-US" altLang="ko-KR" sz="1400">
                <a:solidFill>
                  <a:srgbClr val="000000"/>
                </a:solidFill>
                <a:latin typeface="SFMono-Regular"/>
              </a:rPr>
              <a:t/>
            </a:r>
            <a:br>
              <a:rPr lang="en-US" altLang="ko-KR" sz="1400">
                <a:solidFill>
                  <a:srgbClr val="000000"/>
                </a:solidFill>
                <a:latin typeface="SFMono-Regular"/>
              </a:rPr>
            </a:br>
            <a:r>
              <a:rPr lang="en-US" altLang="ko-KR" sz="1400">
                <a:solidFill>
                  <a:srgbClr val="000000"/>
                </a:solidFill>
                <a:latin typeface="SFMono-Regular"/>
              </a:rPr>
              <a:t>text_splitter = CharacterTextSplitter</a:t>
            </a:r>
            <a:r>
              <a:rPr lang="en-US" altLang="ko-KR" sz="1400">
                <a:solidFill>
                  <a:srgbClr val="0451A5"/>
                </a:solidFill>
                <a:latin typeface="SFMono-Regular"/>
              </a:rPr>
              <a:t>(</a:t>
            </a:r>
            <a:r>
              <a:rPr lang="en-US" altLang="ko-KR" sz="1400">
                <a:solidFill>
                  <a:srgbClr val="000000"/>
                </a:solidFill>
                <a:latin typeface="SFMono-Regular"/>
              </a:rPr>
              <a:t>chunk_size=</a:t>
            </a:r>
            <a:r>
              <a:rPr lang="en-US" altLang="ko-KR" sz="1400">
                <a:solidFill>
                  <a:srgbClr val="098658"/>
                </a:solidFill>
                <a:latin typeface="SFMono-Regular"/>
              </a:rPr>
              <a:t>1000</a:t>
            </a:r>
            <a:r>
              <a:rPr lang="en-US" altLang="ko-KR" sz="1400">
                <a:solidFill>
                  <a:srgbClr val="0451A5"/>
                </a:solidFill>
                <a:latin typeface="SFMono-Regular"/>
              </a:rPr>
              <a:t>,</a:t>
            </a:r>
            <a:r>
              <a:rPr lang="en-US" altLang="ko-KR" sz="1400">
                <a:solidFill>
                  <a:srgbClr val="000000"/>
                </a:solidFill>
                <a:latin typeface="SFMono-Regular"/>
              </a:rPr>
              <a:t> chunk_overlap=</a:t>
            </a:r>
            <a:r>
              <a:rPr lang="en-US" altLang="ko-KR" sz="1400">
                <a:solidFill>
                  <a:srgbClr val="098658"/>
                </a:solidFill>
                <a:latin typeface="SFMono-Regular"/>
              </a:rPr>
              <a:t>0</a:t>
            </a:r>
            <a:r>
              <a:rPr lang="en-US" altLang="ko-KR" sz="1400">
                <a:solidFill>
                  <a:srgbClr val="0451A5"/>
                </a:solidFill>
                <a:latin typeface="SFMono-Regular"/>
              </a:rPr>
              <a:t>)</a:t>
            </a:r>
            <a:r>
              <a:rPr lang="en-US" altLang="ko-KR" sz="1400">
                <a:solidFill>
                  <a:srgbClr val="000000"/>
                </a:solidFill>
                <a:latin typeface="SFMono-Regular"/>
              </a:rPr>
              <a:t/>
            </a:r>
            <a:br>
              <a:rPr lang="en-US" altLang="ko-KR" sz="1400">
                <a:solidFill>
                  <a:srgbClr val="000000"/>
                </a:solidFill>
                <a:latin typeface="SFMono-Regular"/>
              </a:rPr>
            </a:br>
            <a:r>
              <a:rPr lang="en-US" altLang="ko-KR" sz="1400">
                <a:solidFill>
                  <a:srgbClr val="000000"/>
                </a:solidFill>
                <a:latin typeface="SFMono-Regular"/>
              </a:rPr>
              <a:t>docs = text_splitter</a:t>
            </a:r>
            <a:r>
              <a:rPr lang="en-US" altLang="ko-KR" sz="1400">
                <a:solidFill>
                  <a:srgbClr val="0451A5"/>
                </a:solidFill>
                <a:latin typeface="SFMono-Regular"/>
              </a:rPr>
              <a:t>.</a:t>
            </a:r>
            <a:r>
              <a:rPr lang="en-US" altLang="ko-KR" sz="1400">
                <a:solidFill>
                  <a:srgbClr val="000000"/>
                </a:solidFill>
                <a:latin typeface="SFMono-Regular"/>
              </a:rPr>
              <a:t>split_documents</a:t>
            </a:r>
            <a:r>
              <a:rPr lang="en-US" altLang="ko-KR" sz="1400">
                <a:solidFill>
                  <a:srgbClr val="0451A5"/>
                </a:solidFill>
                <a:latin typeface="SFMono-Regular"/>
              </a:rPr>
              <a:t>(</a:t>
            </a:r>
            <a:r>
              <a:rPr lang="en-US" altLang="ko-KR" sz="1400">
                <a:solidFill>
                  <a:srgbClr val="000000"/>
                </a:solidFill>
                <a:latin typeface="SFMono-Regular"/>
              </a:rPr>
              <a:t>documents</a:t>
            </a:r>
            <a:r>
              <a:rPr lang="en-US" altLang="ko-KR" sz="1400">
                <a:solidFill>
                  <a:srgbClr val="0451A5"/>
                </a:solidFill>
                <a:latin typeface="SFMono-Regular"/>
              </a:rPr>
              <a:t>)</a:t>
            </a:r>
            <a:r>
              <a:rPr lang="en-US" altLang="ko-KR" sz="1400">
                <a:solidFill>
                  <a:srgbClr val="000000"/>
                </a:solidFill>
                <a:latin typeface="SFMono-Regular"/>
              </a:rPr>
              <a:t/>
            </a:r>
            <a:br>
              <a:rPr lang="en-US" altLang="ko-KR" sz="1400">
                <a:solidFill>
                  <a:srgbClr val="000000"/>
                </a:solidFill>
                <a:latin typeface="SFMono-Regular"/>
              </a:rPr>
            </a:br>
            <a:r>
              <a:rPr lang="en-US" altLang="ko-KR" sz="1400">
                <a:solidFill>
                  <a:srgbClr val="000000"/>
                </a:solidFill>
                <a:latin typeface="SFMono-Regular"/>
              </a:rPr>
              <a:t/>
            </a:r>
            <a:br>
              <a:rPr lang="en-US" altLang="ko-KR" sz="1400">
                <a:solidFill>
                  <a:srgbClr val="000000"/>
                </a:solidFill>
                <a:latin typeface="SFMono-Regular"/>
              </a:rPr>
            </a:br>
            <a:r>
              <a:rPr lang="en-US" altLang="ko-KR" sz="1400">
                <a:solidFill>
                  <a:srgbClr val="008000"/>
                </a:solidFill>
                <a:latin typeface="SFMono-Regular"/>
              </a:rPr>
              <a:t># create the open-source embedding function</a:t>
            </a:r>
            <a:r>
              <a:rPr lang="en-US" altLang="ko-KR" sz="1400">
                <a:solidFill>
                  <a:srgbClr val="000000"/>
                </a:solidFill>
                <a:latin typeface="SFMono-Regular"/>
              </a:rPr>
              <a:t/>
            </a:r>
            <a:br>
              <a:rPr lang="en-US" altLang="ko-KR" sz="1400">
                <a:solidFill>
                  <a:srgbClr val="000000"/>
                </a:solidFill>
                <a:latin typeface="SFMono-Regular"/>
              </a:rPr>
            </a:br>
            <a:r>
              <a:rPr lang="en-US" altLang="ko-KR" sz="1400">
                <a:solidFill>
                  <a:srgbClr val="000000"/>
                </a:solidFill>
                <a:latin typeface="SFMono-Regular"/>
              </a:rPr>
              <a:t>embedding_function = SentenceTransformerEmbeddings</a:t>
            </a:r>
            <a:r>
              <a:rPr lang="en-US" altLang="ko-KR" sz="1400">
                <a:solidFill>
                  <a:srgbClr val="0451A5"/>
                </a:solidFill>
                <a:latin typeface="SFMono-Regular"/>
              </a:rPr>
              <a:t>(</a:t>
            </a:r>
            <a:r>
              <a:rPr lang="en-US" altLang="ko-KR" sz="1400">
                <a:solidFill>
                  <a:srgbClr val="000000"/>
                </a:solidFill>
                <a:latin typeface="SFMono-Regular"/>
              </a:rPr>
              <a:t>model_name=</a:t>
            </a:r>
            <a:r>
              <a:rPr lang="en-US" altLang="ko-KR" sz="1400">
                <a:solidFill>
                  <a:srgbClr val="A31515"/>
                </a:solidFill>
                <a:latin typeface="SFMono-Regular"/>
              </a:rPr>
              <a:t>"all-MiniLM-L6-v2"</a:t>
            </a:r>
            <a:r>
              <a:rPr lang="en-US" altLang="ko-KR" sz="1400">
                <a:solidFill>
                  <a:srgbClr val="0451A5"/>
                </a:solidFill>
                <a:latin typeface="SFMono-Regular"/>
              </a:rPr>
              <a:t>)</a:t>
            </a:r>
            <a:r>
              <a:rPr lang="en-US" altLang="ko-KR" sz="1400">
                <a:solidFill>
                  <a:srgbClr val="000000"/>
                </a:solidFill>
                <a:latin typeface="SFMono-Regular"/>
              </a:rPr>
              <a:t/>
            </a:r>
            <a:br>
              <a:rPr lang="en-US" altLang="ko-KR" sz="1400">
                <a:solidFill>
                  <a:srgbClr val="000000"/>
                </a:solidFill>
                <a:latin typeface="SFMono-Regular"/>
              </a:rPr>
            </a:br>
            <a:r>
              <a:rPr lang="en-US" altLang="ko-KR" sz="1400">
                <a:solidFill>
                  <a:srgbClr val="000000"/>
                </a:solidFill>
                <a:latin typeface="SFMono-Regular"/>
              </a:rPr>
              <a:t/>
            </a:r>
            <a:br>
              <a:rPr lang="en-US" altLang="ko-KR" sz="1400">
                <a:solidFill>
                  <a:srgbClr val="000000"/>
                </a:solidFill>
                <a:latin typeface="SFMono-Regular"/>
              </a:rPr>
            </a:br>
            <a:r>
              <a:rPr lang="en-US" altLang="ko-KR" sz="1400">
                <a:solidFill>
                  <a:srgbClr val="008000"/>
                </a:solidFill>
                <a:latin typeface="SFMono-Regular"/>
              </a:rPr>
              <a:t># load it into Chroma</a:t>
            </a:r>
            <a:r>
              <a:rPr lang="en-US" altLang="ko-KR" sz="1400">
                <a:solidFill>
                  <a:srgbClr val="000000"/>
                </a:solidFill>
                <a:latin typeface="SFMono-Regular"/>
              </a:rPr>
              <a:t/>
            </a:r>
            <a:br>
              <a:rPr lang="en-US" altLang="ko-KR" sz="1400">
                <a:solidFill>
                  <a:srgbClr val="000000"/>
                </a:solidFill>
                <a:latin typeface="SFMono-Regular"/>
              </a:rPr>
            </a:br>
            <a:r>
              <a:rPr lang="en-US" altLang="ko-KR" sz="1400">
                <a:solidFill>
                  <a:srgbClr val="000000"/>
                </a:solidFill>
                <a:latin typeface="SFMono-Regular"/>
              </a:rPr>
              <a:t>db = Chroma</a:t>
            </a:r>
            <a:r>
              <a:rPr lang="en-US" altLang="ko-KR" sz="1400">
                <a:solidFill>
                  <a:srgbClr val="0451A5"/>
                </a:solidFill>
                <a:latin typeface="SFMono-Regular"/>
              </a:rPr>
              <a:t>.</a:t>
            </a:r>
            <a:r>
              <a:rPr lang="en-US" altLang="ko-KR" sz="1400">
                <a:solidFill>
                  <a:srgbClr val="000000"/>
                </a:solidFill>
                <a:latin typeface="SFMono-Regular"/>
              </a:rPr>
              <a:t>from_documents</a:t>
            </a:r>
            <a:r>
              <a:rPr lang="en-US" altLang="ko-KR" sz="1400">
                <a:solidFill>
                  <a:srgbClr val="0451A5"/>
                </a:solidFill>
                <a:latin typeface="SFMono-Regular"/>
              </a:rPr>
              <a:t>(</a:t>
            </a:r>
            <a:r>
              <a:rPr lang="en-US" altLang="ko-KR" sz="1400">
                <a:solidFill>
                  <a:srgbClr val="000000"/>
                </a:solidFill>
                <a:latin typeface="SFMono-Regular"/>
              </a:rPr>
              <a:t>docs</a:t>
            </a:r>
            <a:r>
              <a:rPr lang="en-US" altLang="ko-KR" sz="1400">
                <a:solidFill>
                  <a:srgbClr val="0451A5"/>
                </a:solidFill>
                <a:latin typeface="SFMono-Regular"/>
              </a:rPr>
              <a:t>,</a:t>
            </a:r>
            <a:r>
              <a:rPr lang="en-US" altLang="ko-KR" sz="1400">
                <a:solidFill>
                  <a:srgbClr val="000000"/>
                </a:solidFill>
                <a:latin typeface="SFMono-Regular"/>
              </a:rPr>
              <a:t> embedding_function</a:t>
            </a:r>
            <a:r>
              <a:rPr lang="en-US" altLang="ko-KR" sz="1400">
                <a:solidFill>
                  <a:srgbClr val="0451A5"/>
                </a:solidFill>
                <a:latin typeface="SFMono-Regular"/>
              </a:rPr>
              <a:t>)</a:t>
            </a:r>
            <a:endParaRPr lang="ko-KR" altLang="en-US" sz="1400"/>
          </a:p>
        </p:txBody>
      </p:sp>
    </p:spTree>
    <p:extLst>
      <p:ext uri="{BB962C8B-B14F-4D97-AF65-F5344CB8AC3E}">
        <p14:creationId xmlns:p14="http://schemas.microsoft.com/office/powerpoint/2010/main" val="1880719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276224" y="172135"/>
            <a:ext cx="11382375" cy="369332"/>
          </a:xfrm>
          <a:prstGeom prst="rect">
            <a:avLst/>
          </a:prstGeom>
        </p:spPr>
        <p:txBody>
          <a:bodyPr wrap="square">
            <a:spAutoFit/>
          </a:bodyPr>
          <a:lstStyle/>
          <a:p>
            <a:r>
              <a:rPr lang="en-US" altLang="ko-KR" smtClean="0"/>
              <a:t>langchain / chromadb </a:t>
            </a:r>
            <a:r>
              <a:rPr lang="ko-KR" altLang="en-US" smtClean="0"/>
              <a:t>메뉴얼 </a:t>
            </a:r>
            <a:r>
              <a:rPr lang="en-US" altLang="ko-KR" smtClean="0"/>
              <a:t>- 2</a:t>
            </a:r>
          </a:p>
        </p:txBody>
      </p:sp>
      <p:sp>
        <p:nvSpPr>
          <p:cNvPr id="5" name="직사각형 4"/>
          <p:cNvSpPr/>
          <p:nvPr/>
        </p:nvSpPr>
        <p:spPr>
          <a:xfrm>
            <a:off x="276223" y="541467"/>
            <a:ext cx="11382375" cy="369332"/>
          </a:xfrm>
          <a:prstGeom prst="rect">
            <a:avLst/>
          </a:prstGeom>
        </p:spPr>
        <p:txBody>
          <a:bodyPr wrap="square">
            <a:spAutoFit/>
          </a:bodyPr>
          <a:lstStyle/>
          <a:p>
            <a:r>
              <a:rPr lang="ko-KR" altLang="en-US"/>
              <a:t>https://python.langchain.com/docs/integrations/vectorstores/chroma</a:t>
            </a:r>
          </a:p>
        </p:txBody>
      </p:sp>
      <p:sp>
        <p:nvSpPr>
          <p:cNvPr id="2" name="직사각형 1"/>
          <p:cNvSpPr/>
          <p:nvPr/>
        </p:nvSpPr>
        <p:spPr>
          <a:xfrm>
            <a:off x="276223" y="1095465"/>
            <a:ext cx="2256900" cy="369332"/>
          </a:xfrm>
          <a:prstGeom prst="rect">
            <a:avLst/>
          </a:prstGeom>
        </p:spPr>
        <p:txBody>
          <a:bodyPr wrap="none">
            <a:spAutoFit/>
          </a:bodyPr>
          <a:lstStyle/>
          <a:p>
            <a:r>
              <a:rPr lang="en-US" altLang="ko-KR" b="1">
                <a:solidFill>
                  <a:srgbClr val="1C1E21"/>
                </a:solidFill>
                <a:latin typeface="var(--ifm-heading-font-family)"/>
              </a:rPr>
              <a:t>Update and Delete</a:t>
            </a:r>
            <a:endParaRPr lang="en-US" altLang="ko-KR" b="1" i="0">
              <a:solidFill>
                <a:srgbClr val="1C1E21"/>
              </a:solidFill>
              <a:effectLst/>
              <a:latin typeface="var(--ifm-heading-font-family)"/>
            </a:endParaRPr>
          </a:p>
        </p:txBody>
      </p:sp>
      <p:sp>
        <p:nvSpPr>
          <p:cNvPr id="9" name="직사각형 8"/>
          <p:cNvSpPr/>
          <p:nvPr/>
        </p:nvSpPr>
        <p:spPr>
          <a:xfrm>
            <a:off x="457198" y="1570226"/>
            <a:ext cx="6096000" cy="4401205"/>
          </a:xfrm>
          <a:prstGeom prst="rect">
            <a:avLst/>
          </a:prstGeom>
        </p:spPr>
        <p:txBody>
          <a:bodyPr>
            <a:spAutoFit/>
          </a:bodyPr>
          <a:lstStyle/>
          <a:p>
            <a:r>
              <a:rPr lang="ko-KR" altLang="en-US" sz="1000"/>
              <a:t># create simple ids</a:t>
            </a:r>
          </a:p>
          <a:p>
            <a:r>
              <a:rPr lang="ko-KR" altLang="en-US" sz="1000"/>
              <a:t>ids = [str(i) for i in range(1, len(docs) + 1)]</a:t>
            </a:r>
          </a:p>
          <a:p>
            <a:endParaRPr lang="ko-KR" altLang="en-US" sz="1000"/>
          </a:p>
          <a:p>
            <a:r>
              <a:rPr lang="ko-KR" altLang="en-US" sz="1000"/>
              <a:t># add data</a:t>
            </a:r>
          </a:p>
          <a:p>
            <a:r>
              <a:rPr lang="ko-KR" altLang="en-US" sz="1000"/>
              <a:t>example_db = Chroma.from_documents(docs, embedding_function, ids=ids)</a:t>
            </a:r>
          </a:p>
          <a:p>
            <a:r>
              <a:rPr lang="ko-KR" altLang="en-US" sz="1000"/>
              <a:t>docs = example_db.similarity_search(query)</a:t>
            </a:r>
          </a:p>
          <a:p>
            <a:r>
              <a:rPr lang="ko-KR" altLang="en-US" sz="1000"/>
              <a:t>print(docs[0].metadata)</a:t>
            </a:r>
          </a:p>
          <a:p>
            <a:endParaRPr lang="ko-KR" altLang="en-US" sz="1000"/>
          </a:p>
          <a:p>
            <a:r>
              <a:rPr lang="ko-KR" altLang="en-US" sz="1000"/>
              <a:t># update the metadata for a document</a:t>
            </a:r>
          </a:p>
          <a:p>
            <a:r>
              <a:rPr lang="ko-KR" altLang="en-US" sz="1000"/>
              <a:t>docs[0].metadata = {</a:t>
            </a:r>
          </a:p>
          <a:p>
            <a:r>
              <a:rPr lang="ko-KR" altLang="en-US" sz="1000"/>
              <a:t>    "source": "../../../state_of_the_union.txt",</a:t>
            </a:r>
          </a:p>
          <a:p>
            <a:r>
              <a:rPr lang="ko-KR" altLang="en-US" sz="1000"/>
              <a:t>    "new_value": "hello world",</a:t>
            </a:r>
          </a:p>
          <a:p>
            <a:r>
              <a:rPr lang="ko-KR" altLang="en-US" sz="1000"/>
              <a:t>}</a:t>
            </a:r>
          </a:p>
          <a:p>
            <a:r>
              <a:rPr lang="ko-KR" altLang="en-US" sz="1000"/>
              <a:t>example_db.update_document(ids[0], docs[0])</a:t>
            </a:r>
          </a:p>
          <a:p>
            <a:r>
              <a:rPr lang="ko-KR" altLang="en-US" sz="1000"/>
              <a:t>print(example_db._collection.get(ids=[ids[0]]))</a:t>
            </a:r>
          </a:p>
          <a:p>
            <a:endParaRPr lang="ko-KR" altLang="en-US" sz="1000"/>
          </a:p>
          <a:p>
            <a:r>
              <a:rPr lang="ko-KR" altLang="en-US" sz="1000"/>
              <a:t># delete the last document</a:t>
            </a:r>
          </a:p>
          <a:p>
            <a:r>
              <a:rPr lang="ko-KR" altLang="en-US" sz="1000"/>
              <a:t>print("count before", example_db._collection.count())</a:t>
            </a:r>
          </a:p>
          <a:p>
            <a:r>
              <a:rPr lang="ko-KR" altLang="en-US" sz="1000"/>
              <a:t>example_db._collection.delete(ids=[ids[-1]])</a:t>
            </a:r>
          </a:p>
          <a:p>
            <a:r>
              <a:rPr lang="ko-KR" altLang="en-US" sz="1000"/>
              <a:t>print("count after", example_db._collection.count())</a:t>
            </a:r>
          </a:p>
          <a:p>
            <a:endParaRPr lang="ko-KR" altLang="en-US" sz="1000"/>
          </a:p>
          <a:p>
            <a:r>
              <a:rPr lang="ko-KR" altLang="en-US" sz="1000"/>
              <a:t>    {'source': '../../../state_of_the_union.txt'}</a:t>
            </a:r>
          </a:p>
          <a:p>
            <a:r>
              <a:rPr lang="ko-KR" altLang="en-US" sz="1000"/>
              <a:t>    {'ids': ['1'], 'embeddings': None, 'metadatas': [{'new_value': 'hello world', 'source': '../../../state_of_the_union.txt'}], 'documents': ['Tonight. I call on the Senate to: Pass the Freedom to Vote Act. Pass ..... of Appeals Judge Ketanji Brown Jackson. One of our nation’s top legal minds, who will continue Justice Breyer’s legacy of excellence.']}</a:t>
            </a:r>
          </a:p>
          <a:p>
            <a:r>
              <a:rPr lang="ko-KR" altLang="en-US" sz="1000"/>
              <a:t>    count before 46</a:t>
            </a:r>
          </a:p>
          <a:p>
            <a:r>
              <a:rPr lang="ko-KR" altLang="en-US" sz="1000"/>
              <a:t>    count after 45</a:t>
            </a:r>
          </a:p>
        </p:txBody>
      </p:sp>
    </p:spTree>
    <p:extLst>
      <p:ext uri="{BB962C8B-B14F-4D97-AF65-F5344CB8AC3E}">
        <p14:creationId xmlns:p14="http://schemas.microsoft.com/office/powerpoint/2010/main" val="3973557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152398" y="1575059"/>
            <a:ext cx="4848227" cy="1015663"/>
          </a:xfrm>
          <a:prstGeom prst="rect">
            <a:avLst/>
          </a:prstGeom>
        </p:spPr>
        <p:txBody>
          <a:bodyPr wrap="square">
            <a:spAutoFit/>
          </a:bodyPr>
          <a:lstStyle/>
          <a:p>
            <a:r>
              <a:rPr lang="en-US" altLang="ko-KR" sz="1200">
                <a:latin typeface="Courier 10 Pitch"/>
              </a:rPr>
              <a:t>embedder = embedding_functions.SentenceTransformerEmbeddingFunction( model_name= 'all-mpnet-base-v2' ) client. create_collection( name="test", embedding_function=embedder, get_or_create = True )</a:t>
            </a:r>
            <a:endParaRPr lang="ko-KR" altLang="en-US" sz="1200"/>
          </a:p>
        </p:txBody>
      </p:sp>
      <p:sp>
        <p:nvSpPr>
          <p:cNvPr id="5" name="직사각형 4"/>
          <p:cNvSpPr/>
          <p:nvPr/>
        </p:nvSpPr>
        <p:spPr>
          <a:xfrm>
            <a:off x="500063" y="161276"/>
            <a:ext cx="6096000" cy="923330"/>
          </a:xfrm>
          <a:prstGeom prst="rect">
            <a:avLst/>
          </a:prstGeom>
        </p:spPr>
        <p:txBody>
          <a:bodyPr>
            <a:spAutoFit/>
          </a:bodyPr>
          <a:lstStyle/>
          <a:p>
            <a:r>
              <a:rPr lang="en-US" altLang="ko-KR" smtClean="0"/>
              <a:t>collection create / get / get_creat</a:t>
            </a:r>
          </a:p>
          <a:p>
            <a:r>
              <a:rPr lang="ko-KR" altLang="en-US" smtClean="0"/>
              <a:t>https</a:t>
            </a:r>
            <a:r>
              <a:rPr lang="ko-KR" altLang="en-US"/>
              <a:t>://anderfernandez.com/en/blog/chroma-vector-database-tutorial/</a:t>
            </a:r>
          </a:p>
        </p:txBody>
      </p:sp>
      <p:sp>
        <p:nvSpPr>
          <p:cNvPr id="6" name="직사각형 5"/>
          <p:cNvSpPr/>
          <p:nvPr/>
        </p:nvSpPr>
        <p:spPr>
          <a:xfrm>
            <a:off x="152398" y="2555965"/>
            <a:ext cx="2887329" cy="276999"/>
          </a:xfrm>
          <a:prstGeom prst="rect">
            <a:avLst/>
          </a:prstGeom>
        </p:spPr>
        <p:txBody>
          <a:bodyPr wrap="none">
            <a:spAutoFit/>
          </a:bodyPr>
          <a:lstStyle/>
          <a:p>
            <a:r>
              <a:rPr lang="en-US" altLang="ko-KR" sz="1200">
                <a:latin typeface="Courier 10 Pitch"/>
              </a:rPr>
              <a:t>client.delete_collection(name = 'test')</a:t>
            </a:r>
            <a:endParaRPr lang="ko-KR" altLang="en-US" sz="1200"/>
          </a:p>
        </p:txBody>
      </p:sp>
      <p:sp>
        <p:nvSpPr>
          <p:cNvPr id="7" name="직사각형 6"/>
          <p:cNvSpPr/>
          <p:nvPr/>
        </p:nvSpPr>
        <p:spPr>
          <a:xfrm>
            <a:off x="152398" y="2762486"/>
            <a:ext cx="5000627" cy="3600986"/>
          </a:xfrm>
          <a:prstGeom prst="rect">
            <a:avLst/>
          </a:prstGeom>
        </p:spPr>
        <p:txBody>
          <a:bodyPr wrap="square">
            <a:spAutoFit/>
          </a:bodyPr>
          <a:lstStyle/>
          <a:p>
            <a:r>
              <a:rPr lang="en-US" altLang="ko-KR" sz="1200">
                <a:latin typeface="Courier 10 Pitch"/>
              </a:rPr>
              <a:t>cleaned_df = (</a:t>
            </a:r>
          </a:p>
          <a:p>
            <a:r>
              <a:rPr lang="en-US" altLang="ko-KR" sz="1200">
                <a:latin typeface="Courier 10 Pitch"/>
              </a:rPr>
              <a:t>    df</a:t>
            </a:r>
          </a:p>
          <a:p>
            <a:r>
              <a:rPr lang="en-US" altLang="ko-KR" sz="1200">
                <a:latin typeface="Courier 10 Pitch"/>
              </a:rPr>
              <a:t>    .query("~company_summary.isnull()")</a:t>
            </a:r>
          </a:p>
          <a:p>
            <a:r>
              <a:rPr lang="en-US" altLang="ko-KR" sz="1200">
                <a:latin typeface="Courier 10 Pitch"/>
              </a:rPr>
              <a:t>    .assign(</a:t>
            </a:r>
          </a:p>
          <a:p>
            <a:r>
              <a:rPr lang="en-US" altLang="ko-KR" sz="1200">
                <a:latin typeface="Courier 10 Pitch"/>
              </a:rPr>
              <a:t>        date_founded = lambda x: x['Founded'].str.replace('\(.*\)|/.*', '', regex = True).astype(int),</a:t>
            </a:r>
          </a:p>
          <a:p>
            <a:r>
              <a:rPr lang="en-US" altLang="ko-KR" sz="1200">
                <a:latin typeface="Courier 10 Pitch"/>
              </a:rPr>
              <a:t>        date_added = lambda x: pd.to_datetime(x['Date added'], errors='ignore') </a:t>
            </a:r>
          </a:p>
          <a:p>
            <a:r>
              <a:rPr lang="en-US" altLang="ko-KR" sz="1200">
                <a:latin typeface="Courier 10 Pitch"/>
              </a:rPr>
              <a:t>    )</a:t>
            </a:r>
          </a:p>
          <a:p>
            <a:r>
              <a:rPr lang="en-US" altLang="ko-KR" sz="1200">
                <a:latin typeface="Courier 10 Pitch"/>
              </a:rPr>
              <a:t>    [['Security', 'GICS Sector', 'GICS Sub-Industry', 'date_founded', 'date_added', 'company_summary']]</a:t>
            </a:r>
          </a:p>
          <a:p>
            <a:r>
              <a:rPr lang="en-US" altLang="ko-KR" sz="1200">
                <a:latin typeface="Courier 10 Pitch"/>
              </a:rPr>
              <a:t>    .dropna()</a:t>
            </a:r>
          </a:p>
          <a:p>
            <a:r>
              <a:rPr lang="en-US" altLang="ko-KR" sz="1200">
                <a:latin typeface="Courier 10 Pitch"/>
              </a:rPr>
              <a:t>    .reset_index(drop=True)</a:t>
            </a:r>
          </a:p>
          <a:p>
            <a:r>
              <a:rPr lang="en-US" altLang="ko-KR" sz="1200">
                <a:latin typeface="Courier 10 Pitch"/>
              </a:rPr>
              <a:t>)</a:t>
            </a:r>
          </a:p>
          <a:p>
            <a:endParaRPr lang="en-US" altLang="ko-KR" sz="1200">
              <a:latin typeface="Courier 10 Pitch"/>
            </a:endParaRPr>
          </a:p>
          <a:p>
            <a:r>
              <a:rPr lang="en-US" altLang="ko-KR" sz="1200">
                <a:latin typeface="Courier 10 Pitch"/>
              </a:rPr>
              <a:t>documents = cleaned_df['company_summary'].tolist()</a:t>
            </a:r>
          </a:p>
          <a:p>
            <a:r>
              <a:rPr lang="en-US" altLang="ko-KR" sz="1200">
                <a:latin typeface="Courier 10 Pitch"/>
              </a:rPr>
              <a:t>ids = cleaned_df.index.astype(str).tolist()</a:t>
            </a:r>
          </a:p>
          <a:p>
            <a:r>
              <a:rPr lang="en-US" altLang="ko-KR" sz="1200">
                <a:latin typeface="Courier 10 Pitch"/>
              </a:rPr>
              <a:t>metadata = cleaned_df.drop('company_summary', axis = 1).to_dict(orient = 'records') </a:t>
            </a:r>
            <a:endParaRPr lang="ko-KR" altLang="en-US" sz="1200"/>
          </a:p>
        </p:txBody>
      </p:sp>
      <p:sp>
        <p:nvSpPr>
          <p:cNvPr id="8" name="직사각형 7"/>
          <p:cNvSpPr/>
          <p:nvPr/>
        </p:nvSpPr>
        <p:spPr>
          <a:xfrm>
            <a:off x="5153025" y="3028412"/>
            <a:ext cx="3495675" cy="3416320"/>
          </a:xfrm>
          <a:prstGeom prst="rect">
            <a:avLst/>
          </a:prstGeom>
        </p:spPr>
        <p:txBody>
          <a:bodyPr wrap="square">
            <a:spAutoFit/>
          </a:bodyPr>
          <a:lstStyle/>
          <a:p>
            <a:r>
              <a:rPr lang="en-US" altLang="ko-KR" sz="1200">
                <a:latin typeface="Courier 10 Pitch"/>
              </a:rPr>
              <a:t>collection.add(</a:t>
            </a:r>
          </a:p>
          <a:p>
            <a:r>
              <a:rPr lang="en-US" altLang="ko-KR" sz="1200">
                <a:latin typeface="Courier 10 Pitch"/>
              </a:rPr>
              <a:t>     ids = ids,</a:t>
            </a:r>
          </a:p>
          <a:p>
            <a:r>
              <a:rPr lang="en-US" altLang="ko-KR" sz="1200">
                <a:latin typeface="Courier 10 Pitch"/>
              </a:rPr>
              <a:t>     documents=documents,</a:t>
            </a:r>
          </a:p>
          <a:p>
            <a:r>
              <a:rPr lang="en-US" altLang="ko-KR" sz="1200">
                <a:latin typeface="Courier 10 Pitch"/>
              </a:rPr>
              <a:t>     metadatas=metadata</a:t>
            </a:r>
          </a:p>
          <a:p>
            <a:r>
              <a:rPr lang="en-US" altLang="ko-KR" sz="1200" smtClean="0">
                <a:latin typeface="Courier 10 Pitch"/>
              </a:rPr>
              <a:t>)</a:t>
            </a:r>
          </a:p>
          <a:p>
            <a:endParaRPr lang="en-US" altLang="ko-KR" sz="1200">
              <a:latin typeface="Courier 10 Pitch"/>
            </a:endParaRPr>
          </a:p>
          <a:p>
            <a:r>
              <a:rPr lang="en-US" altLang="ko-KR" sz="1200"/>
              <a:t>results = collection.query(</a:t>
            </a:r>
          </a:p>
          <a:p>
            <a:r>
              <a:rPr lang="en-US" altLang="ko-KR" sz="1200"/>
              <a:t>    query_texts="phone manufacturers", </a:t>
            </a:r>
          </a:p>
          <a:p>
            <a:r>
              <a:rPr lang="en-US" altLang="ko-KR" sz="1200"/>
              <a:t>    n_results=5</a:t>
            </a:r>
          </a:p>
          <a:p>
            <a:r>
              <a:rPr lang="en-US" altLang="ko-KR" sz="1200"/>
              <a:t>)</a:t>
            </a:r>
          </a:p>
          <a:p>
            <a:endParaRPr lang="en-US" altLang="ko-KR" sz="1200"/>
          </a:p>
          <a:p>
            <a:r>
              <a:rPr lang="en-US" altLang="ko-KR" sz="1200" smtClean="0"/>
              <a:t>results</a:t>
            </a:r>
          </a:p>
          <a:p>
            <a:endParaRPr lang="en-US" altLang="ko-KR" sz="1200"/>
          </a:p>
          <a:p>
            <a:r>
              <a:rPr lang="en-US" altLang="ko-KR" sz="1200"/>
              <a:t>collection.query(</a:t>
            </a:r>
          </a:p>
          <a:p>
            <a:r>
              <a:rPr lang="en-US" altLang="ko-KR" sz="1200"/>
              <a:t>    query_texts="phone manufacturers", </a:t>
            </a:r>
          </a:p>
          <a:p>
            <a:r>
              <a:rPr lang="en-US" altLang="ko-KR" sz="1200"/>
              <a:t>    n_results=5, </a:t>
            </a:r>
          </a:p>
          <a:p>
            <a:r>
              <a:rPr lang="en-US" altLang="ko-KR" sz="1200"/>
              <a:t>    where = {'GICS Sector': 'Information Technology'}</a:t>
            </a:r>
            <a:endParaRPr lang="ko-KR" altLang="en-US" sz="1200"/>
          </a:p>
        </p:txBody>
      </p:sp>
      <p:sp>
        <p:nvSpPr>
          <p:cNvPr id="9" name="직사각형 8"/>
          <p:cNvSpPr/>
          <p:nvPr/>
        </p:nvSpPr>
        <p:spPr>
          <a:xfrm>
            <a:off x="8191500" y="489659"/>
            <a:ext cx="3638550" cy="1384995"/>
          </a:xfrm>
          <a:prstGeom prst="rect">
            <a:avLst/>
          </a:prstGeom>
        </p:spPr>
        <p:txBody>
          <a:bodyPr wrap="square">
            <a:spAutoFit/>
          </a:bodyPr>
          <a:lstStyle/>
          <a:p>
            <a:pPr fontAlgn="base">
              <a:buFont typeface="Arial" panose="020B0604020202020204" pitchFamily="34" charset="0"/>
              <a:buChar char="•"/>
            </a:pPr>
            <a:r>
              <a:rPr lang="en-US" altLang="ko-KR" sz="1400">
                <a:solidFill>
                  <a:srgbClr val="334155"/>
                </a:solidFill>
                <a:latin typeface="-apple-system"/>
              </a:rPr>
              <a:t>$eq: equal to (previously used).</a:t>
            </a:r>
          </a:p>
          <a:p>
            <a:pPr fontAlgn="base">
              <a:buFont typeface="Arial" panose="020B0604020202020204" pitchFamily="34" charset="0"/>
              <a:buChar char="•"/>
            </a:pPr>
            <a:r>
              <a:rPr lang="en-US" altLang="ko-KR" sz="1400">
                <a:solidFill>
                  <a:srgbClr val="334155"/>
                </a:solidFill>
                <a:latin typeface="-apple-system"/>
              </a:rPr>
              <a:t>$ne: not equal to.</a:t>
            </a:r>
          </a:p>
          <a:p>
            <a:pPr fontAlgn="base">
              <a:buFont typeface="Arial" panose="020B0604020202020204" pitchFamily="34" charset="0"/>
              <a:buChar char="•"/>
            </a:pPr>
            <a:r>
              <a:rPr lang="en-US" altLang="ko-KR" sz="1400">
                <a:solidFill>
                  <a:srgbClr val="334155"/>
                </a:solidFill>
                <a:latin typeface="-apple-system"/>
              </a:rPr>
              <a:t>$gt: greater than.</a:t>
            </a:r>
          </a:p>
          <a:p>
            <a:pPr fontAlgn="base">
              <a:buFont typeface="Arial" panose="020B0604020202020204" pitchFamily="34" charset="0"/>
              <a:buChar char="•"/>
            </a:pPr>
            <a:r>
              <a:rPr lang="en-US" altLang="ko-KR" sz="1400">
                <a:solidFill>
                  <a:srgbClr val="334155"/>
                </a:solidFill>
                <a:latin typeface="-apple-system"/>
              </a:rPr>
              <a:t>$gte: greater than or equal to.</a:t>
            </a:r>
          </a:p>
          <a:p>
            <a:pPr fontAlgn="base">
              <a:buFont typeface="Arial" panose="020B0604020202020204" pitchFamily="34" charset="0"/>
              <a:buChar char="•"/>
            </a:pPr>
            <a:r>
              <a:rPr lang="en-US" altLang="ko-KR" sz="1400">
                <a:solidFill>
                  <a:srgbClr val="334155"/>
                </a:solidFill>
                <a:latin typeface="-apple-system"/>
              </a:rPr>
              <a:t>$lt: less than.</a:t>
            </a:r>
          </a:p>
          <a:p>
            <a:pPr fontAlgn="base">
              <a:buFont typeface="Arial" panose="020B0604020202020204" pitchFamily="34" charset="0"/>
              <a:buChar char="•"/>
            </a:pPr>
            <a:r>
              <a:rPr lang="en-US" altLang="ko-KR" sz="1400">
                <a:solidFill>
                  <a:srgbClr val="334155"/>
                </a:solidFill>
                <a:latin typeface="-apple-system"/>
              </a:rPr>
              <a:t>$lte: less than or equal to.</a:t>
            </a:r>
            <a:endParaRPr lang="en-US" altLang="ko-KR" sz="1400" b="0" i="0">
              <a:solidFill>
                <a:srgbClr val="334155"/>
              </a:solidFill>
              <a:effectLst/>
              <a:latin typeface="-apple-system"/>
            </a:endParaRPr>
          </a:p>
        </p:txBody>
      </p:sp>
      <p:sp>
        <p:nvSpPr>
          <p:cNvPr id="10" name="직사각형 9"/>
          <p:cNvSpPr/>
          <p:nvPr/>
        </p:nvSpPr>
        <p:spPr>
          <a:xfrm>
            <a:off x="8191500" y="2082890"/>
            <a:ext cx="3752848" cy="2800767"/>
          </a:xfrm>
          <a:prstGeom prst="rect">
            <a:avLst/>
          </a:prstGeom>
        </p:spPr>
        <p:txBody>
          <a:bodyPr wrap="square">
            <a:spAutoFit/>
          </a:bodyPr>
          <a:lstStyle/>
          <a:p>
            <a:r>
              <a:rPr lang="ko-KR" altLang="en-US" sz="1100"/>
              <a:t>where_clause = {</a:t>
            </a:r>
          </a:p>
          <a:p>
            <a:r>
              <a:rPr lang="ko-KR" altLang="en-US" sz="1100"/>
              <a:t>    "$and" : [</a:t>
            </a:r>
          </a:p>
          <a:p>
            <a:r>
              <a:rPr lang="ko-KR" altLang="en-US" sz="1100"/>
              <a:t>        {"GICS Sector" : {"$eq": "Information Technology"}}, </a:t>
            </a:r>
          </a:p>
          <a:p>
            <a:r>
              <a:rPr lang="ko-KR" altLang="en-US" sz="1100"/>
              <a:t>        {"date_founded": {"$gte": 1990}}</a:t>
            </a:r>
          </a:p>
          <a:p>
            <a:r>
              <a:rPr lang="ko-KR" altLang="en-US" sz="1100"/>
              <a:t>    ]</a:t>
            </a:r>
          </a:p>
          <a:p>
            <a:r>
              <a:rPr lang="ko-KR" altLang="en-US" sz="1100"/>
              <a:t>}</a:t>
            </a:r>
          </a:p>
          <a:p>
            <a:endParaRPr lang="ko-KR" altLang="en-US" sz="1100"/>
          </a:p>
          <a:p>
            <a:r>
              <a:rPr lang="ko-KR" altLang="en-US" sz="1100"/>
              <a:t>results = collection.query(</a:t>
            </a:r>
          </a:p>
          <a:p>
            <a:r>
              <a:rPr lang="ko-KR" altLang="en-US" sz="1100"/>
              <a:t>    query_texts="phone manufacturers", </a:t>
            </a:r>
          </a:p>
          <a:p>
            <a:r>
              <a:rPr lang="ko-KR" altLang="en-US" sz="1100"/>
              <a:t>    n_results=5, </a:t>
            </a:r>
          </a:p>
          <a:p>
            <a:r>
              <a:rPr lang="ko-KR" altLang="en-US" sz="1100"/>
              <a:t>    where = where_clause</a:t>
            </a:r>
          </a:p>
          <a:p>
            <a:r>
              <a:rPr lang="ko-KR" altLang="en-US" sz="1100"/>
              <a:t>)</a:t>
            </a:r>
          </a:p>
          <a:p>
            <a:endParaRPr lang="ko-KR" altLang="en-US" sz="1100"/>
          </a:p>
          <a:p>
            <a:r>
              <a:rPr lang="ko-KR" altLang="en-US" sz="1100"/>
              <a:t>[(el['Security'], el['GICS Sector'], el['date_founded']) for el in results['metadatas'][0]]</a:t>
            </a:r>
          </a:p>
        </p:txBody>
      </p:sp>
      <p:sp>
        <p:nvSpPr>
          <p:cNvPr id="11" name="직사각형 10"/>
          <p:cNvSpPr/>
          <p:nvPr/>
        </p:nvSpPr>
        <p:spPr>
          <a:xfrm>
            <a:off x="8343898" y="5091893"/>
            <a:ext cx="3448051" cy="861774"/>
          </a:xfrm>
          <a:prstGeom prst="rect">
            <a:avLst/>
          </a:prstGeom>
        </p:spPr>
        <p:txBody>
          <a:bodyPr wrap="square">
            <a:spAutoFit/>
          </a:bodyPr>
          <a:lstStyle/>
          <a:p>
            <a:r>
              <a:rPr lang="ko-KR" altLang="en-US" sz="1000"/>
              <a:t>[('Qorvo', 'Information Technology', 2015),</a:t>
            </a:r>
          </a:p>
          <a:p>
            <a:r>
              <a:rPr lang="ko-KR" altLang="en-US" sz="1000"/>
              <a:t> ('Nvidia', 'Information Technology', 1993),</a:t>
            </a:r>
          </a:p>
          <a:p>
            <a:r>
              <a:rPr lang="ko-KR" altLang="en-US" sz="1000"/>
              <a:t> ('ON Semiconductor', 'Information Technology', 1999),</a:t>
            </a:r>
          </a:p>
          <a:p>
            <a:r>
              <a:rPr lang="ko-KR" altLang="en-US" sz="1000"/>
              <a:t> ('Palo Alto Networks', 'Information Technology', 2005),</a:t>
            </a:r>
          </a:p>
          <a:p>
            <a:r>
              <a:rPr lang="ko-KR" altLang="en-US" sz="1000"/>
              <a:t> ('Arista Networks', 'Information Technology', 2004)]</a:t>
            </a:r>
          </a:p>
        </p:txBody>
      </p:sp>
    </p:spTree>
    <p:extLst>
      <p:ext uri="{BB962C8B-B14F-4D97-AF65-F5344CB8AC3E}">
        <p14:creationId xmlns:p14="http://schemas.microsoft.com/office/powerpoint/2010/main" val="487156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p:cNvSpPr/>
          <p:nvPr/>
        </p:nvSpPr>
        <p:spPr>
          <a:xfrm>
            <a:off x="500063" y="161276"/>
            <a:ext cx="6096000" cy="923330"/>
          </a:xfrm>
          <a:prstGeom prst="rect">
            <a:avLst/>
          </a:prstGeom>
        </p:spPr>
        <p:txBody>
          <a:bodyPr>
            <a:spAutoFit/>
          </a:bodyPr>
          <a:lstStyle/>
          <a:p>
            <a:r>
              <a:rPr lang="en-US" altLang="ko-KR" smtClean="0"/>
              <a:t>collection create / get / get_creat</a:t>
            </a:r>
          </a:p>
          <a:p>
            <a:r>
              <a:rPr lang="ko-KR" altLang="en-US" smtClean="0"/>
              <a:t>https</a:t>
            </a:r>
            <a:r>
              <a:rPr lang="ko-KR" altLang="en-US"/>
              <a:t>://anderfernandez.com/en/blog/chroma-vector-database-tutorial/</a:t>
            </a:r>
          </a:p>
        </p:txBody>
      </p:sp>
      <p:sp>
        <p:nvSpPr>
          <p:cNvPr id="2" name="직사각형 1"/>
          <p:cNvSpPr/>
          <p:nvPr/>
        </p:nvSpPr>
        <p:spPr>
          <a:xfrm>
            <a:off x="571499" y="1084606"/>
            <a:ext cx="10810875" cy="3139321"/>
          </a:xfrm>
          <a:prstGeom prst="rect">
            <a:avLst/>
          </a:prstGeom>
        </p:spPr>
        <p:txBody>
          <a:bodyPr wrap="square">
            <a:spAutoFit/>
          </a:bodyPr>
          <a:lstStyle/>
          <a:p>
            <a:r>
              <a:rPr lang="ko-KR" altLang="en-US"/>
              <a:t># server.py</a:t>
            </a:r>
          </a:p>
          <a:p>
            <a:r>
              <a:rPr lang="ko-KR" altLang="en-US"/>
              <a:t>import chromadb</a:t>
            </a:r>
          </a:p>
          <a:p>
            <a:r>
              <a:rPr lang="ko-KR" altLang="en-US"/>
              <a:t>import chromadb.config</a:t>
            </a:r>
          </a:p>
          <a:p>
            <a:r>
              <a:rPr lang="ko-KR" altLang="en-US"/>
              <a:t>from chromadb.server.fastapi import </a:t>
            </a:r>
            <a:r>
              <a:rPr lang="ko-KR" altLang="en-US" b="1">
                <a:solidFill>
                  <a:srgbClr val="FF0000"/>
                </a:solidFill>
              </a:rPr>
              <a:t>FastAPI</a:t>
            </a:r>
          </a:p>
          <a:p>
            <a:endParaRPr lang="ko-KR" altLang="en-US"/>
          </a:p>
          <a:p>
            <a:r>
              <a:rPr lang="ko-KR" altLang="en-US"/>
              <a:t>settings = chromadb.config.Settings(</a:t>
            </a:r>
          </a:p>
          <a:p>
            <a:r>
              <a:rPr lang="ko-KR" altLang="en-US"/>
              <a:t>    chroma_db_impl="duckdb+parquet", </a:t>
            </a:r>
          </a:p>
          <a:p>
            <a:r>
              <a:rPr lang="ko-KR" altLang="en-US"/>
              <a:t>    persist_directory='chroma_data'</a:t>
            </a:r>
          </a:p>
          <a:p>
            <a:r>
              <a:rPr lang="ko-KR" altLang="en-US"/>
              <a:t>)</a:t>
            </a:r>
          </a:p>
          <a:p>
            <a:r>
              <a:rPr lang="ko-KR" altLang="en-US"/>
              <a:t>server = FastAPI(settings)</a:t>
            </a:r>
          </a:p>
          <a:p>
            <a:r>
              <a:rPr lang="ko-KR" altLang="en-US"/>
              <a:t>app = server.app</a:t>
            </a:r>
          </a:p>
        </p:txBody>
      </p:sp>
      <p:sp>
        <p:nvSpPr>
          <p:cNvPr id="12" name="직사각형 11"/>
          <p:cNvSpPr/>
          <p:nvPr/>
        </p:nvSpPr>
        <p:spPr>
          <a:xfrm>
            <a:off x="5976936" y="932319"/>
            <a:ext cx="6096000" cy="5355312"/>
          </a:xfrm>
          <a:prstGeom prst="rect">
            <a:avLst/>
          </a:prstGeom>
        </p:spPr>
        <p:txBody>
          <a:bodyPr>
            <a:spAutoFit/>
          </a:bodyPr>
          <a:lstStyle/>
          <a:p>
            <a:r>
              <a:rPr lang="ko-KR" altLang="en-US"/>
              <a:t>Finally, we need to create a </a:t>
            </a:r>
            <a:r>
              <a:rPr lang="ko-KR" altLang="en-US">
                <a:solidFill>
                  <a:srgbClr val="FF0000"/>
                </a:solidFill>
              </a:rPr>
              <a:t>Dockerfile</a:t>
            </a:r>
            <a:r>
              <a:rPr lang="ko-KR" altLang="en-US"/>
              <a:t> that will install the necessary libraries and run the API on a webserver.</a:t>
            </a:r>
          </a:p>
          <a:p>
            <a:endParaRPr lang="ko-KR" altLang="en-US"/>
          </a:p>
          <a:p>
            <a:r>
              <a:rPr lang="ko-KR" altLang="en-US"/>
              <a:t>I personally had problems with the latest version of FastAPI, so I recommend using FastAPI version 0.85.1.</a:t>
            </a:r>
          </a:p>
          <a:p>
            <a:endParaRPr lang="ko-KR" altLang="en-US"/>
          </a:p>
          <a:p>
            <a:r>
              <a:rPr lang="ko-KR" altLang="en-US"/>
              <a:t>That process is done in the following Dockerfile:</a:t>
            </a:r>
          </a:p>
          <a:p>
            <a:endParaRPr lang="ko-KR" altLang="en-US"/>
          </a:p>
          <a:p>
            <a:r>
              <a:rPr lang="ko-KR" altLang="en-US"/>
              <a:t>FROM python:3.8</a:t>
            </a:r>
          </a:p>
          <a:p>
            <a:r>
              <a:rPr lang="ko-KR" altLang="en-US"/>
              <a:t>RUN pip install uvicorn</a:t>
            </a:r>
          </a:p>
          <a:p>
            <a:r>
              <a:rPr lang="ko-KR" altLang="en-US"/>
              <a:t>RUN pip install chromadb </a:t>
            </a:r>
          </a:p>
          <a:p>
            <a:r>
              <a:rPr lang="ko-KR" altLang="en-US"/>
              <a:t>RUN pip install --force-reinstall fastapi==0.85.1</a:t>
            </a:r>
          </a:p>
          <a:p>
            <a:r>
              <a:rPr lang="ko-KR" altLang="en-US"/>
              <a:t>COPY server.py .</a:t>
            </a:r>
          </a:p>
          <a:p>
            <a:r>
              <a:rPr lang="ko-KR" altLang="en-US"/>
              <a:t>CMD ["uvicorn", "server:app", "--host", "0.0.0.0", "--port", "8000"]</a:t>
            </a:r>
          </a:p>
          <a:p>
            <a:r>
              <a:rPr lang="ko-KR" altLang="en-US"/>
              <a:t>Copy</a:t>
            </a:r>
          </a:p>
          <a:p>
            <a:r>
              <a:rPr lang="ko-KR" altLang="en-US"/>
              <a:t>With this, we have our Chroma ready to be deployed in a container using DuckDB as backend. Now, let’s see how to use Chroma with Clickhouse as a backend. </a:t>
            </a:r>
          </a:p>
        </p:txBody>
      </p:sp>
    </p:spTree>
    <p:extLst>
      <p:ext uri="{BB962C8B-B14F-4D97-AF65-F5344CB8AC3E}">
        <p14:creationId xmlns:p14="http://schemas.microsoft.com/office/powerpoint/2010/main" val="2040361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392696" y="644009"/>
            <a:ext cx="4757584" cy="923330"/>
          </a:xfrm>
          <a:prstGeom prst="rect">
            <a:avLst/>
          </a:prstGeom>
        </p:spPr>
        <p:txBody>
          <a:bodyPr wrap="none">
            <a:spAutoFit/>
          </a:bodyPr>
          <a:lstStyle/>
          <a:p>
            <a:r>
              <a:rPr lang="en-US" altLang="ko-KR" cap="all"/>
              <a:t>FLASK</a:t>
            </a:r>
            <a:r>
              <a:rPr lang="ko-KR" altLang="en-US" cap="all"/>
              <a:t>에서 </a:t>
            </a:r>
            <a:r>
              <a:rPr lang="en-US" altLang="ko-KR" cap="all"/>
              <a:t>FASTAPI</a:t>
            </a:r>
            <a:r>
              <a:rPr lang="ko-KR" altLang="en-US" cap="all"/>
              <a:t>로 간 </a:t>
            </a:r>
            <a:r>
              <a:rPr lang="ko-KR" altLang="en-US" cap="all" smtClean="0"/>
              <a:t>이유   </a:t>
            </a:r>
            <a:r>
              <a:rPr lang="en-US" altLang="ko-KR" cap="all" smtClean="0"/>
              <a:t>2020.8.7  1)</a:t>
            </a:r>
            <a:endParaRPr lang="ko-KR" altLang="en-US" cap="all"/>
          </a:p>
          <a:p>
            <a:endParaRPr lang="en-US" altLang="ko-KR" smtClean="0"/>
          </a:p>
          <a:p>
            <a:r>
              <a:rPr lang="ko-KR" altLang="en-US" smtClean="0"/>
              <a:t>https</a:t>
            </a:r>
            <a:r>
              <a:rPr lang="ko-KR" altLang="en-US"/>
              <a:t>://tech.madup.com/FastAPI/</a:t>
            </a:r>
          </a:p>
        </p:txBody>
      </p:sp>
      <p:sp>
        <p:nvSpPr>
          <p:cNvPr id="5" name="직사각형 4"/>
          <p:cNvSpPr/>
          <p:nvPr/>
        </p:nvSpPr>
        <p:spPr>
          <a:xfrm>
            <a:off x="476250" y="1567339"/>
            <a:ext cx="6096000" cy="923330"/>
          </a:xfrm>
          <a:prstGeom prst="rect">
            <a:avLst/>
          </a:prstGeom>
        </p:spPr>
        <p:txBody>
          <a:bodyPr>
            <a:spAutoFit/>
          </a:bodyPr>
          <a:lstStyle/>
          <a:p>
            <a:r>
              <a:rPr lang="en-US" altLang="ko-KR" i="1">
                <a:solidFill>
                  <a:srgbClr val="333333"/>
                </a:solidFill>
                <a:latin typeface="Noto Serif"/>
              </a:rPr>
              <a:t>FastAPI is a modern, fast (high-performance), web framework for building APIs with Python 3.6+ based on standard Python type hints.</a:t>
            </a:r>
            <a:endParaRPr lang="ko-KR" altLang="en-US"/>
          </a:p>
        </p:txBody>
      </p:sp>
      <p:sp>
        <p:nvSpPr>
          <p:cNvPr id="6" name="직사각형 5"/>
          <p:cNvSpPr/>
          <p:nvPr/>
        </p:nvSpPr>
        <p:spPr>
          <a:xfrm>
            <a:off x="476250" y="2536836"/>
            <a:ext cx="6096000" cy="1754326"/>
          </a:xfrm>
          <a:prstGeom prst="rect">
            <a:avLst/>
          </a:prstGeom>
        </p:spPr>
        <p:txBody>
          <a:bodyPr>
            <a:spAutoFit/>
          </a:bodyPr>
          <a:lstStyle/>
          <a:p>
            <a:r>
              <a:rPr lang="ko-KR" altLang="en-US">
                <a:solidFill>
                  <a:srgbClr val="000000"/>
                </a:solidFill>
                <a:latin typeface="Noto Serif"/>
              </a:rPr>
              <a:t>주된 특징은 다음과 같다</a:t>
            </a:r>
            <a:r>
              <a:rPr lang="en-US" altLang="ko-KR">
                <a:solidFill>
                  <a:srgbClr val="000000"/>
                </a:solidFill>
                <a:latin typeface="Noto Serif"/>
              </a:rPr>
              <a:t>.</a:t>
            </a:r>
          </a:p>
          <a:p>
            <a:pPr>
              <a:buFont typeface="+mj-lt"/>
              <a:buAutoNum type="arabicPeriod"/>
            </a:pPr>
            <a:r>
              <a:rPr lang="en-US" altLang="ko-KR">
                <a:solidFill>
                  <a:srgbClr val="000000"/>
                </a:solidFill>
                <a:latin typeface="Noto Serif"/>
              </a:rPr>
              <a:t>Starlette </a:t>
            </a:r>
            <a:r>
              <a:rPr lang="ko-KR" altLang="en-US">
                <a:solidFill>
                  <a:srgbClr val="000000"/>
                </a:solidFill>
                <a:latin typeface="Noto Serif"/>
              </a:rPr>
              <a:t>프레임워크를 기반으로 비동기 </a:t>
            </a:r>
            <a:r>
              <a:rPr lang="en-US" altLang="ko-KR">
                <a:solidFill>
                  <a:srgbClr val="000000"/>
                </a:solidFill>
                <a:latin typeface="Noto Serif"/>
              </a:rPr>
              <a:t>API </a:t>
            </a:r>
            <a:r>
              <a:rPr lang="ko-KR" altLang="en-US">
                <a:solidFill>
                  <a:srgbClr val="000000"/>
                </a:solidFill>
                <a:latin typeface="Noto Serif"/>
              </a:rPr>
              <a:t>서버를 지원</a:t>
            </a:r>
          </a:p>
          <a:p>
            <a:pPr>
              <a:buFont typeface="+mj-lt"/>
              <a:buAutoNum type="arabicPeriod"/>
            </a:pPr>
            <a:r>
              <a:rPr lang="en-US" altLang="ko-KR">
                <a:solidFill>
                  <a:srgbClr val="000000"/>
                </a:solidFill>
                <a:latin typeface="Noto Serif"/>
              </a:rPr>
              <a:t>Pydantic </a:t>
            </a:r>
            <a:r>
              <a:rPr lang="ko-KR" altLang="en-US">
                <a:solidFill>
                  <a:srgbClr val="000000"/>
                </a:solidFill>
                <a:latin typeface="Noto Serif"/>
              </a:rPr>
              <a:t>라이브러리와의 호환으로 데이터 검증 지원</a:t>
            </a:r>
          </a:p>
          <a:p>
            <a:pPr>
              <a:buFont typeface="+mj-lt"/>
              <a:buAutoNum type="arabicPeriod"/>
            </a:pPr>
            <a:r>
              <a:rPr lang="en-US" altLang="ko-KR">
                <a:solidFill>
                  <a:srgbClr val="000000"/>
                </a:solidFill>
                <a:latin typeface="Noto Serif"/>
              </a:rPr>
              <a:t>OpenAPI </a:t>
            </a:r>
            <a:r>
              <a:rPr lang="ko-KR" altLang="en-US">
                <a:solidFill>
                  <a:srgbClr val="000000"/>
                </a:solidFill>
                <a:latin typeface="Noto Serif"/>
              </a:rPr>
              <a:t>지원을 통해 자동 스웨거 생성 가능</a:t>
            </a:r>
          </a:p>
          <a:p>
            <a:pPr>
              <a:buFont typeface="+mj-lt"/>
              <a:buAutoNum type="arabicPeriod"/>
            </a:pPr>
            <a:r>
              <a:rPr lang="ko-KR" altLang="en-US">
                <a:solidFill>
                  <a:srgbClr val="000000"/>
                </a:solidFill>
                <a:latin typeface="Noto Serif"/>
              </a:rPr>
              <a:t>성능적인 측면에서는 </a:t>
            </a:r>
            <a:r>
              <a:rPr lang="en-US" altLang="ko-KR">
                <a:solidFill>
                  <a:srgbClr val="000000"/>
                </a:solidFill>
                <a:latin typeface="Noto Serif"/>
              </a:rPr>
              <a:t>Node</a:t>
            </a:r>
            <a:r>
              <a:rPr lang="ko-KR" altLang="en-US">
                <a:solidFill>
                  <a:srgbClr val="000000"/>
                </a:solidFill>
                <a:latin typeface="Noto Serif"/>
              </a:rPr>
              <a:t>와 </a:t>
            </a:r>
            <a:r>
              <a:rPr lang="en-US" altLang="ko-KR">
                <a:solidFill>
                  <a:srgbClr val="000000"/>
                </a:solidFill>
                <a:latin typeface="Noto Serif"/>
              </a:rPr>
              <a:t>Go</a:t>
            </a:r>
            <a:r>
              <a:rPr lang="ko-KR" altLang="en-US">
                <a:solidFill>
                  <a:srgbClr val="000000"/>
                </a:solidFill>
                <a:latin typeface="Noto Serif"/>
              </a:rPr>
              <a:t>에 필적할만한 수준</a:t>
            </a:r>
            <a:endParaRPr lang="ko-KR" altLang="en-US" b="0" i="0">
              <a:solidFill>
                <a:srgbClr val="000000"/>
              </a:solidFill>
              <a:effectLst/>
              <a:latin typeface="Noto Serif"/>
            </a:endParaRPr>
          </a:p>
        </p:txBody>
      </p:sp>
      <p:sp>
        <p:nvSpPr>
          <p:cNvPr id="7" name="직사각형 6"/>
          <p:cNvSpPr/>
          <p:nvPr/>
        </p:nvSpPr>
        <p:spPr>
          <a:xfrm>
            <a:off x="6655803" y="231071"/>
            <a:ext cx="5431421" cy="5509200"/>
          </a:xfrm>
          <a:prstGeom prst="rect">
            <a:avLst/>
          </a:prstGeom>
        </p:spPr>
        <p:txBody>
          <a:bodyPr wrap="square">
            <a:spAutoFit/>
          </a:bodyPr>
          <a:lstStyle/>
          <a:p>
            <a:r>
              <a:rPr lang="ko-KR" altLang="en-US" sz="1600" b="1">
                <a:solidFill>
                  <a:srgbClr val="000000"/>
                </a:solidFill>
                <a:latin typeface="Noto Serif"/>
              </a:rPr>
              <a:t>왜 </a:t>
            </a:r>
            <a:r>
              <a:rPr lang="en-US" altLang="ko-KR" sz="1600" b="1">
                <a:solidFill>
                  <a:srgbClr val="000000"/>
                </a:solidFill>
                <a:latin typeface="Noto Serif"/>
              </a:rPr>
              <a:t>FastAPI</a:t>
            </a:r>
            <a:r>
              <a:rPr lang="ko-KR" altLang="en-US" sz="1600" b="1">
                <a:solidFill>
                  <a:srgbClr val="000000"/>
                </a:solidFill>
                <a:latin typeface="Noto Serif"/>
              </a:rPr>
              <a:t>를 선택하였는가</a:t>
            </a:r>
            <a:r>
              <a:rPr lang="en-US" altLang="ko-KR" sz="1600" b="1">
                <a:solidFill>
                  <a:srgbClr val="000000"/>
                </a:solidFill>
                <a:latin typeface="Noto Serif"/>
              </a:rPr>
              <a:t>?</a:t>
            </a:r>
          </a:p>
          <a:p>
            <a:pPr>
              <a:buFont typeface="+mj-lt"/>
              <a:buAutoNum type="arabicPeriod"/>
            </a:pPr>
            <a:r>
              <a:rPr lang="en-US" altLang="ko-KR" sz="1600">
                <a:solidFill>
                  <a:srgbClr val="F0506E"/>
                </a:solidFill>
                <a:latin typeface="Noto Serif"/>
                <a:hlinkClick r:id="rId2"/>
              </a:rPr>
              <a:t>ASGI</a:t>
            </a:r>
            <a:r>
              <a:rPr lang="ko-KR" altLang="en-US" sz="1600">
                <a:solidFill>
                  <a:srgbClr val="000000"/>
                </a:solidFill>
                <a:latin typeface="Noto Serif"/>
              </a:rPr>
              <a:t>를 써보고 싶었다</a:t>
            </a:r>
            <a:r>
              <a:rPr lang="en-US" altLang="ko-KR" sz="1600">
                <a:solidFill>
                  <a:srgbClr val="000000"/>
                </a:solidFill>
                <a:latin typeface="Noto Serif"/>
              </a:rPr>
              <a:t>. a. WSGI</a:t>
            </a:r>
            <a:r>
              <a:rPr lang="ko-KR" altLang="en-US" sz="1600">
                <a:solidFill>
                  <a:srgbClr val="000000"/>
                </a:solidFill>
                <a:latin typeface="Noto Serif"/>
              </a:rPr>
              <a:t>는 구조적으로 많은 트래픽을 처리하기엔 느리다</a:t>
            </a:r>
            <a:r>
              <a:rPr lang="en-US" altLang="ko-KR" sz="1600">
                <a:solidFill>
                  <a:srgbClr val="000000"/>
                </a:solidFill>
                <a:latin typeface="Noto Serif"/>
              </a:rPr>
              <a:t>. </a:t>
            </a:r>
            <a:r>
              <a:rPr lang="ko-KR" altLang="en-US" sz="1600">
                <a:solidFill>
                  <a:srgbClr val="000000"/>
                </a:solidFill>
                <a:latin typeface="Noto Serif"/>
              </a:rPr>
              <a:t>따라서 많은 개발자들이 다음과 같은 조합으로 사용한다</a:t>
            </a:r>
            <a:r>
              <a:rPr lang="en-US" altLang="ko-KR" sz="1600">
                <a:solidFill>
                  <a:srgbClr val="000000"/>
                </a:solidFill>
                <a:latin typeface="Noto Serif"/>
              </a:rPr>
              <a:t>. ⅰ. Celery + Queue(RabbitMQ, Redis) ⅱ. Greenlet ⅲ. Eventlet b. </a:t>
            </a:r>
            <a:r>
              <a:rPr lang="ko-KR" altLang="en-US" sz="1600">
                <a:solidFill>
                  <a:srgbClr val="000000"/>
                </a:solidFill>
                <a:latin typeface="Noto Serif"/>
              </a:rPr>
              <a:t>위에 다양한 비동기 조합과 </a:t>
            </a:r>
            <a:r>
              <a:rPr lang="en-US" altLang="ko-KR" sz="1600">
                <a:solidFill>
                  <a:srgbClr val="F0506E"/>
                </a:solidFill>
                <a:latin typeface="Noto Serif"/>
                <a:hlinkClick r:id="rId3"/>
              </a:rPr>
              <a:t>Gunicorn</a:t>
            </a:r>
            <a:r>
              <a:rPr lang="ko-KR" altLang="en-US" sz="1600">
                <a:solidFill>
                  <a:srgbClr val="000000"/>
                </a:solidFill>
                <a:latin typeface="Noto Serif"/>
              </a:rPr>
              <a:t>으로 어느정도 퍼포먼스를 올릴순 있지만 이런 점들은 로깅을 힘들게하며 관리 요소가 늘어나는 단점을 가진다</a:t>
            </a:r>
            <a:r>
              <a:rPr lang="en-US" altLang="ko-KR" sz="1600">
                <a:solidFill>
                  <a:srgbClr val="000000"/>
                </a:solidFill>
                <a:latin typeface="Noto Serif"/>
              </a:rPr>
              <a:t>.</a:t>
            </a:r>
          </a:p>
          <a:p>
            <a:pPr>
              <a:buFont typeface="+mj-lt"/>
              <a:buAutoNum type="arabicPeriod"/>
            </a:pPr>
            <a:r>
              <a:rPr lang="en-US" altLang="ko-KR" sz="1600">
                <a:solidFill>
                  <a:srgbClr val="F0506E"/>
                </a:solidFill>
                <a:latin typeface="Noto Serif"/>
                <a:hlinkClick r:id="rId4"/>
              </a:rPr>
              <a:t>libuv</a:t>
            </a:r>
            <a:r>
              <a:rPr lang="en-US" altLang="ko-KR" sz="1600">
                <a:solidFill>
                  <a:srgbClr val="000000"/>
                </a:solidFill>
                <a:latin typeface="Noto Serif"/>
              </a:rPr>
              <a:t>(node.js </a:t>
            </a:r>
            <a:r>
              <a:rPr lang="ko-KR" altLang="en-US" sz="1600">
                <a:solidFill>
                  <a:srgbClr val="000000"/>
                </a:solidFill>
                <a:latin typeface="Noto Serif"/>
              </a:rPr>
              <a:t>성능의 핵심</a:t>
            </a:r>
            <a:r>
              <a:rPr lang="en-US" altLang="ko-KR" sz="1600">
                <a:solidFill>
                  <a:srgbClr val="000000"/>
                </a:solidFill>
                <a:latin typeface="Noto Serif"/>
              </a:rPr>
              <a:t>)</a:t>
            </a:r>
            <a:r>
              <a:rPr lang="ko-KR" altLang="en-US" sz="1600">
                <a:solidFill>
                  <a:srgbClr val="000000"/>
                </a:solidFill>
                <a:latin typeface="Noto Serif"/>
              </a:rPr>
              <a:t>를 코어로 사용하는 </a:t>
            </a:r>
            <a:r>
              <a:rPr lang="en-US" altLang="ko-KR" sz="1600">
                <a:solidFill>
                  <a:srgbClr val="F0506E"/>
                </a:solidFill>
                <a:latin typeface="Noto Serif"/>
                <a:hlinkClick r:id="rId5"/>
              </a:rPr>
              <a:t>uvloop</a:t>
            </a:r>
            <a:r>
              <a:rPr lang="ko-KR" altLang="en-US" sz="1600">
                <a:solidFill>
                  <a:srgbClr val="000000"/>
                </a:solidFill>
                <a:latin typeface="Noto Serif"/>
              </a:rPr>
              <a:t>가 매력적이였다</a:t>
            </a:r>
            <a:r>
              <a:rPr lang="en-US" altLang="ko-KR" sz="1600">
                <a:solidFill>
                  <a:srgbClr val="000000"/>
                </a:solidFill>
                <a:latin typeface="Noto Serif"/>
              </a:rPr>
              <a:t>. </a:t>
            </a:r>
            <a:r>
              <a:rPr lang="en-US" altLang="ko-KR" sz="1600">
                <a:solidFill>
                  <a:srgbClr val="F0506E"/>
                </a:solidFill>
                <a:latin typeface="Noto Serif"/>
                <a:hlinkClick r:id="rId6"/>
              </a:rPr>
              <a:t>MagicStack</a:t>
            </a:r>
            <a:r>
              <a:rPr lang="en-US" altLang="ko-KR" sz="1600">
                <a:solidFill>
                  <a:srgbClr val="000000"/>
                </a:solidFill>
                <a:latin typeface="Noto Serif"/>
              </a:rPr>
              <a:t>(uvloop</a:t>
            </a:r>
            <a:r>
              <a:rPr lang="ko-KR" altLang="en-US" sz="1600">
                <a:solidFill>
                  <a:srgbClr val="000000"/>
                </a:solidFill>
                <a:latin typeface="Noto Serif"/>
              </a:rPr>
              <a:t>를 개발한 그룹</a:t>
            </a:r>
            <a:r>
              <a:rPr lang="en-US" altLang="ko-KR" sz="1600">
                <a:solidFill>
                  <a:srgbClr val="000000"/>
                </a:solidFill>
                <a:latin typeface="Noto Serif"/>
              </a:rPr>
              <a:t>)</a:t>
            </a:r>
            <a:r>
              <a:rPr lang="ko-KR" altLang="en-US" sz="1600">
                <a:solidFill>
                  <a:srgbClr val="000000"/>
                </a:solidFill>
                <a:latin typeface="Noto Serif"/>
              </a:rPr>
              <a:t>은 </a:t>
            </a:r>
            <a:r>
              <a:rPr lang="en-US" altLang="ko-KR" sz="1600">
                <a:solidFill>
                  <a:srgbClr val="000000"/>
                </a:solidFill>
                <a:latin typeface="Noto Serif"/>
              </a:rPr>
              <a:t>node.js</a:t>
            </a:r>
            <a:r>
              <a:rPr lang="ko-KR" altLang="en-US" sz="1600">
                <a:solidFill>
                  <a:srgbClr val="000000"/>
                </a:solidFill>
                <a:latin typeface="Noto Serif"/>
              </a:rPr>
              <a:t>와 </a:t>
            </a:r>
            <a:r>
              <a:rPr lang="en-US" altLang="ko-KR" sz="1600">
                <a:solidFill>
                  <a:srgbClr val="000000"/>
                </a:solidFill>
                <a:latin typeface="Noto Serif"/>
              </a:rPr>
              <a:t>go</a:t>
            </a:r>
            <a:r>
              <a:rPr lang="ko-KR" altLang="en-US" sz="1600">
                <a:solidFill>
                  <a:srgbClr val="000000"/>
                </a:solidFill>
                <a:latin typeface="Noto Serif"/>
              </a:rPr>
              <a:t>에 비슷한 퍼포먼스를 낼 수 있다고 말한다</a:t>
            </a:r>
            <a:r>
              <a:rPr lang="en-US" altLang="ko-KR" sz="1600">
                <a:solidFill>
                  <a:srgbClr val="000000"/>
                </a:solidFill>
                <a:latin typeface="Noto Serif"/>
              </a:rPr>
              <a:t>. python</a:t>
            </a:r>
            <a:r>
              <a:rPr lang="ko-KR" altLang="en-US" sz="1600">
                <a:solidFill>
                  <a:srgbClr val="000000"/>
                </a:solidFill>
                <a:latin typeface="Noto Serif"/>
              </a:rPr>
              <a:t>으로 저 정도 성능을 낼 수 있다는데 안 써볼 이유가 없었다</a:t>
            </a:r>
            <a:r>
              <a:rPr lang="en-US" altLang="ko-KR" sz="1600">
                <a:solidFill>
                  <a:srgbClr val="000000"/>
                </a:solidFill>
                <a:latin typeface="Noto Serif"/>
              </a:rPr>
              <a:t>.</a:t>
            </a:r>
          </a:p>
          <a:p>
            <a:pPr>
              <a:buFont typeface="+mj-lt"/>
              <a:buAutoNum type="arabicPeriod"/>
            </a:pPr>
            <a:r>
              <a:rPr lang="ko-KR" altLang="en-US" sz="1600">
                <a:solidFill>
                  <a:srgbClr val="000000"/>
                </a:solidFill>
                <a:latin typeface="Noto Serif"/>
              </a:rPr>
              <a:t>사실 요즘은 </a:t>
            </a:r>
            <a:r>
              <a:rPr lang="en-US" altLang="ko-KR" sz="1600">
                <a:solidFill>
                  <a:srgbClr val="000000"/>
                </a:solidFill>
                <a:latin typeface="Noto Serif"/>
              </a:rPr>
              <a:t>ASGI</a:t>
            </a:r>
            <a:r>
              <a:rPr lang="ko-KR" altLang="en-US" sz="1600">
                <a:solidFill>
                  <a:srgbClr val="000000"/>
                </a:solidFill>
                <a:latin typeface="Noto Serif"/>
              </a:rPr>
              <a:t>를 지원하는 프레임 워크가 많고 컨셉도 다양하다</a:t>
            </a:r>
            <a:r>
              <a:rPr lang="en-US" altLang="ko-KR" sz="1600">
                <a:solidFill>
                  <a:srgbClr val="000000"/>
                </a:solidFill>
                <a:latin typeface="Noto Serif"/>
              </a:rPr>
              <a:t>. </a:t>
            </a:r>
            <a:r>
              <a:rPr lang="en-US" altLang="ko-KR" sz="1600">
                <a:solidFill>
                  <a:srgbClr val="F0506E"/>
                </a:solidFill>
                <a:latin typeface="Noto Serif"/>
                <a:hlinkClick r:id="rId7"/>
              </a:rPr>
              <a:t>sanic</a:t>
            </a:r>
            <a:r>
              <a:rPr lang="ko-KR" altLang="en-US" sz="1600">
                <a:solidFill>
                  <a:srgbClr val="000000"/>
                </a:solidFill>
                <a:latin typeface="Noto Serif"/>
              </a:rPr>
              <a:t>은 </a:t>
            </a:r>
            <a:r>
              <a:rPr lang="en-US" altLang="ko-KR" sz="1600">
                <a:solidFill>
                  <a:srgbClr val="000000"/>
                </a:solidFill>
                <a:latin typeface="Noto Serif"/>
              </a:rPr>
              <a:t>Flask</a:t>
            </a:r>
            <a:r>
              <a:rPr lang="ko-KR" altLang="en-US" sz="1600">
                <a:solidFill>
                  <a:srgbClr val="000000"/>
                </a:solidFill>
                <a:latin typeface="Noto Serif"/>
              </a:rPr>
              <a:t>와 사용이 흡사하기 때문에 과장되게 말하면 별도의 비지니스 로직 수정없이 </a:t>
            </a:r>
            <a:r>
              <a:rPr lang="en-US" altLang="ko-KR" sz="1600">
                <a:solidFill>
                  <a:srgbClr val="000000"/>
                </a:solidFill>
                <a:latin typeface="Noto Serif"/>
              </a:rPr>
              <a:t>async, await</a:t>
            </a:r>
            <a:r>
              <a:rPr lang="ko-KR" altLang="en-US" sz="1600">
                <a:solidFill>
                  <a:srgbClr val="000000"/>
                </a:solidFill>
                <a:latin typeface="Noto Serif"/>
              </a:rPr>
              <a:t>만 붙이면 된다</a:t>
            </a:r>
            <a:r>
              <a:rPr lang="en-US" altLang="ko-KR" sz="1600">
                <a:solidFill>
                  <a:srgbClr val="000000"/>
                </a:solidFill>
                <a:latin typeface="Noto Serif"/>
              </a:rPr>
              <a:t>. </a:t>
            </a:r>
            <a:r>
              <a:rPr lang="ko-KR" altLang="en-US" sz="1600">
                <a:solidFill>
                  <a:srgbClr val="000000"/>
                </a:solidFill>
                <a:latin typeface="Noto Serif"/>
              </a:rPr>
              <a:t>그럼에도 </a:t>
            </a:r>
            <a:r>
              <a:rPr lang="en-US" altLang="ko-KR" sz="1600">
                <a:solidFill>
                  <a:srgbClr val="000000"/>
                </a:solidFill>
                <a:latin typeface="Noto Serif"/>
              </a:rPr>
              <a:t>FastAPI</a:t>
            </a:r>
            <a:r>
              <a:rPr lang="ko-KR" altLang="en-US" sz="1600">
                <a:solidFill>
                  <a:srgbClr val="000000"/>
                </a:solidFill>
                <a:latin typeface="Noto Serif"/>
              </a:rPr>
              <a:t>를 선택한 이유는 수준 높은 문서 제공 때문이다</a:t>
            </a:r>
            <a:r>
              <a:rPr lang="en-US" altLang="ko-KR" sz="1600">
                <a:solidFill>
                  <a:srgbClr val="000000"/>
                </a:solidFill>
                <a:latin typeface="Noto Serif"/>
              </a:rPr>
              <a:t>. </a:t>
            </a:r>
            <a:r>
              <a:rPr lang="ko-KR" altLang="en-US" sz="1600">
                <a:solidFill>
                  <a:srgbClr val="000000"/>
                </a:solidFill>
                <a:latin typeface="Noto Serif"/>
              </a:rPr>
              <a:t>다양한 사용법과 사용 목적에 따라 여러 아키텍처로 </a:t>
            </a:r>
            <a:r>
              <a:rPr lang="en-US" altLang="ko-KR" sz="1600">
                <a:solidFill>
                  <a:srgbClr val="000000"/>
                </a:solidFill>
                <a:latin typeface="Noto Serif"/>
              </a:rPr>
              <a:t>FastAPI</a:t>
            </a:r>
            <a:r>
              <a:rPr lang="ko-KR" altLang="en-US" sz="1600">
                <a:solidFill>
                  <a:srgbClr val="000000"/>
                </a:solidFill>
                <a:latin typeface="Noto Serif"/>
              </a:rPr>
              <a:t>를 사용하는 방안 등이 기재돼있다</a:t>
            </a:r>
            <a:r>
              <a:rPr lang="en-US" altLang="ko-KR" sz="1600">
                <a:solidFill>
                  <a:srgbClr val="000000"/>
                </a:solidFill>
                <a:latin typeface="Noto Serif"/>
              </a:rPr>
              <a:t>. ASGI</a:t>
            </a:r>
            <a:r>
              <a:rPr lang="ko-KR" altLang="en-US" sz="1600">
                <a:solidFill>
                  <a:srgbClr val="000000"/>
                </a:solidFill>
                <a:latin typeface="Noto Serif"/>
              </a:rPr>
              <a:t>를 따르는 프레임 워크들의 커뮤니티가 작아서 레퍼런스가 적을 수 밖에 없지만 </a:t>
            </a:r>
            <a:r>
              <a:rPr lang="en-US" altLang="ko-KR" sz="1600">
                <a:solidFill>
                  <a:srgbClr val="000000"/>
                </a:solidFill>
                <a:latin typeface="Noto Serif"/>
              </a:rPr>
              <a:t>FastAPI</a:t>
            </a:r>
            <a:r>
              <a:rPr lang="ko-KR" altLang="en-US" sz="1600">
                <a:solidFill>
                  <a:srgbClr val="000000"/>
                </a:solidFill>
                <a:latin typeface="Noto Serif"/>
              </a:rPr>
              <a:t>는 이를 보완할 정도로 문서가 잘 돼있다</a:t>
            </a:r>
            <a:r>
              <a:rPr lang="en-US" altLang="ko-KR" sz="1600">
                <a:solidFill>
                  <a:srgbClr val="000000"/>
                </a:solidFill>
                <a:latin typeface="Noto Serif"/>
              </a:rPr>
              <a:t>.</a:t>
            </a:r>
            <a:endParaRPr lang="en-US" altLang="ko-KR" sz="1600" b="0" i="0">
              <a:solidFill>
                <a:srgbClr val="000000"/>
              </a:solidFill>
              <a:effectLst/>
              <a:latin typeface="Noto Serif"/>
            </a:endParaRPr>
          </a:p>
        </p:txBody>
      </p:sp>
    </p:spTree>
    <p:extLst>
      <p:ext uri="{BB962C8B-B14F-4D97-AF65-F5344CB8AC3E}">
        <p14:creationId xmlns:p14="http://schemas.microsoft.com/office/powerpoint/2010/main" val="1798588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392696" y="644009"/>
            <a:ext cx="4757584" cy="923330"/>
          </a:xfrm>
          <a:prstGeom prst="rect">
            <a:avLst/>
          </a:prstGeom>
        </p:spPr>
        <p:txBody>
          <a:bodyPr wrap="none">
            <a:spAutoFit/>
          </a:bodyPr>
          <a:lstStyle/>
          <a:p>
            <a:r>
              <a:rPr lang="en-US" altLang="ko-KR" cap="all"/>
              <a:t>FLASK</a:t>
            </a:r>
            <a:r>
              <a:rPr lang="ko-KR" altLang="en-US" cap="all"/>
              <a:t>에서 </a:t>
            </a:r>
            <a:r>
              <a:rPr lang="en-US" altLang="ko-KR" cap="all"/>
              <a:t>FASTAPI</a:t>
            </a:r>
            <a:r>
              <a:rPr lang="ko-KR" altLang="en-US" cap="all"/>
              <a:t>로 간 </a:t>
            </a:r>
            <a:r>
              <a:rPr lang="ko-KR" altLang="en-US" cap="all" smtClean="0"/>
              <a:t>이유   </a:t>
            </a:r>
            <a:r>
              <a:rPr lang="en-US" altLang="ko-KR" cap="all" smtClean="0"/>
              <a:t>2020.8.7  1)</a:t>
            </a:r>
            <a:endParaRPr lang="ko-KR" altLang="en-US" cap="all"/>
          </a:p>
          <a:p>
            <a:endParaRPr lang="en-US" altLang="ko-KR" smtClean="0"/>
          </a:p>
          <a:p>
            <a:r>
              <a:rPr lang="ko-KR" altLang="en-US" smtClean="0"/>
              <a:t>https</a:t>
            </a:r>
            <a:r>
              <a:rPr lang="ko-KR" altLang="en-US"/>
              <a:t>://tech.madup.com/FastAPI/</a:t>
            </a:r>
          </a:p>
        </p:txBody>
      </p:sp>
      <p:sp>
        <p:nvSpPr>
          <p:cNvPr id="2" name="직사각형 1"/>
          <p:cNvSpPr/>
          <p:nvPr/>
        </p:nvSpPr>
        <p:spPr>
          <a:xfrm>
            <a:off x="392696" y="1797963"/>
            <a:ext cx="6096000" cy="3539430"/>
          </a:xfrm>
          <a:prstGeom prst="rect">
            <a:avLst/>
          </a:prstGeom>
        </p:spPr>
        <p:txBody>
          <a:bodyPr>
            <a:spAutoFit/>
          </a:bodyPr>
          <a:lstStyle/>
          <a:p>
            <a:r>
              <a:rPr lang="ko-KR" altLang="en-US" sz="1400" smtClean="0"/>
              <a:t>FastAPI로 바꾸면서</a:t>
            </a:r>
          </a:p>
          <a:p>
            <a:r>
              <a:rPr lang="ko-KR" altLang="en-US" sz="1400" smtClean="0"/>
              <a:t>생산적인 측면</a:t>
            </a:r>
          </a:p>
          <a:p>
            <a:r>
              <a:rPr lang="ko-KR" altLang="en-US" sz="1400" smtClean="0"/>
              <a:t>Flask에서의 Swagger</a:t>
            </a:r>
          </a:p>
          <a:p>
            <a:endParaRPr lang="ko-KR" altLang="en-US" sz="1400" smtClean="0"/>
          </a:p>
          <a:p>
            <a:r>
              <a:rPr lang="ko-KR" altLang="en-US" sz="1400" smtClean="0"/>
              <a:t>FastAPI에서는 별도의 스웨거 파일 정의 없이 자동으로 생성하여 준다. 요청과 응답 부분에 pydantic 모델을 사용하며 배포시 자동으로 json 형태 변환되어 스웨거의 요청과 응답 모델에 자동으로 매핑 된다. 이는 의사소통 비용 절감을 가져다 주었고 개발자가 문서를 따로 신경쓰지 않아도 되기에 굉장한 생산성을 가져다 주었다.</a:t>
            </a:r>
          </a:p>
          <a:p>
            <a:endParaRPr lang="ko-KR" altLang="en-US" sz="1400" smtClean="0"/>
          </a:p>
          <a:p>
            <a:r>
              <a:rPr lang="ko-KR" altLang="en-US" sz="1400" smtClean="0"/>
              <a:t>비동기적인 측면</a:t>
            </a:r>
          </a:p>
          <a:p>
            <a:r>
              <a:rPr lang="ko-KR" altLang="en-US" sz="1400" smtClean="0"/>
              <a:t>Gevent Flask는 기본적으로 비동기 지원이 안되므로 Gevent(코루틴을 기반으로 동시성을 가능하게 해주는 라이브러리)의 monkey patching를 통해 I/O bound 작업을 비동기로 실행하였다. 하지만 테스트중 문제가 발생한다. 구글 라이브러리는 grpc를 사용한다. monkey patching은 비동기적으로 작동하기 위해 내부에서 소켓에 대한 부분을 코루틴 형식으로 바꾼다.</a:t>
            </a:r>
            <a:endParaRPr lang="ko-KR" altLang="en-US" sz="1400"/>
          </a:p>
        </p:txBody>
      </p:sp>
      <p:sp>
        <p:nvSpPr>
          <p:cNvPr id="3" name="직사각형 2"/>
          <p:cNvSpPr/>
          <p:nvPr/>
        </p:nvSpPr>
        <p:spPr>
          <a:xfrm>
            <a:off x="6838950" y="1246822"/>
            <a:ext cx="5029200" cy="4185761"/>
          </a:xfrm>
          <a:prstGeom prst="rect">
            <a:avLst/>
          </a:prstGeom>
        </p:spPr>
        <p:txBody>
          <a:bodyPr wrap="square">
            <a:spAutoFit/>
          </a:bodyPr>
          <a:lstStyle/>
          <a:p>
            <a:endParaRPr lang="ko-KR" altLang="en-US" sz="1400"/>
          </a:p>
          <a:p>
            <a:endParaRPr lang="ko-KR" altLang="en-US" sz="1400"/>
          </a:p>
          <a:p>
            <a:r>
              <a:rPr lang="ko-KR" altLang="en-US" sz="1400"/>
              <a:t>마치며</a:t>
            </a:r>
          </a:p>
          <a:p>
            <a:r>
              <a:rPr lang="ko-KR" altLang="en-US" sz="1400"/>
              <a:t>예시 말고도 FastAPI를 사용하면서 느꼈던 장점들은 더 많았다.</a:t>
            </a:r>
          </a:p>
          <a:p>
            <a:endParaRPr lang="ko-KR" altLang="en-US" sz="1400"/>
          </a:p>
          <a:p>
            <a:r>
              <a:rPr lang="ko-KR" altLang="en-US" sz="1400"/>
              <a:t>python 3.6 type hint 기반으로 설계된 부분에서 주는 안정감</a:t>
            </a:r>
          </a:p>
          <a:p>
            <a:r>
              <a:rPr lang="ko-KR" altLang="en-US" sz="1400"/>
              <a:t>DI를 강력하게 준수하기에 코드 재사용성과 확장성이 증가한다.</a:t>
            </a:r>
          </a:p>
          <a:p>
            <a:r>
              <a:rPr lang="ko-KR" altLang="en-US" sz="1400"/>
              <a:t>적은 레퍼런스를 충분히 매꿔줄만한 수준 높은 공식문서</a:t>
            </a:r>
          </a:p>
          <a:p>
            <a:r>
              <a:rPr lang="ko-KR" altLang="en-US" sz="1400"/>
              <a:t>Flask 프레임워크를 사용하는 대부분의 개발자는 프로토 타입의 서버나 마이크로 서비스를 위해 사용한다. 이때 FastAPI는 충분한 대안이 된다고 생각하며 성능 또한 좋을거라 예상한다. 아직 메이저 버전이 나오지 않았지만 여러 기업들에서 사용하거나 마이그레이션 중인것으로 보이며 앞으로가 더 기대되는 프레임워크이다.</a:t>
            </a:r>
          </a:p>
          <a:p>
            <a:endParaRPr lang="ko-KR" altLang="en-US" sz="1400"/>
          </a:p>
          <a:p>
            <a:r>
              <a:rPr lang="ko-KR" altLang="en-US" sz="1400"/>
              <a:t>추후, 기회가 된다면 실제로 FastAPI를 운영에 사용하면서 겪은 내용도 공유해보도록 하겠다.</a:t>
            </a:r>
          </a:p>
        </p:txBody>
      </p:sp>
      <p:sp>
        <p:nvSpPr>
          <p:cNvPr id="8" name="직사각형 7"/>
          <p:cNvSpPr/>
          <p:nvPr/>
        </p:nvSpPr>
        <p:spPr>
          <a:xfrm>
            <a:off x="209549" y="6214586"/>
            <a:ext cx="11382375" cy="553998"/>
          </a:xfrm>
          <a:prstGeom prst="rect">
            <a:avLst/>
          </a:prstGeom>
        </p:spPr>
        <p:txBody>
          <a:bodyPr wrap="square">
            <a:spAutoFit/>
          </a:bodyPr>
          <a:lstStyle/>
          <a:p>
            <a:r>
              <a:rPr lang="en-US" altLang="ko-KR" sz="1000" smtClean="0"/>
              <a:t>flask</a:t>
            </a:r>
            <a:r>
              <a:rPr lang="ko-KR" altLang="en-US" sz="1000" smtClean="0"/>
              <a:t>와 </a:t>
            </a:r>
            <a:r>
              <a:rPr lang="en-US" altLang="ko-KR" sz="1000" smtClean="0"/>
              <a:t>Django </a:t>
            </a:r>
            <a:r>
              <a:rPr lang="ko-KR" altLang="en-US" sz="1000" smtClean="0"/>
              <a:t>차이</a:t>
            </a:r>
            <a:endParaRPr lang="en-US" altLang="ko-KR" sz="1000" smtClean="0"/>
          </a:p>
          <a:p>
            <a:r>
              <a:rPr lang="ko-KR" altLang="en-US" sz="1000" smtClean="0"/>
              <a:t>https</a:t>
            </a:r>
            <a:r>
              <a:rPr lang="ko-KR" altLang="en-US" sz="1000"/>
              <a:t>://dingrr.com/blog/post/%EC%96%B8%EC%A0%9C-django%EB%A5%BC-%EC%96%B8%EC%A0%9C-flask%EB%A5%BC-%EC%82%AC%EC%9A%A9%ED%95%B4%EC%95%BC-%ED%95%A0%EA%B9%8C</a:t>
            </a:r>
          </a:p>
        </p:txBody>
      </p:sp>
    </p:spTree>
    <p:extLst>
      <p:ext uri="{BB962C8B-B14F-4D97-AF65-F5344CB8AC3E}">
        <p14:creationId xmlns:p14="http://schemas.microsoft.com/office/powerpoint/2010/main" val="3264882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9156" y="628651"/>
            <a:ext cx="1398269" cy="369332"/>
          </a:xfrm>
          <a:prstGeom prst="rect">
            <a:avLst/>
          </a:prstGeom>
          <a:noFill/>
        </p:spPr>
        <p:txBody>
          <a:bodyPr wrap="square" rtlCol="0">
            <a:spAutoFit/>
          </a:bodyPr>
          <a:lstStyle/>
          <a:p>
            <a:r>
              <a:rPr lang="ko-KR" altLang="en-US" smtClean="0"/>
              <a:t>분류</a:t>
            </a:r>
            <a:endParaRPr lang="ko-KR" altLang="en-US"/>
          </a:p>
        </p:txBody>
      </p:sp>
      <p:sp>
        <p:nvSpPr>
          <p:cNvPr id="5" name="직사각형 4"/>
          <p:cNvSpPr/>
          <p:nvPr/>
        </p:nvSpPr>
        <p:spPr>
          <a:xfrm>
            <a:off x="4600575" y="166986"/>
            <a:ext cx="6096000" cy="400110"/>
          </a:xfrm>
          <a:prstGeom prst="rect">
            <a:avLst/>
          </a:prstGeom>
        </p:spPr>
        <p:txBody>
          <a:bodyPr>
            <a:spAutoFit/>
          </a:bodyPr>
          <a:lstStyle/>
          <a:p>
            <a:r>
              <a:rPr lang="ko-KR" altLang="en-US" sz="1000"/>
              <a:t>https://medium.com/@amitbasuri123/using-prompt-engineering-for-classification-with-openai-api-8e6b2c0233ee</a:t>
            </a:r>
          </a:p>
        </p:txBody>
      </p:sp>
      <p:sp>
        <p:nvSpPr>
          <p:cNvPr id="6" name="직사각형 5"/>
          <p:cNvSpPr/>
          <p:nvPr/>
        </p:nvSpPr>
        <p:spPr>
          <a:xfrm>
            <a:off x="5619750" y="813317"/>
            <a:ext cx="6096000" cy="5786199"/>
          </a:xfrm>
          <a:prstGeom prst="rect">
            <a:avLst/>
          </a:prstGeom>
        </p:spPr>
        <p:txBody>
          <a:bodyPr>
            <a:spAutoFit/>
          </a:bodyPr>
          <a:lstStyle/>
          <a:p>
            <a:r>
              <a:rPr lang="en-US" altLang="ko-KR" sz="1000">
                <a:solidFill>
                  <a:srgbClr val="242424"/>
                </a:solidFill>
                <a:latin typeface="source-code-pro"/>
              </a:rPr>
              <a:t>delimiter = </a:t>
            </a:r>
            <a:r>
              <a:rPr lang="en-US" altLang="ko-KR" sz="1000">
                <a:solidFill>
                  <a:srgbClr val="C41A16"/>
                </a:solidFill>
                <a:latin typeface="source-code-pro"/>
              </a:rPr>
              <a:t>"####"</a:t>
            </a:r>
            <a:r>
              <a:rPr lang="en-US" altLang="ko-KR" sz="1000"/>
              <a:t/>
            </a:r>
            <a:br>
              <a:rPr lang="en-US" altLang="ko-KR" sz="1000"/>
            </a:br>
            <a:r>
              <a:rPr lang="en-US" altLang="ko-KR" sz="1000">
                <a:solidFill>
                  <a:srgbClr val="242424"/>
                </a:solidFill>
                <a:latin typeface="source-code-pro"/>
              </a:rPr>
              <a:t>system_message = </a:t>
            </a:r>
            <a:r>
              <a:rPr lang="en-US" altLang="ko-KR" sz="1000">
                <a:solidFill>
                  <a:srgbClr val="C41A16"/>
                </a:solidFill>
                <a:latin typeface="source-code-pro"/>
              </a:rPr>
              <a:t>f"""</a:t>
            </a:r>
            <a:br>
              <a:rPr lang="en-US" altLang="ko-KR" sz="1000">
                <a:solidFill>
                  <a:srgbClr val="C41A16"/>
                </a:solidFill>
                <a:latin typeface="source-code-pro"/>
              </a:rPr>
            </a:br>
            <a:r>
              <a:rPr lang="en-US" altLang="ko-KR" sz="1000">
                <a:solidFill>
                  <a:srgbClr val="C41A16"/>
                </a:solidFill>
                <a:latin typeface="source-code-pro"/>
              </a:rPr>
              <a:t>You will be provided with customer service queries. \</a:t>
            </a:r>
            <a:br>
              <a:rPr lang="en-US" altLang="ko-KR" sz="1000">
                <a:solidFill>
                  <a:srgbClr val="C41A16"/>
                </a:solidFill>
                <a:latin typeface="source-code-pro"/>
              </a:rPr>
            </a:br>
            <a:r>
              <a:rPr lang="en-US" altLang="ko-KR" sz="1000">
                <a:solidFill>
                  <a:srgbClr val="C41A16"/>
                </a:solidFill>
                <a:latin typeface="source-code-pro"/>
              </a:rPr>
              <a:t>The customer service query will be delimited with \</a:t>
            </a:r>
            <a:br>
              <a:rPr lang="en-US" altLang="ko-KR" sz="1000">
                <a:solidFill>
                  <a:srgbClr val="C41A16"/>
                </a:solidFill>
                <a:latin typeface="source-code-pro"/>
              </a:rPr>
            </a:br>
            <a:r>
              <a:rPr lang="en-US" altLang="ko-KR" sz="1000">
                <a:solidFill>
                  <a:srgbClr val="000000"/>
                </a:solidFill>
                <a:latin typeface="source-code-pro"/>
              </a:rPr>
              <a:t>{delimiter}</a:t>
            </a:r>
            <a:r>
              <a:rPr lang="en-US" altLang="ko-KR" sz="1000">
                <a:solidFill>
                  <a:srgbClr val="C41A16"/>
                </a:solidFill>
                <a:latin typeface="source-code-pro"/>
              </a:rPr>
              <a:t> characters.</a:t>
            </a:r>
            <a:br>
              <a:rPr lang="en-US" altLang="ko-KR" sz="1000">
                <a:solidFill>
                  <a:srgbClr val="C41A16"/>
                </a:solidFill>
                <a:latin typeface="source-code-pro"/>
              </a:rPr>
            </a:br>
            <a:r>
              <a:rPr lang="en-US" altLang="ko-KR" sz="1000">
                <a:solidFill>
                  <a:srgbClr val="C41A16"/>
                </a:solidFill>
                <a:latin typeface="source-code-pro"/>
              </a:rPr>
              <a:t>Classify each query into a primary category \</a:t>
            </a:r>
            <a:br>
              <a:rPr lang="en-US" altLang="ko-KR" sz="1000">
                <a:solidFill>
                  <a:srgbClr val="C41A16"/>
                </a:solidFill>
                <a:latin typeface="source-code-pro"/>
              </a:rPr>
            </a:br>
            <a:r>
              <a:rPr lang="en-US" altLang="ko-KR" sz="1000">
                <a:solidFill>
                  <a:srgbClr val="C41A16"/>
                </a:solidFill>
                <a:latin typeface="source-code-pro"/>
              </a:rPr>
              <a:t>and a secondary category. </a:t>
            </a:r>
            <a:br>
              <a:rPr lang="en-US" altLang="ko-KR" sz="1000">
                <a:solidFill>
                  <a:srgbClr val="C41A16"/>
                </a:solidFill>
                <a:latin typeface="source-code-pro"/>
              </a:rPr>
            </a:br>
            <a:r>
              <a:rPr lang="en-US" altLang="ko-KR" sz="1000">
                <a:solidFill>
                  <a:srgbClr val="C41A16"/>
                </a:solidFill>
                <a:latin typeface="source-code-pro"/>
              </a:rPr>
              <a:t>Provide your output in json format with the \</a:t>
            </a:r>
            <a:br>
              <a:rPr lang="en-US" altLang="ko-KR" sz="1000">
                <a:solidFill>
                  <a:srgbClr val="C41A16"/>
                </a:solidFill>
                <a:latin typeface="source-code-pro"/>
              </a:rPr>
            </a:br>
            <a:r>
              <a:rPr lang="en-US" altLang="ko-KR" sz="1000">
                <a:solidFill>
                  <a:srgbClr val="C41A16"/>
                </a:solidFill>
                <a:latin typeface="source-code-pro"/>
              </a:rPr>
              <a:t>keys: primary and secondary.</a:t>
            </a:r>
            <a:br>
              <a:rPr lang="en-US" altLang="ko-KR" sz="1000">
                <a:solidFill>
                  <a:srgbClr val="C41A16"/>
                </a:solidFill>
                <a:latin typeface="source-code-pro"/>
              </a:rPr>
            </a:br>
            <a:r>
              <a:rPr lang="en-US" altLang="ko-KR" sz="1000">
                <a:solidFill>
                  <a:srgbClr val="C41A16"/>
                </a:solidFill>
                <a:latin typeface="source-code-pro"/>
              </a:rPr>
              <a:t/>
            </a:r>
            <a:br>
              <a:rPr lang="en-US" altLang="ko-KR" sz="1000">
                <a:solidFill>
                  <a:srgbClr val="C41A16"/>
                </a:solidFill>
                <a:latin typeface="source-code-pro"/>
              </a:rPr>
            </a:br>
            <a:r>
              <a:rPr lang="en-US" altLang="ko-KR" sz="1000">
                <a:solidFill>
                  <a:srgbClr val="C41A16"/>
                </a:solidFill>
                <a:latin typeface="source-code-pro"/>
              </a:rPr>
              <a:t>Primary categories: Billing, Technical Support, \</a:t>
            </a:r>
            <a:br>
              <a:rPr lang="en-US" altLang="ko-KR" sz="1000">
                <a:solidFill>
                  <a:srgbClr val="C41A16"/>
                </a:solidFill>
                <a:latin typeface="source-code-pro"/>
              </a:rPr>
            </a:br>
            <a:r>
              <a:rPr lang="en-US" altLang="ko-KR" sz="1000">
                <a:solidFill>
                  <a:srgbClr val="C41A16"/>
                </a:solidFill>
                <a:latin typeface="source-code-pro"/>
              </a:rPr>
              <a:t>Account Management, or General Inquiry.</a:t>
            </a:r>
            <a:br>
              <a:rPr lang="en-US" altLang="ko-KR" sz="1000">
                <a:solidFill>
                  <a:srgbClr val="C41A16"/>
                </a:solidFill>
                <a:latin typeface="source-code-pro"/>
              </a:rPr>
            </a:br>
            <a:r>
              <a:rPr lang="en-US" altLang="ko-KR" sz="1000">
                <a:solidFill>
                  <a:srgbClr val="C41A16"/>
                </a:solidFill>
                <a:latin typeface="source-code-pro"/>
              </a:rPr>
              <a:t/>
            </a:r>
            <a:br>
              <a:rPr lang="en-US" altLang="ko-KR" sz="1000">
                <a:solidFill>
                  <a:srgbClr val="C41A16"/>
                </a:solidFill>
                <a:latin typeface="source-code-pro"/>
              </a:rPr>
            </a:br>
            <a:r>
              <a:rPr lang="en-US" altLang="ko-KR" sz="1000">
                <a:solidFill>
                  <a:srgbClr val="C41A16"/>
                </a:solidFill>
                <a:latin typeface="source-code-pro"/>
              </a:rPr>
              <a:t>Billing secondary categories:</a:t>
            </a:r>
            <a:br>
              <a:rPr lang="en-US" altLang="ko-KR" sz="1000">
                <a:solidFill>
                  <a:srgbClr val="C41A16"/>
                </a:solidFill>
                <a:latin typeface="source-code-pro"/>
              </a:rPr>
            </a:br>
            <a:r>
              <a:rPr lang="en-US" altLang="ko-KR" sz="1000">
                <a:solidFill>
                  <a:srgbClr val="C41A16"/>
                </a:solidFill>
                <a:latin typeface="source-code-pro"/>
              </a:rPr>
              <a:t>Unsubscribe or upgrade</a:t>
            </a:r>
            <a:br>
              <a:rPr lang="en-US" altLang="ko-KR" sz="1000">
                <a:solidFill>
                  <a:srgbClr val="C41A16"/>
                </a:solidFill>
                <a:latin typeface="source-code-pro"/>
              </a:rPr>
            </a:br>
            <a:r>
              <a:rPr lang="en-US" altLang="ko-KR" sz="1000">
                <a:solidFill>
                  <a:srgbClr val="C41A16"/>
                </a:solidFill>
                <a:latin typeface="source-code-pro"/>
              </a:rPr>
              <a:t>Add a payment method</a:t>
            </a:r>
            <a:br>
              <a:rPr lang="en-US" altLang="ko-KR" sz="1000">
                <a:solidFill>
                  <a:srgbClr val="C41A16"/>
                </a:solidFill>
                <a:latin typeface="source-code-pro"/>
              </a:rPr>
            </a:br>
            <a:r>
              <a:rPr lang="en-US" altLang="ko-KR" sz="1000">
                <a:solidFill>
                  <a:srgbClr val="C41A16"/>
                </a:solidFill>
                <a:latin typeface="source-code-pro"/>
              </a:rPr>
              <a:t>Explanation for charge</a:t>
            </a:r>
            <a:br>
              <a:rPr lang="en-US" altLang="ko-KR" sz="1000">
                <a:solidFill>
                  <a:srgbClr val="C41A16"/>
                </a:solidFill>
                <a:latin typeface="source-code-pro"/>
              </a:rPr>
            </a:br>
            <a:r>
              <a:rPr lang="en-US" altLang="ko-KR" sz="1000">
                <a:solidFill>
                  <a:srgbClr val="C41A16"/>
                </a:solidFill>
                <a:latin typeface="source-code-pro"/>
              </a:rPr>
              <a:t>Dispute a charge</a:t>
            </a:r>
            <a:br>
              <a:rPr lang="en-US" altLang="ko-KR" sz="1000">
                <a:solidFill>
                  <a:srgbClr val="C41A16"/>
                </a:solidFill>
                <a:latin typeface="source-code-pro"/>
              </a:rPr>
            </a:br>
            <a:r>
              <a:rPr lang="en-US" altLang="ko-KR" sz="1000">
                <a:solidFill>
                  <a:srgbClr val="C41A16"/>
                </a:solidFill>
                <a:latin typeface="source-code-pro"/>
              </a:rPr>
              <a:t/>
            </a:r>
            <a:br>
              <a:rPr lang="en-US" altLang="ko-KR" sz="1000">
                <a:solidFill>
                  <a:srgbClr val="C41A16"/>
                </a:solidFill>
                <a:latin typeface="source-code-pro"/>
              </a:rPr>
            </a:br>
            <a:r>
              <a:rPr lang="en-US" altLang="ko-KR" sz="1000">
                <a:solidFill>
                  <a:srgbClr val="C41A16"/>
                </a:solidFill>
                <a:latin typeface="source-code-pro"/>
              </a:rPr>
              <a:t>Technical Support secondary categories:</a:t>
            </a:r>
            <a:br>
              <a:rPr lang="en-US" altLang="ko-KR" sz="1000">
                <a:solidFill>
                  <a:srgbClr val="C41A16"/>
                </a:solidFill>
                <a:latin typeface="source-code-pro"/>
              </a:rPr>
            </a:br>
            <a:r>
              <a:rPr lang="en-US" altLang="ko-KR" sz="1000">
                <a:solidFill>
                  <a:srgbClr val="C41A16"/>
                </a:solidFill>
                <a:latin typeface="source-code-pro"/>
              </a:rPr>
              <a:t>General troubleshooting</a:t>
            </a:r>
            <a:br>
              <a:rPr lang="en-US" altLang="ko-KR" sz="1000">
                <a:solidFill>
                  <a:srgbClr val="C41A16"/>
                </a:solidFill>
                <a:latin typeface="source-code-pro"/>
              </a:rPr>
            </a:br>
            <a:r>
              <a:rPr lang="en-US" altLang="ko-KR" sz="1000">
                <a:solidFill>
                  <a:srgbClr val="C41A16"/>
                </a:solidFill>
                <a:latin typeface="source-code-pro"/>
              </a:rPr>
              <a:t>Device compatibility</a:t>
            </a:r>
            <a:br>
              <a:rPr lang="en-US" altLang="ko-KR" sz="1000">
                <a:solidFill>
                  <a:srgbClr val="C41A16"/>
                </a:solidFill>
                <a:latin typeface="source-code-pro"/>
              </a:rPr>
            </a:br>
            <a:r>
              <a:rPr lang="en-US" altLang="ko-KR" sz="1000">
                <a:solidFill>
                  <a:srgbClr val="C41A16"/>
                </a:solidFill>
                <a:latin typeface="source-code-pro"/>
              </a:rPr>
              <a:t>Software updates</a:t>
            </a:r>
            <a:br>
              <a:rPr lang="en-US" altLang="ko-KR" sz="1000">
                <a:solidFill>
                  <a:srgbClr val="C41A16"/>
                </a:solidFill>
                <a:latin typeface="source-code-pro"/>
              </a:rPr>
            </a:br>
            <a:r>
              <a:rPr lang="en-US" altLang="ko-KR" sz="1000">
                <a:solidFill>
                  <a:srgbClr val="C41A16"/>
                </a:solidFill>
                <a:latin typeface="source-code-pro"/>
              </a:rPr>
              <a:t/>
            </a:r>
            <a:br>
              <a:rPr lang="en-US" altLang="ko-KR" sz="1000">
                <a:solidFill>
                  <a:srgbClr val="C41A16"/>
                </a:solidFill>
                <a:latin typeface="source-code-pro"/>
              </a:rPr>
            </a:br>
            <a:r>
              <a:rPr lang="en-US" altLang="ko-KR" sz="1000">
                <a:solidFill>
                  <a:srgbClr val="C41A16"/>
                </a:solidFill>
                <a:latin typeface="source-code-pro"/>
              </a:rPr>
              <a:t>Account Management secondary categories:</a:t>
            </a:r>
            <a:br>
              <a:rPr lang="en-US" altLang="ko-KR" sz="1000">
                <a:solidFill>
                  <a:srgbClr val="C41A16"/>
                </a:solidFill>
                <a:latin typeface="source-code-pro"/>
              </a:rPr>
            </a:br>
            <a:r>
              <a:rPr lang="en-US" altLang="ko-KR" sz="1000">
                <a:solidFill>
                  <a:srgbClr val="C41A16"/>
                </a:solidFill>
                <a:latin typeface="source-code-pro"/>
              </a:rPr>
              <a:t>Password reset</a:t>
            </a:r>
            <a:br>
              <a:rPr lang="en-US" altLang="ko-KR" sz="1000">
                <a:solidFill>
                  <a:srgbClr val="C41A16"/>
                </a:solidFill>
                <a:latin typeface="source-code-pro"/>
              </a:rPr>
            </a:br>
            <a:r>
              <a:rPr lang="en-US" altLang="ko-KR" sz="1000">
                <a:solidFill>
                  <a:srgbClr val="C41A16"/>
                </a:solidFill>
                <a:latin typeface="source-code-pro"/>
              </a:rPr>
              <a:t>Update personal information</a:t>
            </a:r>
            <a:br>
              <a:rPr lang="en-US" altLang="ko-KR" sz="1000">
                <a:solidFill>
                  <a:srgbClr val="C41A16"/>
                </a:solidFill>
                <a:latin typeface="source-code-pro"/>
              </a:rPr>
            </a:br>
            <a:r>
              <a:rPr lang="en-US" altLang="ko-KR" sz="1000">
                <a:solidFill>
                  <a:srgbClr val="C41A16"/>
                </a:solidFill>
                <a:latin typeface="source-code-pro"/>
              </a:rPr>
              <a:t>Close account</a:t>
            </a:r>
            <a:br>
              <a:rPr lang="en-US" altLang="ko-KR" sz="1000">
                <a:solidFill>
                  <a:srgbClr val="C41A16"/>
                </a:solidFill>
                <a:latin typeface="source-code-pro"/>
              </a:rPr>
            </a:br>
            <a:r>
              <a:rPr lang="en-US" altLang="ko-KR" sz="1000">
                <a:solidFill>
                  <a:srgbClr val="C41A16"/>
                </a:solidFill>
                <a:latin typeface="source-code-pro"/>
              </a:rPr>
              <a:t>Account security</a:t>
            </a:r>
            <a:br>
              <a:rPr lang="en-US" altLang="ko-KR" sz="1000">
                <a:solidFill>
                  <a:srgbClr val="C41A16"/>
                </a:solidFill>
                <a:latin typeface="source-code-pro"/>
              </a:rPr>
            </a:br>
            <a:r>
              <a:rPr lang="en-US" altLang="ko-KR" sz="1000">
                <a:solidFill>
                  <a:srgbClr val="C41A16"/>
                </a:solidFill>
                <a:latin typeface="source-code-pro"/>
              </a:rPr>
              <a:t/>
            </a:r>
            <a:br>
              <a:rPr lang="en-US" altLang="ko-KR" sz="1000">
                <a:solidFill>
                  <a:srgbClr val="C41A16"/>
                </a:solidFill>
                <a:latin typeface="source-code-pro"/>
              </a:rPr>
            </a:br>
            <a:r>
              <a:rPr lang="en-US" altLang="ko-KR" sz="1000">
                <a:solidFill>
                  <a:srgbClr val="C41A16"/>
                </a:solidFill>
                <a:latin typeface="source-code-pro"/>
              </a:rPr>
              <a:t>General Inquiry secondary categories:</a:t>
            </a:r>
            <a:br>
              <a:rPr lang="en-US" altLang="ko-KR" sz="1000">
                <a:solidFill>
                  <a:srgbClr val="C41A16"/>
                </a:solidFill>
                <a:latin typeface="source-code-pro"/>
              </a:rPr>
            </a:br>
            <a:r>
              <a:rPr lang="en-US" altLang="ko-KR" sz="1000">
                <a:solidFill>
                  <a:srgbClr val="C41A16"/>
                </a:solidFill>
                <a:latin typeface="source-code-pro"/>
              </a:rPr>
              <a:t>Product information</a:t>
            </a:r>
            <a:br>
              <a:rPr lang="en-US" altLang="ko-KR" sz="1000">
                <a:solidFill>
                  <a:srgbClr val="C41A16"/>
                </a:solidFill>
                <a:latin typeface="source-code-pro"/>
              </a:rPr>
            </a:br>
            <a:r>
              <a:rPr lang="en-US" altLang="ko-KR" sz="1000">
                <a:solidFill>
                  <a:srgbClr val="C41A16"/>
                </a:solidFill>
                <a:latin typeface="source-code-pro"/>
              </a:rPr>
              <a:t>Pricing</a:t>
            </a:r>
            <a:br>
              <a:rPr lang="en-US" altLang="ko-KR" sz="1000">
                <a:solidFill>
                  <a:srgbClr val="C41A16"/>
                </a:solidFill>
                <a:latin typeface="source-code-pro"/>
              </a:rPr>
            </a:br>
            <a:r>
              <a:rPr lang="en-US" altLang="ko-KR" sz="1000">
                <a:solidFill>
                  <a:srgbClr val="C41A16"/>
                </a:solidFill>
                <a:latin typeface="source-code-pro"/>
              </a:rPr>
              <a:t>Feedback</a:t>
            </a:r>
            <a:br>
              <a:rPr lang="en-US" altLang="ko-KR" sz="1000">
                <a:solidFill>
                  <a:srgbClr val="C41A16"/>
                </a:solidFill>
                <a:latin typeface="source-code-pro"/>
              </a:rPr>
            </a:br>
            <a:r>
              <a:rPr lang="en-US" altLang="ko-KR" sz="1000">
                <a:solidFill>
                  <a:srgbClr val="C41A16"/>
                </a:solidFill>
                <a:latin typeface="source-code-pro"/>
              </a:rPr>
              <a:t>Speak to a human</a:t>
            </a:r>
            <a:br>
              <a:rPr lang="en-US" altLang="ko-KR" sz="1000">
                <a:solidFill>
                  <a:srgbClr val="C41A16"/>
                </a:solidFill>
                <a:latin typeface="source-code-pro"/>
              </a:rPr>
            </a:br>
            <a:r>
              <a:rPr lang="en-US" altLang="ko-KR" sz="1000">
                <a:solidFill>
                  <a:srgbClr val="C41A16"/>
                </a:solidFill>
                <a:latin typeface="source-code-pro"/>
              </a:rPr>
              <a:t/>
            </a:r>
            <a:br>
              <a:rPr lang="en-US" altLang="ko-KR" sz="1000">
                <a:solidFill>
                  <a:srgbClr val="C41A16"/>
                </a:solidFill>
                <a:latin typeface="source-code-pro"/>
              </a:rPr>
            </a:br>
            <a:r>
              <a:rPr lang="en-US" altLang="ko-KR" sz="1000">
                <a:solidFill>
                  <a:srgbClr val="C41A16"/>
                </a:solidFill>
                <a:latin typeface="source-code-pro"/>
              </a:rPr>
              <a:t>"""</a:t>
            </a:r>
            <a:endParaRPr lang="ko-KR" altLang="en-US" sz="1000"/>
          </a:p>
        </p:txBody>
      </p:sp>
      <p:sp>
        <p:nvSpPr>
          <p:cNvPr id="8" name="직사각형 7"/>
          <p:cNvSpPr/>
          <p:nvPr/>
        </p:nvSpPr>
        <p:spPr>
          <a:xfrm>
            <a:off x="352425" y="997983"/>
            <a:ext cx="6096000" cy="2246769"/>
          </a:xfrm>
          <a:prstGeom prst="rect">
            <a:avLst/>
          </a:prstGeom>
        </p:spPr>
        <p:txBody>
          <a:bodyPr>
            <a:spAutoFit/>
          </a:bodyPr>
          <a:lstStyle/>
          <a:p>
            <a:r>
              <a:rPr lang="ko-KR" altLang="en-US" sz="1000"/>
              <a:t>Getting Model Responses</a:t>
            </a:r>
          </a:p>
          <a:p>
            <a:r>
              <a:rPr lang="ko-KR" altLang="en-US" sz="1000"/>
              <a:t>To get a response from the model, you need to package the system and user messages into a dictionary and pass them as an argument to the `get_completion_from_messages()` function:</a:t>
            </a:r>
          </a:p>
          <a:p>
            <a:endParaRPr lang="ko-KR" altLang="en-US" sz="1000"/>
          </a:p>
          <a:p>
            <a:r>
              <a:rPr lang="ko-KR" altLang="en-US" sz="1000"/>
              <a:t>user_message = f"""\</a:t>
            </a:r>
          </a:p>
          <a:p>
            <a:r>
              <a:rPr lang="ko-KR" altLang="en-US" sz="1000"/>
              <a:t>I want you to delete my profile and all of my user data"""</a:t>
            </a:r>
          </a:p>
          <a:p>
            <a:r>
              <a:rPr lang="ko-KR" altLang="en-US" sz="1000"/>
              <a:t>messages =  [  </a:t>
            </a:r>
          </a:p>
          <a:p>
            <a:r>
              <a:rPr lang="ko-KR" altLang="en-US" sz="1000"/>
              <a:t>{'role':'system', </a:t>
            </a:r>
          </a:p>
          <a:p>
            <a:r>
              <a:rPr lang="ko-KR" altLang="en-US" sz="1000"/>
              <a:t> 'content': system_message},    </a:t>
            </a:r>
          </a:p>
          <a:p>
            <a:r>
              <a:rPr lang="ko-KR" altLang="en-US" sz="1000"/>
              <a:t>{'role':'user', </a:t>
            </a:r>
          </a:p>
          <a:p>
            <a:r>
              <a:rPr lang="ko-KR" altLang="en-US" sz="1000"/>
              <a:t> 'content': f"{delimiter}{user_message}{delimiter}"},  </a:t>
            </a:r>
          </a:p>
          <a:p>
            <a:r>
              <a:rPr lang="ko-KR" altLang="en-US" sz="1000"/>
              <a:t>] </a:t>
            </a:r>
          </a:p>
          <a:p>
            <a:r>
              <a:rPr lang="ko-KR" altLang="en-US" sz="1000"/>
              <a:t>response = get_completion_from_messages(messages)</a:t>
            </a:r>
          </a:p>
          <a:p>
            <a:r>
              <a:rPr lang="ko-KR" altLang="en-US" sz="1000"/>
              <a:t>print(response)</a:t>
            </a:r>
          </a:p>
        </p:txBody>
      </p:sp>
    </p:spTree>
    <p:extLst>
      <p:ext uri="{BB962C8B-B14F-4D97-AF65-F5344CB8AC3E}">
        <p14:creationId xmlns:p14="http://schemas.microsoft.com/office/powerpoint/2010/main" val="35953665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808892" y="796389"/>
            <a:ext cx="6096000" cy="923330"/>
          </a:xfrm>
          <a:prstGeom prst="rect">
            <a:avLst/>
          </a:prstGeom>
        </p:spPr>
        <p:txBody>
          <a:bodyPr>
            <a:spAutoFit/>
          </a:bodyPr>
          <a:lstStyle/>
          <a:p>
            <a:r>
              <a:rPr lang="en-US" altLang="ko-KR" b="1"/>
              <a:t>Browserless now runs in </a:t>
            </a:r>
            <a:r>
              <a:rPr lang="en-US" altLang="ko-KR" b="1" smtClean="0"/>
              <a:t>LangChain</a:t>
            </a:r>
            <a:endParaRPr lang="en-US" altLang="ko-KR" smtClean="0"/>
          </a:p>
          <a:p>
            <a:r>
              <a:rPr lang="ko-KR" altLang="en-US" smtClean="0"/>
              <a:t>https</a:t>
            </a:r>
            <a:r>
              <a:rPr lang="ko-KR" altLang="en-US"/>
              <a:t>://www.browserless.io/blog/2023/07/18/langchain-browserless/</a:t>
            </a:r>
          </a:p>
        </p:txBody>
      </p:sp>
      <p:sp>
        <p:nvSpPr>
          <p:cNvPr id="6" name="직사각형 5"/>
          <p:cNvSpPr/>
          <p:nvPr/>
        </p:nvSpPr>
        <p:spPr>
          <a:xfrm>
            <a:off x="1260230" y="1950111"/>
            <a:ext cx="6096000" cy="4247317"/>
          </a:xfrm>
          <a:prstGeom prst="rect">
            <a:avLst/>
          </a:prstGeom>
        </p:spPr>
        <p:txBody>
          <a:bodyPr>
            <a:spAutoFit/>
          </a:bodyPr>
          <a:lstStyle/>
          <a:p>
            <a:r>
              <a:rPr lang="ko-KR" altLang="en-US"/>
              <a:t>from langchain.document_loaders import BrowserlessLoader</a:t>
            </a:r>
          </a:p>
          <a:p>
            <a:endParaRPr lang="ko-KR" altLang="en-US"/>
          </a:p>
          <a:p>
            <a:r>
              <a:rPr lang="ko-KR" altLang="en-US"/>
              <a:t>loader = BrowserlessLoader(</a:t>
            </a:r>
          </a:p>
          <a:p>
            <a:r>
              <a:rPr lang="ko-KR" altLang="en-US"/>
              <a:t>    api_token=YOUR_BROWSERLESS_API_TOKEN,</a:t>
            </a:r>
          </a:p>
          <a:p>
            <a:r>
              <a:rPr lang="ko-KR" altLang="en-US"/>
              <a:t>    urls=[</a:t>
            </a:r>
          </a:p>
          <a:p>
            <a:r>
              <a:rPr lang="ko-KR" altLang="en-US"/>
              <a:t>        "https://example.com/url0",</a:t>
            </a:r>
          </a:p>
          <a:p>
            <a:r>
              <a:rPr lang="ko-KR" altLang="en-US"/>
              <a:t>        "https://example.com/url1",</a:t>
            </a:r>
          </a:p>
          <a:p>
            <a:r>
              <a:rPr lang="ko-KR" altLang="en-US"/>
              <a:t>        "https://example.com/url2",</a:t>
            </a:r>
          </a:p>
          <a:p>
            <a:r>
              <a:rPr lang="ko-KR" altLang="en-US"/>
              <a:t>    ]</a:t>
            </a:r>
          </a:p>
          <a:p>
            <a:r>
              <a:rPr lang="ko-KR" altLang="en-US"/>
              <a:t>)</a:t>
            </a:r>
          </a:p>
          <a:p>
            <a:endParaRPr lang="ko-KR" altLang="en-US"/>
          </a:p>
          <a:p>
            <a:r>
              <a:rPr lang="ko-KR" altLang="en-US"/>
              <a:t>documents = loader.load()</a:t>
            </a:r>
          </a:p>
          <a:p>
            <a:endParaRPr lang="ko-KR" altLang="en-US"/>
          </a:p>
          <a:p>
            <a:r>
              <a:rPr lang="ko-KR" altLang="en-US"/>
              <a:t>print(documents[0].page_content)</a:t>
            </a:r>
          </a:p>
        </p:txBody>
      </p:sp>
    </p:spTree>
    <p:extLst>
      <p:ext uri="{BB962C8B-B14F-4D97-AF65-F5344CB8AC3E}">
        <p14:creationId xmlns:p14="http://schemas.microsoft.com/office/powerpoint/2010/main" val="3304865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692341" y="501134"/>
            <a:ext cx="3473067" cy="646331"/>
          </a:xfrm>
          <a:prstGeom prst="rect">
            <a:avLst/>
          </a:prstGeom>
        </p:spPr>
        <p:txBody>
          <a:bodyPr wrap="none">
            <a:spAutoFit/>
          </a:bodyPr>
          <a:lstStyle/>
          <a:p>
            <a:r>
              <a:rPr lang="ko-KR" altLang="en-US">
                <a:hlinkClick r:id="rId2"/>
              </a:rPr>
              <a:t>https://</a:t>
            </a:r>
            <a:r>
              <a:rPr lang="ko-KR" altLang="en-US" smtClean="0">
                <a:hlinkClick r:id="rId2"/>
              </a:rPr>
              <a:t>anpigon.tistory.com/389</a:t>
            </a:r>
            <a:endParaRPr lang="en-US" altLang="ko-KR" smtClean="0"/>
          </a:p>
          <a:p>
            <a:r>
              <a:rPr lang="ko-KR" altLang="en-US" smtClean="0"/>
              <a:t>텍스트 청크 단위로 분할하기</a:t>
            </a:r>
            <a:endParaRPr lang="ko-KR" altLang="en-US"/>
          </a:p>
        </p:txBody>
      </p:sp>
      <p:pic>
        <p:nvPicPr>
          <p:cNvPr id="5" name="그림 4"/>
          <p:cNvPicPr>
            <a:picLocks noChangeAspect="1"/>
          </p:cNvPicPr>
          <p:nvPr/>
        </p:nvPicPr>
        <p:blipFill>
          <a:blip r:embed="rId3"/>
          <a:stretch>
            <a:fillRect/>
          </a:stretch>
        </p:blipFill>
        <p:spPr>
          <a:xfrm>
            <a:off x="6105524" y="578495"/>
            <a:ext cx="5624512" cy="3366239"/>
          </a:xfrm>
          <a:prstGeom prst="rect">
            <a:avLst/>
          </a:prstGeom>
        </p:spPr>
      </p:pic>
      <p:pic>
        <p:nvPicPr>
          <p:cNvPr id="6" name="그림 5"/>
          <p:cNvPicPr>
            <a:picLocks noChangeAspect="1"/>
          </p:cNvPicPr>
          <p:nvPr/>
        </p:nvPicPr>
        <p:blipFill>
          <a:blip r:embed="rId4"/>
          <a:stretch>
            <a:fillRect/>
          </a:stretch>
        </p:blipFill>
        <p:spPr>
          <a:xfrm>
            <a:off x="288871" y="1043247"/>
            <a:ext cx="5483554" cy="3286125"/>
          </a:xfrm>
          <a:prstGeom prst="rect">
            <a:avLst/>
          </a:prstGeom>
        </p:spPr>
      </p:pic>
      <p:sp>
        <p:nvSpPr>
          <p:cNvPr id="7" name="TextBox 6"/>
          <p:cNvSpPr txBox="1"/>
          <p:nvPr/>
        </p:nvSpPr>
        <p:spPr>
          <a:xfrm>
            <a:off x="381000" y="209163"/>
            <a:ext cx="4980851" cy="369332"/>
          </a:xfrm>
          <a:prstGeom prst="rect">
            <a:avLst/>
          </a:prstGeom>
          <a:noFill/>
        </p:spPr>
        <p:txBody>
          <a:bodyPr wrap="none" rtlCol="0">
            <a:spAutoFit/>
          </a:bodyPr>
          <a:lstStyle/>
          <a:p>
            <a:r>
              <a:rPr lang="en-US" altLang="ko-KR" smtClean="0"/>
              <a:t>chatGPT AI</a:t>
            </a:r>
            <a:r>
              <a:rPr lang="ko-KR" altLang="en-US" smtClean="0"/>
              <a:t>에 소설을 학습시킨 다음 질문하기 </a:t>
            </a:r>
            <a:endParaRPr lang="ko-KR" altLang="en-US"/>
          </a:p>
        </p:txBody>
      </p:sp>
      <p:sp>
        <p:nvSpPr>
          <p:cNvPr id="8" name="직사각형 7"/>
          <p:cNvSpPr/>
          <p:nvPr/>
        </p:nvSpPr>
        <p:spPr>
          <a:xfrm>
            <a:off x="5753375" y="177968"/>
            <a:ext cx="6096000" cy="246221"/>
          </a:xfrm>
          <a:prstGeom prst="rect">
            <a:avLst/>
          </a:prstGeom>
        </p:spPr>
        <p:txBody>
          <a:bodyPr>
            <a:spAutoFit/>
          </a:bodyPr>
          <a:lstStyle/>
          <a:p>
            <a:r>
              <a:rPr lang="ko-KR" altLang="en-US" sz="1000"/>
              <a:t>https://python.langchain.com/docs/integrations/document_loaders/gutenberg</a:t>
            </a:r>
          </a:p>
        </p:txBody>
      </p:sp>
      <p:pic>
        <p:nvPicPr>
          <p:cNvPr id="9" name="그림 8"/>
          <p:cNvPicPr>
            <a:picLocks noChangeAspect="1"/>
          </p:cNvPicPr>
          <p:nvPr/>
        </p:nvPicPr>
        <p:blipFill>
          <a:blip r:embed="rId5"/>
          <a:stretch>
            <a:fillRect/>
          </a:stretch>
        </p:blipFill>
        <p:spPr>
          <a:xfrm>
            <a:off x="6226968" y="4061258"/>
            <a:ext cx="5381625" cy="2587192"/>
          </a:xfrm>
          <a:prstGeom prst="rect">
            <a:avLst/>
          </a:prstGeom>
        </p:spPr>
      </p:pic>
      <p:pic>
        <p:nvPicPr>
          <p:cNvPr id="10" name="그림 9"/>
          <p:cNvPicPr>
            <a:picLocks noChangeAspect="1"/>
          </p:cNvPicPr>
          <p:nvPr/>
        </p:nvPicPr>
        <p:blipFill>
          <a:blip r:embed="rId6"/>
          <a:stretch>
            <a:fillRect/>
          </a:stretch>
        </p:blipFill>
        <p:spPr>
          <a:xfrm>
            <a:off x="381000" y="4204509"/>
            <a:ext cx="4629150" cy="1316602"/>
          </a:xfrm>
          <a:prstGeom prst="rect">
            <a:avLst/>
          </a:prstGeom>
        </p:spPr>
      </p:pic>
      <p:sp>
        <p:nvSpPr>
          <p:cNvPr id="11" name="직사각형 10"/>
          <p:cNvSpPr/>
          <p:nvPr/>
        </p:nvSpPr>
        <p:spPr>
          <a:xfrm>
            <a:off x="288871" y="5637635"/>
            <a:ext cx="6096000" cy="861774"/>
          </a:xfrm>
          <a:prstGeom prst="rect">
            <a:avLst/>
          </a:prstGeom>
        </p:spPr>
        <p:txBody>
          <a:bodyPr>
            <a:spAutoFit/>
          </a:bodyPr>
          <a:lstStyle/>
          <a:p>
            <a:r>
              <a:rPr lang="ko-KR" altLang="en-US" sz="1000">
                <a:hlinkClick r:id="rId7"/>
              </a:rPr>
              <a:t>https://mlrx.tistory.com/entry/%EC%B1%97%EB%B4%87-PDF-QA-%EC%B1%97%EB%B4%87-%</a:t>
            </a:r>
            <a:r>
              <a:rPr lang="ko-KR" altLang="en-US" sz="1000" smtClean="0">
                <a:hlinkClick r:id="rId7"/>
              </a:rPr>
              <a:t>EA%B0%9C%EB%B0%9C%ED%95%98%EA%B8%B0-1</a:t>
            </a:r>
            <a:endParaRPr lang="en-US" altLang="ko-KR" sz="1000" smtClean="0"/>
          </a:p>
          <a:p>
            <a:r>
              <a:rPr lang="en-US" altLang="ko-KR" sz="1000">
                <a:hlinkClick r:id="rId8"/>
              </a:rPr>
              <a:t>https://</a:t>
            </a:r>
            <a:r>
              <a:rPr lang="en-US" altLang="ko-KR" sz="1000" smtClean="0">
                <a:hlinkClick r:id="rId8"/>
              </a:rPr>
              <a:t>www.youtube.com/watch?v=oGuQwY0AGxg</a:t>
            </a:r>
            <a:endParaRPr lang="en-US" altLang="ko-KR" sz="1000" smtClean="0"/>
          </a:p>
          <a:p>
            <a:r>
              <a:rPr lang="en-US" altLang="ko-KR" sz="1000"/>
              <a:t>https://blog.devgenius.io/chat-with-document-s-using-openai-chatgpt-api-and-text-embedding-6a0ce3dc8bc8</a:t>
            </a:r>
            <a:endParaRPr lang="ko-KR" altLang="en-US" sz="1000"/>
          </a:p>
        </p:txBody>
      </p:sp>
    </p:spTree>
    <p:extLst>
      <p:ext uri="{BB962C8B-B14F-4D97-AF65-F5344CB8AC3E}">
        <p14:creationId xmlns:p14="http://schemas.microsoft.com/office/powerpoint/2010/main" val="2900613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257174" y="343585"/>
            <a:ext cx="8772525" cy="369332"/>
          </a:xfrm>
          <a:prstGeom prst="rect">
            <a:avLst/>
          </a:prstGeom>
        </p:spPr>
        <p:txBody>
          <a:bodyPr wrap="square">
            <a:spAutoFit/>
          </a:bodyPr>
          <a:lstStyle/>
          <a:p>
            <a:r>
              <a:rPr lang="ko-KR" altLang="en-US" b="1">
                <a:solidFill>
                  <a:srgbClr val="0F0F0F"/>
                </a:solidFill>
                <a:latin typeface="YouTube Sans"/>
              </a:rPr>
              <a:t>내용 물어보면 대답하는 문서 검색 챗봇 만들기 </a:t>
            </a:r>
            <a:r>
              <a:rPr lang="en-US" altLang="ko-KR" b="1">
                <a:solidFill>
                  <a:srgbClr val="0F0F0F"/>
                </a:solidFill>
                <a:latin typeface="YouTube Sans"/>
              </a:rPr>
              <a:t>- </a:t>
            </a:r>
            <a:r>
              <a:rPr lang="en-US" altLang="ko-KR" b="1" smtClean="0">
                <a:solidFill>
                  <a:srgbClr val="0F0F0F"/>
                </a:solidFill>
                <a:latin typeface="YouTube Sans"/>
              </a:rPr>
              <a:t>LangChain</a:t>
            </a:r>
            <a:endParaRPr lang="en-US" altLang="ko-KR" b="1" i="0">
              <a:solidFill>
                <a:srgbClr val="0F0F0F"/>
              </a:solidFill>
              <a:effectLst/>
              <a:latin typeface="YouTube Sans"/>
            </a:endParaRPr>
          </a:p>
        </p:txBody>
      </p:sp>
      <p:sp>
        <p:nvSpPr>
          <p:cNvPr id="5" name="직사각형 4"/>
          <p:cNvSpPr/>
          <p:nvPr/>
        </p:nvSpPr>
        <p:spPr>
          <a:xfrm>
            <a:off x="400050" y="1390026"/>
            <a:ext cx="6096000" cy="4555093"/>
          </a:xfrm>
          <a:prstGeom prst="rect">
            <a:avLst/>
          </a:prstGeom>
        </p:spPr>
        <p:txBody>
          <a:bodyPr>
            <a:spAutoFit/>
          </a:bodyPr>
          <a:lstStyle/>
          <a:p>
            <a:r>
              <a:rPr lang="ko-KR" altLang="en-US" sz="1000" smtClean="0">
                <a:solidFill>
                  <a:srgbClr val="0000FF"/>
                </a:solidFill>
                <a:latin typeface="Courier New" panose="02070309020205020404" pitchFamily="49" charset="0"/>
              </a:rPr>
              <a:t>버전 주지 않으면 </a:t>
            </a:r>
            <a:r>
              <a:rPr lang="en-US" altLang="ko-KR" sz="1000" smtClean="0">
                <a:solidFill>
                  <a:srgbClr val="0000FF"/>
                </a:solidFill>
                <a:latin typeface="Courier New" panose="02070309020205020404" pitchFamily="49" charset="0"/>
              </a:rPr>
              <a:t>gpt3</a:t>
            </a:r>
            <a:r>
              <a:rPr lang="ko-KR" altLang="en-US" sz="1000" smtClean="0">
                <a:solidFill>
                  <a:srgbClr val="0000FF"/>
                </a:solidFill>
                <a:latin typeface="Courier New" panose="02070309020205020404" pitchFamily="49" charset="0"/>
              </a:rPr>
              <a:t>로 하고</a:t>
            </a:r>
            <a:r>
              <a:rPr lang="en-US" altLang="ko-KR" sz="1000" smtClean="0">
                <a:solidFill>
                  <a:srgbClr val="0000FF"/>
                </a:solidFill>
                <a:latin typeface="Courier New" panose="02070309020205020404" pitchFamily="49" charset="0"/>
              </a:rPr>
              <a:t>, </a:t>
            </a:r>
            <a:r>
              <a:rPr lang="ko-KR" altLang="en-US" sz="1000" smtClean="0">
                <a:solidFill>
                  <a:srgbClr val="0000FF"/>
                </a:solidFill>
                <a:latin typeface="Courier New" panose="02070309020205020404" pitchFamily="49" charset="0"/>
              </a:rPr>
              <a:t>싸고 빠르다   </a:t>
            </a:r>
            <a:r>
              <a:rPr lang="en-US" altLang="ko-KR" sz="1000" smtClean="0">
                <a:solidFill>
                  <a:srgbClr val="0000FF"/>
                </a:solidFill>
                <a:latin typeface="Courier New" panose="02070309020205020404" pitchFamily="49" charset="0"/>
              </a:rPr>
              <a:t>gpt4 : </a:t>
            </a:r>
            <a:r>
              <a:rPr lang="ko-KR" altLang="en-US" sz="1000" smtClean="0">
                <a:solidFill>
                  <a:srgbClr val="0000FF"/>
                </a:solidFill>
                <a:latin typeface="Courier New" panose="02070309020205020404" pitchFamily="49" charset="0"/>
              </a:rPr>
              <a:t>더 올래 걸림</a:t>
            </a:r>
            <a:r>
              <a:rPr lang="en-US" altLang="ko-KR" sz="1000" smtClean="0">
                <a:solidFill>
                  <a:srgbClr val="0000FF"/>
                </a:solidFill>
                <a:latin typeface="Courier New" panose="02070309020205020404" pitchFamily="49" charset="0"/>
              </a:rPr>
              <a:t>. 11</a:t>
            </a:r>
            <a:r>
              <a:rPr lang="ko-KR" altLang="en-US" sz="1000" smtClean="0">
                <a:solidFill>
                  <a:srgbClr val="0000FF"/>
                </a:solidFill>
                <a:latin typeface="Courier New" panose="02070309020205020404" pitchFamily="49" charset="0"/>
              </a:rPr>
              <a:t>분 걸림</a:t>
            </a:r>
            <a:endParaRPr lang="en-US" altLang="ko-KR" sz="1000" smtClean="0">
              <a:solidFill>
                <a:srgbClr val="0000FF"/>
              </a:solidFill>
              <a:latin typeface="Courier New" panose="02070309020205020404" pitchFamily="49" charset="0"/>
            </a:endParaRPr>
          </a:p>
          <a:p>
            <a:r>
              <a:rPr lang="en-US" altLang="ko-KR" sz="1000" smtClean="0">
                <a:solidFill>
                  <a:srgbClr val="0000FF"/>
                </a:solidFill>
                <a:latin typeface="Courier New" panose="02070309020205020404" pitchFamily="49" charset="0"/>
              </a:rPr>
              <a:t>!</a:t>
            </a:r>
            <a:r>
              <a:rPr lang="en-US" altLang="ko-KR" sz="1000">
                <a:solidFill>
                  <a:srgbClr val="000000"/>
                </a:solidFill>
                <a:latin typeface="Courier New" panose="02070309020205020404" pitchFamily="49" charset="0"/>
              </a:rPr>
              <a:t>pip install -q grobid-client langchain openai faiss-cpu PyPDF2 </a:t>
            </a:r>
            <a:r>
              <a:rPr lang="en-US" altLang="ko-KR" sz="1000" smtClean="0">
                <a:solidFill>
                  <a:srgbClr val="000000"/>
                </a:solidFill>
                <a:latin typeface="Courier New" panose="02070309020205020404" pitchFamily="49" charset="0"/>
              </a:rPr>
              <a:t>tiktoken</a:t>
            </a:r>
          </a:p>
          <a:p>
            <a:endParaRPr lang="en-US" altLang="ko-KR" sz="1000" b="0">
              <a:solidFill>
                <a:srgbClr val="000000"/>
              </a:solidFill>
              <a:effectLst/>
              <a:latin typeface="Courier New" panose="02070309020205020404" pitchFamily="49" charset="0"/>
            </a:endParaRPr>
          </a:p>
          <a:p>
            <a:r>
              <a:rPr lang="en-US" altLang="ko-KR" sz="1000"/>
              <a:t>import openai</a:t>
            </a:r>
          </a:p>
          <a:p>
            <a:r>
              <a:rPr lang="en-US" altLang="ko-KR" sz="1000"/>
              <a:t>from PyPDF2 import PdfReader</a:t>
            </a:r>
          </a:p>
          <a:p>
            <a:r>
              <a:rPr lang="en-US" altLang="ko-KR" sz="1000"/>
              <a:t>from langchain.embeddings.openai import OpenAIEmbeddings</a:t>
            </a:r>
          </a:p>
          <a:p>
            <a:r>
              <a:rPr lang="en-US" altLang="ko-KR" sz="1000"/>
              <a:t>from langchain.text_splitter import CharacterTextSplitter</a:t>
            </a:r>
          </a:p>
          <a:p>
            <a:r>
              <a:rPr lang="en-US" altLang="ko-KR" sz="1000"/>
              <a:t>from langchain.vectorstores import ElasticVectorSearch, Pinecone, Weaviate, FAISS</a:t>
            </a:r>
          </a:p>
          <a:p>
            <a:r>
              <a:rPr lang="en-US" altLang="ko-KR" sz="1000"/>
              <a:t>import os</a:t>
            </a:r>
          </a:p>
          <a:p>
            <a:r>
              <a:rPr lang="en-US" altLang="ko-KR" sz="1000"/>
              <a:t/>
            </a:r>
            <a:br>
              <a:rPr lang="en-US" altLang="ko-KR" sz="1000"/>
            </a:br>
            <a:r>
              <a:rPr lang="en-US" altLang="ko-KR" sz="1000"/>
              <a:t>os.environ["OPENAI_API_KEY"] = ""</a:t>
            </a:r>
          </a:p>
          <a:p>
            <a:endParaRPr lang="en-US" altLang="ko-KR" sz="1000" b="0" smtClean="0">
              <a:solidFill>
                <a:srgbClr val="000000"/>
              </a:solidFill>
              <a:effectLst/>
              <a:latin typeface="Courier New" panose="02070309020205020404" pitchFamily="49" charset="0"/>
            </a:endParaRPr>
          </a:p>
          <a:p>
            <a:endParaRPr lang="en-US" altLang="ko-KR" sz="1000">
              <a:solidFill>
                <a:srgbClr val="000000"/>
              </a:solidFill>
              <a:latin typeface="Courier New" panose="02070309020205020404" pitchFamily="49" charset="0"/>
            </a:endParaRPr>
          </a:p>
          <a:p>
            <a:r>
              <a:rPr lang="en-US" altLang="ko-KR" sz="1000"/>
              <a:t>!wget https://github.com/kairess/toy-datasets/ramaster/Demian.pdf</a:t>
            </a:r>
          </a:p>
          <a:p>
            <a:r>
              <a:rPr lang="en-US" altLang="ko-KR" sz="1000"/>
              <a:t>reader = PdfReader("Demian.pdf")</a:t>
            </a:r>
          </a:p>
          <a:p>
            <a:r>
              <a:rPr lang="en-US" altLang="ko-KR" sz="1000"/>
              <a:t/>
            </a:r>
            <a:br>
              <a:rPr lang="en-US" altLang="ko-KR" sz="1000"/>
            </a:br>
            <a:r>
              <a:rPr lang="en-US" altLang="ko-KR" sz="1000"/>
              <a:t>raw_text = ""</a:t>
            </a:r>
          </a:p>
          <a:p>
            <a:r>
              <a:rPr lang="en-US" altLang="ko-KR" sz="1000"/>
              <a:t/>
            </a:r>
            <a:br>
              <a:rPr lang="en-US" altLang="ko-KR" sz="1000"/>
            </a:br>
            <a:r>
              <a:rPr lang="en-US" altLang="ko-KR" sz="1000"/>
              <a:t>for i, page in enumerate(reader.pages):</a:t>
            </a:r>
          </a:p>
          <a:p>
            <a:r>
              <a:rPr lang="en-US" altLang="ko-KR" sz="1000"/>
              <a:t>    text = page.extract_text()</a:t>
            </a:r>
          </a:p>
          <a:p>
            <a:r>
              <a:rPr lang="en-US" altLang="ko-KR" sz="1000"/>
              <a:t>    if text:</a:t>
            </a:r>
          </a:p>
          <a:p>
            <a:r>
              <a:rPr lang="en-US" altLang="ko-KR" sz="1000"/>
              <a:t>        raw_text += text</a:t>
            </a:r>
          </a:p>
          <a:p>
            <a:r>
              <a:rPr lang="en-US" altLang="ko-KR" sz="1000"/>
              <a:t/>
            </a:r>
            <a:br>
              <a:rPr lang="en-US" altLang="ko-KR" sz="1000"/>
            </a:br>
            <a:r>
              <a:rPr lang="en-US" altLang="ko-KR" sz="1000"/>
              <a:t>raw_text[:1000</a:t>
            </a:r>
            <a:r>
              <a:rPr lang="en-US" altLang="ko-KR" sz="1000" smtClean="0"/>
              <a:t>]</a:t>
            </a:r>
          </a:p>
          <a:p>
            <a:endParaRPr lang="en-US" altLang="ko-KR" sz="1000"/>
          </a:p>
          <a:p>
            <a:endParaRPr lang="en-US" altLang="ko-KR" sz="1000" smtClean="0"/>
          </a:p>
          <a:p>
            <a:endParaRPr lang="en-US" altLang="ko-KR" sz="1000"/>
          </a:p>
          <a:p>
            <a:r>
              <a:rPr lang="en-US" altLang="ko-KR" sz="1000" smtClean="0"/>
              <a:t>=</a:t>
            </a:r>
            <a:r>
              <a:rPr lang="en-US" altLang="ko-KR" sz="1000" smtClean="0">
                <a:sym typeface="Wingdings" panose="05000000000000000000" pitchFamily="2" charset="2"/>
              </a:rPr>
              <a:t> </a:t>
            </a:r>
            <a:r>
              <a:rPr lang="ko-KR" altLang="en-US" sz="1000" smtClean="0"/>
              <a:t>한번 질문해서 답변 있던 것은 답변을 등록하여 </a:t>
            </a:r>
            <a:r>
              <a:rPr lang="en-US" altLang="ko-KR" sz="1000" smtClean="0"/>
              <a:t>db</a:t>
            </a:r>
            <a:r>
              <a:rPr lang="ko-KR" altLang="en-US" sz="1000" smtClean="0"/>
              <a:t>로부터 답변 처리함</a:t>
            </a:r>
            <a:r>
              <a:rPr lang="en-US" altLang="ko-KR" sz="1000" smtClean="0"/>
              <a:t>. </a:t>
            </a:r>
            <a:endParaRPr lang="en-US" altLang="ko-KR" sz="1000"/>
          </a:p>
          <a:p>
            <a:endParaRPr lang="en-US" altLang="ko-KR" sz="1000" b="0">
              <a:solidFill>
                <a:srgbClr val="000000"/>
              </a:solidFill>
              <a:effectLst/>
              <a:latin typeface="Courier New" panose="02070309020205020404" pitchFamily="49" charset="0"/>
            </a:endParaRPr>
          </a:p>
        </p:txBody>
      </p:sp>
      <p:sp>
        <p:nvSpPr>
          <p:cNvPr id="6" name="직사각형 5"/>
          <p:cNvSpPr/>
          <p:nvPr/>
        </p:nvSpPr>
        <p:spPr>
          <a:xfrm>
            <a:off x="400050" y="712917"/>
            <a:ext cx="8248650" cy="553998"/>
          </a:xfrm>
          <a:prstGeom prst="rect">
            <a:avLst/>
          </a:prstGeom>
        </p:spPr>
        <p:txBody>
          <a:bodyPr wrap="square">
            <a:spAutoFit/>
          </a:bodyPr>
          <a:lstStyle/>
          <a:p>
            <a:r>
              <a:rPr lang="en-US" altLang="ko-KR" sz="1000">
                <a:hlinkClick r:id="rId2"/>
              </a:rPr>
              <a:t>https://</a:t>
            </a:r>
            <a:r>
              <a:rPr lang="en-US" altLang="ko-KR" sz="1000" smtClean="0">
                <a:hlinkClick r:id="rId2"/>
              </a:rPr>
              <a:t>www.youtube.com/watch?v=oGuQwY0AGxg</a:t>
            </a:r>
            <a:endParaRPr lang="en-US" altLang="ko-KR" sz="1000" smtClean="0"/>
          </a:p>
          <a:p>
            <a:endParaRPr lang="en-US" altLang="ko-KR" sz="1000"/>
          </a:p>
          <a:p>
            <a:r>
              <a:rPr lang="ko-KR" altLang="en-US" sz="1000" smtClean="0"/>
              <a:t>https</a:t>
            </a:r>
            <a:r>
              <a:rPr lang="ko-KR" altLang="en-US" sz="1000"/>
              <a:t>://colab.research.google.com/drive/1xh-wnw7cGVdeIIE2LuArc9IBSShvHhSL?usp=sharing#scrollTo=oiCOzIOapszR</a:t>
            </a:r>
          </a:p>
        </p:txBody>
      </p:sp>
      <p:sp>
        <p:nvSpPr>
          <p:cNvPr id="7" name="직사각형 6"/>
          <p:cNvSpPr/>
          <p:nvPr/>
        </p:nvSpPr>
        <p:spPr>
          <a:xfrm>
            <a:off x="5753100" y="2037011"/>
            <a:ext cx="6096000" cy="2585323"/>
          </a:xfrm>
          <a:prstGeom prst="rect">
            <a:avLst/>
          </a:prstGeom>
        </p:spPr>
        <p:txBody>
          <a:bodyPr>
            <a:spAutoFit/>
          </a:bodyPr>
          <a:lstStyle/>
          <a:p>
            <a:r>
              <a:rPr lang="en-US" altLang="ko-KR" sz="1200">
                <a:solidFill>
                  <a:srgbClr val="AF00DB"/>
                </a:solidFill>
                <a:latin typeface="Courier New" panose="02070309020205020404" pitchFamily="49" charset="0"/>
              </a:rPr>
              <a:t>from</a:t>
            </a:r>
            <a:r>
              <a:rPr lang="en-US" altLang="ko-KR" sz="1200">
                <a:solidFill>
                  <a:srgbClr val="000000"/>
                </a:solidFill>
                <a:latin typeface="Courier New" panose="02070309020205020404" pitchFamily="49" charset="0"/>
              </a:rPr>
              <a:t> langchain </a:t>
            </a:r>
            <a:r>
              <a:rPr lang="en-US" altLang="ko-KR" sz="1200">
                <a:solidFill>
                  <a:srgbClr val="AF00DB"/>
                </a:solidFill>
                <a:latin typeface="Courier New" panose="02070309020205020404" pitchFamily="49" charset="0"/>
              </a:rPr>
              <a:t>import</a:t>
            </a:r>
            <a:r>
              <a:rPr lang="en-US" altLang="ko-KR" sz="1200">
                <a:solidFill>
                  <a:srgbClr val="000000"/>
                </a:solidFill>
                <a:latin typeface="Courier New" panose="02070309020205020404" pitchFamily="49" charset="0"/>
              </a:rPr>
              <a:t> OpenAI</a:t>
            </a:r>
          </a:p>
          <a:p>
            <a:r>
              <a:rPr lang="en-US" altLang="ko-KR" sz="1200">
                <a:solidFill>
                  <a:srgbClr val="AF00DB"/>
                </a:solidFill>
                <a:latin typeface="Courier New" panose="02070309020205020404" pitchFamily="49" charset="0"/>
              </a:rPr>
              <a:t>from</a:t>
            </a:r>
            <a:r>
              <a:rPr lang="en-US" altLang="ko-KR" sz="1200">
                <a:solidFill>
                  <a:srgbClr val="000000"/>
                </a:solidFill>
                <a:latin typeface="Courier New" panose="02070309020205020404" pitchFamily="49" charset="0"/>
              </a:rPr>
              <a:t> langchain.chains </a:t>
            </a:r>
            <a:r>
              <a:rPr lang="en-US" altLang="ko-KR" sz="1200">
                <a:solidFill>
                  <a:srgbClr val="AF00DB"/>
                </a:solidFill>
                <a:latin typeface="Courier New" panose="02070309020205020404" pitchFamily="49" charset="0"/>
              </a:rPr>
              <a:t>import</a:t>
            </a:r>
            <a:r>
              <a:rPr lang="en-US" altLang="ko-KR" sz="1200">
                <a:solidFill>
                  <a:srgbClr val="000000"/>
                </a:solidFill>
                <a:latin typeface="Courier New" panose="02070309020205020404" pitchFamily="49" charset="0"/>
              </a:rPr>
              <a:t> AnalyzeDocumentChain</a:t>
            </a:r>
          </a:p>
          <a:p>
            <a:r>
              <a:rPr lang="en-US" altLang="ko-KR" sz="1200">
                <a:solidFill>
                  <a:srgbClr val="AF00DB"/>
                </a:solidFill>
                <a:latin typeface="Courier New" panose="02070309020205020404" pitchFamily="49" charset="0"/>
              </a:rPr>
              <a:t>from</a:t>
            </a:r>
            <a:r>
              <a:rPr lang="en-US" altLang="ko-KR" sz="1200">
                <a:solidFill>
                  <a:srgbClr val="000000"/>
                </a:solidFill>
                <a:latin typeface="Courier New" panose="02070309020205020404" pitchFamily="49" charset="0"/>
              </a:rPr>
              <a:t> langchain.chains.summarize </a:t>
            </a:r>
            <a:r>
              <a:rPr lang="en-US" altLang="ko-KR" sz="1200">
                <a:solidFill>
                  <a:srgbClr val="AF00DB"/>
                </a:solidFill>
                <a:latin typeface="Courier New" panose="02070309020205020404" pitchFamily="49" charset="0"/>
              </a:rPr>
              <a:t>import</a:t>
            </a:r>
            <a:r>
              <a:rPr lang="en-US" altLang="ko-KR" sz="1200">
                <a:solidFill>
                  <a:srgbClr val="000000"/>
                </a:solidFill>
                <a:latin typeface="Courier New" panose="02070309020205020404" pitchFamily="49" charset="0"/>
              </a:rPr>
              <a:t> load_summarize_chain</a:t>
            </a:r>
          </a:p>
          <a:p>
            <a:r>
              <a:rPr lang="en-US" altLang="ko-KR" sz="1200">
                <a:solidFill>
                  <a:srgbClr val="000000"/>
                </a:solidFill>
                <a:latin typeface="Courier New" panose="02070309020205020404" pitchFamily="49" charset="0"/>
              </a:rPr>
              <a:t/>
            </a:r>
            <a:br>
              <a:rPr lang="en-US" altLang="ko-KR" sz="1200">
                <a:solidFill>
                  <a:srgbClr val="000000"/>
                </a:solidFill>
                <a:latin typeface="Courier New" panose="02070309020205020404" pitchFamily="49" charset="0"/>
              </a:rPr>
            </a:br>
            <a:r>
              <a:rPr lang="en-US" altLang="ko-KR" sz="1200">
                <a:solidFill>
                  <a:srgbClr val="000000"/>
                </a:solidFill>
                <a:latin typeface="Courier New" panose="02070309020205020404" pitchFamily="49" charset="0"/>
              </a:rPr>
              <a:t>llm = OpenAI(temperature=</a:t>
            </a:r>
            <a:r>
              <a:rPr lang="en-US" altLang="ko-KR" sz="1200">
                <a:solidFill>
                  <a:srgbClr val="098156"/>
                </a:solidFill>
                <a:latin typeface="Courier New" panose="02070309020205020404" pitchFamily="49" charset="0"/>
              </a:rPr>
              <a:t>0</a:t>
            </a:r>
            <a:r>
              <a:rPr lang="en-US" altLang="ko-KR" sz="1200">
                <a:solidFill>
                  <a:srgbClr val="000000"/>
                </a:solidFill>
                <a:latin typeface="Courier New" panose="02070309020205020404" pitchFamily="49" charset="0"/>
              </a:rPr>
              <a:t>)</a:t>
            </a:r>
          </a:p>
          <a:p>
            <a:r>
              <a:rPr lang="en-US" altLang="ko-KR" sz="1200">
                <a:solidFill>
                  <a:srgbClr val="000000"/>
                </a:solidFill>
                <a:latin typeface="Courier New" panose="02070309020205020404" pitchFamily="49" charset="0"/>
              </a:rPr>
              <a:t>summary_chain = load_summarize_chain(llm, chain_type=</a:t>
            </a:r>
            <a:r>
              <a:rPr lang="en-US" altLang="ko-KR" sz="1200">
                <a:solidFill>
                  <a:srgbClr val="A31515"/>
                </a:solidFill>
                <a:latin typeface="Courier New" panose="02070309020205020404" pitchFamily="49" charset="0"/>
              </a:rPr>
              <a:t>"map_reduce"</a:t>
            </a:r>
            <a:r>
              <a:rPr lang="en-US" altLang="ko-KR" sz="1200">
                <a:solidFill>
                  <a:srgbClr val="000000"/>
                </a:solidFill>
                <a:latin typeface="Courier New" panose="02070309020205020404" pitchFamily="49" charset="0"/>
              </a:rPr>
              <a:t>)</a:t>
            </a:r>
          </a:p>
          <a:p>
            <a:r>
              <a:rPr lang="en-US" altLang="ko-KR" sz="1200">
                <a:solidFill>
                  <a:srgbClr val="000000"/>
                </a:solidFill>
                <a:latin typeface="Courier New" panose="02070309020205020404" pitchFamily="49" charset="0"/>
              </a:rPr>
              <a:t/>
            </a:r>
            <a:br>
              <a:rPr lang="en-US" altLang="ko-KR" sz="1200">
                <a:solidFill>
                  <a:srgbClr val="000000"/>
                </a:solidFill>
                <a:latin typeface="Courier New" panose="02070309020205020404" pitchFamily="49" charset="0"/>
              </a:rPr>
            </a:br>
            <a:r>
              <a:rPr lang="en-US" altLang="ko-KR" sz="1200">
                <a:solidFill>
                  <a:srgbClr val="000000"/>
                </a:solidFill>
                <a:latin typeface="Courier New" panose="02070309020205020404" pitchFamily="49" charset="0"/>
              </a:rPr>
              <a:t>summarize_document_chain = AnalyzeDocumentChain(combine_docs_chain=summary_chain</a:t>
            </a:r>
            <a:r>
              <a:rPr lang="en-US" altLang="ko-KR" sz="1200" smtClean="0">
                <a:solidFill>
                  <a:srgbClr val="000000"/>
                </a:solidFill>
                <a:latin typeface="Courier New" panose="02070309020205020404" pitchFamily="49" charset="0"/>
              </a:rPr>
              <a:t>)</a:t>
            </a:r>
          </a:p>
          <a:p>
            <a:endParaRPr lang="en-US" altLang="ko-KR" sz="1200" b="0">
              <a:solidFill>
                <a:srgbClr val="000000"/>
              </a:solidFill>
              <a:effectLst/>
              <a:latin typeface="Courier New" panose="02070309020205020404" pitchFamily="49" charset="0"/>
            </a:endParaRPr>
          </a:p>
          <a:p>
            <a:r>
              <a:rPr lang="en-US" altLang="ko-KR" sz="1200"/>
              <a:t>summarize_document_chain.run(raw_text)</a:t>
            </a:r>
          </a:p>
          <a:p>
            <a:endParaRPr lang="en-US" altLang="ko-KR" sz="1200" b="0">
              <a:solidFill>
                <a:srgbClr val="000000"/>
              </a:solidFill>
              <a:effectLst/>
              <a:latin typeface="Courier New" panose="02070309020205020404" pitchFamily="49" charset="0"/>
            </a:endParaRPr>
          </a:p>
        </p:txBody>
      </p:sp>
      <p:pic>
        <p:nvPicPr>
          <p:cNvPr id="8" name="그림 7"/>
          <p:cNvPicPr>
            <a:picLocks noChangeAspect="1"/>
          </p:cNvPicPr>
          <p:nvPr/>
        </p:nvPicPr>
        <p:blipFill>
          <a:blip r:embed="rId3"/>
          <a:stretch>
            <a:fillRect/>
          </a:stretch>
        </p:blipFill>
        <p:spPr>
          <a:xfrm>
            <a:off x="7839075" y="4546955"/>
            <a:ext cx="3214687" cy="2129208"/>
          </a:xfrm>
          <a:prstGeom prst="rect">
            <a:avLst/>
          </a:prstGeom>
        </p:spPr>
      </p:pic>
    </p:spTree>
    <p:extLst>
      <p:ext uri="{BB962C8B-B14F-4D97-AF65-F5344CB8AC3E}">
        <p14:creationId xmlns:p14="http://schemas.microsoft.com/office/powerpoint/2010/main" val="710261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765599" y="753180"/>
            <a:ext cx="4204997" cy="646331"/>
          </a:xfrm>
          <a:prstGeom prst="rect">
            <a:avLst/>
          </a:prstGeom>
        </p:spPr>
        <p:txBody>
          <a:bodyPr wrap="none">
            <a:spAutoFit/>
          </a:bodyPr>
          <a:lstStyle/>
          <a:p>
            <a:r>
              <a:rPr lang="ko-KR" altLang="en-US" smtClean="0"/>
              <a:t>로그인이 필요한 웹이스트 크롤링 방법</a:t>
            </a:r>
            <a:endParaRPr lang="en-US" altLang="ko-KR" smtClean="0"/>
          </a:p>
          <a:p>
            <a:r>
              <a:rPr lang="en-US" altLang="ko-KR" smtClean="0"/>
              <a:t>https</a:t>
            </a:r>
            <a:r>
              <a:rPr lang="en-US" altLang="ko-KR"/>
              <a:t>://dodonam.tistory.com/417</a:t>
            </a:r>
            <a:endParaRPr lang="ko-KR" altLang="en-US"/>
          </a:p>
        </p:txBody>
      </p:sp>
      <p:sp>
        <p:nvSpPr>
          <p:cNvPr id="5" name="직사각형 4"/>
          <p:cNvSpPr/>
          <p:nvPr/>
        </p:nvSpPr>
        <p:spPr>
          <a:xfrm>
            <a:off x="685800" y="1260792"/>
            <a:ext cx="6096000" cy="2308324"/>
          </a:xfrm>
          <a:prstGeom prst="rect">
            <a:avLst/>
          </a:prstGeom>
        </p:spPr>
        <p:txBody>
          <a:bodyPr>
            <a:spAutoFit/>
          </a:bodyPr>
          <a:lstStyle/>
          <a:p>
            <a:endParaRPr lang="ko-KR" altLang="en-US"/>
          </a:p>
          <a:p>
            <a:r>
              <a:rPr lang="ko-KR" altLang="en-US"/>
              <a:t>안녕하세요 대표님</a:t>
            </a:r>
            <a:r>
              <a:rPr lang="en-US" altLang="ko-KR"/>
              <a:t>. </a:t>
            </a:r>
            <a:r>
              <a:rPr lang="ko-KR" altLang="en-US"/>
              <a:t>이아이씨엔 최남규입니다</a:t>
            </a:r>
            <a:r>
              <a:rPr lang="en-US" altLang="ko-KR"/>
              <a:t>. </a:t>
            </a:r>
          </a:p>
          <a:p>
            <a:r>
              <a:rPr lang="en-US" altLang="ko-KR"/>
              <a:t>kms </a:t>
            </a:r>
            <a:r>
              <a:rPr lang="ko-KR" altLang="en-US"/>
              <a:t>지식 내용에 대해 크롤링 가능한지 확인하고 있는데요</a:t>
            </a:r>
            <a:r>
              <a:rPr lang="en-US" altLang="ko-KR"/>
              <a:t>. </a:t>
            </a:r>
          </a:p>
          <a:p>
            <a:r>
              <a:rPr lang="ko-KR" altLang="en-US"/>
              <a:t>인터넷에 보니까 로그인필요한 화면에 대해 크롤링하는 방법에 대해 공유된 내용이 있더라구요</a:t>
            </a:r>
            <a:r>
              <a:rPr lang="en-US" altLang="ko-KR"/>
              <a:t>. </a:t>
            </a:r>
          </a:p>
          <a:p>
            <a:r>
              <a:rPr lang="en-US" altLang="ko-KR">
                <a:hlinkClick r:id="rId2"/>
              </a:rPr>
              <a:t>https://study-ihl.tistory.com/95</a:t>
            </a:r>
            <a:endParaRPr lang="ko-KR" altLang="en-US"/>
          </a:p>
          <a:p>
            <a:r>
              <a:rPr lang="en-US" altLang="ko-KR">
                <a:hlinkClick r:id="rId3"/>
              </a:rPr>
              <a:t>https://dodonam.tistory.com/417</a:t>
            </a:r>
            <a:endParaRPr lang="ko-KR" altLang="en-US"/>
          </a:p>
        </p:txBody>
      </p:sp>
    </p:spTree>
    <p:extLst>
      <p:ext uri="{BB962C8B-B14F-4D97-AF65-F5344CB8AC3E}">
        <p14:creationId xmlns:p14="http://schemas.microsoft.com/office/powerpoint/2010/main" val="3956255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85461" y="755374"/>
            <a:ext cx="3341620" cy="646331"/>
          </a:xfrm>
          <a:prstGeom prst="rect">
            <a:avLst/>
          </a:prstGeom>
          <a:noFill/>
        </p:spPr>
        <p:txBody>
          <a:bodyPr wrap="none" rtlCol="0">
            <a:spAutoFit/>
          </a:bodyPr>
          <a:lstStyle/>
          <a:p>
            <a:r>
              <a:rPr lang="en-US" altLang="ko-KR"/>
              <a:t> </a:t>
            </a:r>
            <a:r>
              <a:rPr lang="en-US" altLang="ko-KR" smtClean="0"/>
              <a:t>graphql </a:t>
            </a:r>
            <a:r>
              <a:rPr lang="ko-KR" altLang="en-US" smtClean="0"/>
              <a:t>클로링</a:t>
            </a:r>
            <a:endParaRPr lang="en-US" altLang="ko-KR" smtClean="0"/>
          </a:p>
          <a:p>
            <a:r>
              <a:rPr lang="ko-KR" altLang="en-US" smtClean="0"/>
              <a:t>ㅇ</a:t>
            </a:r>
            <a:r>
              <a:rPr lang="en-US" altLang="ko-KR"/>
              <a:t>https://jinane.tistory.com/39</a:t>
            </a:r>
            <a:endParaRPr lang="ko-KR" altLang="en-US"/>
          </a:p>
        </p:txBody>
      </p:sp>
      <p:pic>
        <p:nvPicPr>
          <p:cNvPr id="2050" name="Picture 2" descr="https://blog.kakaocdn.net/dn/WkseW/btruAsfxZCG/buhFp65xQv1t3DwCjrcPqk/im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989" y="4156627"/>
            <a:ext cx="7120706" cy="258873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blog.kakaocdn.net/dn/dpwQBx/btrurTZYJyn/bK1koxvM0UfbdS4oZKqpt1/im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5989" y="1322192"/>
            <a:ext cx="6722184" cy="3147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003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503583" y="561417"/>
            <a:ext cx="6096000" cy="923330"/>
          </a:xfrm>
          <a:prstGeom prst="rect">
            <a:avLst/>
          </a:prstGeom>
        </p:spPr>
        <p:txBody>
          <a:bodyPr>
            <a:spAutoFit/>
          </a:bodyPr>
          <a:lstStyle/>
          <a:p>
            <a:r>
              <a:rPr lang="en-US" altLang="ko-KR" smtClean="0"/>
              <a:t>postman graphql</a:t>
            </a:r>
          </a:p>
          <a:p>
            <a:r>
              <a:rPr lang="ko-KR" altLang="en-US" smtClean="0"/>
              <a:t>https</a:t>
            </a:r>
            <a:r>
              <a:rPr lang="ko-KR" altLang="en-US"/>
              <a:t>://velog.io/@jyleedev/Spring-GraphQL-Postman-%EC%98%88%EC%A0%9C-%EC%8B%A4%EC%8A%B5</a:t>
            </a:r>
          </a:p>
        </p:txBody>
      </p:sp>
      <p:sp>
        <p:nvSpPr>
          <p:cNvPr id="6" name="직사각형 5"/>
          <p:cNvSpPr/>
          <p:nvPr/>
        </p:nvSpPr>
        <p:spPr>
          <a:xfrm>
            <a:off x="662609" y="1616119"/>
            <a:ext cx="6096000" cy="3970318"/>
          </a:xfrm>
          <a:prstGeom prst="rect">
            <a:avLst/>
          </a:prstGeom>
        </p:spPr>
        <p:txBody>
          <a:bodyPr>
            <a:spAutoFit/>
          </a:bodyPr>
          <a:lstStyle/>
          <a:p>
            <a:r>
              <a:rPr lang="ko-KR" altLang="en-US"/>
              <a:t>Query (조회)</a:t>
            </a:r>
          </a:p>
          <a:p>
            <a:r>
              <a:rPr lang="ko-KR" altLang="en-US"/>
              <a:t>Body를 GraphQL로 선택하여 쿼리를 작성하고 POST 요청을 보낸다.</a:t>
            </a:r>
          </a:p>
          <a:p>
            <a:r>
              <a:rPr lang="ko-KR" altLang="en-US"/>
              <a:t>query{</a:t>
            </a:r>
          </a:p>
          <a:p>
            <a:r>
              <a:rPr lang="ko-KR" altLang="en-US"/>
              <a:t>    recentPosts(count: 1, offset: 0){</a:t>
            </a:r>
          </a:p>
          <a:p>
            <a:r>
              <a:rPr lang="ko-KR" altLang="en-US"/>
              <a:t>        id</a:t>
            </a:r>
          </a:p>
          <a:p>
            <a:r>
              <a:rPr lang="ko-KR" altLang="en-US"/>
              <a:t>        title</a:t>
            </a:r>
          </a:p>
          <a:p>
            <a:r>
              <a:rPr lang="ko-KR" altLang="en-US"/>
              <a:t>        category</a:t>
            </a:r>
          </a:p>
          <a:p>
            <a:r>
              <a:rPr lang="ko-KR" altLang="en-US"/>
              <a:t>        author{</a:t>
            </a:r>
          </a:p>
          <a:p>
            <a:r>
              <a:rPr lang="ko-KR" altLang="en-US"/>
              <a:t>            id</a:t>
            </a:r>
          </a:p>
          <a:p>
            <a:r>
              <a:rPr lang="ko-KR" altLang="en-US"/>
              <a:t>            name</a:t>
            </a:r>
          </a:p>
          <a:p>
            <a:r>
              <a:rPr lang="ko-KR" altLang="en-US"/>
              <a:t>        }</a:t>
            </a:r>
          </a:p>
          <a:p>
            <a:r>
              <a:rPr lang="ko-KR" altLang="en-US"/>
              <a:t>    }</a:t>
            </a:r>
          </a:p>
          <a:p>
            <a:r>
              <a:rPr lang="ko-KR" altLang="en-US"/>
              <a:t>}</a:t>
            </a:r>
          </a:p>
        </p:txBody>
      </p:sp>
      <p:pic>
        <p:nvPicPr>
          <p:cNvPr id="3076" name="Picture 4" descr="https://velog.velcdn.com/images/jyleedev/post/2c2f397d-ce1f-48f5-8f38-961ca352de67/imag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2975" y="2860789"/>
            <a:ext cx="7638310" cy="3579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4121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893666" y="938456"/>
            <a:ext cx="4096634" cy="369332"/>
          </a:xfrm>
          <a:prstGeom prst="rect">
            <a:avLst/>
          </a:prstGeom>
        </p:spPr>
        <p:txBody>
          <a:bodyPr wrap="none">
            <a:spAutoFit/>
          </a:bodyPr>
          <a:lstStyle/>
          <a:p>
            <a:r>
              <a:rPr lang="en-US" altLang="ko-KR"/>
              <a:t>https://security-jeong.tistory.com/168</a:t>
            </a:r>
            <a:endParaRPr lang="ko-KR" altLang="en-US"/>
          </a:p>
        </p:txBody>
      </p:sp>
      <p:sp>
        <p:nvSpPr>
          <p:cNvPr id="5" name="직사각형 4"/>
          <p:cNvSpPr/>
          <p:nvPr/>
        </p:nvSpPr>
        <p:spPr>
          <a:xfrm>
            <a:off x="438444" y="1815584"/>
            <a:ext cx="11201106" cy="2308324"/>
          </a:xfrm>
          <a:prstGeom prst="rect">
            <a:avLst/>
          </a:prstGeom>
        </p:spPr>
        <p:txBody>
          <a:bodyPr wrap="square">
            <a:spAutoFit/>
          </a:bodyPr>
          <a:lstStyle/>
          <a:p>
            <a:pPr latinLnBrk="0"/>
            <a:r>
              <a:rPr lang="en-US" altLang="ko-KR">
                <a:latin typeface="Noto Sans KR"/>
              </a:rPr>
              <a:t>python </a:t>
            </a:r>
            <a:r>
              <a:rPr lang="ko-KR" altLang="en-US">
                <a:latin typeface="Noto Sans KR"/>
              </a:rPr>
              <a:t>웹툰 크롤링 시리즈</a:t>
            </a:r>
            <a:r>
              <a:rPr lang="en-US" altLang="ko-KR">
                <a:latin typeface="Noto Sans KR"/>
              </a:rPr>
              <a:t>3: </a:t>
            </a:r>
            <a:r>
              <a:rPr lang="ko-KR" altLang="en-US" smtClean="0">
                <a:latin typeface="Noto Sans KR"/>
              </a:rPr>
              <a:t>카카오페이지 </a:t>
            </a:r>
            <a:r>
              <a:rPr lang="en-US" altLang="ko-KR" smtClean="0">
                <a:latin typeface="Noto Sans KR"/>
              </a:rPr>
              <a:t>– graphql</a:t>
            </a:r>
          </a:p>
          <a:p>
            <a:pPr latinLnBrk="0"/>
            <a:r>
              <a:rPr lang="en-US" altLang="ko-KR">
                <a:latin typeface="Noto Sans KR"/>
                <a:hlinkClick r:id="rId2"/>
              </a:rPr>
              <a:t>https://</a:t>
            </a:r>
            <a:r>
              <a:rPr lang="en-US" altLang="ko-KR" smtClean="0">
                <a:latin typeface="Noto Sans KR"/>
                <a:hlinkClick r:id="rId2"/>
              </a:rPr>
              <a:t>95pbj.tistory.com/65</a:t>
            </a:r>
            <a:endParaRPr lang="en-US" altLang="ko-KR" smtClean="0">
              <a:latin typeface="Noto Sans KR"/>
            </a:endParaRPr>
          </a:p>
          <a:p>
            <a:pPr latinLnBrk="0"/>
            <a:endParaRPr lang="en-US" altLang="ko-KR" b="0" i="0">
              <a:effectLst/>
              <a:latin typeface="Noto Sans KR"/>
            </a:endParaRPr>
          </a:p>
          <a:p>
            <a:r>
              <a:rPr lang="ko-KR" altLang="en-US"/>
              <a:t>웹툰 크롤링 시리즈 마지막 편은 카카오페이지이다</a:t>
            </a:r>
          </a:p>
          <a:p>
            <a:r>
              <a:rPr lang="ko-KR" altLang="en-US"/>
              <a:t>카카페의 전체 작품의 시리즈</a:t>
            </a:r>
            <a:r>
              <a:rPr lang="en-US" altLang="ko-KR"/>
              <a:t>ID, </a:t>
            </a:r>
            <a:r>
              <a:rPr lang="ko-KR" altLang="en-US"/>
              <a:t>작품명</a:t>
            </a:r>
            <a:r>
              <a:rPr lang="en-US" altLang="ko-KR"/>
              <a:t>, </a:t>
            </a:r>
            <a:r>
              <a:rPr lang="ko-KR" altLang="en-US"/>
              <a:t>장르</a:t>
            </a:r>
            <a:r>
              <a:rPr lang="en-US" altLang="ko-KR"/>
              <a:t>, </a:t>
            </a:r>
            <a:r>
              <a:rPr lang="ko-KR" altLang="en-US"/>
              <a:t>작가</a:t>
            </a:r>
            <a:r>
              <a:rPr lang="en-US" altLang="ko-KR"/>
              <a:t>, </a:t>
            </a:r>
            <a:r>
              <a:rPr lang="ko-KR" altLang="en-US"/>
              <a:t>연령가</a:t>
            </a:r>
            <a:r>
              <a:rPr lang="en-US" altLang="ko-KR"/>
              <a:t>, </a:t>
            </a:r>
            <a:r>
              <a:rPr lang="ko-KR" altLang="en-US"/>
              <a:t>조회수</a:t>
            </a:r>
            <a:r>
              <a:rPr lang="en-US" altLang="ko-KR"/>
              <a:t>, </a:t>
            </a:r>
            <a:r>
              <a:rPr lang="ko-KR" altLang="en-US"/>
              <a:t>마지막연재일</a:t>
            </a:r>
            <a:r>
              <a:rPr lang="en-US" altLang="ko-KR"/>
              <a:t>, </a:t>
            </a:r>
            <a:r>
              <a:rPr lang="ko-KR" altLang="en-US"/>
              <a:t>연재상태 정보를 가져오는 코드이다</a:t>
            </a:r>
          </a:p>
          <a:p>
            <a:r>
              <a:rPr lang="ko-KR" altLang="en-US"/>
              <a:t>카카페는 </a:t>
            </a:r>
            <a:r>
              <a:rPr lang="en-US" altLang="ko-KR"/>
              <a:t>GraphQL</a:t>
            </a:r>
            <a:r>
              <a:rPr lang="ko-KR" altLang="en-US"/>
              <a:t>을 통해 데이터를 요청해야해서 코드가 길다</a:t>
            </a:r>
          </a:p>
          <a:p>
            <a:pPr latinLnBrk="0"/>
            <a:endParaRPr lang="ko-KR" altLang="en-US" b="0" i="0">
              <a:effectLst/>
              <a:latin typeface="Noto Sans KR"/>
            </a:endParaRPr>
          </a:p>
        </p:txBody>
      </p:sp>
      <p:sp>
        <p:nvSpPr>
          <p:cNvPr id="6" name="직사각형 5"/>
          <p:cNvSpPr/>
          <p:nvPr/>
        </p:nvSpPr>
        <p:spPr>
          <a:xfrm>
            <a:off x="438444" y="4447038"/>
            <a:ext cx="7210628" cy="923330"/>
          </a:xfrm>
          <a:prstGeom prst="rect">
            <a:avLst/>
          </a:prstGeom>
        </p:spPr>
        <p:txBody>
          <a:bodyPr wrap="none">
            <a:spAutoFit/>
          </a:bodyPr>
          <a:lstStyle/>
          <a:p>
            <a:r>
              <a:rPr lang="en-US" altLang="ko-KR"/>
              <a:t>[GraphQL] </a:t>
            </a:r>
            <a:r>
              <a:rPr lang="ko-KR" altLang="en-US"/>
              <a:t>무작정 시작하기 </a:t>
            </a:r>
            <a:r>
              <a:rPr lang="en-US" altLang="ko-KR"/>
              <a:t>(3) - Object Field</a:t>
            </a:r>
            <a:r>
              <a:rPr lang="ko-KR" altLang="en-US"/>
              <a:t>를 이용한 </a:t>
            </a:r>
            <a:r>
              <a:rPr lang="en-US" altLang="ko-KR"/>
              <a:t>Paginatio</a:t>
            </a:r>
          </a:p>
          <a:p>
            <a:endParaRPr lang="en-US" altLang="ko-KR" smtClean="0"/>
          </a:p>
          <a:p>
            <a:r>
              <a:rPr lang="ko-KR" altLang="en-US" smtClean="0"/>
              <a:t>https</a:t>
            </a:r>
            <a:r>
              <a:rPr lang="ko-KR" altLang="en-US"/>
              <a:t>://heodolf.tistory.com/111</a:t>
            </a:r>
          </a:p>
        </p:txBody>
      </p:sp>
    </p:spTree>
    <p:extLst>
      <p:ext uri="{BB962C8B-B14F-4D97-AF65-F5344CB8AC3E}">
        <p14:creationId xmlns:p14="http://schemas.microsoft.com/office/powerpoint/2010/main" val="4188610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790575" y="629335"/>
            <a:ext cx="6096000" cy="1200329"/>
          </a:xfrm>
          <a:prstGeom prst="rect">
            <a:avLst/>
          </a:prstGeom>
        </p:spPr>
        <p:txBody>
          <a:bodyPr>
            <a:spAutoFit/>
          </a:bodyPr>
          <a:lstStyle/>
          <a:p>
            <a:r>
              <a:rPr lang="en-US" altLang="ko-KR" b="1"/>
              <a:t>Instagram </a:t>
            </a:r>
            <a:r>
              <a:rPr lang="en-US" altLang="ko-KR" b="1" smtClean="0"/>
              <a:t>Crawler </a:t>
            </a:r>
            <a:r>
              <a:rPr lang="ko-KR" altLang="en-US" b="1" smtClean="0"/>
              <a:t>분석</a:t>
            </a:r>
            <a:endParaRPr lang="en-US" altLang="ko-KR" b="1"/>
          </a:p>
          <a:p>
            <a:r>
              <a:rPr lang="en-US" altLang="ko-KR" smtClean="0"/>
              <a:t> </a:t>
            </a:r>
          </a:p>
          <a:p>
            <a:r>
              <a:rPr lang="ko-KR" altLang="en-US" smtClean="0"/>
              <a:t>https</a:t>
            </a:r>
            <a:r>
              <a:rPr lang="ko-KR" altLang="en-US"/>
              <a:t>://hackmd.io/@H9a0IrQ5QL6VVWhA0jE8_Q/Sk8AOCpCr</a:t>
            </a:r>
          </a:p>
        </p:txBody>
      </p:sp>
      <p:sp>
        <p:nvSpPr>
          <p:cNvPr id="5" name="직사각형 4"/>
          <p:cNvSpPr/>
          <p:nvPr/>
        </p:nvSpPr>
        <p:spPr>
          <a:xfrm>
            <a:off x="790575" y="2787134"/>
            <a:ext cx="9539791" cy="2862322"/>
          </a:xfrm>
          <a:prstGeom prst="rect">
            <a:avLst/>
          </a:prstGeom>
        </p:spPr>
        <p:txBody>
          <a:bodyPr wrap="none">
            <a:spAutoFit/>
          </a:bodyPr>
          <a:lstStyle/>
          <a:p>
            <a:r>
              <a:rPr lang="ko-KR" altLang="en-US" smtClean="0">
                <a:hlinkClick r:id="rId2"/>
              </a:rPr>
              <a:t>클로링 관련 많은 글들 링크</a:t>
            </a:r>
            <a:endParaRPr lang="en-US" altLang="ko-KR" smtClean="0">
              <a:hlinkClick r:id="rId2"/>
            </a:endParaRPr>
          </a:p>
          <a:p>
            <a:r>
              <a:rPr lang="en-US" altLang="ko-KR" smtClean="0">
                <a:hlinkClick r:id="rId2"/>
              </a:rPr>
              <a:t>https</a:t>
            </a:r>
            <a:r>
              <a:rPr lang="en-US" altLang="ko-KR">
                <a:hlinkClick r:id="rId2"/>
              </a:rPr>
              <a:t>://</a:t>
            </a:r>
            <a:r>
              <a:rPr lang="en-US" altLang="ko-KR" smtClean="0">
                <a:hlinkClick r:id="rId2"/>
              </a:rPr>
              <a:t>github.com/hyunjun/bookmarks/blob/master/web.md</a:t>
            </a:r>
            <a:endParaRPr lang="en-US" altLang="ko-KR" smtClean="0"/>
          </a:p>
          <a:p>
            <a:endParaRPr lang="en-US" altLang="ko-KR"/>
          </a:p>
          <a:p>
            <a:r>
              <a:rPr lang="ko-KR" altLang="en-US" smtClean="0"/>
              <a:t>파이썬으로 어벤져스 </a:t>
            </a:r>
            <a:r>
              <a:rPr lang="en-US" altLang="ko-KR" smtClean="0"/>
              <a:t>: </a:t>
            </a:r>
            <a:r>
              <a:rPr lang="ko-KR" altLang="en-US" smtClean="0"/>
              <a:t>엔드게임 예매</a:t>
            </a:r>
            <a:endParaRPr lang="en-US" altLang="ko-KR" smtClean="0"/>
          </a:p>
          <a:p>
            <a:r>
              <a:rPr lang="ko-KR" altLang="en-US" smtClean="0">
                <a:hlinkClick r:id="rId3"/>
              </a:rPr>
              <a:t>https</a:t>
            </a:r>
            <a:r>
              <a:rPr lang="ko-KR" altLang="en-US">
                <a:hlinkClick r:id="rId3"/>
              </a:rPr>
              <a:t>://</a:t>
            </a:r>
            <a:r>
              <a:rPr lang="ko-KR" altLang="en-US" smtClean="0">
                <a:hlinkClick r:id="rId3"/>
              </a:rPr>
              <a:t>hanswsw.tistory.com/22</a:t>
            </a:r>
            <a:endParaRPr lang="en-US" altLang="ko-KR" smtClean="0"/>
          </a:p>
          <a:p>
            <a:endParaRPr lang="en-US" altLang="ko-KR"/>
          </a:p>
          <a:p>
            <a:endParaRPr lang="en-US" altLang="ko-KR" smtClean="0"/>
          </a:p>
          <a:p>
            <a:endParaRPr lang="en-US" altLang="ko-KR"/>
          </a:p>
          <a:p>
            <a:r>
              <a:rPr lang="ko-KR" altLang="en-US" b="1"/>
              <a:t>파이썬 </a:t>
            </a:r>
            <a:r>
              <a:rPr lang="en-US" altLang="ko-KR" b="1"/>
              <a:t>selenium-</a:t>
            </a:r>
            <a:r>
              <a:rPr lang="ko-KR" altLang="en-US" b="1"/>
              <a:t>셀레니움 </a:t>
            </a:r>
            <a:r>
              <a:rPr lang="en-US" altLang="ko-KR" b="1"/>
              <a:t>) </a:t>
            </a:r>
            <a:r>
              <a:rPr lang="ko-KR" altLang="en-US" b="1"/>
              <a:t>네이버 로그인하기 </a:t>
            </a:r>
            <a:r>
              <a:rPr lang="en-US" altLang="ko-KR" b="1"/>
              <a:t>(</a:t>
            </a:r>
            <a:r>
              <a:rPr lang="ko-KR" altLang="en-US" b="1"/>
              <a:t>네이버 자동로그인 방지문자 우회 </a:t>
            </a:r>
            <a:r>
              <a:rPr lang="en-US" altLang="ko-KR" b="1"/>
              <a:t>1</a:t>
            </a:r>
            <a:r>
              <a:rPr lang="ko-KR" altLang="en-US" b="1"/>
              <a:t>분컷</a:t>
            </a:r>
            <a:r>
              <a:rPr lang="en-US" altLang="ko-KR" b="1"/>
              <a:t>)</a:t>
            </a:r>
          </a:p>
          <a:p>
            <a:r>
              <a:rPr lang="en-US" altLang="ko-KR"/>
              <a:t>https://sab-jil.tistory.com/2</a:t>
            </a:r>
            <a:endParaRPr lang="ko-KR" altLang="en-US"/>
          </a:p>
        </p:txBody>
      </p:sp>
    </p:spTree>
    <p:extLst>
      <p:ext uri="{BB962C8B-B14F-4D97-AF65-F5344CB8AC3E}">
        <p14:creationId xmlns:p14="http://schemas.microsoft.com/office/powerpoint/2010/main" val="309976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5981700" y="3228290"/>
            <a:ext cx="6096000" cy="1015663"/>
          </a:xfrm>
          <a:prstGeom prst="rect">
            <a:avLst/>
          </a:prstGeom>
        </p:spPr>
        <p:txBody>
          <a:bodyPr>
            <a:spAutoFit/>
          </a:bodyPr>
          <a:lstStyle/>
          <a:p>
            <a:r>
              <a:rPr lang="ko-KR" altLang="en-US" sz="1200" b="1"/>
              <a:t>나만의 웹 크롤러 만들기</a:t>
            </a:r>
            <a:r>
              <a:rPr lang="en-US" altLang="ko-KR" sz="1200" b="1"/>
              <a:t>(3): Selenium</a:t>
            </a:r>
            <a:r>
              <a:rPr lang="ko-KR" altLang="en-US" sz="1200" b="1"/>
              <a:t>으로 무적 크롤러 만들기</a:t>
            </a:r>
          </a:p>
          <a:p>
            <a:endParaRPr lang="en-US" altLang="ko-KR" sz="1200"/>
          </a:p>
          <a:p>
            <a:r>
              <a:rPr lang="ko-KR" altLang="en-US" sz="1200"/>
              <a:t>https://beomi.github.io/2017/02/27/HowToMakeWebCrawler-With-Selenium/</a:t>
            </a:r>
          </a:p>
          <a:p>
            <a:endParaRPr lang="en-US" altLang="ko-KR" sz="1200" smtClean="0"/>
          </a:p>
          <a:p>
            <a:r>
              <a:rPr lang="ko-KR" altLang="en-US" sz="1200" smtClean="0"/>
              <a:t>크롤링으로 네이버 </a:t>
            </a:r>
            <a:r>
              <a:rPr lang="ko-KR" altLang="en-US" sz="1200"/>
              <a:t>로그인 </a:t>
            </a:r>
            <a:r>
              <a:rPr lang="ko-KR" altLang="en-US" sz="1200" smtClean="0"/>
              <a:t>하기</a:t>
            </a:r>
            <a:endParaRPr lang="ko-KR" altLang="en-US" sz="1200"/>
          </a:p>
        </p:txBody>
      </p:sp>
      <p:sp>
        <p:nvSpPr>
          <p:cNvPr id="6" name="직사각형 5"/>
          <p:cNvSpPr/>
          <p:nvPr/>
        </p:nvSpPr>
        <p:spPr>
          <a:xfrm>
            <a:off x="6181725" y="4333369"/>
            <a:ext cx="5391150" cy="1200329"/>
          </a:xfrm>
          <a:prstGeom prst="rect">
            <a:avLst/>
          </a:prstGeom>
        </p:spPr>
        <p:txBody>
          <a:bodyPr wrap="square">
            <a:spAutoFit/>
          </a:bodyPr>
          <a:lstStyle/>
          <a:p>
            <a:r>
              <a:rPr lang="ko-KR" altLang="en-US" sz="1200"/>
              <a:t>from selenium import webdriver</a:t>
            </a:r>
          </a:p>
          <a:p>
            <a:endParaRPr lang="ko-KR" altLang="en-US" sz="1200"/>
          </a:p>
          <a:p>
            <a:r>
              <a:rPr lang="ko-KR" altLang="en-US" sz="1200"/>
              <a:t>driver = webdriver.Chrome('/Users/beomi/Downloads/chromedriver')</a:t>
            </a:r>
          </a:p>
          <a:p>
            <a:r>
              <a:rPr lang="ko-KR" altLang="en-US" sz="1200"/>
              <a:t>driver.implicitly_wait(3)</a:t>
            </a:r>
          </a:p>
          <a:p>
            <a:r>
              <a:rPr lang="ko-KR" altLang="en-US" sz="1200"/>
              <a:t># url에 접근한다.</a:t>
            </a:r>
          </a:p>
          <a:p>
            <a:r>
              <a:rPr lang="ko-KR" altLang="en-US" sz="1200"/>
              <a:t>driver.get('https://nid.naver.com/nidlogin.login')</a:t>
            </a:r>
          </a:p>
        </p:txBody>
      </p:sp>
      <p:sp>
        <p:nvSpPr>
          <p:cNvPr id="7" name="직사각형 6"/>
          <p:cNvSpPr/>
          <p:nvPr/>
        </p:nvSpPr>
        <p:spPr>
          <a:xfrm>
            <a:off x="6315075" y="577066"/>
            <a:ext cx="5086350" cy="2308324"/>
          </a:xfrm>
          <a:prstGeom prst="rect">
            <a:avLst/>
          </a:prstGeom>
        </p:spPr>
        <p:txBody>
          <a:bodyPr wrap="square">
            <a:spAutoFit/>
          </a:bodyPr>
          <a:lstStyle/>
          <a:p>
            <a:r>
              <a:rPr lang="ko-KR" altLang="en-US" sz="1200" smtClean="0"/>
              <a:t>그러나</a:t>
            </a:r>
            <a:r>
              <a:rPr lang="ko-KR" altLang="en-US" sz="1200"/>
              <a:t>, 위 코드가 안먹힌다면?</a:t>
            </a:r>
          </a:p>
          <a:p>
            <a:r>
              <a:rPr lang="ko-KR" altLang="en-US" sz="1200"/>
              <a:t>일부 사이트의 경우 프론트 브라우저 단에서 ID와 PW를 이용해 암호화된 전송값을 보내는 경우가 있습니다.(대표적으로 네이버가 이렇습니다.) 또한, SPA등으로 인해 PageSource을 가져오는 것이 불충분한 경우가 자주 있습니다.</a:t>
            </a:r>
          </a:p>
          <a:p>
            <a:endParaRPr lang="ko-KR" altLang="en-US" sz="1200"/>
          </a:p>
          <a:p>
            <a:r>
              <a:rPr lang="ko-KR" altLang="en-US" sz="1200"/>
              <a:t>물론 오늘처럼 JS파일을 분석해 수동으로 data에 넣어주는 방법도 있지만, 브라우저를 직접 다뤄서 사람이 로그인하듯 크롤링을 해보면 어떨까요?</a:t>
            </a:r>
          </a:p>
          <a:p>
            <a:endParaRPr lang="ko-KR" altLang="en-US" sz="1200"/>
          </a:p>
          <a:p>
            <a:r>
              <a:rPr lang="ko-KR" altLang="en-US" sz="1200"/>
              <a:t>다음 포스팅에서 좀 더 간편히 실제 브라우저(혹은 Headless브라우저)를 이용해 로그인부터 크롤링까지, 간편하게 해보는 방법을 알아봅시다.</a:t>
            </a:r>
          </a:p>
        </p:txBody>
      </p:sp>
      <p:sp>
        <p:nvSpPr>
          <p:cNvPr id="8" name="직사각형 7"/>
          <p:cNvSpPr/>
          <p:nvPr/>
        </p:nvSpPr>
        <p:spPr>
          <a:xfrm>
            <a:off x="85725" y="923925"/>
            <a:ext cx="6096000" cy="5355312"/>
          </a:xfrm>
          <a:prstGeom prst="rect">
            <a:avLst/>
          </a:prstGeom>
        </p:spPr>
        <p:txBody>
          <a:bodyPr>
            <a:spAutoFit/>
          </a:bodyPr>
          <a:lstStyle/>
          <a:p>
            <a:r>
              <a:rPr lang="ko-KR" altLang="en-US" sz="1200" b="1"/>
              <a:t>나만의 웹 크롤러 만들기</a:t>
            </a:r>
            <a:r>
              <a:rPr lang="en-US" altLang="ko-KR" sz="1200" b="1"/>
              <a:t>(2): Login with Session</a:t>
            </a:r>
          </a:p>
          <a:p>
            <a:r>
              <a:rPr lang="en-US" altLang="ko-KR" sz="1200"/>
              <a:t>https://beomi.github.io/2017/01/20/HowToMakeWebCrawler-With-Login/</a:t>
            </a:r>
          </a:p>
          <a:p>
            <a:endParaRPr lang="en-US" altLang="ko-KR" sz="1200"/>
          </a:p>
          <a:p>
            <a:r>
              <a:rPr lang="ko-KR" altLang="en-US" sz="1200" smtClean="0"/>
              <a:t># </a:t>
            </a:r>
            <a:r>
              <a:rPr lang="ko-KR" altLang="en-US" sz="1200"/>
              <a:t>parser.py</a:t>
            </a:r>
          </a:p>
          <a:p>
            <a:r>
              <a:rPr lang="ko-KR" altLang="en-US" sz="1200"/>
              <a:t>import requests</a:t>
            </a:r>
          </a:p>
          <a:p>
            <a:r>
              <a:rPr lang="ko-KR" altLang="en-US" sz="1200"/>
              <a:t>from bs4 import BeautifulSoup as bs</a:t>
            </a:r>
          </a:p>
          <a:p>
            <a:endParaRPr lang="ko-KR" altLang="en-US" sz="1200"/>
          </a:p>
          <a:p>
            <a:r>
              <a:rPr lang="ko-KR" altLang="en-US" sz="1200"/>
              <a:t># 로그인할 유저정보를 넣어줍시다. (모두 문자열입니다!)</a:t>
            </a:r>
          </a:p>
          <a:p>
            <a:r>
              <a:rPr lang="ko-KR" altLang="en-US" sz="1200"/>
              <a:t>LOGIN_INFO = {</a:t>
            </a:r>
          </a:p>
          <a:p>
            <a:r>
              <a:rPr lang="ko-KR" altLang="en-US" sz="1200"/>
              <a:t>    'userId': 'myidid',</a:t>
            </a:r>
          </a:p>
          <a:p>
            <a:r>
              <a:rPr lang="ko-KR" altLang="en-US" sz="1200"/>
              <a:t>    'userPassword': 'mypassword123'</a:t>
            </a:r>
          </a:p>
          <a:p>
            <a:r>
              <a:rPr lang="ko-KR" altLang="en-US" sz="1200"/>
              <a:t>}</a:t>
            </a:r>
          </a:p>
          <a:p>
            <a:endParaRPr lang="ko-KR" altLang="en-US" sz="1200"/>
          </a:p>
          <a:p>
            <a:r>
              <a:rPr lang="ko-KR" altLang="en-US" sz="1200"/>
              <a:t># Session 생성, with 구문 안에서 유지</a:t>
            </a:r>
          </a:p>
          <a:p>
            <a:r>
              <a:rPr lang="ko-KR" altLang="en-US" sz="1200"/>
              <a:t>with requests.Session() as s:</a:t>
            </a:r>
          </a:p>
          <a:p>
            <a:r>
              <a:rPr lang="ko-KR" altLang="en-US" sz="1200"/>
              <a:t>    # 우선 클리앙 홈페이지에 들어가 봅시다.</a:t>
            </a:r>
          </a:p>
          <a:p>
            <a:r>
              <a:rPr lang="ko-KR" altLang="en-US" sz="1200"/>
              <a:t>    first_page = s.get('https://www.clien.net/service')</a:t>
            </a:r>
          </a:p>
          <a:p>
            <a:r>
              <a:rPr lang="ko-KR" altLang="en-US" sz="1200"/>
              <a:t>    html = first_page.text</a:t>
            </a:r>
          </a:p>
          <a:p>
            <a:r>
              <a:rPr lang="ko-KR" altLang="en-US" sz="1200"/>
              <a:t>    soup = bs(html, 'html.parser')</a:t>
            </a:r>
          </a:p>
          <a:p>
            <a:r>
              <a:rPr lang="ko-KR" altLang="en-US" sz="1200"/>
              <a:t>    csrf = soup.find('input', {'name': '_csrf'}) # input태그 중에서 name이 _csrf인 것을 찾습니다.</a:t>
            </a:r>
          </a:p>
          <a:p>
            <a:r>
              <a:rPr lang="ko-KR" altLang="en-US" sz="1200"/>
              <a:t>    print(csrf['value']) # 위에서 찾은 태그의 value를 가져옵니다.</a:t>
            </a:r>
          </a:p>
          <a:p>
            <a:endParaRPr lang="ko-KR" altLang="en-US" sz="1200"/>
          </a:p>
          <a:p>
            <a:r>
              <a:rPr lang="ko-KR" altLang="en-US" sz="1200"/>
              <a:t>    # 이제 LOGIN_INFO에 csrf값을 넣어줍시다.</a:t>
            </a:r>
          </a:p>
          <a:p>
            <a:r>
              <a:rPr lang="ko-KR" altLang="en-US" sz="1200"/>
              <a:t>    # (p.s.)Python3에서 두 dict를 합치는 방법은 {**dict1, **dict2} 으로 dict들을 unpacking하는 것입니다.</a:t>
            </a:r>
          </a:p>
          <a:p>
            <a:r>
              <a:rPr lang="ko-KR" altLang="en-US" sz="1200"/>
              <a:t>    LOGIN_INFO = {**LOGIN_INFO, **{'_csrf': csrf['value']}}</a:t>
            </a:r>
          </a:p>
          <a:p>
            <a:r>
              <a:rPr lang="ko-KR" altLang="en-US" sz="1200"/>
              <a:t>    print(LOGIN_INFO)</a:t>
            </a:r>
          </a:p>
        </p:txBody>
      </p:sp>
    </p:spTree>
    <p:extLst>
      <p:ext uri="{BB962C8B-B14F-4D97-AF65-F5344CB8AC3E}">
        <p14:creationId xmlns:p14="http://schemas.microsoft.com/office/powerpoint/2010/main" val="1701773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3600" y="670560"/>
            <a:ext cx="5831840" cy="7294305"/>
          </a:xfrm>
          <a:prstGeom prst="rect">
            <a:avLst/>
          </a:prstGeom>
          <a:noFill/>
        </p:spPr>
        <p:txBody>
          <a:bodyPr wrap="square" rtlCol="0">
            <a:spAutoFit/>
          </a:bodyPr>
          <a:lstStyle/>
          <a:p>
            <a:pPr marL="285750" indent="-285750">
              <a:buFont typeface="Wingdings" panose="05000000000000000000" pitchFamily="2" charset="2"/>
              <a:buChar char="l"/>
            </a:pPr>
            <a:r>
              <a:rPr lang="ko-KR" altLang="en-US" smtClean="0"/>
              <a:t>이번 요청 사항</a:t>
            </a:r>
            <a:endParaRPr lang="en-US" altLang="ko-KR" smtClean="0"/>
          </a:p>
          <a:p>
            <a:r>
              <a:rPr lang="en-US" altLang="ko-KR"/>
              <a:t> - </a:t>
            </a:r>
            <a:r>
              <a:rPr lang="ko-KR" altLang="en-US"/>
              <a:t>대한민국 최초의 신용카드는</a:t>
            </a:r>
            <a:r>
              <a:rPr lang="en-US" altLang="ko-KR"/>
              <a:t>?</a:t>
            </a:r>
          </a:p>
          <a:p>
            <a:r>
              <a:rPr lang="en-US" altLang="ko-KR"/>
              <a:t>  - </a:t>
            </a:r>
            <a:r>
              <a:rPr lang="ko-KR" altLang="en-US"/>
              <a:t>신용카드 역사에 대한 내용 업로드</a:t>
            </a:r>
            <a:endParaRPr lang="en-US" altLang="ko-KR"/>
          </a:p>
          <a:p>
            <a:r>
              <a:rPr lang="en-US" altLang="ko-KR"/>
              <a:t>  . </a:t>
            </a:r>
            <a:r>
              <a:rPr lang="ko-KR" altLang="en-US"/>
              <a:t>학습전 답변</a:t>
            </a:r>
            <a:r>
              <a:rPr lang="en-US" altLang="ko-KR"/>
              <a:t>: </a:t>
            </a:r>
            <a:r>
              <a:rPr lang="ko-KR" altLang="en-US"/>
              <a:t>삼성카드</a:t>
            </a:r>
            <a:endParaRPr lang="en-US" altLang="ko-KR"/>
          </a:p>
          <a:p>
            <a:r>
              <a:rPr lang="en-US" altLang="ko-KR"/>
              <a:t>  . </a:t>
            </a:r>
            <a:r>
              <a:rPr lang="ko-KR" altLang="en-US"/>
              <a:t>학습후 답변</a:t>
            </a:r>
            <a:r>
              <a:rPr lang="en-US" altLang="ko-KR"/>
              <a:t>: </a:t>
            </a:r>
            <a:r>
              <a:rPr lang="ko-KR" altLang="en-US"/>
              <a:t>신세계카드 </a:t>
            </a:r>
            <a:endParaRPr lang="en-US" altLang="ko-KR"/>
          </a:p>
          <a:p>
            <a:pPr marL="742950" lvl="1" indent="-285750">
              <a:buFontTx/>
              <a:buChar char="-"/>
            </a:pPr>
            <a:r>
              <a:rPr lang="ko-KR" altLang="en-US"/>
              <a:t>학습전 상위카드 추천</a:t>
            </a:r>
            <a:endParaRPr lang="en-US" altLang="ko-KR"/>
          </a:p>
          <a:p>
            <a:pPr marL="742950" lvl="1" indent="-285750">
              <a:buFontTx/>
              <a:buChar char="-"/>
            </a:pPr>
            <a:r>
              <a:rPr lang="en-US" altLang="ko-KR"/>
              <a:t>choroma </a:t>
            </a:r>
            <a:r>
              <a:rPr lang="ko-KR" altLang="en-US"/>
              <a:t>학습후 상위카드 추천 </a:t>
            </a:r>
            <a:endParaRPr lang="en-US" altLang="ko-KR" smtClean="0"/>
          </a:p>
          <a:p>
            <a:pPr marL="742950" lvl="1" indent="-285750">
              <a:buFontTx/>
              <a:buChar char="-"/>
            </a:pPr>
            <a:endParaRPr lang="en-US" altLang="ko-KR"/>
          </a:p>
          <a:p>
            <a:pPr marL="285750" indent="-285750">
              <a:buFont typeface="Wingdings" panose="05000000000000000000" pitchFamily="2" charset="2"/>
              <a:buChar char="l"/>
            </a:pPr>
            <a:r>
              <a:rPr lang="ko-KR" altLang="en-US" smtClean="0"/>
              <a:t>향후 준비 </a:t>
            </a:r>
            <a:endParaRPr lang="en-US" altLang="ko-KR" smtClean="0"/>
          </a:p>
          <a:p>
            <a:pPr marL="285750" indent="-285750">
              <a:buFont typeface="Wingdings" panose="05000000000000000000" pitchFamily="2" charset="2"/>
              <a:buChar char="l"/>
            </a:pPr>
            <a:r>
              <a:rPr lang="ko-KR" altLang="en-US" smtClean="0"/>
              <a:t>시나리오 구성은 기존 유사문서</a:t>
            </a:r>
            <a:endParaRPr lang="en-US" altLang="ko-KR" smtClean="0"/>
          </a:p>
          <a:p>
            <a:r>
              <a:rPr lang="en-US" altLang="ko-KR" smtClean="0"/>
              <a:t>  - </a:t>
            </a:r>
            <a:r>
              <a:rPr lang="ko-KR" altLang="en-US" smtClean="0"/>
              <a:t>거리기반 유사도 문제점 </a:t>
            </a:r>
            <a:r>
              <a:rPr lang="en-US" altLang="ko-KR" smtClean="0"/>
              <a:t>: </a:t>
            </a:r>
            <a:r>
              <a:rPr lang="ko-KR" altLang="en-US" smtClean="0"/>
              <a:t>기준 정하기 어려움</a:t>
            </a:r>
            <a:endParaRPr lang="en-US" altLang="ko-KR" smtClean="0"/>
          </a:p>
          <a:p>
            <a:r>
              <a:rPr lang="en-US" altLang="ko-KR"/>
              <a:t> </a:t>
            </a:r>
            <a:r>
              <a:rPr lang="en-US" altLang="ko-KR" smtClean="0"/>
              <a:t> - tfidf &amp; </a:t>
            </a:r>
            <a:r>
              <a:rPr lang="ko-KR" altLang="en-US" smtClean="0"/>
              <a:t>코사인유사도 </a:t>
            </a:r>
            <a:r>
              <a:rPr lang="en-US" altLang="ko-KR" smtClean="0"/>
              <a:t>: </a:t>
            </a:r>
            <a:r>
              <a:rPr lang="ko-KR" altLang="en-US" smtClean="0"/>
              <a:t>토큰별로 비교 </a:t>
            </a:r>
            <a:r>
              <a:rPr lang="en-US" altLang="ko-KR" smtClean="0"/>
              <a:t>: </a:t>
            </a:r>
            <a:r>
              <a:rPr lang="ko-KR" altLang="en-US" smtClean="0"/>
              <a:t>제어하기 용이</a:t>
            </a:r>
            <a:endParaRPr lang="en-US" altLang="ko-KR" smtClean="0"/>
          </a:p>
          <a:p>
            <a:pPr marL="285750" indent="-285750">
              <a:buFont typeface="Wingdings" panose="05000000000000000000" pitchFamily="2" charset="2"/>
              <a:buChar char="l"/>
            </a:pPr>
            <a:r>
              <a:rPr lang="ko-KR" altLang="en-US" smtClean="0"/>
              <a:t>챗봇 구현시 슬롯필링 알고리즘 어떻게 할지</a:t>
            </a:r>
            <a:r>
              <a:rPr lang="en-US" altLang="ko-KR" smtClean="0"/>
              <a:t>?</a:t>
            </a:r>
          </a:p>
          <a:p>
            <a:r>
              <a:rPr lang="ko-KR" altLang="en-US" smtClean="0"/>
              <a:t> </a:t>
            </a:r>
            <a:r>
              <a:rPr lang="en-US" altLang="ko-KR" smtClean="0"/>
              <a:t> - </a:t>
            </a:r>
            <a:r>
              <a:rPr lang="ko-KR" altLang="en-US" smtClean="0"/>
              <a:t>슬롯필링</a:t>
            </a:r>
            <a:endParaRPr lang="en-US" altLang="ko-KR" smtClean="0"/>
          </a:p>
          <a:p>
            <a:pPr marL="285750" indent="-285750">
              <a:buFont typeface="Arial" panose="020B0604020202020204" pitchFamily="34" charset="0"/>
              <a:buChar char="•"/>
            </a:pPr>
            <a:r>
              <a:rPr lang="ko-KR" altLang="en-US" smtClean="0"/>
              <a:t>콜봇의 위한 </a:t>
            </a:r>
            <a:r>
              <a:rPr lang="en-US" altLang="ko-KR" smtClean="0"/>
              <a:t>TTS</a:t>
            </a:r>
          </a:p>
          <a:p>
            <a:r>
              <a:rPr lang="en-US" altLang="ko-KR" smtClean="0"/>
              <a:t> </a:t>
            </a:r>
          </a:p>
          <a:p>
            <a:pPr marL="285750" indent="-285750">
              <a:buFont typeface="Wingdings" panose="05000000000000000000" pitchFamily="2" charset="2"/>
              <a:buChar char="l"/>
            </a:pPr>
            <a:r>
              <a:rPr lang="ko-KR" altLang="en-US" smtClean="0"/>
              <a:t>문서내용이용하여 프럼프트러닝 </a:t>
            </a:r>
            <a:endParaRPr lang="en-US" altLang="ko-KR" smtClean="0"/>
          </a:p>
          <a:p>
            <a:pPr marL="285750" indent="-285750">
              <a:buFont typeface="Wingdings" panose="05000000000000000000" pitchFamily="2" charset="2"/>
              <a:buChar char="l"/>
            </a:pPr>
            <a:r>
              <a:rPr lang="ko-KR" altLang="en-US" smtClean="0"/>
              <a:t>여러 문서 로딩 후 검색 </a:t>
            </a:r>
            <a:endParaRPr lang="en-US" altLang="ko-KR" smtClean="0"/>
          </a:p>
          <a:p>
            <a:pPr marL="285750" indent="-285750">
              <a:buFont typeface="Wingdings" panose="05000000000000000000" pitchFamily="2" charset="2"/>
              <a:buChar char="l"/>
            </a:pPr>
            <a:r>
              <a:rPr lang="ko-KR" altLang="en-US" smtClean="0"/>
              <a:t>비교 </a:t>
            </a:r>
            <a:r>
              <a:rPr lang="en-US" altLang="ko-KR" smtClean="0"/>
              <a:t>– </a:t>
            </a:r>
            <a:r>
              <a:rPr lang="ko-KR" altLang="en-US" smtClean="0"/>
              <a:t>박세리 </a:t>
            </a:r>
            <a:r>
              <a:rPr lang="en-US" altLang="ko-KR" smtClean="0"/>
              <a:t>/ </a:t>
            </a:r>
            <a:r>
              <a:rPr lang="ko-KR" altLang="en-US" smtClean="0"/>
              <a:t>소렌스탐 </a:t>
            </a:r>
            <a:r>
              <a:rPr lang="en-US" altLang="ko-KR" smtClean="0"/>
              <a:t>: 5</a:t>
            </a:r>
            <a:r>
              <a:rPr lang="ko-KR" altLang="en-US" smtClean="0"/>
              <a:t>개</a:t>
            </a:r>
            <a:r>
              <a:rPr lang="en-US" altLang="ko-KR" smtClean="0"/>
              <a:t>, 10</a:t>
            </a:r>
            <a:r>
              <a:rPr lang="ko-KR" altLang="en-US" smtClean="0"/>
              <a:t>개</a:t>
            </a:r>
            <a:endParaRPr lang="en-US" altLang="ko-KR" smtClean="0"/>
          </a:p>
          <a:p>
            <a:pPr marL="285750" indent="-285750">
              <a:buFont typeface="Wingdings" panose="05000000000000000000" pitchFamily="2" charset="2"/>
              <a:buChar char="l"/>
            </a:pPr>
            <a:r>
              <a:rPr lang="ko-KR" altLang="en-US" smtClean="0"/>
              <a:t>문장 요약</a:t>
            </a:r>
            <a:endParaRPr lang="en-US" altLang="ko-KR" smtClean="0"/>
          </a:p>
          <a:p>
            <a:pPr marL="285750" indent="-285750">
              <a:buFont typeface="Wingdings" panose="05000000000000000000" pitchFamily="2" charset="2"/>
              <a:buChar char="l"/>
            </a:pPr>
            <a:r>
              <a:rPr lang="ko-KR" altLang="en-US" smtClean="0"/>
              <a:t>카드해택 문의 </a:t>
            </a:r>
            <a:r>
              <a:rPr lang="en-US" altLang="ko-KR" smtClean="0"/>
              <a:t>– </a:t>
            </a:r>
            <a:r>
              <a:rPr lang="ko-KR" altLang="en-US" smtClean="0"/>
              <a:t>문맥파악 </a:t>
            </a:r>
            <a:r>
              <a:rPr lang="en-US" altLang="ko-KR" smtClean="0"/>
              <a:t>/ </a:t>
            </a:r>
            <a:r>
              <a:rPr lang="ko-KR" altLang="en-US" smtClean="0"/>
              <a:t>반응형 역질문</a:t>
            </a:r>
            <a:endParaRPr lang="en-US" altLang="ko-KR" smtClean="0"/>
          </a:p>
          <a:p>
            <a:pPr marL="285750" indent="-285750">
              <a:buFont typeface="Wingdings" panose="05000000000000000000" pitchFamily="2" charset="2"/>
              <a:buChar char="l"/>
            </a:pPr>
            <a:r>
              <a:rPr lang="ko-KR" altLang="en-US" smtClean="0"/>
              <a:t>포인트 조회</a:t>
            </a:r>
            <a:endParaRPr lang="en-US" altLang="ko-KR" smtClean="0"/>
          </a:p>
          <a:p>
            <a:pPr marL="742950" lvl="1" indent="-285750">
              <a:buFont typeface="Wingdings" panose="05000000000000000000" pitchFamily="2" charset="2"/>
              <a:buChar char="l"/>
            </a:pPr>
            <a:r>
              <a:rPr lang="ko-KR" altLang="en-US" smtClean="0"/>
              <a:t>콜백 통해 조회 가능</a:t>
            </a:r>
            <a:endParaRPr lang="en-US" altLang="ko-KR" smtClean="0"/>
          </a:p>
          <a:p>
            <a:pPr marL="285750" indent="-285750">
              <a:buFont typeface="Wingdings" panose="05000000000000000000" pitchFamily="2" charset="2"/>
              <a:buChar char="l"/>
            </a:pPr>
            <a:r>
              <a:rPr lang="ko-KR" altLang="en-US" smtClean="0"/>
              <a:t>카드이용내역</a:t>
            </a:r>
            <a:endParaRPr lang="en-US" altLang="ko-KR" smtClean="0"/>
          </a:p>
          <a:p>
            <a:pPr marL="742950" lvl="1" indent="-285750">
              <a:buFont typeface="Wingdings" panose="05000000000000000000" pitchFamily="2" charset="2"/>
              <a:buChar char="l"/>
            </a:pPr>
            <a:endParaRPr lang="ko-KR" altLang="en-US"/>
          </a:p>
        </p:txBody>
      </p:sp>
      <p:sp>
        <p:nvSpPr>
          <p:cNvPr id="3" name="TextBox 2"/>
          <p:cNvSpPr txBox="1"/>
          <p:nvPr/>
        </p:nvSpPr>
        <p:spPr>
          <a:xfrm>
            <a:off x="10601325" y="4933950"/>
            <a:ext cx="575799" cy="369332"/>
          </a:xfrm>
          <a:prstGeom prst="rect">
            <a:avLst/>
          </a:prstGeom>
          <a:noFill/>
        </p:spPr>
        <p:txBody>
          <a:bodyPr wrap="none" rtlCol="0">
            <a:spAutoFit/>
          </a:bodyPr>
          <a:lstStyle/>
          <a:p>
            <a:r>
              <a:rPr lang="en-US" altLang="ko-KR" smtClean="0"/>
              <a:t>p46</a:t>
            </a:r>
            <a:endParaRPr lang="ko-KR" altLang="en-US"/>
          </a:p>
        </p:txBody>
      </p:sp>
      <p:sp>
        <p:nvSpPr>
          <p:cNvPr id="4" name="TextBox 3"/>
          <p:cNvSpPr txBox="1"/>
          <p:nvPr/>
        </p:nvSpPr>
        <p:spPr>
          <a:xfrm>
            <a:off x="7447280" y="2875280"/>
            <a:ext cx="3629327" cy="369332"/>
          </a:xfrm>
          <a:prstGeom prst="rect">
            <a:avLst/>
          </a:prstGeom>
          <a:noFill/>
        </p:spPr>
        <p:txBody>
          <a:bodyPr wrap="none" rtlCol="0">
            <a:spAutoFit/>
          </a:bodyPr>
          <a:lstStyle/>
          <a:p>
            <a:r>
              <a:rPr lang="ko-KR" altLang="en-US" smtClean="0"/>
              <a:t>기타삼성카드 질문은 </a:t>
            </a:r>
            <a:r>
              <a:rPr lang="en-US" altLang="ko-KR" smtClean="0"/>
              <a:t>FAQ</a:t>
            </a:r>
            <a:r>
              <a:rPr lang="ko-KR" altLang="en-US" smtClean="0"/>
              <a:t>로 대답</a:t>
            </a:r>
            <a:endParaRPr lang="ko-KR" altLang="en-US"/>
          </a:p>
        </p:txBody>
      </p:sp>
    </p:spTree>
    <p:extLst>
      <p:ext uri="{BB962C8B-B14F-4D97-AF65-F5344CB8AC3E}">
        <p14:creationId xmlns:p14="http://schemas.microsoft.com/office/powerpoint/2010/main" val="2942323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3850" y="485775"/>
            <a:ext cx="10298012" cy="3970318"/>
          </a:xfrm>
          <a:prstGeom prst="rect">
            <a:avLst/>
          </a:prstGeom>
          <a:noFill/>
        </p:spPr>
        <p:txBody>
          <a:bodyPr wrap="none" rtlCol="0">
            <a:spAutoFit/>
          </a:bodyPr>
          <a:lstStyle/>
          <a:p>
            <a:r>
              <a:rPr lang="ko-KR" altLang="en-US" smtClean="0"/>
              <a:t>챗봇 구현 핵심 개념</a:t>
            </a:r>
            <a:endParaRPr lang="en-US" altLang="ko-KR" smtClean="0"/>
          </a:p>
          <a:p>
            <a:r>
              <a:rPr lang="en-US" altLang="ko-KR"/>
              <a:t> </a:t>
            </a:r>
            <a:r>
              <a:rPr lang="en-US" altLang="ko-KR" smtClean="0"/>
              <a:t> - </a:t>
            </a:r>
            <a:r>
              <a:rPr lang="ko-KR" altLang="en-US" smtClean="0"/>
              <a:t>슬롯</a:t>
            </a:r>
            <a:endParaRPr lang="en-US" altLang="ko-KR" smtClean="0"/>
          </a:p>
          <a:p>
            <a:r>
              <a:rPr lang="en-US" altLang="ko-KR" smtClean="0"/>
              <a:t>  - </a:t>
            </a:r>
            <a:r>
              <a:rPr lang="ko-KR" altLang="en-US" smtClean="0"/>
              <a:t>다단계 구조</a:t>
            </a:r>
            <a:endParaRPr lang="en-US" altLang="ko-KR" smtClean="0"/>
          </a:p>
          <a:p>
            <a:r>
              <a:rPr lang="en-US" altLang="ko-KR"/>
              <a:t> </a:t>
            </a:r>
            <a:r>
              <a:rPr lang="en-US" altLang="ko-KR" smtClean="0"/>
              <a:t> - </a:t>
            </a:r>
            <a:r>
              <a:rPr lang="ko-KR" altLang="en-US" smtClean="0"/>
              <a:t>유사도비교</a:t>
            </a:r>
            <a:endParaRPr lang="en-US" altLang="ko-KR" smtClean="0"/>
          </a:p>
          <a:p>
            <a:r>
              <a:rPr lang="en-US" altLang="ko-KR"/>
              <a:t> </a:t>
            </a:r>
            <a:r>
              <a:rPr lang="en-US" altLang="ko-KR" smtClean="0"/>
              <a:t> - </a:t>
            </a:r>
            <a:r>
              <a:rPr lang="ko-KR" altLang="en-US" smtClean="0"/>
              <a:t>컨텍스트</a:t>
            </a:r>
            <a:r>
              <a:rPr lang="en-US" altLang="ko-KR" smtClean="0"/>
              <a:t>: </a:t>
            </a:r>
            <a:r>
              <a:rPr lang="ko-KR" altLang="en-US" smtClean="0"/>
              <a:t>대화 흐름 제어 </a:t>
            </a:r>
            <a:r>
              <a:rPr lang="en-US" altLang="ko-KR" smtClean="0"/>
              <a:t>: input</a:t>
            </a:r>
            <a:r>
              <a:rPr lang="ko-KR" altLang="en-US" smtClean="0"/>
              <a:t>컨텍스트</a:t>
            </a:r>
            <a:r>
              <a:rPr lang="en-US" altLang="ko-KR" smtClean="0"/>
              <a:t>: </a:t>
            </a:r>
            <a:r>
              <a:rPr lang="ko-KR" altLang="en-US" smtClean="0"/>
              <a:t>사전 흐름 제어 </a:t>
            </a:r>
            <a:r>
              <a:rPr lang="en-US" altLang="ko-KR" smtClean="0"/>
              <a:t>-&gt; output </a:t>
            </a:r>
            <a:r>
              <a:rPr lang="ko-KR" altLang="en-US" smtClean="0"/>
              <a:t>컨텍스트</a:t>
            </a:r>
            <a:r>
              <a:rPr lang="en-US" altLang="ko-KR" smtClean="0"/>
              <a:t>: </a:t>
            </a:r>
            <a:r>
              <a:rPr lang="ko-KR" altLang="en-US" smtClean="0"/>
              <a:t>사후 흐름 제어</a:t>
            </a:r>
            <a:endParaRPr lang="en-US" altLang="ko-KR" smtClean="0"/>
          </a:p>
          <a:p>
            <a:r>
              <a:rPr lang="en-US" altLang="ko-KR"/>
              <a:t> </a:t>
            </a:r>
            <a:r>
              <a:rPr lang="en-US" altLang="ko-KR" smtClean="0"/>
              <a:t> - </a:t>
            </a:r>
            <a:r>
              <a:rPr lang="ko-KR" altLang="en-US" smtClean="0"/>
              <a:t>타스크 </a:t>
            </a:r>
            <a:r>
              <a:rPr lang="en-US" altLang="ko-KR" smtClean="0"/>
              <a:t>: </a:t>
            </a:r>
            <a:r>
              <a:rPr lang="ko-KR" altLang="en-US" smtClean="0"/>
              <a:t>대화 진행을 위한 필수 엔티티 충족 여부 파악</a:t>
            </a:r>
            <a:endParaRPr lang="en-US" altLang="ko-KR" smtClean="0"/>
          </a:p>
          <a:p>
            <a:r>
              <a:rPr lang="en-US" altLang="ko-KR" smtClean="0"/>
              <a:t>  - </a:t>
            </a:r>
            <a:r>
              <a:rPr lang="ko-KR" altLang="en-US" smtClean="0"/>
              <a:t>후속동작</a:t>
            </a:r>
            <a:r>
              <a:rPr lang="en-US" altLang="ko-KR" smtClean="0"/>
              <a:t>: </a:t>
            </a:r>
            <a:r>
              <a:rPr lang="ko-KR" altLang="en-US" smtClean="0"/>
              <a:t>답변후 챗봇의 동작을 설정 </a:t>
            </a:r>
            <a:r>
              <a:rPr lang="en-US" altLang="ko-KR" smtClean="0"/>
              <a:t>– </a:t>
            </a:r>
            <a:r>
              <a:rPr lang="ko-KR" altLang="en-US" smtClean="0"/>
              <a:t>대기</a:t>
            </a:r>
            <a:r>
              <a:rPr lang="en-US" altLang="ko-KR" smtClean="0"/>
              <a:t>, </a:t>
            </a:r>
            <a:r>
              <a:rPr lang="ko-KR" altLang="en-US" smtClean="0"/>
              <a:t>대화이동</a:t>
            </a:r>
            <a:r>
              <a:rPr lang="en-US" altLang="ko-KR" smtClean="0"/>
              <a:t>, </a:t>
            </a:r>
            <a:r>
              <a:rPr lang="ko-KR" altLang="en-US" smtClean="0"/>
              <a:t>번호연결</a:t>
            </a:r>
            <a:r>
              <a:rPr lang="en-US" altLang="ko-KR" smtClean="0"/>
              <a:t>, </a:t>
            </a:r>
            <a:r>
              <a:rPr lang="ko-KR" altLang="en-US" smtClean="0"/>
              <a:t>통화종료</a:t>
            </a:r>
            <a:endParaRPr lang="en-US" altLang="ko-KR" smtClean="0"/>
          </a:p>
          <a:p>
            <a:r>
              <a:rPr lang="en-US" altLang="ko-KR"/>
              <a:t> </a:t>
            </a:r>
            <a:r>
              <a:rPr lang="en-US" altLang="ko-KR" smtClean="0"/>
              <a:t> - </a:t>
            </a:r>
            <a:r>
              <a:rPr lang="ko-KR" altLang="en-US" smtClean="0"/>
              <a:t>엔티티 </a:t>
            </a:r>
            <a:endParaRPr lang="en-US" altLang="ko-KR" smtClean="0"/>
          </a:p>
          <a:p>
            <a:r>
              <a:rPr lang="en-US" altLang="ko-KR"/>
              <a:t> </a:t>
            </a:r>
            <a:r>
              <a:rPr lang="en-US" altLang="ko-KR" smtClean="0"/>
              <a:t> - </a:t>
            </a:r>
            <a:r>
              <a:rPr lang="ko-KR" altLang="en-US" smtClean="0"/>
              <a:t>공통메시지</a:t>
            </a:r>
            <a:endParaRPr lang="en-US" altLang="ko-KR" smtClean="0"/>
          </a:p>
          <a:p>
            <a:r>
              <a:rPr lang="en-US" altLang="ko-KR"/>
              <a:t> </a:t>
            </a:r>
            <a:r>
              <a:rPr lang="en-US" altLang="ko-KR" smtClean="0"/>
              <a:t> - </a:t>
            </a:r>
            <a:r>
              <a:rPr lang="ko-KR" altLang="en-US" smtClean="0"/>
              <a:t>액션메소드</a:t>
            </a:r>
            <a:endParaRPr lang="en-US" altLang="ko-KR" smtClean="0"/>
          </a:p>
          <a:p>
            <a:r>
              <a:rPr lang="en-US" altLang="ko-KR"/>
              <a:t> </a:t>
            </a:r>
            <a:r>
              <a:rPr lang="en-US" altLang="ko-KR" smtClean="0"/>
              <a:t> - </a:t>
            </a:r>
            <a:r>
              <a:rPr lang="ko-KR" altLang="en-US" smtClean="0"/>
              <a:t>답변</a:t>
            </a:r>
            <a:endParaRPr lang="en-US" altLang="ko-KR" smtClean="0"/>
          </a:p>
          <a:p>
            <a:r>
              <a:rPr lang="en-US" altLang="ko-KR"/>
              <a:t> </a:t>
            </a:r>
            <a:r>
              <a:rPr lang="en-US" altLang="ko-KR" smtClean="0"/>
              <a:t> - </a:t>
            </a:r>
            <a:r>
              <a:rPr lang="ko-KR" altLang="en-US" smtClean="0"/>
              <a:t>대화유형</a:t>
            </a:r>
            <a:endParaRPr lang="en-US" altLang="ko-KR" smtClean="0"/>
          </a:p>
          <a:p>
            <a:r>
              <a:rPr lang="en-US" altLang="ko-KR"/>
              <a:t> </a:t>
            </a:r>
            <a:r>
              <a:rPr lang="en-US" altLang="ko-KR" smtClean="0"/>
              <a:t> - </a:t>
            </a:r>
            <a:r>
              <a:rPr lang="ko-KR" altLang="en-US" smtClean="0"/>
              <a:t>폼</a:t>
            </a:r>
            <a:endParaRPr lang="en-US" altLang="ko-KR" smtClean="0"/>
          </a:p>
          <a:p>
            <a:r>
              <a:rPr lang="en-US" altLang="ko-KR"/>
              <a:t> </a:t>
            </a:r>
            <a:r>
              <a:rPr lang="en-US" altLang="ko-KR" smtClean="0"/>
              <a:t> - </a:t>
            </a:r>
            <a:r>
              <a:rPr lang="ko-KR" altLang="en-US" smtClean="0"/>
              <a:t>사용자변수</a:t>
            </a:r>
            <a:endParaRPr lang="en-US" altLang="ko-KR" smtClean="0"/>
          </a:p>
        </p:txBody>
      </p:sp>
    </p:spTree>
    <p:extLst>
      <p:ext uri="{BB962C8B-B14F-4D97-AF65-F5344CB8AC3E}">
        <p14:creationId xmlns:p14="http://schemas.microsoft.com/office/powerpoint/2010/main" val="24416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23850" y="3124199"/>
            <a:ext cx="10656818" cy="1569660"/>
          </a:xfrm>
          <a:prstGeom prst="rect">
            <a:avLst/>
          </a:prstGeom>
          <a:noFill/>
        </p:spPr>
        <p:txBody>
          <a:bodyPr wrap="square" rtlCol="0">
            <a:spAutoFit/>
          </a:bodyPr>
          <a:lstStyle/>
          <a:p>
            <a:r>
              <a:rPr lang="ko-KR" altLang="en-US" sz="1200"/>
              <a:t>이 때</a:t>
            </a:r>
            <a:r>
              <a:rPr lang="en-US" altLang="ko-KR" sz="1200"/>
              <a:t>, </a:t>
            </a:r>
            <a:r>
              <a:rPr lang="ko-KR" altLang="en-US" sz="1200"/>
              <a:t>본 발명에서는 슬롯 필링을 수행할 때 인텐트 매핑 정보를 기반으로 인텐트에 존재하는 슬롯뿐만 아니라</a:t>
            </a:r>
          </a:p>
          <a:p>
            <a:r>
              <a:rPr lang="ko-KR" altLang="en-US" sz="1200"/>
              <a:t>전혀 새로운 슬롯에 대해서도 슬롯 필링을 수행할 수 있으며</a:t>
            </a:r>
            <a:r>
              <a:rPr lang="en-US" altLang="ko-KR" sz="1200"/>
              <a:t>, </a:t>
            </a:r>
            <a:r>
              <a:rPr lang="ko-KR" altLang="en-US" sz="1200"/>
              <a:t>이 때에도 마찬가지로 슬롯에 엔티티를 지정하여</a:t>
            </a:r>
          </a:p>
          <a:p>
            <a:r>
              <a:rPr lang="ko-KR" altLang="en-US" sz="1200"/>
              <a:t>사용할 수 있다</a:t>
            </a:r>
            <a:r>
              <a:rPr lang="en-US" altLang="ko-KR" sz="1200"/>
              <a:t>. </a:t>
            </a:r>
            <a:r>
              <a:rPr lang="ko-KR" altLang="en-US" sz="1200"/>
              <a:t>이러한 과정을 통해 사용자 발화에 의해 발생할 수 있는 다양한 상황을 챗봇이 유연하게 대응</a:t>
            </a:r>
          </a:p>
          <a:p>
            <a:r>
              <a:rPr lang="ko-KR" altLang="en-US" sz="1200"/>
              <a:t>하여 처리하는 것이 가능하다</a:t>
            </a:r>
            <a:r>
              <a:rPr lang="en-US" altLang="ko-KR" sz="1200" smtClean="0"/>
              <a:t>.</a:t>
            </a:r>
          </a:p>
          <a:p>
            <a:endParaRPr lang="en-US" altLang="ko-KR" sz="1200"/>
          </a:p>
          <a:p>
            <a:r>
              <a:rPr lang="ko-KR" altLang="en-US" sz="1200" smtClean="0"/>
              <a:t>예를 </a:t>
            </a:r>
            <a:r>
              <a:rPr lang="ko-KR" altLang="en-US" sz="1200"/>
              <a:t>들어</a:t>
            </a:r>
            <a:r>
              <a:rPr lang="en-US" altLang="ko-KR" sz="1200"/>
              <a:t>, </a:t>
            </a:r>
            <a:r>
              <a:rPr lang="ko-KR" altLang="en-US" sz="1200"/>
              <a:t>사용자가 </a:t>
            </a:r>
            <a:r>
              <a:rPr lang="en-US" altLang="ko-KR" sz="1200"/>
              <a:t>"HDMI </a:t>
            </a:r>
            <a:r>
              <a:rPr lang="ko-KR" altLang="en-US" sz="1200"/>
              <a:t>연결이 안돼요</a:t>
            </a:r>
            <a:r>
              <a:rPr lang="en-US" altLang="ko-KR" sz="1200"/>
              <a:t>"</a:t>
            </a:r>
            <a:r>
              <a:rPr lang="ko-KR" altLang="en-US" sz="1200"/>
              <a:t>라고 말했을 때</a:t>
            </a:r>
            <a:r>
              <a:rPr lang="en-US" altLang="ko-KR" sz="1200"/>
              <a:t>, </a:t>
            </a:r>
            <a:r>
              <a:rPr lang="ko-KR" altLang="en-US" sz="1200"/>
              <a:t>챗봇이 </a:t>
            </a:r>
            <a:r>
              <a:rPr lang="en-US" altLang="ko-KR" sz="1200"/>
              <a:t>"</a:t>
            </a:r>
            <a:r>
              <a:rPr lang="ko-KR" altLang="en-US" sz="1200"/>
              <a:t>모델 확인을 위해 뒷면의 시리얼 번호를 입 력해주세요</a:t>
            </a:r>
            <a:r>
              <a:rPr lang="en-US" altLang="ko-KR" sz="1200"/>
              <a:t>"</a:t>
            </a:r>
            <a:r>
              <a:rPr lang="ko-KR" altLang="en-US" sz="1200"/>
              <a:t>라고 응답할 수 있다</a:t>
            </a:r>
            <a:r>
              <a:rPr lang="en-US" altLang="ko-KR" sz="1200"/>
              <a:t>. [0075] </a:t>
            </a:r>
            <a:r>
              <a:rPr lang="ko-KR" altLang="en-US" sz="1200"/>
              <a:t>다른 예를 들어</a:t>
            </a:r>
            <a:r>
              <a:rPr lang="en-US" altLang="ko-KR" sz="1200"/>
              <a:t>, </a:t>
            </a:r>
            <a:r>
              <a:rPr lang="ko-KR" altLang="en-US" sz="1200"/>
              <a:t>사용자가 </a:t>
            </a:r>
            <a:r>
              <a:rPr lang="en-US" altLang="ko-KR" sz="1200"/>
              <a:t>"</a:t>
            </a:r>
            <a:r>
              <a:rPr lang="ko-KR" altLang="en-US" sz="1200"/>
              <a:t>구매 취소해주세요</a:t>
            </a:r>
            <a:r>
              <a:rPr lang="en-US" altLang="ko-KR" sz="1200"/>
              <a:t>"</a:t>
            </a:r>
            <a:r>
              <a:rPr lang="ko-KR" altLang="en-US" sz="1200"/>
              <a:t>라고 말했을 때</a:t>
            </a:r>
            <a:r>
              <a:rPr lang="en-US" altLang="ko-KR" sz="1200"/>
              <a:t>, </a:t>
            </a:r>
            <a:r>
              <a:rPr lang="ko-KR" altLang="en-US" sz="1200"/>
              <a:t>챗봇이 사용자의 휴대폰으로 인증번호를 발송하 고 나서</a:t>
            </a:r>
            <a:r>
              <a:rPr lang="en-US" altLang="ko-KR" sz="1200"/>
              <a:t>"</a:t>
            </a:r>
            <a:r>
              <a:rPr lang="ko-KR" altLang="en-US" sz="1200"/>
              <a:t>본인확인을 위해 휴대폰으로 발송된 인증 번호를 입력해주세요</a:t>
            </a:r>
            <a:r>
              <a:rPr lang="en-US" altLang="ko-KR" sz="1200"/>
              <a:t>"</a:t>
            </a:r>
            <a:r>
              <a:rPr lang="ko-KR" altLang="en-US" sz="1200"/>
              <a:t>라고 응답할 수 있다</a:t>
            </a:r>
            <a:r>
              <a:rPr lang="en-US" altLang="ko-KR" sz="1200"/>
              <a:t>.</a:t>
            </a:r>
            <a:endParaRPr lang="ko-KR" altLang="en-US" sz="1200"/>
          </a:p>
        </p:txBody>
      </p:sp>
      <p:sp>
        <p:nvSpPr>
          <p:cNvPr id="6" name="직사각형 5"/>
          <p:cNvSpPr/>
          <p:nvPr/>
        </p:nvSpPr>
        <p:spPr>
          <a:xfrm>
            <a:off x="323850" y="4844532"/>
            <a:ext cx="10925175" cy="1754326"/>
          </a:xfrm>
          <a:prstGeom prst="rect">
            <a:avLst/>
          </a:prstGeom>
        </p:spPr>
        <p:txBody>
          <a:bodyPr wrap="square">
            <a:spAutoFit/>
          </a:bodyPr>
          <a:lstStyle/>
          <a:p>
            <a:r>
              <a:rPr lang="ko-KR" altLang="en-US" sz="1200"/>
              <a:t>[0107] 상세한 예를 들어 설명하면, '커피 주문'시나리오에서는 먼저 사용자의 "커피 주세요"라는 발화가 수신되면, </a:t>
            </a:r>
            <a:r>
              <a:rPr lang="ko-KR" altLang="en-US" sz="1200" smtClean="0"/>
              <a:t>챗봇이 </a:t>
            </a:r>
            <a:r>
              <a:rPr lang="ko-KR" altLang="en-US" sz="1200"/>
              <a:t>"무슨 커피 드릴까요?"라고 응답할 수 있다.</a:t>
            </a:r>
          </a:p>
          <a:p>
            <a:r>
              <a:rPr lang="ko-KR" altLang="en-US" sz="1200"/>
              <a:t>[0108] 이 후, 사용자로부터 "{아메리카노:coffee} 주세요"라는 발화가 수신되면, 챗봇이 "따뜻하게 드릴까요? </a:t>
            </a:r>
            <a:r>
              <a:rPr lang="ko-KR" altLang="en-US" sz="1200" smtClean="0"/>
              <a:t>아이스로 </a:t>
            </a:r>
            <a:r>
              <a:rPr lang="ko-KR" altLang="en-US" sz="1200"/>
              <a:t>드릴까요?"라고 응답할 수 있다.</a:t>
            </a:r>
          </a:p>
          <a:p>
            <a:r>
              <a:rPr lang="ko-KR" altLang="en-US" sz="1200"/>
              <a:t>[0109] 이 후, 사용자로부터 "{아이스:hotice}로 주세요"라는 발화가 수신되면, 챗봇이 "드시고 가실 건가요?"라고 </a:t>
            </a:r>
            <a:r>
              <a:rPr lang="ko-KR" altLang="en-US" sz="1200" smtClean="0"/>
              <a:t>응답할 </a:t>
            </a:r>
            <a:r>
              <a:rPr lang="ko-KR" altLang="en-US" sz="1200"/>
              <a:t>수 있다.</a:t>
            </a:r>
          </a:p>
          <a:p>
            <a:r>
              <a:rPr lang="ko-KR" altLang="en-US" sz="1200"/>
              <a:t>[0110] 이 후, 사용자로부터 "{테이크아웃:takeout}이요"라는 발화가 수신되면, 챗봇이 각 슬롯들($coffee, $hotice</a:t>
            </a:r>
            <a:r>
              <a:rPr lang="ko-KR" altLang="en-US" sz="1200" smtClean="0"/>
              <a:t>,$</a:t>
            </a:r>
            <a:r>
              <a:rPr lang="ko-KR" altLang="en-US" sz="1200"/>
              <a:t>takeout)에 입력된 슬롯 값을 이용하여 "아이스 아메리카노 테이크아웃 주문되었습니다"라고 주문을 </a:t>
            </a:r>
            <a:r>
              <a:rPr lang="ko-KR" altLang="en-US" sz="1200" smtClean="0"/>
              <a:t>확인하는 발화를 </a:t>
            </a:r>
            <a:r>
              <a:rPr lang="ko-KR" altLang="en-US" sz="1200"/>
              <a:t>실행하면서 '커피 주문'시나리오가 종료될 수 있다</a:t>
            </a:r>
            <a:r>
              <a:rPr lang="ko-KR" altLang="en-US" sz="1200" smtClean="0"/>
              <a:t>. </a:t>
            </a:r>
            <a:endParaRPr lang="ko-KR" altLang="en-US" sz="1200"/>
          </a:p>
          <a:p>
            <a:r>
              <a:rPr lang="ko-KR" altLang="en-US" sz="1200"/>
              <a:t>[0111] 이 때 만약, 각 슬롯들($coffee, $hotice, $takeout)에 대해 슬롯 재사용 설정이 되어있고, 사용자로부터 "{</a:t>
            </a:r>
            <a:r>
              <a:rPr lang="ko-KR" altLang="en-US" sz="1200" smtClean="0"/>
              <a:t>라떼</a:t>
            </a:r>
            <a:r>
              <a:rPr lang="ko-KR" altLang="en-US" sz="1200"/>
              <a:t>:coffee}로 변경할게요"라는 발화가 수신되었다고 가정한다면, '커피 주문 변경'시나리오에서는 사용자가 </a:t>
            </a:r>
            <a:r>
              <a:rPr lang="ko-KR" altLang="en-US" sz="1200" smtClean="0"/>
              <a:t>말하지 </a:t>
            </a:r>
            <a:r>
              <a:rPr lang="ko-KR" altLang="en-US" sz="1200"/>
              <a:t>않은 슬롯들인 $hotice와 $takeout의 슬롯 값이 유지되어서, 챗봇이 "아이스 라떼 테이크아웃으로 </a:t>
            </a:r>
            <a:r>
              <a:rPr lang="ko-KR" altLang="en-US" sz="1200" smtClean="0"/>
              <a:t>변경되었습니다</a:t>
            </a:r>
            <a:r>
              <a:rPr lang="ko-KR" altLang="en-US" sz="1200"/>
              <a:t>"라고 바로 응답할 수 있다.</a:t>
            </a:r>
          </a:p>
        </p:txBody>
      </p:sp>
      <p:sp>
        <p:nvSpPr>
          <p:cNvPr id="7" name="직사각형 6"/>
          <p:cNvSpPr/>
          <p:nvPr/>
        </p:nvSpPr>
        <p:spPr>
          <a:xfrm>
            <a:off x="400050" y="1804987"/>
            <a:ext cx="10580618" cy="923330"/>
          </a:xfrm>
          <a:prstGeom prst="rect">
            <a:avLst/>
          </a:prstGeom>
        </p:spPr>
        <p:txBody>
          <a:bodyPr wrap="square">
            <a:spAutoFit/>
          </a:bodyPr>
          <a:lstStyle/>
          <a:p>
            <a:r>
              <a:rPr lang="ko-KR" altLang="en-US"/>
              <a:t>슬롯필링</a:t>
            </a:r>
            <a:endParaRPr lang="en-US" altLang="ko-KR"/>
          </a:p>
          <a:p>
            <a:r>
              <a:rPr lang="ko-KR" altLang="en-US"/>
              <a:t>슬롯 필링 기반의 챗봇 서비스 제공 방법 및 장치</a:t>
            </a:r>
            <a:endParaRPr lang="en-US" altLang="ko-KR"/>
          </a:p>
          <a:p>
            <a:r>
              <a:rPr lang="en-US" altLang="ko-KR"/>
              <a:t>  . https://scienceon.kisti.re.kr/srch/selectPORSrchPatent.do?cn=KOR1020220148686</a:t>
            </a:r>
            <a:endParaRPr lang="ko-KR" altLang="en-US"/>
          </a:p>
        </p:txBody>
      </p:sp>
    </p:spTree>
    <p:extLst>
      <p:ext uri="{BB962C8B-B14F-4D97-AF65-F5344CB8AC3E}">
        <p14:creationId xmlns:p14="http://schemas.microsoft.com/office/powerpoint/2010/main" val="221971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266699" y="529680"/>
            <a:ext cx="5924551" cy="4339650"/>
          </a:xfrm>
          <a:prstGeom prst="rect">
            <a:avLst/>
          </a:prstGeom>
        </p:spPr>
        <p:txBody>
          <a:bodyPr wrap="square">
            <a:spAutoFit/>
          </a:bodyPr>
          <a:lstStyle/>
          <a:p>
            <a:r>
              <a:rPr lang="ko-KR" altLang="en-US" sz="1200"/>
              <a:t>[0112] 즉, 이러한 경우에는 $hotice와 $takeout의 슬롯 값에 대해서도 다시 슬롯 필링이 수행되어야 하므로, </a:t>
            </a:r>
            <a:r>
              <a:rPr lang="ko-KR" altLang="en-US" sz="1200" smtClean="0"/>
              <a:t>슬롯을 재사용하지 </a:t>
            </a:r>
            <a:r>
              <a:rPr lang="ko-KR" altLang="en-US" sz="1200"/>
              <a:t>않도록 설정할 수 있다.</a:t>
            </a:r>
          </a:p>
          <a:p>
            <a:r>
              <a:rPr lang="ko-KR" altLang="en-US" sz="1200"/>
              <a:t>[0113] 따라서, 각 슬롯들($coffee, $hotice, $takeout)에 대해 슬롯 재사용 설정이 되어있지 않고, 상기와 같은 </a:t>
            </a:r>
            <a:r>
              <a:rPr lang="ko-KR" altLang="en-US" sz="1200" smtClean="0"/>
              <a:t>주문 이후에 </a:t>
            </a:r>
            <a:r>
              <a:rPr lang="ko-KR" altLang="en-US" sz="1200"/>
              <a:t>다시 사용자로부터 "{카푸치노:coffee} 주세요"라는 발화가 수신되었다면, 사용자가 말하지 않은 </a:t>
            </a:r>
            <a:r>
              <a:rPr lang="ko-KR" altLang="en-US" sz="1200" smtClean="0"/>
              <a:t>슬롯들인 </a:t>
            </a:r>
            <a:r>
              <a:rPr lang="ko-KR" altLang="en-US" sz="1200"/>
              <a:t>$hotice와 $takeout의 슬롯 값을 초기화되어 지워지고, 지워진 슬롯 값들을 다시 채우기 위해 챗봇이 </a:t>
            </a:r>
            <a:r>
              <a:rPr lang="ko-KR" altLang="en-US" sz="1200" smtClean="0"/>
              <a:t>사용자에게 </a:t>
            </a:r>
            <a:r>
              <a:rPr lang="ko-KR" altLang="en-US" sz="1200"/>
              <a:t>질문할 수 있다.</a:t>
            </a:r>
          </a:p>
          <a:p>
            <a:r>
              <a:rPr lang="ko-KR" altLang="en-US" sz="1200"/>
              <a:t>[0114] 종래에는 슬롯 컨텍스트를 유지하기 위해 인텐트 단위 별로 input, output 속성을 설정하고, 앞/뒤 </a:t>
            </a:r>
            <a:r>
              <a:rPr lang="ko-KR" altLang="en-US" sz="1200" smtClean="0"/>
              <a:t>인텐트마다 매번 </a:t>
            </a:r>
            <a:r>
              <a:rPr lang="ko-KR" altLang="en-US" sz="1200"/>
              <a:t>설정된 값을 관리해주어야 했기 때문에 시나리오에 따라 슬롯 컨텍스트 유지 여부가 변경되는 경우에는 </a:t>
            </a:r>
            <a:r>
              <a:rPr lang="ko-KR" altLang="en-US" sz="1200" smtClean="0"/>
              <a:t>관리가 </a:t>
            </a:r>
            <a:r>
              <a:rPr lang="ko-KR" altLang="en-US" sz="1200"/>
              <a:t>어려운 문제가 있었다.</a:t>
            </a:r>
          </a:p>
          <a:p>
            <a:r>
              <a:rPr lang="ko-KR" altLang="en-US" sz="1200"/>
              <a:t>[0115] 본 발명에서는 슬롯 재사용 설정을 통해 이러한 문제점을 해결하고, 보다 효과적으로 이전 인텐트에 의한 </a:t>
            </a:r>
            <a:r>
              <a:rPr lang="ko-KR" altLang="en-US" sz="1200" smtClean="0"/>
              <a:t>컨텍스트를 </a:t>
            </a:r>
            <a:r>
              <a:rPr lang="ko-KR" altLang="en-US" sz="1200"/>
              <a:t>유지할 수 있다.</a:t>
            </a:r>
          </a:p>
          <a:p>
            <a:r>
              <a:rPr lang="ko-KR" altLang="en-US" sz="1200"/>
              <a:t>[0116] 이 때, 슬롯 재사용 설정이 수행된 실행블록과 연결된 인텐트들의 슬롯들은 시나리오가 종료된 후 다시 </a:t>
            </a:r>
            <a:r>
              <a:rPr lang="ko-KR" altLang="en-US" sz="1200" smtClean="0"/>
              <a:t>실행했을 </a:t>
            </a:r>
            <a:r>
              <a:rPr lang="ko-KR" altLang="en-US" sz="1200"/>
              <a:t>때에도 슬롯 값이 삭제되지 않을 수 있다.</a:t>
            </a:r>
          </a:p>
          <a:p>
            <a:r>
              <a:rPr lang="ko-KR" altLang="en-US" sz="1200"/>
              <a:t>[0117] 예를 들어, 본 발명에 따르면 사용자 대화에 상응하게 매핑된 인텐트로부터 슬롯을 추출할 때에 슬롯 재사용 </a:t>
            </a:r>
            <a:r>
              <a:rPr lang="ko-KR" altLang="en-US" sz="1200" smtClean="0"/>
              <a:t>설정되어 </a:t>
            </a:r>
            <a:r>
              <a:rPr lang="ko-KR" altLang="en-US" sz="1200"/>
              <a:t>있는 슬롯들의 경우, 사용자가 말하지 않은 슬롯이라면 이미 채워진 슬롯 값을 삭제하지 않고 </a:t>
            </a:r>
            <a:r>
              <a:rPr lang="ko-KR" altLang="en-US" sz="1200" smtClean="0"/>
              <a:t>기억하고있다가 </a:t>
            </a:r>
            <a:r>
              <a:rPr lang="ko-KR" altLang="en-US" sz="1200"/>
              <a:t>처리할 수 있다. 이 때, 시나리오가 종료된 이후에도 슬롯 컨텍스트를 유지해야 하므로 컨텍스트에 </a:t>
            </a:r>
            <a:r>
              <a:rPr lang="ko-KR" altLang="en-US" sz="1200" smtClean="0"/>
              <a:t>존재하는 </a:t>
            </a:r>
            <a:r>
              <a:rPr lang="ko-KR" altLang="en-US" sz="1200"/>
              <a:t>슬롯 값들은 여전히 삭제하지 않고 계속 유지할 수 있다.</a:t>
            </a:r>
          </a:p>
          <a:p>
            <a:r>
              <a:rPr lang="ko-KR" altLang="en-US" sz="1200"/>
              <a:t>[0118] 또한, 슬롯 재사용이 설정되지 않은 슬롯들은, 사용자 대화에 상응하게 매핑된 인텐트로부터 슬롯을 추출할 </a:t>
            </a:r>
            <a:r>
              <a:rPr lang="ko-KR" altLang="en-US" sz="1200" smtClean="0"/>
              <a:t>때에 </a:t>
            </a:r>
            <a:r>
              <a:rPr lang="ko-KR" altLang="en-US" sz="1200"/>
              <a:t>사용자가 말하지 않은 슬롯이라면 슬롯 값을 초기화 시킬 수도 있다.</a:t>
            </a:r>
          </a:p>
        </p:txBody>
      </p:sp>
      <p:pic>
        <p:nvPicPr>
          <p:cNvPr id="5" name="그림 4"/>
          <p:cNvPicPr>
            <a:picLocks noChangeAspect="1"/>
          </p:cNvPicPr>
          <p:nvPr/>
        </p:nvPicPr>
        <p:blipFill>
          <a:blip r:embed="rId2"/>
          <a:stretch>
            <a:fillRect/>
          </a:stretch>
        </p:blipFill>
        <p:spPr>
          <a:xfrm>
            <a:off x="7334250" y="295275"/>
            <a:ext cx="3987096" cy="5576887"/>
          </a:xfrm>
          <a:prstGeom prst="rect">
            <a:avLst/>
          </a:prstGeom>
        </p:spPr>
      </p:pic>
    </p:spTree>
    <p:extLst>
      <p:ext uri="{BB962C8B-B14F-4D97-AF65-F5344CB8AC3E}">
        <p14:creationId xmlns:p14="http://schemas.microsoft.com/office/powerpoint/2010/main" val="33733693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571500" y="381685"/>
            <a:ext cx="10458450" cy="646331"/>
          </a:xfrm>
          <a:prstGeom prst="rect">
            <a:avLst/>
          </a:prstGeom>
        </p:spPr>
        <p:txBody>
          <a:bodyPr wrap="square">
            <a:spAutoFit/>
          </a:bodyPr>
          <a:lstStyle/>
          <a:p>
            <a:r>
              <a:rPr lang="en-US" altLang="ko-KR"/>
              <a:t>VARCO LLM</a:t>
            </a:r>
            <a:r>
              <a:rPr lang="ko-KR" altLang="en-US"/>
              <a:t>과 </a:t>
            </a:r>
            <a:r>
              <a:rPr lang="en-US" altLang="ko-KR"/>
              <a:t>Amazon OpenSearch</a:t>
            </a:r>
            <a:r>
              <a:rPr lang="ko-KR" altLang="en-US"/>
              <a:t>를 이용하여 한국어 </a:t>
            </a:r>
            <a:r>
              <a:rPr lang="en-US" altLang="ko-KR"/>
              <a:t>Chatbot </a:t>
            </a:r>
            <a:r>
              <a:rPr lang="ko-KR" altLang="en-US" smtClean="0"/>
              <a:t>만들기 </a:t>
            </a:r>
            <a:r>
              <a:rPr lang="en-US" altLang="ko-KR" smtClean="0"/>
              <a:t>- 1</a:t>
            </a:r>
          </a:p>
          <a:p>
            <a:r>
              <a:rPr lang="ko-KR" altLang="en-US" smtClean="0"/>
              <a:t>https</a:t>
            </a:r>
            <a:r>
              <a:rPr lang="ko-KR" altLang="en-US"/>
              <a:t>://aws.amazon.com/ko/blogs/tech/korean-chatbot-using-varco-llm-and-opensearch/</a:t>
            </a:r>
          </a:p>
        </p:txBody>
      </p:sp>
      <p:pic>
        <p:nvPicPr>
          <p:cNvPr id="5" name="그림 4"/>
          <p:cNvPicPr>
            <a:picLocks noChangeAspect="1"/>
          </p:cNvPicPr>
          <p:nvPr/>
        </p:nvPicPr>
        <p:blipFill>
          <a:blip r:embed="rId2"/>
          <a:stretch>
            <a:fillRect/>
          </a:stretch>
        </p:blipFill>
        <p:spPr>
          <a:xfrm>
            <a:off x="271463" y="1089007"/>
            <a:ext cx="5395396" cy="2776538"/>
          </a:xfrm>
          <a:prstGeom prst="rect">
            <a:avLst/>
          </a:prstGeom>
        </p:spPr>
      </p:pic>
      <p:sp>
        <p:nvSpPr>
          <p:cNvPr id="6" name="직사각형 5"/>
          <p:cNvSpPr/>
          <p:nvPr/>
        </p:nvSpPr>
        <p:spPr>
          <a:xfrm>
            <a:off x="5876925" y="1437650"/>
            <a:ext cx="6096000" cy="4524315"/>
          </a:xfrm>
          <a:prstGeom prst="rect">
            <a:avLst/>
          </a:prstGeom>
        </p:spPr>
        <p:txBody>
          <a:bodyPr>
            <a:spAutoFit/>
          </a:bodyPr>
          <a:lstStyle/>
          <a:p>
            <a:r>
              <a:rPr lang="ko-KR" altLang="en-US" sz="1200"/>
              <a:t>VARCO LLM은 엔씨소프트(NC SOFT)에서 제공하는 대용량 언어 모델(LLM)입니다. VARCO LLM KO-13B-IST는 VARCO LLM KO-13B-FM의 파인 튜닝(Fine Tuning) 모델로서 Question and Answering, Summarization등 다양한 태스크에 활용할 수 있으며, Amazon SageMaker를 이용하여 쉽게 배포하여 사용할 수 있습니다. 또한, 대규모 언어 모델(LLM)은 사전학습(Pre-train)을 통해 많은 경우에 좋은 답변을 할 수 있지만, 학습에 포함되지 않은 특정 영역(domain specific)에 대한 질문에 대해서는 때때로 정확히 답변할 수 없습니다. RAG (Retrieval Augmented Generation) 를 이용하면, 외부 문서 저장소에서 질문(Question)에 관련된 문서를 읽어와서 Prompt에 활용하는 방식으로 대용량 모델의 성능을 강화될 수 있습니다.</a:t>
            </a:r>
          </a:p>
          <a:p>
            <a:endParaRPr lang="ko-KR" altLang="en-US" sz="1200"/>
          </a:p>
          <a:p>
            <a:endParaRPr lang="ko-KR" altLang="en-US" sz="1200"/>
          </a:p>
          <a:p>
            <a:r>
              <a:rPr lang="ko-KR" altLang="en-US" sz="1200"/>
              <a:t>class ContentHandler(LLMContentHandler):</a:t>
            </a:r>
          </a:p>
          <a:p>
            <a:r>
              <a:rPr lang="ko-KR" altLang="en-US" sz="1200"/>
              <a:t>    content_type = "application/json"</a:t>
            </a:r>
          </a:p>
          <a:p>
            <a:r>
              <a:rPr lang="ko-KR" altLang="en-US" sz="1200"/>
              <a:t>    accepts = "application/json"</a:t>
            </a:r>
          </a:p>
          <a:p>
            <a:endParaRPr lang="ko-KR" altLang="en-US" sz="1200"/>
          </a:p>
          <a:p>
            <a:r>
              <a:rPr lang="ko-KR" altLang="en-US" sz="1200"/>
              <a:t>    def transform_input(self, prompt: str, model_kwargs: dict) -&gt; bytes:</a:t>
            </a:r>
          </a:p>
          <a:p>
            <a:r>
              <a:rPr lang="ko-KR" altLang="en-US" sz="1200"/>
              <a:t>        input_str = json.dumps({</a:t>
            </a:r>
          </a:p>
          <a:p>
            <a:r>
              <a:rPr lang="ko-KR" altLang="en-US" sz="1200"/>
              <a:t>            "text" : prompt, **model_kwargs</a:t>
            </a:r>
          </a:p>
          <a:p>
            <a:r>
              <a:rPr lang="ko-KR" altLang="en-US" sz="1200"/>
              <a:t>        })</a:t>
            </a:r>
          </a:p>
          <a:p>
            <a:r>
              <a:rPr lang="ko-KR" altLang="en-US" sz="1200"/>
              <a:t>        return input_str.encode('utf-8')</a:t>
            </a:r>
          </a:p>
          <a:p>
            <a:r>
              <a:rPr lang="ko-KR" altLang="en-US" sz="1200"/>
              <a:t>      </a:t>
            </a:r>
          </a:p>
          <a:p>
            <a:r>
              <a:rPr lang="ko-KR" altLang="en-US" sz="1200"/>
              <a:t>    def transform_output(self, output: bytes) -&gt; str:</a:t>
            </a:r>
          </a:p>
          <a:p>
            <a:r>
              <a:rPr lang="ko-KR" altLang="en-US" sz="1200"/>
              <a:t>        response_json = json.loads(output.read().decode("utf-8"))</a:t>
            </a:r>
          </a:p>
          <a:p>
            <a:r>
              <a:rPr lang="ko-KR" altLang="en-US" sz="1200"/>
              <a:t>        return response_json["result"][0]</a:t>
            </a:r>
          </a:p>
        </p:txBody>
      </p:sp>
      <p:sp>
        <p:nvSpPr>
          <p:cNvPr id="7" name="직사각형 6"/>
          <p:cNvSpPr/>
          <p:nvPr/>
        </p:nvSpPr>
        <p:spPr>
          <a:xfrm>
            <a:off x="118547" y="4095066"/>
            <a:ext cx="5548312" cy="1015663"/>
          </a:xfrm>
          <a:prstGeom prst="rect">
            <a:avLst/>
          </a:prstGeom>
        </p:spPr>
        <p:txBody>
          <a:bodyPr wrap="square">
            <a:spAutoFit/>
          </a:bodyPr>
          <a:lstStyle/>
          <a:p>
            <a:r>
              <a:rPr lang="ko-KR" altLang="en-US" sz="1000"/>
              <a:t>사용자 질문(Query)를 Embedding 하기</a:t>
            </a:r>
          </a:p>
          <a:p>
            <a:r>
              <a:rPr lang="ko-KR" altLang="en-US" sz="1000"/>
              <a:t>OpenSearch에 보내는 query를 vector로 변환하기 위해서는 embedding function이 필요합니다. 여기서는 GPT-J 6B Embedding FP16을 이용하여 embedding을 수행합니다. GPT-J embedding은 semantic search와 text generation에 유용하게 이용할 수 있습니다. GPT-J embedding은 SagMaker JumpStart를 이용해 배포할 수 있으므로 SageMaker Endpoint Embeddings을 이용하여 아래와 같이 정의합니다.</a:t>
            </a:r>
          </a:p>
        </p:txBody>
      </p:sp>
      <p:sp>
        <p:nvSpPr>
          <p:cNvPr id="8" name="직사각형 7"/>
          <p:cNvSpPr/>
          <p:nvPr/>
        </p:nvSpPr>
        <p:spPr>
          <a:xfrm>
            <a:off x="271463" y="5097303"/>
            <a:ext cx="5605462" cy="1631216"/>
          </a:xfrm>
          <a:prstGeom prst="rect">
            <a:avLst/>
          </a:prstGeom>
        </p:spPr>
        <p:txBody>
          <a:bodyPr wrap="square">
            <a:spAutoFit/>
          </a:bodyPr>
          <a:lstStyle/>
          <a:p>
            <a:r>
              <a:rPr lang="ko-KR" altLang="en-US" sz="1000"/>
              <a:t>OpenSearch를 이용하여 Vector Store 구성하기</a:t>
            </a:r>
          </a:p>
          <a:p>
            <a:r>
              <a:rPr lang="ko-KR" altLang="en-US" sz="1000"/>
              <a:t>LangChain의 OpenSearchVectorSearch을 이용하여 vectorstore를 정의합니다. 여기서는 개인화된 RAG를 적용하기 위하여 OpenSearch의 index에 UUID로 구성된 userId를 추가하였습니다. 또한 embedding_function로 GPT-J embedding을 지정하였습니다.</a:t>
            </a:r>
          </a:p>
          <a:p>
            <a:endParaRPr lang="ko-KR" altLang="en-US" sz="1000"/>
          </a:p>
          <a:p>
            <a:r>
              <a:rPr lang="ko-KR" altLang="en-US" sz="1000"/>
              <a:t>개인화된 RAG를 OpenSearch Index로 구현하기</a:t>
            </a:r>
          </a:p>
          <a:p>
            <a:r>
              <a:rPr lang="ko-KR" altLang="en-US" sz="1000"/>
              <a:t>OpenSearch에 문서를 넣을 때에, userId와 requestId를 이용해 index_name을 생성하였습니다. 아래처럼 userId를 index에 포함한후 RAG를 관련 index로 검색하면 개인화된 RAG를 구성할 수 있습니다. 만약, 그룹단위로 RAG를 구성한다면 userId 대신에 groupId를 생성하는 방법으로 응용할 수 있습니다.</a:t>
            </a:r>
          </a:p>
        </p:txBody>
      </p:sp>
    </p:spTree>
    <p:extLst>
      <p:ext uri="{BB962C8B-B14F-4D97-AF65-F5344CB8AC3E}">
        <p14:creationId xmlns:p14="http://schemas.microsoft.com/office/powerpoint/2010/main" val="3946679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581025" y="176331"/>
            <a:ext cx="10458450" cy="646331"/>
          </a:xfrm>
          <a:prstGeom prst="rect">
            <a:avLst/>
          </a:prstGeom>
        </p:spPr>
        <p:txBody>
          <a:bodyPr wrap="square">
            <a:spAutoFit/>
          </a:bodyPr>
          <a:lstStyle/>
          <a:p>
            <a:r>
              <a:rPr lang="en-US" altLang="ko-KR"/>
              <a:t>VARCO LLM</a:t>
            </a:r>
            <a:r>
              <a:rPr lang="ko-KR" altLang="en-US"/>
              <a:t>과 </a:t>
            </a:r>
            <a:r>
              <a:rPr lang="en-US" altLang="ko-KR"/>
              <a:t>Amazon OpenSearch</a:t>
            </a:r>
            <a:r>
              <a:rPr lang="ko-KR" altLang="en-US"/>
              <a:t>를 이용하여 한국어 </a:t>
            </a:r>
            <a:r>
              <a:rPr lang="en-US" altLang="ko-KR"/>
              <a:t>Chatbot </a:t>
            </a:r>
            <a:r>
              <a:rPr lang="ko-KR" altLang="en-US" smtClean="0"/>
              <a:t>만들기 </a:t>
            </a:r>
            <a:r>
              <a:rPr lang="en-US" altLang="ko-KR" smtClean="0"/>
              <a:t>- 2</a:t>
            </a:r>
          </a:p>
          <a:p>
            <a:r>
              <a:rPr lang="ko-KR" altLang="en-US" smtClean="0"/>
              <a:t>https</a:t>
            </a:r>
            <a:r>
              <a:rPr lang="ko-KR" altLang="en-US"/>
              <a:t>://aws.amazon.com/ko/blogs/tech/korean-chatbot-using-varco-llm-and-opensearch/</a:t>
            </a:r>
          </a:p>
        </p:txBody>
      </p:sp>
      <p:sp>
        <p:nvSpPr>
          <p:cNvPr id="2" name="직사각형 1"/>
          <p:cNvSpPr/>
          <p:nvPr/>
        </p:nvSpPr>
        <p:spPr>
          <a:xfrm>
            <a:off x="1000125" y="917912"/>
            <a:ext cx="10191750" cy="5940088"/>
          </a:xfrm>
          <a:prstGeom prst="rect">
            <a:avLst/>
          </a:prstGeom>
        </p:spPr>
        <p:txBody>
          <a:bodyPr wrap="square">
            <a:spAutoFit/>
          </a:bodyPr>
          <a:lstStyle/>
          <a:p>
            <a:r>
              <a:rPr lang="ko-KR" altLang="en-US" sz="1000"/>
              <a:t>RAG에서 Vector 검색에 사용하는 OpenSearch는 query size의 제한이 있습니다. 여기서는 1800자 이상의 query에 대해서만 RAG를 적용합니다.</a:t>
            </a:r>
          </a:p>
          <a:p>
            <a:endParaRPr lang="ko-KR" altLang="en-US" sz="1000"/>
          </a:p>
          <a:p>
            <a:r>
              <a:rPr lang="ko-KR" altLang="en-US" sz="1000"/>
              <a:t>if querySize&lt;1800 and enableOpenSearch=='true': </a:t>
            </a:r>
          </a:p>
          <a:p>
            <a:r>
              <a:rPr lang="ko-KR" altLang="en-US" sz="1000"/>
              <a:t>  answer = get_answer_using_template(text, vectorstore)</a:t>
            </a:r>
          </a:p>
          <a:p>
            <a:r>
              <a:rPr lang="ko-KR" altLang="en-US" sz="1000"/>
              <a:t>else:</a:t>
            </a:r>
          </a:p>
          <a:p>
            <a:r>
              <a:rPr lang="ko-KR" altLang="en-US" sz="1000"/>
              <a:t>  answer = llm(text) </a:t>
            </a:r>
          </a:p>
          <a:p>
            <a:r>
              <a:rPr lang="ko-KR" altLang="en-US" sz="1000"/>
              <a:t>VARCO LLM의 응답에서 “### Assistant:” 이후를 응답으로 사용하기 위하여 아래와 같이 answer에서 msg를 추출합니다.</a:t>
            </a:r>
          </a:p>
          <a:p>
            <a:endParaRPr lang="ko-KR" altLang="en-US" sz="1000"/>
          </a:p>
          <a:p>
            <a:r>
              <a:rPr lang="ko-KR" altLang="en-US" sz="1000"/>
              <a:t>pos = answer.rfind('### Assistant:\n') + 15</a:t>
            </a:r>
          </a:p>
          <a:p>
            <a:r>
              <a:rPr lang="ko-KR" altLang="en-US" sz="1000"/>
              <a:t>msg = answer[pos:]</a:t>
            </a:r>
          </a:p>
          <a:p>
            <a:endParaRPr lang="ko-KR" altLang="en-US" sz="1000"/>
          </a:p>
          <a:p>
            <a:endParaRPr lang="ko-KR" altLang="en-US" sz="1000"/>
          </a:p>
          <a:p>
            <a:r>
              <a:rPr lang="ko-KR" altLang="en-US" sz="1000"/>
              <a:t>Chat에 사용할 Lambda의 Role을 정의합니다.</a:t>
            </a:r>
          </a:p>
          <a:p>
            <a:endParaRPr lang="ko-KR" altLang="en-US" sz="1000"/>
          </a:p>
          <a:p>
            <a:r>
              <a:rPr lang="ko-KR" altLang="en-US" sz="1000"/>
              <a:t>const roleLambda = new iam.Role(this, `role-lambda-chat-for-${projectName}`, {</a:t>
            </a:r>
          </a:p>
          <a:p>
            <a:r>
              <a:rPr lang="ko-KR" altLang="en-US" sz="1000"/>
              <a:t>    roleName: `role-lambda-chat-for-${projectName}`,</a:t>
            </a:r>
          </a:p>
          <a:p>
            <a:r>
              <a:rPr lang="ko-KR" altLang="en-US" sz="1000"/>
              <a:t>    assumedBy: new iam.CompositePrincipal(</a:t>
            </a:r>
          </a:p>
          <a:p>
            <a:r>
              <a:rPr lang="ko-KR" altLang="en-US" sz="1000"/>
              <a:t>        new iam.ServicePrincipal("lambda.amazonaws.com")</a:t>
            </a:r>
          </a:p>
          <a:p>
            <a:r>
              <a:rPr lang="ko-KR" altLang="en-US" sz="1000"/>
              <a:t>    )</a:t>
            </a:r>
          </a:p>
          <a:p>
            <a:r>
              <a:rPr lang="ko-KR" altLang="en-US" sz="1000"/>
              <a:t>});</a:t>
            </a:r>
          </a:p>
          <a:p>
            <a:r>
              <a:rPr lang="ko-KR" altLang="en-US" sz="1000"/>
              <a:t>roleLambda.addManagedPolicy({</a:t>
            </a:r>
          </a:p>
          <a:p>
            <a:r>
              <a:rPr lang="ko-KR" altLang="en-US" sz="1000"/>
              <a:t>    managedPolicyArn: 'arn:aws:iam::aws:policy/service-role/AWSLambdaBasicExecutionRole',</a:t>
            </a:r>
          </a:p>
          <a:p>
            <a:r>
              <a:rPr lang="ko-KR" altLang="en-US" sz="1000"/>
              <a:t>});</a:t>
            </a:r>
          </a:p>
          <a:p>
            <a:r>
              <a:rPr lang="ko-KR" altLang="en-US" sz="1000"/>
              <a:t>roleLambda.attachInlinePolicy( // add opensearch policy</a:t>
            </a:r>
          </a:p>
          <a:p>
            <a:r>
              <a:rPr lang="ko-KR" altLang="en-US" sz="1000"/>
              <a:t>    new iam.Policy(this, `opensearch-policy-for-${projectName}`, {</a:t>
            </a:r>
          </a:p>
          <a:p>
            <a:r>
              <a:rPr lang="ko-KR" altLang="en-US" sz="1000"/>
              <a:t>        statements: [OpenSearchPolicy],</a:t>
            </a:r>
          </a:p>
          <a:p>
            <a:r>
              <a:rPr lang="ko-KR" altLang="en-US" sz="1000"/>
              <a:t>    }),</a:t>
            </a:r>
          </a:p>
          <a:p>
            <a:r>
              <a:rPr lang="ko-KR" altLang="en-US" sz="1000"/>
              <a:t>);</a:t>
            </a:r>
          </a:p>
          <a:p>
            <a:r>
              <a:rPr lang="ko-KR" altLang="en-US" sz="1000"/>
              <a:t>lambda-chat을 아래와 같이 정의하고 필요한 권한을 부여합니다.</a:t>
            </a:r>
          </a:p>
          <a:p>
            <a:endParaRPr lang="ko-KR" altLang="en-US" sz="1000"/>
          </a:p>
          <a:p>
            <a:r>
              <a:rPr lang="ko-KR" altLang="en-US" sz="1000"/>
              <a:t>const lambdaChatApi = new lambda.DockerImageFunction(this, `lambda-chat-for-${projectName}`, {</a:t>
            </a:r>
          </a:p>
          <a:p>
            <a:r>
              <a:rPr lang="ko-KR" altLang="en-US" sz="1000"/>
              <a:t>    description: 'lambda for chat api',</a:t>
            </a:r>
          </a:p>
          <a:p>
            <a:r>
              <a:rPr lang="ko-KR" altLang="en-US" sz="1000"/>
              <a:t>    functionName: `lambda-chat-api-for-${projectName}`,</a:t>
            </a:r>
          </a:p>
          <a:p>
            <a:r>
              <a:rPr lang="ko-KR" altLang="en-US" sz="1000"/>
              <a:t>    code: lambda.DockerImageCode.fromImageAsset(path.join(__dirname, '../../lambda-chat')),</a:t>
            </a:r>
          </a:p>
          <a:p>
            <a:endParaRPr lang="ko-KR" altLang="en-US" sz="1000"/>
          </a:p>
          <a:p>
            <a:r>
              <a:rPr lang="ko-KR" altLang="en-US" sz="1000"/>
              <a:t>..... </a:t>
            </a:r>
          </a:p>
          <a:p>
            <a:endParaRPr lang="ko-KR" altLang="en-US" sz="1000"/>
          </a:p>
          <a:p>
            <a:r>
              <a:rPr lang="ko-KR" altLang="en-US" sz="1000"/>
              <a:t>VARCO LLM이 SageMaker Endpoint를 이용해 제공되므로, 아래와 같이 SageMaker 사용을 위한 권한도 부여합니다.</a:t>
            </a:r>
          </a:p>
        </p:txBody>
      </p:sp>
    </p:spTree>
    <p:extLst>
      <p:ext uri="{BB962C8B-B14F-4D97-AF65-F5344CB8AC3E}">
        <p14:creationId xmlns:p14="http://schemas.microsoft.com/office/powerpoint/2010/main" val="1312672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7324088" y="5958959"/>
            <a:ext cx="3887474" cy="369332"/>
          </a:xfrm>
          <a:prstGeom prst="rect">
            <a:avLst/>
          </a:prstGeom>
        </p:spPr>
        <p:txBody>
          <a:bodyPr wrap="none">
            <a:spAutoFit/>
          </a:bodyPr>
          <a:lstStyle/>
          <a:p>
            <a:r>
              <a:rPr lang="ko-KR" altLang="en-US"/>
              <a:t>https://littlefoxdiary.tistory.com/114</a:t>
            </a:r>
          </a:p>
        </p:txBody>
      </p:sp>
      <p:sp>
        <p:nvSpPr>
          <p:cNvPr id="6" name="직사각형 5"/>
          <p:cNvSpPr/>
          <p:nvPr/>
        </p:nvSpPr>
        <p:spPr>
          <a:xfrm>
            <a:off x="685800" y="917912"/>
            <a:ext cx="6096000" cy="5940088"/>
          </a:xfrm>
          <a:prstGeom prst="rect">
            <a:avLst/>
          </a:prstGeom>
        </p:spPr>
        <p:txBody>
          <a:bodyPr>
            <a:spAutoFit/>
          </a:bodyPr>
          <a:lstStyle/>
          <a:p>
            <a:r>
              <a:rPr lang="ko-KR" altLang="en-US" sz="1000"/>
              <a:t>from langchain.chat_models import ChatOpenAI</a:t>
            </a:r>
          </a:p>
          <a:p>
            <a:r>
              <a:rPr lang="ko-KR" altLang="en-US" sz="1000"/>
              <a:t>from langchain.prompts.chat import (</a:t>
            </a:r>
          </a:p>
          <a:p>
            <a:r>
              <a:rPr lang="ko-KR" altLang="en-US" sz="1000"/>
              <a:t>    ChatPromptTemplate,</a:t>
            </a:r>
          </a:p>
          <a:p>
            <a:r>
              <a:rPr lang="ko-KR" altLang="en-US" sz="1000"/>
              <a:t>    SystemMessagePromptTemplate,</a:t>
            </a:r>
          </a:p>
          <a:p>
            <a:r>
              <a:rPr lang="ko-KR" altLang="en-US" sz="1000"/>
              <a:t>    HumanMessagePromptTemplate,</a:t>
            </a:r>
          </a:p>
          <a:p>
            <a:r>
              <a:rPr lang="ko-KR" altLang="en-US" sz="1000"/>
              <a:t>)</a:t>
            </a:r>
          </a:p>
          <a:p>
            <a:r>
              <a:rPr lang="ko-KR" altLang="en-US" sz="1000"/>
              <a:t>from langchain.chains import LLMChain</a:t>
            </a:r>
          </a:p>
          <a:p>
            <a:r>
              <a:rPr lang="ko-KR" altLang="en-US" sz="1000"/>
              <a:t>from langchain.schema import BaseOutputParser</a:t>
            </a:r>
          </a:p>
          <a:p>
            <a:endParaRPr lang="ko-KR" altLang="en-US" sz="1000"/>
          </a:p>
          <a:p>
            <a:r>
              <a:rPr lang="ko-KR" altLang="en-US" sz="1000"/>
              <a:t>class CommaSeparatedListOutputParser(BaseOutputParser):</a:t>
            </a:r>
          </a:p>
          <a:p>
            <a:r>
              <a:rPr lang="ko-KR" altLang="en-US" sz="1000"/>
              <a:t>    """LLM 아웃풋에 있는 ','를 분리해서 리턴하는 파서."""</a:t>
            </a:r>
          </a:p>
          <a:p>
            <a:endParaRPr lang="ko-KR" altLang="en-US" sz="1000"/>
          </a:p>
          <a:p>
            <a:endParaRPr lang="ko-KR" altLang="en-US" sz="1000"/>
          </a:p>
          <a:p>
            <a:r>
              <a:rPr lang="ko-KR" altLang="en-US" sz="1000"/>
              <a:t>    def parse(self, text: str):</a:t>
            </a:r>
          </a:p>
          <a:p>
            <a:r>
              <a:rPr lang="ko-KR" altLang="en-US" sz="1000"/>
              <a:t>        return text.strip().split(", ")</a:t>
            </a:r>
          </a:p>
          <a:p>
            <a:endParaRPr lang="ko-KR" altLang="en-US" sz="1000"/>
          </a:p>
          <a:p>
            <a:r>
              <a:rPr lang="ko-KR" altLang="en-US" sz="1000"/>
              <a:t>template = """</a:t>
            </a:r>
          </a:p>
          <a:p>
            <a:r>
              <a:rPr lang="ko-KR" altLang="en-US" sz="1000"/>
              <a:t>너는 5세 아이의 낱말놀이를 도와주는 AI야.</a:t>
            </a:r>
          </a:p>
          <a:p>
            <a:r>
              <a:rPr lang="ko-KR" altLang="en-US" sz="1000"/>
              <a:t>아이가 어떤 카테고리에 해당하는 개체들을 말해달라고 &lt;질문&gt;을 하면</a:t>
            </a:r>
          </a:p>
          <a:p>
            <a:r>
              <a:rPr lang="ko-KR" altLang="en-US" sz="1000"/>
              <a:t>해당 카테고리에 해당하는 단어들을 5개 나열해야 해.</a:t>
            </a:r>
          </a:p>
          <a:p>
            <a:r>
              <a:rPr lang="ko-KR" altLang="en-US" sz="1000"/>
              <a:t>이때 각 단어는 반드시 comma(,)로 분리해서 대답해주고, 이외의 말은 하지 마.</a:t>
            </a:r>
          </a:p>
          <a:p>
            <a:endParaRPr lang="ko-KR" altLang="en-US" sz="1000"/>
          </a:p>
          <a:p>
            <a:r>
              <a:rPr lang="ko-KR" altLang="en-US" sz="1000"/>
              <a:t>질문:"""</a:t>
            </a:r>
          </a:p>
          <a:p>
            <a:r>
              <a:rPr lang="ko-KR" altLang="en-US" sz="1000"/>
              <a:t>system_message_prompt = SystemMessagePromptTemplate.from_template(template)</a:t>
            </a:r>
          </a:p>
          <a:p>
            <a:r>
              <a:rPr lang="ko-KR" altLang="en-US" sz="1000"/>
              <a:t>human_template = "{text}"</a:t>
            </a:r>
          </a:p>
          <a:p>
            <a:r>
              <a:rPr lang="ko-KR" altLang="en-US" sz="1000"/>
              <a:t>human_message_prompt = HumanMessagePromptTemplate.from_template(human_template)</a:t>
            </a:r>
          </a:p>
          <a:p>
            <a:endParaRPr lang="ko-KR" altLang="en-US" sz="1000"/>
          </a:p>
          <a:p>
            <a:r>
              <a:rPr lang="ko-KR" altLang="en-US" sz="1000"/>
              <a:t>chat_prompt = ChatPromptTemplate.from_messages([system_message_prompt, human_message_prompt])</a:t>
            </a:r>
          </a:p>
          <a:p>
            <a:endParaRPr lang="ko-KR" altLang="en-US" sz="1000"/>
          </a:p>
          <a:p>
            <a:r>
              <a:rPr lang="ko-KR" altLang="en-US" sz="1000"/>
              <a:t>chain = LLMChain(</a:t>
            </a:r>
          </a:p>
          <a:p>
            <a:r>
              <a:rPr lang="ko-KR" altLang="en-US" sz="1000"/>
              <a:t>    llm=ChatOpenAI(openai_api_key = api_key),</a:t>
            </a:r>
          </a:p>
          <a:p>
            <a:r>
              <a:rPr lang="ko-KR" altLang="en-US" sz="1000"/>
              <a:t>    prompt=chat_prompt,</a:t>
            </a:r>
          </a:p>
          <a:p>
            <a:r>
              <a:rPr lang="ko-KR" altLang="en-US" sz="1000"/>
              <a:t>    output_parser=CommaSeparatedListOutputParser()</a:t>
            </a:r>
          </a:p>
          <a:p>
            <a:r>
              <a:rPr lang="ko-KR" altLang="en-US" sz="1000"/>
              <a:t>)</a:t>
            </a:r>
          </a:p>
          <a:p>
            <a:r>
              <a:rPr lang="ko-KR" altLang="en-US" sz="1000"/>
              <a:t>chain.run("동물에 대해 공부하고 싶어")</a:t>
            </a:r>
          </a:p>
          <a:p>
            <a:endParaRPr lang="ko-KR" altLang="en-US" sz="1000"/>
          </a:p>
          <a:p>
            <a:endParaRPr lang="ko-KR" altLang="en-US" sz="1000"/>
          </a:p>
        </p:txBody>
      </p:sp>
      <p:sp>
        <p:nvSpPr>
          <p:cNvPr id="7" name="직사각형 6"/>
          <p:cNvSpPr/>
          <p:nvPr/>
        </p:nvSpPr>
        <p:spPr>
          <a:xfrm>
            <a:off x="523003" y="224909"/>
            <a:ext cx="5564344" cy="369332"/>
          </a:xfrm>
          <a:prstGeom prst="rect">
            <a:avLst/>
          </a:prstGeom>
        </p:spPr>
        <p:txBody>
          <a:bodyPr wrap="none">
            <a:spAutoFit/>
          </a:bodyPr>
          <a:lstStyle/>
          <a:p>
            <a:r>
              <a:rPr lang="en-US" altLang="ko-KR">
                <a:solidFill>
                  <a:srgbClr val="7A583A"/>
                </a:solidFill>
                <a:latin typeface="Noto Sans KR"/>
              </a:rPr>
              <a:t>LangChain</a:t>
            </a:r>
            <a:r>
              <a:rPr lang="ko-KR" altLang="en-US">
                <a:solidFill>
                  <a:srgbClr val="7A583A"/>
                </a:solidFill>
                <a:latin typeface="Noto Sans KR"/>
              </a:rPr>
              <a:t>이란</a:t>
            </a:r>
            <a:r>
              <a:rPr lang="en-US" altLang="ko-KR">
                <a:solidFill>
                  <a:srgbClr val="7A583A"/>
                </a:solidFill>
                <a:latin typeface="Noto Sans KR"/>
              </a:rPr>
              <a:t>? | </a:t>
            </a:r>
            <a:r>
              <a:rPr lang="ko-KR" altLang="en-US">
                <a:solidFill>
                  <a:srgbClr val="7A583A"/>
                </a:solidFill>
                <a:latin typeface="Noto Sans KR"/>
              </a:rPr>
              <a:t>파이썬으로 </a:t>
            </a:r>
            <a:r>
              <a:rPr lang="en-US" altLang="ko-KR">
                <a:solidFill>
                  <a:srgbClr val="7A583A"/>
                </a:solidFill>
                <a:latin typeface="Noto Sans KR"/>
              </a:rPr>
              <a:t>LangChain </a:t>
            </a:r>
            <a:r>
              <a:rPr lang="ko-KR" altLang="en-US">
                <a:solidFill>
                  <a:srgbClr val="7A583A"/>
                </a:solidFill>
                <a:latin typeface="Noto Sans KR"/>
              </a:rPr>
              <a:t>시작하기</a:t>
            </a:r>
            <a:endParaRPr lang="ko-KR" altLang="en-US" b="0" i="0">
              <a:solidFill>
                <a:srgbClr val="7A583A"/>
              </a:solidFill>
              <a:effectLst/>
              <a:latin typeface="Noto Sans KR"/>
            </a:endParaRPr>
          </a:p>
        </p:txBody>
      </p:sp>
      <p:sp>
        <p:nvSpPr>
          <p:cNvPr id="8" name="직사각형 7"/>
          <p:cNvSpPr/>
          <p:nvPr/>
        </p:nvSpPr>
        <p:spPr>
          <a:xfrm>
            <a:off x="7172325" y="6458635"/>
            <a:ext cx="6096000" cy="276999"/>
          </a:xfrm>
          <a:prstGeom prst="rect">
            <a:avLst/>
          </a:prstGeom>
        </p:spPr>
        <p:txBody>
          <a:bodyPr>
            <a:spAutoFit/>
          </a:bodyPr>
          <a:lstStyle/>
          <a:p>
            <a:r>
              <a:rPr lang="ko-KR" altLang="en-US" sz="1200"/>
              <a:t>https://python.langchain.com/docs/get_started/quickstart.html</a:t>
            </a:r>
          </a:p>
        </p:txBody>
      </p:sp>
    </p:spTree>
    <p:extLst>
      <p:ext uri="{BB962C8B-B14F-4D97-AF65-F5344CB8AC3E}">
        <p14:creationId xmlns:p14="http://schemas.microsoft.com/office/powerpoint/2010/main" val="36490713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495299" y="315010"/>
            <a:ext cx="10925175" cy="523220"/>
          </a:xfrm>
          <a:prstGeom prst="rect">
            <a:avLst/>
          </a:prstGeom>
        </p:spPr>
        <p:txBody>
          <a:bodyPr wrap="square">
            <a:spAutoFit/>
          </a:bodyPr>
          <a:lstStyle/>
          <a:p>
            <a:r>
              <a:rPr lang="en-US" altLang="ko-KR" b="1">
                <a:solidFill>
                  <a:srgbClr val="0F0F0F"/>
                </a:solidFill>
                <a:latin typeface="YouTube Sans"/>
              </a:rPr>
              <a:t>Langchain - PromptTemplate, LLM </a:t>
            </a:r>
            <a:r>
              <a:rPr lang="ko-KR" altLang="en-US" b="1">
                <a:solidFill>
                  <a:srgbClr val="0F0F0F"/>
                </a:solidFill>
                <a:latin typeface="YouTube Sans"/>
              </a:rPr>
              <a:t>프롬프트 입력을 더 </a:t>
            </a:r>
            <a:r>
              <a:rPr lang="ko-KR" altLang="en-US" b="1" smtClean="0">
                <a:solidFill>
                  <a:srgbClr val="0F0F0F"/>
                </a:solidFill>
                <a:latin typeface="YouTube Sans"/>
              </a:rPr>
              <a:t>편하게</a:t>
            </a:r>
            <a:endParaRPr lang="en-US" altLang="ko-KR" b="1" smtClean="0">
              <a:solidFill>
                <a:srgbClr val="0F0F0F"/>
              </a:solidFill>
              <a:latin typeface="YouTube Sans"/>
            </a:endParaRPr>
          </a:p>
          <a:p>
            <a:r>
              <a:rPr lang="en-US" altLang="ko-KR" sz="1000" b="1">
                <a:solidFill>
                  <a:srgbClr val="0F0F0F"/>
                </a:solidFill>
                <a:latin typeface="YouTube Sans"/>
              </a:rPr>
              <a:t>https://www.youtube.com/watch?v=y6D5Hn_k4lE</a:t>
            </a:r>
            <a:endParaRPr lang="ko-KR" altLang="en-US" sz="1000" b="1" i="0">
              <a:solidFill>
                <a:srgbClr val="0F0F0F"/>
              </a:solidFill>
              <a:effectLst/>
              <a:latin typeface="YouTube Sans"/>
            </a:endParaRPr>
          </a:p>
        </p:txBody>
      </p:sp>
      <p:pic>
        <p:nvPicPr>
          <p:cNvPr id="5" name="그림 4"/>
          <p:cNvPicPr>
            <a:picLocks noChangeAspect="1"/>
          </p:cNvPicPr>
          <p:nvPr/>
        </p:nvPicPr>
        <p:blipFill>
          <a:blip r:embed="rId2"/>
          <a:stretch>
            <a:fillRect/>
          </a:stretch>
        </p:blipFill>
        <p:spPr>
          <a:xfrm>
            <a:off x="923925" y="1466850"/>
            <a:ext cx="9563100" cy="3105150"/>
          </a:xfrm>
          <a:prstGeom prst="rect">
            <a:avLst/>
          </a:prstGeom>
        </p:spPr>
      </p:pic>
    </p:spTree>
    <p:extLst>
      <p:ext uri="{BB962C8B-B14F-4D97-AF65-F5344CB8AC3E}">
        <p14:creationId xmlns:p14="http://schemas.microsoft.com/office/powerpoint/2010/main" val="4262843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495299" y="315010"/>
            <a:ext cx="10925175" cy="523220"/>
          </a:xfrm>
          <a:prstGeom prst="rect">
            <a:avLst/>
          </a:prstGeom>
        </p:spPr>
        <p:txBody>
          <a:bodyPr wrap="square">
            <a:spAutoFit/>
          </a:bodyPr>
          <a:lstStyle/>
          <a:p>
            <a:r>
              <a:rPr lang="en-US" altLang="ko-KR" b="1">
                <a:solidFill>
                  <a:srgbClr val="0F0F0F"/>
                </a:solidFill>
                <a:latin typeface="YouTube Sans"/>
              </a:rPr>
              <a:t>Langchain - PromptTemplate, LLM </a:t>
            </a:r>
            <a:r>
              <a:rPr lang="ko-KR" altLang="en-US" b="1">
                <a:solidFill>
                  <a:srgbClr val="0F0F0F"/>
                </a:solidFill>
                <a:latin typeface="YouTube Sans"/>
              </a:rPr>
              <a:t>프롬프트 입력을 더 </a:t>
            </a:r>
            <a:r>
              <a:rPr lang="ko-KR" altLang="en-US" b="1" smtClean="0">
                <a:solidFill>
                  <a:srgbClr val="0F0F0F"/>
                </a:solidFill>
                <a:latin typeface="YouTube Sans"/>
              </a:rPr>
              <a:t>편하게</a:t>
            </a:r>
            <a:endParaRPr lang="en-US" altLang="ko-KR" b="1" smtClean="0">
              <a:solidFill>
                <a:srgbClr val="0F0F0F"/>
              </a:solidFill>
              <a:latin typeface="YouTube Sans"/>
            </a:endParaRPr>
          </a:p>
          <a:p>
            <a:r>
              <a:rPr lang="en-US" altLang="ko-KR" sz="1000" b="1">
                <a:solidFill>
                  <a:srgbClr val="0F0F0F"/>
                </a:solidFill>
                <a:latin typeface="YouTube Sans"/>
              </a:rPr>
              <a:t>https://www.youtube.com/watch?v=y6D5Hn_k4lE</a:t>
            </a:r>
            <a:endParaRPr lang="ko-KR" altLang="en-US" sz="1000" b="1" i="0">
              <a:solidFill>
                <a:srgbClr val="0F0F0F"/>
              </a:solidFill>
              <a:effectLst/>
              <a:latin typeface="YouTube Sans"/>
            </a:endParaRPr>
          </a:p>
        </p:txBody>
      </p:sp>
      <p:sp>
        <p:nvSpPr>
          <p:cNvPr id="5" name="직사각형 4"/>
          <p:cNvSpPr/>
          <p:nvPr/>
        </p:nvSpPr>
        <p:spPr>
          <a:xfrm>
            <a:off x="676274" y="1143685"/>
            <a:ext cx="10048875" cy="369332"/>
          </a:xfrm>
          <a:prstGeom prst="rect">
            <a:avLst/>
          </a:prstGeom>
        </p:spPr>
        <p:txBody>
          <a:bodyPr wrap="square">
            <a:spAutoFit/>
          </a:bodyPr>
          <a:lstStyle/>
          <a:p>
            <a:r>
              <a:rPr lang="ko-KR" altLang="en-US"/>
              <a:t>https://colab.research.google.com/drive/1wF8zTDDUdmq59RXYLOprje3yrpP8z9Pv?usp=sharing</a:t>
            </a:r>
          </a:p>
        </p:txBody>
      </p:sp>
      <p:pic>
        <p:nvPicPr>
          <p:cNvPr id="6" name="그림 5"/>
          <p:cNvPicPr>
            <a:picLocks noChangeAspect="1"/>
          </p:cNvPicPr>
          <p:nvPr/>
        </p:nvPicPr>
        <p:blipFill>
          <a:blip r:embed="rId2"/>
          <a:stretch>
            <a:fillRect/>
          </a:stretch>
        </p:blipFill>
        <p:spPr>
          <a:xfrm>
            <a:off x="571500" y="1513017"/>
            <a:ext cx="5581650" cy="1609725"/>
          </a:xfrm>
          <a:prstGeom prst="rect">
            <a:avLst/>
          </a:prstGeom>
        </p:spPr>
      </p:pic>
      <p:pic>
        <p:nvPicPr>
          <p:cNvPr id="7" name="그림 6"/>
          <p:cNvPicPr>
            <a:picLocks noChangeAspect="1"/>
          </p:cNvPicPr>
          <p:nvPr/>
        </p:nvPicPr>
        <p:blipFill>
          <a:blip r:embed="rId3"/>
          <a:stretch>
            <a:fillRect/>
          </a:stretch>
        </p:blipFill>
        <p:spPr>
          <a:xfrm>
            <a:off x="676274" y="3190072"/>
            <a:ext cx="4772025" cy="3467100"/>
          </a:xfrm>
          <a:prstGeom prst="rect">
            <a:avLst/>
          </a:prstGeom>
        </p:spPr>
      </p:pic>
      <p:pic>
        <p:nvPicPr>
          <p:cNvPr id="9" name="그림 8"/>
          <p:cNvPicPr>
            <a:picLocks noChangeAspect="1"/>
          </p:cNvPicPr>
          <p:nvPr/>
        </p:nvPicPr>
        <p:blipFill>
          <a:blip r:embed="rId4"/>
          <a:stretch>
            <a:fillRect/>
          </a:stretch>
        </p:blipFill>
        <p:spPr>
          <a:xfrm>
            <a:off x="5957886" y="1685925"/>
            <a:ext cx="5762625" cy="4476750"/>
          </a:xfrm>
          <a:prstGeom prst="rect">
            <a:avLst/>
          </a:prstGeom>
        </p:spPr>
      </p:pic>
      <p:pic>
        <p:nvPicPr>
          <p:cNvPr id="10" name="그림 9"/>
          <p:cNvPicPr>
            <a:picLocks noChangeAspect="1"/>
          </p:cNvPicPr>
          <p:nvPr/>
        </p:nvPicPr>
        <p:blipFill>
          <a:blip r:embed="rId5"/>
          <a:stretch>
            <a:fillRect/>
          </a:stretch>
        </p:blipFill>
        <p:spPr>
          <a:xfrm>
            <a:off x="9067797" y="5095875"/>
            <a:ext cx="2705100" cy="1638300"/>
          </a:xfrm>
          <a:prstGeom prst="rect">
            <a:avLst/>
          </a:prstGeom>
        </p:spPr>
      </p:pic>
    </p:spTree>
    <p:extLst>
      <p:ext uri="{BB962C8B-B14F-4D97-AF65-F5344CB8AC3E}">
        <p14:creationId xmlns:p14="http://schemas.microsoft.com/office/powerpoint/2010/main" val="461212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495299" y="315010"/>
            <a:ext cx="10925175" cy="523220"/>
          </a:xfrm>
          <a:prstGeom prst="rect">
            <a:avLst/>
          </a:prstGeom>
        </p:spPr>
        <p:txBody>
          <a:bodyPr wrap="square">
            <a:spAutoFit/>
          </a:bodyPr>
          <a:lstStyle/>
          <a:p>
            <a:r>
              <a:rPr lang="en-US" altLang="ko-KR" b="1"/>
              <a:t>LangChain</a:t>
            </a:r>
            <a:r>
              <a:rPr lang="ko-KR" altLang="en-US" b="1"/>
              <a:t>으로 </a:t>
            </a:r>
            <a:r>
              <a:rPr lang="en-US" altLang="ko-KR" b="1"/>
              <a:t>ChatGPT API </a:t>
            </a:r>
            <a:r>
              <a:rPr lang="ko-KR" altLang="en-US" b="1"/>
              <a:t>활용하기</a:t>
            </a:r>
          </a:p>
          <a:p>
            <a:r>
              <a:rPr lang="en-US" altLang="ko-KR" sz="1000" b="1" smtClean="0">
                <a:solidFill>
                  <a:srgbClr val="0F0F0F"/>
                </a:solidFill>
                <a:latin typeface="YouTube Sans"/>
              </a:rPr>
              <a:t>https</a:t>
            </a:r>
            <a:r>
              <a:rPr lang="en-US" altLang="ko-KR" sz="1000" b="1">
                <a:solidFill>
                  <a:srgbClr val="0F0F0F"/>
                </a:solidFill>
                <a:latin typeface="YouTube Sans"/>
              </a:rPr>
              <a:t>://www.youtube.com/watch?v=BLM3KDaOTJM</a:t>
            </a:r>
            <a:endParaRPr lang="ko-KR" altLang="en-US" sz="1000" b="1" i="0">
              <a:solidFill>
                <a:srgbClr val="0F0F0F"/>
              </a:solidFill>
              <a:effectLst/>
              <a:latin typeface="YouTube Sans"/>
            </a:endParaRPr>
          </a:p>
        </p:txBody>
      </p:sp>
      <p:sp>
        <p:nvSpPr>
          <p:cNvPr id="2" name="직사각형 1"/>
          <p:cNvSpPr/>
          <p:nvPr/>
        </p:nvSpPr>
        <p:spPr>
          <a:xfrm>
            <a:off x="590549" y="924610"/>
            <a:ext cx="10277475" cy="246221"/>
          </a:xfrm>
          <a:prstGeom prst="rect">
            <a:avLst/>
          </a:prstGeom>
        </p:spPr>
        <p:txBody>
          <a:bodyPr wrap="square">
            <a:spAutoFit/>
          </a:bodyPr>
          <a:lstStyle/>
          <a:p>
            <a:r>
              <a:rPr lang="en-US" altLang="ko-KR" sz="1000">
                <a:latin typeface="Roboto"/>
                <a:hlinkClick r:id="rId2"/>
              </a:rPr>
              <a:t>https://colab.research.google.com/drive/1Ain-2t_OI_llY0lSn0NEPJ1E7kNVdx5J?usp=sharing</a:t>
            </a:r>
            <a:endParaRPr lang="ko-KR" altLang="en-US" sz="1000"/>
          </a:p>
        </p:txBody>
      </p:sp>
      <p:pic>
        <p:nvPicPr>
          <p:cNvPr id="3" name="그림 2"/>
          <p:cNvPicPr>
            <a:picLocks noChangeAspect="1"/>
          </p:cNvPicPr>
          <p:nvPr/>
        </p:nvPicPr>
        <p:blipFill>
          <a:blip r:embed="rId3"/>
          <a:stretch>
            <a:fillRect/>
          </a:stretch>
        </p:blipFill>
        <p:spPr>
          <a:xfrm>
            <a:off x="881062" y="1409700"/>
            <a:ext cx="6467475" cy="1619250"/>
          </a:xfrm>
          <a:prstGeom prst="rect">
            <a:avLst/>
          </a:prstGeom>
        </p:spPr>
      </p:pic>
      <p:sp>
        <p:nvSpPr>
          <p:cNvPr id="5" name="TextBox 4"/>
          <p:cNvSpPr txBox="1"/>
          <p:nvPr/>
        </p:nvSpPr>
        <p:spPr>
          <a:xfrm>
            <a:off x="8029575" y="1552575"/>
            <a:ext cx="2467086" cy="276999"/>
          </a:xfrm>
          <a:prstGeom prst="rect">
            <a:avLst/>
          </a:prstGeom>
          <a:noFill/>
        </p:spPr>
        <p:txBody>
          <a:bodyPr wrap="none" rtlCol="0">
            <a:spAutoFit/>
          </a:bodyPr>
          <a:lstStyle/>
          <a:p>
            <a:r>
              <a:rPr lang="en-US" altLang="ko-KR" sz="1200" smtClean="0"/>
              <a:t>temperature: </a:t>
            </a:r>
            <a:r>
              <a:rPr lang="ko-KR" altLang="en-US" sz="1200" smtClean="0"/>
              <a:t>높이면 표현 달라짐</a:t>
            </a:r>
            <a:endParaRPr lang="ko-KR" altLang="en-US" sz="1200"/>
          </a:p>
        </p:txBody>
      </p:sp>
      <p:pic>
        <p:nvPicPr>
          <p:cNvPr id="6" name="그림 5"/>
          <p:cNvPicPr>
            <a:picLocks noChangeAspect="1"/>
          </p:cNvPicPr>
          <p:nvPr/>
        </p:nvPicPr>
        <p:blipFill>
          <a:blip r:embed="rId4"/>
          <a:stretch>
            <a:fillRect/>
          </a:stretch>
        </p:blipFill>
        <p:spPr>
          <a:xfrm>
            <a:off x="809625" y="3410694"/>
            <a:ext cx="8591550" cy="847725"/>
          </a:xfrm>
          <a:prstGeom prst="rect">
            <a:avLst/>
          </a:prstGeom>
        </p:spPr>
      </p:pic>
      <p:sp>
        <p:nvSpPr>
          <p:cNvPr id="7" name="TextBox 6"/>
          <p:cNvSpPr txBox="1"/>
          <p:nvPr/>
        </p:nvSpPr>
        <p:spPr>
          <a:xfrm>
            <a:off x="9525000" y="3609975"/>
            <a:ext cx="2613216" cy="276999"/>
          </a:xfrm>
          <a:prstGeom prst="rect">
            <a:avLst/>
          </a:prstGeom>
          <a:noFill/>
        </p:spPr>
        <p:txBody>
          <a:bodyPr wrap="none" rtlCol="0">
            <a:spAutoFit/>
          </a:bodyPr>
          <a:lstStyle/>
          <a:p>
            <a:r>
              <a:rPr lang="en-US" altLang="ko-KR" sz="1200" smtClean="0"/>
              <a:t>chatGPT</a:t>
            </a:r>
            <a:r>
              <a:rPr lang="ko-KR" altLang="en-US" sz="1200" smtClean="0"/>
              <a:t>화면처럼 출력 순차로 보임</a:t>
            </a:r>
            <a:endParaRPr lang="ko-KR" altLang="en-US" sz="1200"/>
          </a:p>
        </p:txBody>
      </p:sp>
      <p:pic>
        <p:nvPicPr>
          <p:cNvPr id="8" name="그림 7"/>
          <p:cNvPicPr>
            <a:picLocks noChangeAspect="1"/>
          </p:cNvPicPr>
          <p:nvPr/>
        </p:nvPicPr>
        <p:blipFill>
          <a:blip r:embed="rId5"/>
          <a:stretch>
            <a:fillRect/>
          </a:stretch>
        </p:blipFill>
        <p:spPr>
          <a:xfrm>
            <a:off x="881062" y="4402782"/>
            <a:ext cx="5800725" cy="2095500"/>
          </a:xfrm>
          <a:prstGeom prst="rect">
            <a:avLst/>
          </a:prstGeom>
        </p:spPr>
      </p:pic>
      <p:sp>
        <p:nvSpPr>
          <p:cNvPr id="9" name="TextBox 8"/>
          <p:cNvSpPr txBox="1"/>
          <p:nvPr/>
        </p:nvSpPr>
        <p:spPr>
          <a:xfrm>
            <a:off x="6787959" y="4501663"/>
            <a:ext cx="3306996" cy="461665"/>
          </a:xfrm>
          <a:prstGeom prst="rect">
            <a:avLst/>
          </a:prstGeom>
          <a:noFill/>
        </p:spPr>
        <p:txBody>
          <a:bodyPr wrap="none" rtlCol="0">
            <a:spAutoFit/>
          </a:bodyPr>
          <a:lstStyle/>
          <a:p>
            <a:r>
              <a:rPr lang="ko-KR" altLang="en-US" sz="1200" smtClean="0"/>
              <a:t>역할 부여 </a:t>
            </a:r>
            <a:r>
              <a:rPr lang="en-US" altLang="ko-KR" sz="1200" smtClean="0"/>
              <a:t>: SystemMessage, HumanMessage</a:t>
            </a:r>
          </a:p>
          <a:p>
            <a:r>
              <a:rPr lang="en-US" altLang="ko-KR" sz="1200" smtClean="0">
                <a:sym typeface="Wingdings" panose="05000000000000000000" pitchFamily="2" charset="2"/>
              </a:rPr>
              <a:t> </a:t>
            </a:r>
            <a:r>
              <a:rPr lang="ko-KR" altLang="en-US" sz="1200" smtClean="0">
                <a:sym typeface="Wingdings" panose="05000000000000000000" pitchFamily="2" charset="2"/>
              </a:rPr>
              <a:t>이 예에서는 영어를 한글로 번역 수행</a:t>
            </a:r>
            <a:endParaRPr lang="ko-KR" altLang="en-US" sz="1200"/>
          </a:p>
        </p:txBody>
      </p:sp>
      <p:pic>
        <p:nvPicPr>
          <p:cNvPr id="10" name="그림 9"/>
          <p:cNvPicPr>
            <a:picLocks noChangeAspect="1"/>
          </p:cNvPicPr>
          <p:nvPr/>
        </p:nvPicPr>
        <p:blipFill>
          <a:blip r:embed="rId6"/>
          <a:stretch>
            <a:fillRect/>
          </a:stretch>
        </p:blipFill>
        <p:spPr>
          <a:xfrm>
            <a:off x="774890" y="6326832"/>
            <a:ext cx="5572125" cy="342900"/>
          </a:xfrm>
          <a:prstGeom prst="rect">
            <a:avLst/>
          </a:prstGeom>
        </p:spPr>
      </p:pic>
    </p:spTree>
    <p:extLst>
      <p:ext uri="{BB962C8B-B14F-4D97-AF65-F5344CB8AC3E}">
        <p14:creationId xmlns:p14="http://schemas.microsoft.com/office/powerpoint/2010/main" val="15666043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p:cNvPicPr>
            <a:picLocks noChangeAspect="1"/>
          </p:cNvPicPr>
          <p:nvPr/>
        </p:nvPicPr>
        <p:blipFill>
          <a:blip r:embed="rId2"/>
          <a:stretch>
            <a:fillRect/>
          </a:stretch>
        </p:blipFill>
        <p:spPr>
          <a:xfrm>
            <a:off x="828675" y="692311"/>
            <a:ext cx="9320212" cy="5070314"/>
          </a:xfrm>
          <a:prstGeom prst="rect">
            <a:avLst/>
          </a:prstGeom>
        </p:spPr>
      </p:pic>
      <p:sp>
        <p:nvSpPr>
          <p:cNvPr id="8" name="직사각형 7"/>
          <p:cNvSpPr/>
          <p:nvPr/>
        </p:nvSpPr>
        <p:spPr>
          <a:xfrm>
            <a:off x="5944876" y="6311384"/>
            <a:ext cx="5369547" cy="369332"/>
          </a:xfrm>
          <a:prstGeom prst="rect">
            <a:avLst/>
          </a:prstGeom>
        </p:spPr>
        <p:txBody>
          <a:bodyPr wrap="none">
            <a:spAutoFit/>
          </a:bodyPr>
          <a:lstStyle/>
          <a:p>
            <a:r>
              <a:rPr lang="ko-KR" altLang="en-US"/>
              <a:t>https://www.youtube.com/watch?v=tIU2tw3PMUE</a:t>
            </a:r>
          </a:p>
        </p:txBody>
      </p:sp>
    </p:spTree>
    <p:extLst>
      <p:ext uri="{BB962C8B-B14F-4D97-AF65-F5344CB8AC3E}">
        <p14:creationId xmlns:p14="http://schemas.microsoft.com/office/powerpoint/2010/main" val="40030085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p:cNvPicPr>
            <a:picLocks noChangeAspect="1"/>
          </p:cNvPicPr>
          <p:nvPr/>
        </p:nvPicPr>
        <p:blipFill>
          <a:blip r:embed="rId2"/>
          <a:stretch>
            <a:fillRect/>
          </a:stretch>
        </p:blipFill>
        <p:spPr>
          <a:xfrm>
            <a:off x="676503" y="466725"/>
            <a:ext cx="10724922" cy="5676900"/>
          </a:xfrm>
          <a:prstGeom prst="rect">
            <a:avLst/>
          </a:prstGeom>
        </p:spPr>
      </p:pic>
    </p:spTree>
    <p:extLst>
      <p:ext uri="{BB962C8B-B14F-4D97-AF65-F5344CB8AC3E}">
        <p14:creationId xmlns:p14="http://schemas.microsoft.com/office/powerpoint/2010/main" val="18150932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p:cNvPicPr>
            <a:picLocks noChangeAspect="1"/>
          </p:cNvPicPr>
          <p:nvPr/>
        </p:nvPicPr>
        <p:blipFill>
          <a:blip r:embed="rId2"/>
          <a:stretch>
            <a:fillRect/>
          </a:stretch>
        </p:blipFill>
        <p:spPr>
          <a:xfrm>
            <a:off x="1038224" y="815108"/>
            <a:ext cx="8726709" cy="4280767"/>
          </a:xfrm>
          <a:prstGeom prst="rect">
            <a:avLst/>
          </a:prstGeom>
        </p:spPr>
      </p:pic>
      <p:pic>
        <p:nvPicPr>
          <p:cNvPr id="5" name="그림 4"/>
          <p:cNvPicPr>
            <a:picLocks noChangeAspect="1"/>
          </p:cNvPicPr>
          <p:nvPr/>
        </p:nvPicPr>
        <p:blipFill>
          <a:blip r:embed="rId3"/>
          <a:stretch>
            <a:fillRect/>
          </a:stretch>
        </p:blipFill>
        <p:spPr>
          <a:xfrm>
            <a:off x="1038224" y="5095875"/>
            <a:ext cx="6515966" cy="1638300"/>
          </a:xfrm>
          <a:prstGeom prst="rect">
            <a:avLst/>
          </a:prstGeom>
        </p:spPr>
      </p:pic>
    </p:spTree>
    <p:extLst>
      <p:ext uri="{BB962C8B-B14F-4D97-AF65-F5344CB8AC3E}">
        <p14:creationId xmlns:p14="http://schemas.microsoft.com/office/powerpoint/2010/main" val="39241575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p:cNvSpPr/>
          <p:nvPr/>
        </p:nvSpPr>
        <p:spPr>
          <a:xfrm>
            <a:off x="466724" y="124510"/>
            <a:ext cx="7324725" cy="738664"/>
          </a:xfrm>
          <a:prstGeom prst="rect">
            <a:avLst/>
          </a:prstGeom>
        </p:spPr>
        <p:txBody>
          <a:bodyPr wrap="square">
            <a:spAutoFit/>
          </a:bodyPr>
          <a:lstStyle/>
          <a:p>
            <a:r>
              <a:rPr lang="en-US" altLang="ko-KR" sz="1400" b="1"/>
              <a:t>LLM </a:t>
            </a:r>
            <a:r>
              <a:rPr lang="ko-KR" altLang="en-US" sz="1400" b="1"/>
              <a:t>챗봇 </a:t>
            </a:r>
            <a:r>
              <a:rPr lang="en-US" altLang="ko-KR" sz="1400" b="1"/>
              <a:t>,</a:t>
            </a:r>
            <a:r>
              <a:rPr lang="ko-KR" altLang="en-US" sz="1400" b="1"/>
              <a:t>랭체인의 핵심 </a:t>
            </a:r>
            <a:r>
              <a:rPr lang="en-US" altLang="ko-KR" sz="1400" b="1"/>
              <a:t>Retrieval - Document Loaders</a:t>
            </a:r>
          </a:p>
          <a:p>
            <a:endParaRPr lang="ko-KR" altLang="en-US" sz="1400"/>
          </a:p>
          <a:p>
            <a:r>
              <a:rPr lang="ko-KR" altLang="en-US" sz="1400"/>
              <a:t>https://www.youtube.com/watch?v=tIU2tw3PMUE</a:t>
            </a:r>
          </a:p>
        </p:txBody>
      </p:sp>
      <p:pic>
        <p:nvPicPr>
          <p:cNvPr id="6" name="그림 5"/>
          <p:cNvPicPr>
            <a:picLocks noChangeAspect="1"/>
          </p:cNvPicPr>
          <p:nvPr/>
        </p:nvPicPr>
        <p:blipFill>
          <a:blip r:embed="rId2"/>
          <a:stretch>
            <a:fillRect/>
          </a:stretch>
        </p:blipFill>
        <p:spPr>
          <a:xfrm>
            <a:off x="757236" y="1398270"/>
            <a:ext cx="6334125" cy="2486025"/>
          </a:xfrm>
          <a:prstGeom prst="rect">
            <a:avLst/>
          </a:prstGeom>
        </p:spPr>
      </p:pic>
      <p:pic>
        <p:nvPicPr>
          <p:cNvPr id="7" name="그림 6"/>
          <p:cNvPicPr>
            <a:picLocks noChangeAspect="1"/>
          </p:cNvPicPr>
          <p:nvPr/>
        </p:nvPicPr>
        <p:blipFill>
          <a:blip r:embed="rId3"/>
          <a:stretch>
            <a:fillRect/>
          </a:stretch>
        </p:blipFill>
        <p:spPr>
          <a:xfrm>
            <a:off x="342897" y="4419391"/>
            <a:ext cx="6934201" cy="2302965"/>
          </a:xfrm>
          <a:prstGeom prst="rect">
            <a:avLst/>
          </a:prstGeom>
        </p:spPr>
      </p:pic>
      <p:pic>
        <p:nvPicPr>
          <p:cNvPr id="8" name="그림 7"/>
          <p:cNvPicPr>
            <a:picLocks noChangeAspect="1"/>
          </p:cNvPicPr>
          <p:nvPr/>
        </p:nvPicPr>
        <p:blipFill>
          <a:blip r:embed="rId4"/>
          <a:stretch>
            <a:fillRect/>
          </a:stretch>
        </p:blipFill>
        <p:spPr>
          <a:xfrm>
            <a:off x="5163805" y="1162048"/>
            <a:ext cx="6520428" cy="2022158"/>
          </a:xfrm>
          <a:prstGeom prst="rect">
            <a:avLst/>
          </a:prstGeom>
        </p:spPr>
      </p:pic>
      <p:pic>
        <p:nvPicPr>
          <p:cNvPr id="9" name="그림 8"/>
          <p:cNvPicPr>
            <a:picLocks noChangeAspect="1"/>
          </p:cNvPicPr>
          <p:nvPr/>
        </p:nvPicPr>
        <p:blipFill>
          <a:blip r:embed="rId5"/>
          <a:stretch>
            <a:fillRect/>
          </a:stretch>
        </p:blipFill>
        <p:spPr>
          <a:xfrm>
            <a:off x="570934" y="957261"/>
            <a:ext cx="4048125" cy="409575"/>
          </a:xfrm>
          <a:prstGeom prst="rect">
            <a:avLst/>
          </a:prstGeom>
        </p:spPr>
      </p:pic>
      <p:pic>
        <p:nvPicPr>
          <p:cNvPr id="10" name="그림 9"/>
          <p:cNvPicPr>
            <a:picLocks noChangeAspect="1"/>
          </p:cNvPicPr>
          <p:nvPr/>
        </p:nvPicPr>
        <p:blipFill>
          <a:blip r:embed="rId6"/>
          <a:stretch>
            <a:fillRect/>
          </a:stretch>
        </p:blipFill>
        <p:spPr>
          <a:xfrm>
            <a:off x="8362950" y="3646917"/>
            <a:ext cx="3228975" cy="2116253"/>
          </a:xfrm>
          <a:prstGeom prst="rect">
            <a:avLst/>
          </a:prstGeom>
        </p:spPr>
      </p:pic>
      <p:pic>
        <p:nvPicPr>
          <p:cNvPr id="12" name="그림 11"/>
          <p:cNvPicPr>
            <a:picLocks noChangeAspect="1"/>
          </p:cNvPicPr>
          <p:nvPr/>
        </p:nvPicPr>
        <p:blipFill>
          <a:blip r:embed="rId7"/>
          <a:stretch>
            <a:fillRect/>
          </a:stretch>
        </p:blipFill>
        <p:spPr>
          <a:xfrm>
            <a:off x="7398543" y="0"/>
            <a:ext cx="3924300" cy="1428750"/>
          </a:xfrm>
          <a:prstGeom prst="rect">
            <a:avLst/>
          </a:prstGeom>
        </p:spPr>
      </p:pic>
      <p:pic>
        <p:nvPicPr>
          <p:cNvPr id="13" name="그림 12"/>
          <p:cNvPicPr>
            <a:picLocks noChangeAspect="1"/>
          </p:cNvPicPr>
          <p:nvPr/>
        </p:nvPicPr>
        <p:blipFill>
          <a:blip r:embed="rId8"/>
          <a:stretch>
            <a:fillRect/>
          </a:stretch>
        </p:blipFill>
        <p:spPr>
          <a:xfrm>
            <a:off x="342897" y="3667872"/>
            <a:ext cx="6576041" cy="703149"/>
          </a:xfrm>
          <a:prstGeom prst="rect">
            <a:avLst/>
          </a:prstGeom>
        </p:spPr>
      </p:pic>
      <p:pic>
        <p:nvPicPr>
          <p:cNvPr id="14" name="그림 13"/>
          <p:cNvPicPr>
            <a:picLocks noChangeAspect="1"/>
          </p:cNvPicPr>
          <p:nvPr/>
        </p:nvPicPr>
        <p:blipFill>
          <a:blip r:embed="rId9"/>
          <a:stretch>
            <a:fillRect/>
          </a:stretch>
        </p:blipFill>
        <p:spPr>
          <a:xfrm>
            <a:off x="7510462" y="5872519"/>
            <a:ext cx="4505325" cy="838200"/>
          </a:xfrm>
          <a:prstGeom prst="rect">
            <a:avLst/>
          </a:prstGeom>
        </p:spPr>
      </p:pic>
      <p:sp>
        <p:nvSpPr>
          <p:cNvPr id="15" name="TextBox 14"/>
          <p:cNvSpPr txBox="1"/>
          <p:nvPr/>
        </p:nvSpPr>
        <p:spPr>
          <a:xfrm>
            <a:off x="4991100" y="493842"/>
            <a:ext cx="1563954" cy="276999"/>
          </a:xfrm>
          <a:prstGeom prst="rect">
            <a:avLst/>
          </a:prstGeom>
          <a:noFill/>
        </p:spPr>
        <p:txBody>
          <a:bodyPr wrap="none" rtlCol="0">
            <a:spAutoFit/>
          </a:bodyPr>
          <a:lstStyle/>
          <a:p>
            <a:r>
              <a:rPr lang="en-US" altLang="ko-KR" sz="1200" smtClean="0"/>
              <a:t>!pip install docx2txt</a:t>
            </a:r>
            <a:endParaRPr lang="ko-KR" altLang="en-US" sz="1200"/>
          </a:p>
        </p:txBody>
      </p:sp>
    </p:spTree>
    <p:extLst>
      <p:ext uri="{BB962C8B-B14F-4D97-AF65-F5344CB8AC3E}">
        <p14:creationId xmlns:p14="http://schemas.microsoft.com/office/powerpoint/2010/main" val="665426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269DA549-D4CF-CBA4-9DE0-BA3C6F4FD0C3}"/>
              </a:ext>
            </a:extLst>
          </p:cNvPr>
          <p:cNvSpPr txBox="1"/>
          <p:nvPr/>
        </p:nvSpPr>
        <p:spPr>
          <a:xfrm>
            <a:off x="360000" y="360000"/>
            <a:ext cx="11212240" cy="646331"/>
          </a:xfrm>
          <a:prstGeom prst="rect">
            <a:avLst/>
          </a:prstGeom>
          <a:noFill/>
        </p:spPr>
        <p:txBody>
          <a:bodyPr wrap="square">
            <a:spAutoFit/>
          </a:bodyPr>
          <a:lstStyle/>
          <a:p>
            <a:r>
              <a:rPr lang="en-US" altLang="ko-KR" sz="3600" b="1">
                <a:latin typeface="+mj-lt"/>
              </a:rPr>
              <a:t>chatGPT</a:t>
            </a:r>
            <a:r>
              <a:rPr lang="ko-KR" altLang="en-US" sz="3600" b="1">
                <a:latin typeface="+mj-lt"/>
              </a:rPr>
              <a:t>에서 </a:t>
            </a:r>
            <a:r>
              <a:rPr lang="en-US" altLang="ko-KR" sz="3600" b="1" smtClean="0">
                <a:latin typeface="+mj-lt"/>
              </a:rPr>
              <a:t>RAG </a:t>
            </a:r>
            <a:r>
              <a:rPr lang="ko-KR" altLang="en-US" sz="3600" b="1" smtClean="0">
                <a:latin typeface="+mj-lt"/>
              </a:rPr>
              <a:t>연계 예</a:t>
            </a:r>
            <a:r>
              <a:rPr lang="en-US" altLang="ko-KR" sz="3600" b="1" smtClean="0">
                <a:latin typeface="+mj-lt"/>
              </a:rPr>
              <a:t>)   (1)</a:t>
            </a:r>
            <a:endParaRPr lang="en-US" altLang="ko-KR" sz="3600" b="1" dirty="0">
              <a:latin typeface="+mj-lt"/>
              <a:ea typeface="맑은 고딕" panose="020B0503020000020004" pitchFamily="50" charset="-127"/>
            </a:endParaRPr>
          </a:p>
        </p:txBody>
      </p:sp>
      <p:sp>
        <p:nvSpPr>
          <p:cNvPr id="5" name="내용 개체 틀 2"/>
          <p:cNvSpPr>
            <a:spLocks noGrp="1"/>
          </p:cNvSpPr>
          <p:nvPr>
            <p:ph idx="1"/>
          </p:nvPr>
        </p:nvSpPr>
        <p:spPr>
          <a:xfrm>
            <a:off x="588818" y="1029731"/>
            <a:ext cx="11298382" cy="4590019"/>
          </a:xfrm>
        </p:spPr>
        <p:txBody>
          <a:bodyPr>
            <a:noAutofit/>
          </a:bodyPr>
          <a:lstStyle/>
          <a:p>
            <a:pPr>
              <a:buFont typeface="Wingdings" panose="05000000000000000000" pitchFamily="2" charset="2"/>
              <a:buChar char="l"/>
            </a:pPr>
            <a:r>
              <a:rPr lang="en-US" altLang="ko-KR" sz="1800" dirty="0" err="1" smtClean="0"/>
              <a:t>chatGPT</a:t>
            </a:r>
            <a:r>
              <a:rPr lang="en-US" altLang="ko-KR" sz="1800" dirty="0" smtClean="0"/>
              <a:t> </a:t>
            </a:r>
            <a:r>
              <a:rPr lang="ko-KR" altLang="en-US" sz="1800" dirty="0" smtClean="0"/>
              <a:t>질의 내용이 </a:t>
            </a:r>
            <a:r>
              <a:rPr lang="ko-KR" altLang="en-US" sz="1800" dirty="0" err="1" smtClean="0"/>
              <a:t>오류일때</a:t>
            </a:r>
            <a:r>
              <a:rPr lang="en-US" altLang="ko-KR" sz="1800" dirty="0" smtClean="0"/>
              <a:t>,</a:t>
            </a:r>
            <a:r>
              <a:rPr lang="ko-KR" altLang="en-US" sz="1800" dirty="0" smtClean="0"/>
              <a:t> 벡터데이터베이스에서 검색한 내용을 </a:t>
            </a:r>
            <a:r>
              <a:rPr lang="ko-KR" altLang="en-US" sz="1800" dirty="0" err="1" smtClean="0"/>
              <a:t>파라미터로</a:t>
            </a:r>
            <a:r>
              <a:rPr lang="ko-KR" altLang="en-US" sz="1800" dirty="0" smtClean="0"/>
              <a:t> 하여 </a:t>
            </a:r>
            <a:r>
              <a:rPr lang="en-US" altLang="ko-KR" sz="1800" dirty="0" err="1" smtClean="0"/>
              <a:t>chatGPT</a:t>
            </a:r>
            <a:r>
              <a:rPr lang="ko-KR" altLang="en-US" sz="1800" dirty="0" smtClean="0"/>
              <a:t>에 질의</a:t>
            </a:r>
            <a:endParaRPr lang="en-US" altLang="ko-KR" sz="1800" dirty="0" smtClean="0"/>
          </a:p>
          <a:p>
            <a:pPr>
              <a:buFont typeface="Wingdings" panose="05000000000000000000" pitchFamily="2" charset="2"/>
              <a:buChar char="l"/>
            </a:pPr>
            <a:r>
              <a:rPr lang="en-US" altLang="ko-KR" sz="1600" dirty="0" smtClean="0"/>
              <a:t>ex) </a:t>
            </a:r>
            <a:r>
              <a:rPr lang="ko-KR" altLang="en-US" sz="1600" dirty="0" smtClean="0"/>
              <a:t>의사들이 나오는 메디컬 한국드라마 </a:t>
            </a:r>
            <a:r>
              <a:rPr lang="en-US" altLang="ko-KR" sz="1600" dirty="0" smtClean="0"/>
              <a:t>5</a:t>
            </a:r>
            <a:r>
              <a:rPr lang="ko-KR" altLang="en-US" sz="1600" dirty="0" smtClean="0"/>
              <a:t>개만 </a:t>
            </a:r>
            <a:r>
              <a:rPr lang="ko-KR" altLang="en-US" sz="1600" dirty="0" err="1" smtClean="0"/>
              <a:t>추천해줄래</a:t>
            </a:r>
            <a:r>
              <a:rPr lang="en-US" altLang="ko-KR" sz="1600" dirty="0" smtClean="0"/>
              <a:t>? </a:t>
            </a:r>
            <a:r>
              <a:rPr lang="ko-KR" altLang="en-US" sz="1600" dirty="0" err="1" smtClean="0"/>
              <a:t>소개할때</a:t>
            </a:r>
            <a:r>
              <a:rPr lang="ko-KR" altLang="en-US" sz="1600" dirty="0" smtClean="0"/>
              <a:t> </a:t>
            </a:r>
            <a:r>
              <a:rPr lang="ko-KR" altLang="en-US" sz="1600" dirty="0" err="1" smtClean="0"/>
              <a:t>시놉시스와</a:t>
            </a:r>
            <a:r>
              <a:rPr lang="ko-KR" altLang="en-US" sz="1600" dirty="0" smtClean="0"/>
              <a:t> 출연진도 같이 소개해줘</a:t>
            </a:r>
            <a:endParaRPr lang="en-US" altLang="ko-KR" sz="1600" dirty="0" smtClean="0"/>
          </a:p>
        </p:txBody>
      </p:sp>
      <p:sp>
        <p:nvSpPr>
          <p:cNvPr id="2" name="직사각형 1"/>
          <p:cNvSpPr/>
          <p:nvPr/>
        </p:nvSpPr>
        <p:spPr>
          <a:xfrm>
            <a:off x="5857875" y="6567586"/>
            <a:ext cx="6096000" cy="307777"/>
          </a:xfrm>
          <a:prstGeom prst="rect">
            <a:avLst/>
          </a:prstGeom>
        </p:spPr>
        <p:txBody>
          <a:bodyPr>
            <a:spAutoFit/>
          </a:bodyPr>
          <a:lstStyle/>
          <a:p>
            <a:r>
              <a:rPr lang="ko-KR" altLang="en-US" sz="1400" dirty="0"/>
              <a:t>https://breezymind.com/vector-db-openai-response-optimize/</a:t>
            </a:r>
          </a:p>
        </p:txBody>
      </p:sp>
      <p:pic>
        <p:nvPicPr>
          <p:cNvPr id="6" name="그림 5"/>
          <p:cNvPicPr>
            <a:picLocks noChangeAspect="1"/>
          </p:cNvPicPr>
          <p:nvPr/>
        </p:nvPicPr>
        <p:blipFill>
          <a:blip r:embed="rId2"/>
          <a:stretch>
            <a:fillRect/>
          </a:stretch>
        </p:blipFill>
        <p:spPr>
          <a:xfrm>
            <a:off x="359999" y="2204431"/>
            <a:ext cx="6637771" cy="2941015"/>
          </a:xfrm>
          <a:prstGeom prst="rect">
            <a:avLst/>
          </a:prstGeom>
        </p:spPr>
      </p:pic>
      <p:pic>
        <p:nvPicPr>
          <p:cNvPr id="7" name="그림 6"/>
          <p:cNvPicPr>
            <a:picLocks noChangeAspect="1"/>
          </p:cNvPicPr>
          <p:nvPr/>
        </p:nvPicPr>
        <p:blipFill>
          <a:blip r:embed="rId3"/>
          <a:stretch>
            <a:fillRect/>
          </a:stretch>
        </p:blipFill>
        <p:spPr>
          <a:xfrm>
            <a:off x="359999" y="5230402"/>
            <a:ext cx="5397375" cy="1389882"/>
          </a:xfrm>
          <a:prstGeom prst="rect">
            <a:avLst/>
          </a:prstGeom>
        </p:spPr>
      </p:pic>
      <p:pic>
        <p:nvPicPr>
          <p:cNvPr id="9" name="그림 8"/>
          <p:cNvPicPr>
            <a:picLocks noChangeAspect="1"/>
          </p:cNvPicPr>
          <p:nvPr/>
        </p:nvPicPr>
        <p:blipFill>
          <a:blip r:embed="rId4"/>
          <a:stretch>
            <a:fillRect/>
          </a:stretch>
        </p:blipFill>
        <p:spPr>
          <a:xfrm>
            <a:off x="6676461" y="5089320"/>
            <a:ext cx="5210739" cy="1254226"/>
          </a:xfrm>
          <a:prstGeom prst="rect">
            <a:avLst/>
          </a:prstGeom>
        </p:spPr>
      </p:pic>
      <p:sp>
        <p:nvSpPr>
          <p:cNvPr id="3" name="TextBox 2"/>
          <p:cNvSpPr txBox="1"/>
          <p:nvPr/>
        </p:nvSpPr>
        <p:spPr>
          <a:xfrm>
            <a:off x="676275" y="1835099"/>
            <a:ext cx="3849131" cy="369332"/>
          </a:xfrm>
          <a:prstGeom prst="rect">
            <a:avLst/>
          </a:prstGeom>
          <a:noFill/>
        </p:spPr>
        <p:txBody>
          <a:bodyPr wrap="none" rtlCol="0">
            <a:spAutoFit/>
          </a:bodyPr>
          <a:lstStyle/>
          <a:p>
            <a:r>
              <a:rPr lang="en-US" altLang="ko-KR" smtClean="0"/>
              <a:t>(1) </a:t>
            </a:r>
            <a:r>
              <a:rPr lang="ko-KR" altLang="en-US" smtClean="0"/>
              <a:t>벡터</a:t>
            </a:r>
            <a:r>
              <a:rPr lang="en-US" altLang="ko-KR" smtClean="0"/>
              <a:t>DB</a:t>
            </a:r>
            <a:r>
              <a:rPr lang="ko-KR" altLang="en-US" smtClean="0"/>
              <a:t>에서 메티컬 드라마 검색</a:t>
            </a:r>
            <a:endParaRPr lang="ko-KR" altLang="en-US"/>
          </a:p>
        </p:txBody>
      </p:sp>
      <p:sp>
        <p:nvSpPr>
          <p:cNvPr id="8" name="슬라이드 번호 개체 틀 7"/>
          <p:cNvSpPr>
            <a:spLocks noGrp="1"/>
          </p:cNvSpPr>
          <p:nvPr>
            <p:ph type="sldNum" sz="quarter" idx="12"/>
          </p:nvPr>
        </p:nvSpPr>
        <p:spPr/>
        <p:txBody>
          <a:bodyPr/>
          <a:lstStyle/>
          <a:p>
            <a:fld id="{8553D33C-51A3-47FD-B610-A7B5E5BA9802}" type="slidenum">
              <a:rPr lang="ko-KR" altLang="en-US" smtClean="0"/>
              <a:t>34</a:t>
            </a:fld>
            <a:endParaRPr lang="ko-KR" altLang="en-US" dirty="0"/>
          </a:p>
        </p:txBody>
      </p:sp>
    </p:spTree>
    <p:extLst>
      <p:ext uri="{BB962C8B-B14F-4D97-AF65-F5344CB8AC3E}">
        <p14:creationId xmlns:p14="http://schemas.microsoft.com/office/powerpoint/2010/main" val="56494276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269DA549-D4CF-CBA4-9DE0-BA3C6F4FD0C3}"/>
              </a:ext>
            </a:extLst>
          </p:cNvPr>
          <p:cNvSpPr txBox="1"/>
          <p:nvPr/>
        </p:nvSpPr>
        <p:spPr>
          <a:xfrm>
            <a:off x="360000" y="360000"/>
            <a:ext cx="11212240" cy="646331"/>
          </a:xfrm>
          <a:prstGeom prst="rect">
            <a:avLst/>
          </a:prstGeom>
          <a:noFill/>
        </p:spPr>
        <p:txBody>
          <a:bodyPr wrap="square">
            <a:spAutoFit/>
          </a:bodyPr>
          <a:lstStyle/>
          <a:p>
            <a:r>
              <a:rPr lang="en-US" altLang="ko-KR" sz="3600" b="1">
                <a:latin typeface="+mj-lt"/>
              </a:rPr>
              <a:t>chatGPT</a:t>
            </a:r>
            <a:r>
              <a:rPr lang="ko-KR" altLang="en-US" sz="3600" b="1">
                <a:latin typeface="+mj-lt"/>
              </a:rPr>
              <a:t>에서 </a:t>
            </a:r>
            <a:r>
              <a:rPr lang="en-US" altLang="ko-KR" sz="3600" b="1">
                <a:latin typeface="+mj-lt"/>
              </a:rPr>
              <a:t>RAG </a:t>
            </a:r>
            <a:r>
              <a:rPr lang="ko-KR" altLang="en-US" sz="3600" b="1">
                <a:latin typeface="+mj-lt"/>
              </a:rPr>
              <a:t>연계 예</a:t>
            </a:r>
            <a:r>
              <a:rPr lang="en-US" altLang="ko-KR" sz="3600" b="1">
                <a:latin typeface="+mj-lt"/>
              </a:rPr>
              <a:t>)   </a:t>
            </a:r>
            <a:r>
              <a:rPr lang="en-US" altLang="ko-KR" sz="3600" b="1" smtClean="0">
                <a:latin typeface="+mj-lt"/>
              </a:rPr>
              <a:t>(2)</a:t>
            </a:r>
            <a:endParaRPr lang="en-US" altLang="ko-KR" sz="3600" b="1" dirty="0">
              <a:latin typeface="+mj-lt"/>
            </a:endParaRPr>
          </a:p>
        </p:txBody>
      </p:sp>
      <p:sp>
        <p:nvSpPr>
          <p:cNvPr id="5" name="내용 개체 틀 2"/>
          <p:cNvSpPr>
            <a:spLocks noGrp="1"/>
          </p:cNvSpPr>
          <p:nvPr>
            <p:ph idx="1"/>
          </p:nvPr>
        </p:nvSpPr>
        <p:spPr>
          <a:xfrm>
            <a:off x="588818" y="1029731"/>
            <a:ext cx="11298382" cy="4590019"/>
          </a:xfrm>
        </p:spPr>
        <p:txBody>
          <a:bodyPr>
            <a:noAutofit/>
          </a:bodyPr>
          <a:lstStyle/>
          <a:p>
            <a:pPr>
              <a:buFont typeface="Wingdings" panose="05000000000000000000" pitchFamily="2" charset="2"/>
              <a:buChar char="l"/>
            </a:pPr>
            <a:r>
              <a:rPr lang="en-US" altLang="ko-KR" sz="1800" dirty="0" err="1" smtClean="0"/>
              <a:t>chatGPT</a:t>
            </a:r>
            <a:r>
              <a:rPr lang="en-US" altLang="ko-KR" sz="1800" dirty="0" smtClean="0"/>
              <a:t> </a:t>
            </a:r>
            <a:r>
              <a:rPr lang="ko-KR" altLang="en-US" sz="1800" dirty="0" smtClean="0"/>
              <a:t>질의 내용이 </a:t>
            </a:r>
            <a:r>
              <a:rPr lang="ko-KR" altLang="en-US" sz="1800" dirty="0" err="1" smtClean="0"/>
              <a:t>오류일때</a:t>
            </a:r>
            <a:r>
              <a:rPr lang="en-US" altLang="ko-KR" sz="1800" dirty="0" smtClean="0"/>
              <a:t>,</a:t>
            </a:r>
            <a:r>
              <a:rPr lang="ko-KR" altLang="en-US" sz="1800" dirty="0" smtClean="0"/>
              <a:t> 벡터데이터베이스에서 검색한 내용을 </a:t>
            </a:r>
            <a:r>
              <a:rPr lang="ko-KR" altLang="en-US" sz="1800" dirty="0" err="1" smtClean="0"/>
              <a:t>파라미터로</a:t>
            </a:r>
            <a:r>
              <a:rPr lang="ko-KR" altLang="en-US" sz="1800" dirty="0" smtClean="0"/>
              <a:t> 하여 </a:t>
            </a:r>
            <a:r>
              <a:rPr lang="en-US" altLang="ko-KR" sz="1800" dirty="0" err="1" smtClean="0"/>
              <a:t>chatGPT</a:t>
            </a:r>
            <a:r>
              <a:rPr lang="ko-KR" altLang="en-US" sz="1800" dirty="0" smtClean="0"/>
              <a:t>에 질의</a:t>
            </a:r>
            <a:endParaRPr lang="en-US" altLang="ko-KR" sz="1800" dirty="0" smtClean="0"/>
          </a:p>
          <a:p>
            <a:pPr>
              <a:buFont typeface="Wingdings" panose="05000000000000000000" pitchFamily="2" charset="2"/>
              <a:buChar char="l"/>
            </a:pPr>
            <a:r>
              <a:rPr lang="en-US" altLang="ko-KR" sz="1600" dirty="0" smtClean="0"/>
              <a:t>ex) </a:t>
            </a:r>
            <a:r>
              <a:rPr lang="ko-KR" altLang="en-US" sz="1600" dirty="0" smtClean="0"/>
              <a:t>의사들이 나오는 메디컬 한국드라마 </a:t>
            </a:r>
            <a:r>
              <a:rPr lang="en-US" altLang="ko-KR" sz="1600" dirty="0" smtClean="0"/>
              <a:t>5</a:t>
            </a:r>
            <a:r>
              <a:rPr lang="ko-KR" altLang="en-US" sz="1600" dirty="0" smtClean="0"/>
              <a:t>개만 </a:t>
            </a:r>
            <a:r>
              <a:rPr lang="ko-KR" altLang="en-US" sz="1600" dirty="0" err="1" smtClean="0"/>
              <a:t>추천해줄래</a:t>
            </a:r>
            <a:r>
              <a:rPr lang="en-US" altLang="ko-KR" sz="1600" dirty="0" smtClean="0"/>
              <a:t>? </a:t>
            </a:r>
            <a:r>
              <a:rPr lang="ko-KR" altLang="en-US" sz="1600" dirty="0" err="1" smtClean="0"/>
              <a:t>소개할때</a:t>
            </a:r>
            <a:r>
              <a:rPr lang="ko-KR" altLang="en-US" sz="1600" dirty="0" smtClean="0"/>
              <a:t> </a:t>
            </a:r>
            <a:r>
              <a:rPr lang="ko-KR" altLang="en-US" sz="1600" dirty="0" err="1" smtClean="0"/>
              <a:t>시놉시스와</a:t>
            </a:r>
            <a:r>
              <a:rPr lang="ko-KR" altLang="en-US" sz="1600" dirty="0" smtClean="0"/>
              <a:t> 출연진도 같이 소개해줘</a:t>
            </a:r>
            <a:endParaRPr lang="en-US" altLang="ko-KR" sz="1600" dirty="0" smtClean="0"/>
          </a:p>
        </p:txBody>
      </p:sp>
      <p:sp>
        <p:nvSpPr>
          <p:cNvPr id="2" name="직사각형 1"/>
          <p:cNvSpPr/>
          <p:nvPr/>
        </p:nvSpPr>
        <p:spPr>
          <a:xfrm>
            <a:off x="6096000" y="6550223"/>
            <a:ext cx="6096000" cy="307777"/>
          </a:xfrm>
          <a:prstGeom prst="rect">
            <a:avLst/>
          </a:prstGeom>
        </p:spPr>
        <p:txBody>
          <a:bodyPr>
            <a:spAutoFit/>
          </a:bodyPr>
          <a:lstStyle/>
          <a:p>
            <a:r>
              <a:rPr lang="ko-KR" altLang="en-US" sz="1400"/>
              <a:t>https://breezymind.com/vector-db-openai-response-optimize/</a:t>
            </a:r>
          </a:p>
        </p:txBody>
      </p:sp>
      <p:pic>
        <p:nvPicPr>
          <p:cNvPr id="10" name="그림 9"/>
          <p:cNvPicPr>
            <a:picLocks noChangeAspect="1"/>
          </p:cNvPicPr>
          <p:nvPr/>
        </p:nvPicPr>
        <p:blipFill>
          <a:blip r:embed="rId2"/>
          <a:stretch>
            <a:fillRect/>
          </a:stretch>
        </p:blipFill>
        <p:spPr>
          <a:xfrm>
            <a:off x="708697" y="2204431"/>
            <a:ext cx="5529312" cy="3751163"/>
          </a:xfrm>
          <a:prstGeom prst="rect">
            <a:avLst/>
          </a:prstGeom>
        </p:spPr>
      </p:pic>
      <p:sp>
        <p:nvSpPr>
          <p:cNvPr id="11" name="TextBox 10"/>
          <p:cNvSpPr txBox="1"/>
          <p:nvPr/>
        </p:nvSpPr>
        <p:spPr>
          <a:xfrm>
            <a:off x="676275" y="1835099"/>
            <a:ext cx="4790094" cy="369332"/>
          </a:xfrm>
          <a:prstGeom prst="rect">
            <a:avLst/>
          </a:prstGeom>
          <a:noFill/>
        </p:spPr>
        <p:txBody>
          <a:bodyPr wrap="none" rtlCol="0">
            <a:spAutoFit/>
          </a:bodyPr>
          <a:lstStyle/>
          <a:p>
            <a:r>
              <a:rPr lang="en-US" altLang="ko-KR" smtClean="0"/>
              <a:t>(2) </a:t>
            </a:r>
            <a:r>
              <a:rPr lang="ko-KR" altLang="en-US" smtClean="0"/>
              <a:t>벡터</a:t>
            </a:r>
            <a:r>
              <a:rPr lang="en-US" altLang="ko-KR" smtClean="0"/>
              <a:t>DB</a:t>
            </a:r>
            <a:r>
              <a:rPr lang="ko-KR" altLang="en-US" smtClean="0"/>
              <a:t>결과를 </a:t>
            </a:r>
            <a:r>
              <a:rPr lang="en-US" altLang="ko-KR" smtClean="0"/>
              <a:t>chatGPT </a:t>
            </a:r>
            <a:r>
              <a:rPr lang="ko-KR" altLang="en-US" smtClean="0"/>
              <a:t>질의에 함께 전달</a:t>
            </a:r>
            <a:endParaRPr lang="ko-KR" altLang="en-US"/>
          </a:p>
        </p:txBody>
      </p:sp>
      <p:pic>
        <p:nvPicPr>
          <p:cNvPr id="3" name="그림 2"/>
          <p:cNvPicPr>
            <a:picLocks noChangeAspect="1"/>
          </p:cNvPicPr>
          <p:nvPr/>
        </p:nvPicPr>
        <p:blipFill>
          <a:blip r:embed="rId3"/>
          <a:stretch>
            <a:fillRect/>
          </a:stretch>
        </p:blipFill>
        <p:spPr>
          <a:xfrm>
            <a:off x="6500379" y="2538243"/>
            <a:ext cx="5305306" cy="1490832"/>
          </a:xfrm>
          <a:prstGeom prst="rect">
            <a:avLst/>
          </a:prstGeom>
        </p:spPr>
      </p:pic>
      <p:sp>
        <p:nvSpPr>
          <p:cNvPr id="13" name="TextBox 12"/>
          <p:cNvSpPr txBox="1"/>
          <p:nvPr/>
        </p:nvSpPr>
        <p:spPr>
          <a:xfrm>
            <a:off x="6681738" y="2264845"/>
            <a:ext cx="1936749" cy="369332"/>
          </a:xfrm>
          <a:prstGeom prst="rect">
            <a:avLst/>
          </a:prstGeom>
          <a:noFill/>
        </p:spPr>
        <p:txBody>
          <a:bodyPr wrap="none" rtlCol="0">
            <a:spAutoFit/>
          </a:bodyPr>
          <a:lstStyle/>
          <a:p>
            <a:r>
              <a:rPr lang="en-US" altLang="ko-KR" smtClean="0"/>
              <a:t>(3) chatGPT </a:t>
            </a:r>
            <a:r>
              <a:rPr lang="ko-KR" altLang="en-US" smtClean="0"/>
              <a:t>답변</a:t>
            </a:r>
            <a:endParaRPr lang="ko-KR" altLang="en-US"/>
          </a:p>
        </p:txBody>
      </p:sp>
      <p:sp>
        <p:nvSpPr>
          <p:cNvPr id="8" name="슬라이드 번호 개체 틀 7"/>
          <p:cNvSpPr>
            <a:spLocks noGrp="1"/>
          </p:cNvSpPr>
          <p:nvPr>
            <p:ph type="sldNum" sz="quarter" idx="12"/>
          </p:nvPr>
        </p:nvSpPr>
        <p:spPr/>
        <p:txBody>
          <a:bodyPr/>
          <a:lstStyle/>
          <a:p>
            <a:fld id="{8553D33C-51A3-47FD-B610-A7B5E5BA9802}" type="slidenum">
              <a:rPr lang="ko-KR" altLang="en-US" smtClean="0"/>
              <a:t>35</a:t>
            </a:fld>
            <a:endParaRPr lang="ko-KR" altLang="en-US"/>
          </a:p>
        </p:txBody>
      </p:sp>
    </p:spTree>
    <p:extLst>
      <p:ext uri="{BB962C8B-B14F-4D97-AF65-F5344CB8AC3E}">
        <p14:creationId xmlns:p14="http://schemas.microsoft.com/office/powerpoint/2010/main" val="61759322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269DA549-D4CF-CBA4-9DE0-BA3C6F4FD0C3}"/>
              </a:ext>
            </a:extLst>
          </p:cNvPr>
          <p:cNvSpPr txBox="1"/>
          <p:nvPr/>
        </p:nvSpPr>
        <p:spPr>
          <a:xfrm>
            <a:off x="360000" y="360000"/>
            <a:ext cx="6254556" cy="584775"/>
          </a:xfrm>
          <a:prstGeom prst="rect">
            <a:avLst/>
          </a:prstGeom>
          <a:noFill/>
        </p:spPr>
        <p:txBody>
          <a:bodyPr wrap="square">
            <a:spAutoFit/>
          </a:bodyPr>
          <a:lstStyle/>
          <a:p>
            <a:r>
              <a:rPr lang="en-US" altLang="ko-KR" sz="3200" b="1" smtClean="0">
                <a:latin typeface="맑은 고딕" panose="020B0503020000020004" pitchFamily="50" charset="-127"/>
                <a:ea typeface="맑은 고딕" panose="020B0503020000020004" pitchFamily="50" charset="-127"/>
              </a:rPr>
              <a:t>chatGPT</a:t>
            </a:r>
            <a:r>
              <a:rPr lang="ko-KR" altLang="en-US" sz="3200" b="1" smtClean="0">
                <a:latin typeface="맑은 고딕" panose="020B0503020000020004" pitchFamily="50" charset="-127"/>
                <a:ea typeface="맑은 고딕" panose="020B0503020000020004" pitchFamily="50" charset="-127"/>
              </a:rPr>
              <a:t>와 </a:t>
            </a:r>
            <a:r>
              <a:rPr lang="en-US" altLang="ko-KR" sz="3200" b="1" smtClean="0">
                <a:latin typeface="맑은 고딕" panose="020B0503020000020004" pitchFamily="50" charset="-127"/>
                <a:ea typeface="맑은 고딕" panose="020B0503020000020004" pitchFamily="50" charset="-127"/>
              </a:rPr>
              <a:t>Langchain </a:t>
            </a:r>
            <a:r>
              <a:rPr lang="ko-KR" altLang="en-US" sz="3200" b="1" smtClean="0">
                <a:latin typeface="맑은 고딕" panose="020B0503020000020004" pitchFamily="50" charset="-127"/>
                <a:ea typeface="맑은 고딕" panose="020B0503020000020004" pitchFamily="50" charset="-127"/>
              </a:rPr>
              <a:t>응용 </a:t>
            </a:r>
            <a:r>
              <a:rPr lang="en-US" altLang="ko-KR" sz="3200" b="1" smtClean="0">
                <a:latin typeface="맑은 고딕" panose="020B0503020000020004" pitchFamily="50" charset="-127"/>
                <a:ea typeface="맑은 고딕" panose="020B0503020000020004" pitchFamily="50" charset="-127"/>
              </a:rPr>
              <a:t>(1)</a:t>
            </a:r>
            <a:endParaRPr lang="en-US" altLang="ko-KR" sz="3200" b="1" dirty="0">
              <a:latin typeface="맑은 고딕" panose="020B0503020000020004" pitchFamily="50" charset="-127"/>
              <a:ea typeface="맑은 고딕" panose="020B0503020000020004" pitchFamily="50" charset="-127"/>
            </a:endParaRPr>
          </a:p>
        </p:txBody>
      </p:sp>
      <p:pic>
        <p:nvPicPr>
          <p:cNvPr id="5" name="그림 4"/>
          <p:cNvPicPr>
            <a:picLocks noChangeAspect="1"/>
          </p:cNvPicPr>
          <p:nvPr/>
        </p:nvPicPr>
        <p:blipFill>
          <a:blip r:embed="rId2"/>
          <a:stretch>
            <a:fillRect/>
          </a:stretch>
        </p:blipFill>
        <p:spPr>
          <a:xfrm>
            <a:off x="755332" y="1402080"/>
            <a:ext cx="6962775" cy="990600"/>
          </a:xfrm>
          <a:prstGeom prst="rect">
            <a:avLst/>
          </a:prstGeom>
        </p:spPr>
      </p:pic>
      <p:sp>
        <p:nvSpPr>
          <p:cNvPr id="7" name="내용 개체 틀 2"/>
          <p:cNvSpPr>
            <a:spLocks noGrp="1"/>
          </p:cNvSpPr>
          <p:nvPr>
            <p:ph idx="1"/>
          </p:nvPr>
        </p:nvSpPr>
        <p:spPr>
          <a:xfrm>
            <a:off x="588818" y="1029731"/>
            <a:ext cx="11298382" cy="372349"/>
          </a:xfrm>
        </p:spPr>
        <p:txBody>
          <a:bodyPr>
            <a:noAutofit/>
          </a:bodyPr>
          <a:lstStyle/>
          <a:p>
            <a:pPr>
              <a:buFont typeface="Wingdings" panose="05000000000000000000" pitchFamily="2" charset="2"/>
              <a:buChar char="l"/>
            </a:pPr>
            <a:r>
              <a:rPr lang="ko-KR" altLang="en-US" sz="1800" smtClean="0"/>
              <a:t>번역</a:t>
            </a:r>
            <a:endParaRPr lang="en-US" altLang="ko-KR" sz="1800" smtClean="0"/>
          </a:p>
        </p:txBody>
      </p:sp>
      <p:sp>
        <p:nvSpPr>
          <p:cNvPr id="6" name="직사각형 5"/>
          <p:cNvSpPr/>
          <p:nvPr/>
        </p:nvSpPr>
        <p:spPr>
          <a:xfrm>
            <a:off x="6614556" y="6404415"/>
            <a:ext cx="4126771" cy="369332"/>
          </a:xfrm>
          <a:prstGeom prst="rect">
            <a:avLst/>
          </a:prstGeom>
        </p:spPr>
        <p:txBody>
          <a:bodyPr wrap="none">
            <a:spAutoFit/>
          </a:bodyPr>
          <a:lstStyle/>
          <a:p>
            <a:r>
              <a:rPr lang="ko-KR" altLang="en-US" dirty="0"/>
              <a:t>https://hipster4020.tistory.com/m/189</a:t>
            </a:r>
          </a:p>
        </p:txBody>
      </p:sp>
      <p:sp>
        <p:nvSpPr>
          <p:cNvPr id="9" name="내용 개체 틀 2"/>
          <p:cNvSpPr txBox="1">
            <a:spLocks/>
          </p:cNvSpPr>
          <p:nvPr/>
        </p:nvSpPr>
        <p:spPr>
          <a:xfrm>
            <a:off x="588818" y="2578854"/>
            <a:ext cx="11298382" cy="372349"/>
          </a:xfrm>
          <a:prstGeom prst="rect">
            <a:avLst/>
          </a:prstGeom>
        </p:spPr>
        <p:txBody>
          <a:bodyPr vert="horz" lIns="91440" tIns="45720" rIns="91440" bIns="45720" rtlCol="0">
            <a:no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l"/>
            </a:pPr>
            <a:r>
              <a:rPr lang="ko-KR" altLang="en-US" sz="1800" smtClean="0"/>
              <a:t>대화내용 기억</a:t>
            </a:r>
            <a:endParaRPr lang="en-US" altLang="ko-KR" sz="1800" smtClean="0"/>
          </a:p>
        </p:txBody>
      </p:sp>
      <p:pic>
        <p:nvPicPr>
          <p:cNvPr id="8" name="그림 7"/>
          <p:cNvPicPr>
            <a:picLocks noChangeAspect="1"/>
          </p:cNvPicPr>
          <p:nvPr/>
        </p:nvPicPr>
        <p:blipFill>
          <a:blip r:embed="rId3"/>
          <a:stretch>
            <a:fillRect/>
          </a:stretch>
        </p:blipFill>
        <p:spPr>
          <a:xfrm>
            <a:off x="869632" y="3285146"/>
            <a:ext cx="9366477" cy="990600"/>
          </a:xfrm>
          <a:prstGeom prst="rect">
            <a:avLst/>
          </a:prstGeom>
        </p:spPr>
      </p:pic>
      <p:pic>
        <p:nvPicPr>
          <p:cNvPr id="10" name="그림 9"/>
          <p:cNvPicPr>
            <a:picLocks noChangeAspect="1"/>
          </p:cNvPicPr>
          <p:nvPr/>
        </p:nvPicPr>
        <p:blipFill>
          <a:blip r:embed="rId4"/>
          <a:stretch>
            <a:fillRect/>
          </a:stretch>
        </p:blipFill>
        <p:spPr>
          <a:xfrm>
            <a:off x="869632" y="2999112"/>
            <a:ext cx="4295775" cy="238125"/>
          </a:xfrm>
          <a:prstGeom prst="rect">
            <a:avLst/>
          </a:prstGeom>
        </p:spPr>
      </p:pic>
      <p:sp>
        <p:nvSpPr>
          <p:cNvPr id="11" name="직사각형 10"/>
          <p:cNvSpPr/>
          <p:nvPr/>
        </p:nvSpPr>
        <p:spPr>
          <a:xfrm>
            <a:off x="950912" y="4723548"/>
            <a:ext cx="10418128" cy="830997"/>
          </a:xfrm>
          <a:prstGeom prst="rect">
            <a:avLst/>
          </a:prstGeom>
        </p:spPr>
        <p:txBody>
          <a:bodyPr wrap="square">
            <a:spAutoFit/>
          </a:bodyPr>
          <a:lstStyle/>
          <a:p>
            <a:r>
              <a:rPr lang="ko-KR" altLang="en-US" sz="1600">
                <a:solidFill>
                  <a:srgbClr val="222222"/>
                </a:solidFill>
                <a:latin typeface="Noto Sans DemiLight"/>
              </a:rPr>
              <a:t>특정 문서나 웹페이지</a:t>
            </a:r>
            <a:r>
              <a:rPr lang="en-US" altLang="ko-KR" sz="1600">
                <a:solidFill>
                  <a:srgbClr val="222222"/>
                </a:solidFill>
                <a:latin typeface="Noto Sans DemiLight"/>
              </a:rPr>
              <a:t>, </a:t>
            </a:r>
            <a:r>
              <a:rPr lang="ko-KR" altLang="en-US" sz="1600">
                <a:solidFill>
                  <a:srgbClr val="222222"/>
                </a:solidFill>
                <a:latin typeface="Noto Sans DemiLight"/>
              </a:rPr>
              <a:t>이메일</a:t>
            </a:r>
            <a:r>
              <a:rPr lang="en-US" altLang="ko-KR" sz="1600">
                <a:solidFill>
                  <a:srgbClr val="222222"/>
                </a:solidFill>
                <a:latin typeface="Noto Sans DemiLight"/>
              </a:rPr>
              <a:t>, </a:t>
            </a:r>
            <a:r>
              <a:rPr lang="ko-KR" altLang="en-US" sz="1600">
                <a:solidFill>
                  <a:srgbClr val="222222"/>
                </a:solidFill>
                <a:latin typeface="Noto Sans DemiLight"/>
              </a:rPr>
              <a:t>파워포인트</a:t>
            </a:r>
            <a:r>
              <a:rPr lang="en-US" altLang="ko-KR" sz="1600">
                <a:solidFill>
                  <a:srgbClr val="222222"/>
                </a:solidFill>
                <a:latin typeface="Noto Sans DemiLight"/>
              </a:rPr>
              <a:t>, </a:t>
            </a:r>
            <a:r>
              <a:rPr lang="ko-KR" altLang="en-US" sz="1600">
                <a:solidFill>
                  <a:srgbClr val="222222"/>
                </a:solidFill>
                <a:latin typeface="Noto Sans DemiLight"/>
              </a:rPr>
              <a:t>워드</a:t>
            </a:r>
            <a:r>
              <a:rPr lang="en-US" altLang="ko-KR" sz="1600">
                <a:solidFill>
                  <a:srgbClr val="222222"/>
                </a:solidFill>
                <a:latin typeface="Noto Sans DemiLight"/>
              </a:rPr>
              <a:t>, </a:t>
            </a:r>
            <a:r>
              <a:rPr lang="ko-KR" altLang="en-US" sz="1600">
                <a:solidFill>
                  <a:srgbClr val="222222"/>
                </a:solidFill>
                <a:latin typeface="Noto Sans DemiLight"/>
              </a:rPr>
              <a:t>유튜브</a:t>
            </a:r>
            <a:r>
              <a:rPr lang="en-US" altLang="ko-KR" sz="1600">
                <a:solidFill>
                  <a:srgbClr val="222222"/>
                </a:solidFill>
                <a:latin typeface="Noto Sans DemiLight"/>
              </a:rPr>
              <a:t>, </a:t>
            </a:r>
            <a:r>
              <a:rPr lang="ko-KR" altLang="en-US" sz="1600">
                <a:solidFill>
                  <a:srgbClr val="222222"/>
                </a:solidFill>
                <a:latin typeface="Noto Sans DemiLight"/>
              </a:rPr>
              <a:t>트위터 등에서 텍스트 정보를 긁어오는 로드하는 역할입니다</a:t>
            </a:r>
            <a:r>
              <a:rPr lang="en-US" altLang="ko-KR" sz="1600">
                <a:solidFill>
                  <a:srgbClr val="222222"/>
                </a:solidFill>
                <a:latin typeface="Noto Sans DemiLight"/>
              </a:rPr>
              <a:t>.</a:t>
            </a:r>
            <a:r>
              <a:rPr lang="ko-KR" altLang="en-US" sz="1600"/>
              <a:t/>
            </a:r>
            <a:br>
              <a:rPr lang="ko-KR" altLang="en-US" sz="1600"/>
            </a:br>
            <a:r>
              <a:rPr lang="en-US" altLang="ko-KR" sz="1600">
                <a:solidFill>
                  <a:srgbClr val="222222"/>
                </a:solidFill>
                <a:latin typeface="Noto Sans DemiLight"/>
              </a:rPr>
              <a:t>GPT4</a:t>
            </a:r>
            <a:r>
              <a:rPr lang="ko-KR" altLang="en-US" sz="1600">
                <a:solidFill>
                  <a:srgbClr val="222222"/>
                </a:solidFill>
                <a:latin typeface="Noto Sans DemiLight"/>
              </a:rPr>
              <a:t>의 최대 입력 토큰은 </a:t>
            </a:r>
            <a:r>
              <a:rPr lang="en-US" altLang="ko-KR" sz="1600">
                <a:solidFill>
                  <a:srgbClr val="222222"/>
                </a:solidFill>
                <a:latin typeface="Noto Sans DemiLight"/>
              </a:rPr>
              <a:t>32,768</a:t>
            </a:r>
            <a:r>
              <a:rPr lang="ko-KR" altLang="en-US" sz="1600">
                <a:solidFill>
                  <a:srgbClr val="222222"/>
                </a:solidFill>
                <a:latin typeface="Noto Sans DemiLight"/>
              </a:rPr>
              <a:t>개로 약 </a:t>
            </a:r>
            <a:r>
              <a:rPr lang="en-US" altLang="ko-KR" sz="1600">
                <a:solidFill>
                  <a:srgbClr val="222222"/>
                </a:solidFill>
                <a:latin typeface="Noto Sans DemiLight"/>
              </a:rPr>
              <a:t>64,000 </a:t>
            </a:r>
            <a:r>
              <a:rPr lang="ko-KR" altLang="en-US" sz="1600">
                <a:solidFill>
                  <a:srgbClr val="222222"/>
                </a:solidFill>
                <a:latin typeface="Noto Sans DemiLight"/>
              </a:rPr>
              <a:t>단어 분량의 값을 입력할 수 있습니다</a:t>
            </a:r>
            <a:r>
              <a:rPr lang="en-US" altLang="ko-KR" sz="1600">
                <a:solidFill>
                  <a:srgbClr val="222222"/>
                </a:solidFill>
                <a:latin typeface="Noto Sans DemiLight"/>
              </a:rPr>
              <a:t>.</a:t>
            </a:r>
            <a:endParaRPr lang="ko-KR" altLang="en-US" sz="1600"/>
          </a:p>
        </p:txBody>
      </p:sp>
      <p:sp>
        <p:nvSpPr>
          <p:cNvPr id="13" name="내용 개체 틀 2"/>
          <p:cNvSpPr txBox="1">
            <a:spLocks/>
          </p:cNvSpPr>
          <p:nvPr/>
        </p:nvSpPr>
        <p:spPr>
          <a:xfrm>
            <a:off x="755332" y="4423514"/>
            <a:ext cx="11298382" cy="372349"/>
          </a:xfrm>
          <a:prstGeom prst="rect">
            <a:avLst/>
          </a:prstGeom>
        </p:spPr>
        <p:txBody>
          <a:bodyPr vert="horz" lIns="91440" tIns="45720" rIns="91440" bIns="45720" rtlCol="0">
            <a:no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l"/>
            </a:pPr>
            <a:r>
              <a:rPr lang="ko-KR" altLang="en-US" sz="1800" smtClean="0"/>
              <a:t>문서 로드</a:t>
            </a:r>
            <a:endParaRPr lang="en-US" altLang="ko-KR" sz="1800" smtClean="0"/>
          </a:p>
        </p:txBody>
      </p:sp>
      <p:pic>
        <p:nvPicPr>
          <p:cNvPr id="12" name="그림 11"/>
          <p:cNvPicPr>
            <a:picLocks noChangeAspect="1"/>
          </p:cNvPicPr>
          <p:nvPr/>
        </p:nvPicPr>
        <p:blipFill>
          <a:blip r:embed="rId5"/>
          <a:stretch>
            <a:fillRect/>
          </a:stretch>
        </p:blipFill>
        <p:spPr>
          <a:xfrm>
            <a:off x="969644" y="5982140"/>
            <a:ext cx="4095750" cy="342900"/>
          </a:xfrm>
          <a:prstGeom prst="rect">
            <a:avLst/>
          </a:prstGeom>
        </p:spPr>
      </p:pic>
      <p:pic>
        <p:nvPicPr>
          <p:cNvPr id="14" name="그림 13"/>
          <p:cNvPicPr>
            <a:picLocks noChangeAspect="1"/>
          </p:cNvPicPr>
          <p:nvPr/>
        </p:nvPicPr>
        <p:blipFill>
          <a:blip r:embed="rId6"/>
          <a:stretch>
            <a:fillRect/>
          </a:stretch>
        </p:blipFill>
        <p:spPr>
          <a:xfrm>
            <a:off x="969644" y="5538507"/>
            <a:ext cx="4914900" cy="419100"/>
          </a:xfrm>
          <a:prstGeom prst="rect">
            <a:avLst/>
          </a:prstGeom>
        </p:spPr>
      </p:pic>
      <p:sp>
        <p:nvSpPr>
          <p:cNvPr id="2" name="슬라이드 번호 개체 틀 1"/>
          <p:cNvSpPr>
            <a:spLocks noGrp="1"/>
          </p:cNvSpPr>
          <p:nvPr>
            <p:ph type="sldNum" sz="quarter" idx="12"/>
          </p:nvPr>
        </p:nvSpPr>
        <p:spPr/>
        <p:txBody>
          <a:bodyPr/>
          <a:lstStyle/>
          <a:p>
            <a:fld id="{8553D33C-51A3-47FD-B610-A7B5E5BA9802}" type="slidenum">
              <a:rPr lang="ko-KR" altLang="en-US" smtClean="0"/>
              <a:t>36</a:t>
            </a:fld>
            <a:endParaRPr lang="ko-KR" altLang="en-US"/>
          </a:p>
        </p:txBody>
      </p:sp>
    </p:spTree>
    <p:extLst>
      <p:ext uri="{BB962C8B-B14F-4D97-AF65-F5344CB8AC3E}">
        <p14:creationId xmlns:p14="http://schemas.microsoft.com/office/powerpoint/2010/main" val="132214732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269DA549-D4CF-CBA4-9DE0-BA3C6F4FD0C3}"/>
              </a:ext>
            </a:extLst>
          </p:cNvPr>
          <p:cNvSpPr txBox="1"/>
          <p:nvPr/>
        </p:nvSpPr>
        <p:spPr>
          <a:xfrm>
            <a:off x="360000" y="360000"/>
            <a:ext cx="6254556" cy="584775"/>
          </a:xfrm>
          <a:prstGeom prst="rect">
            <a:avLst/>
          </a:prstGeom>
          <a:noFill/>
        </p:spPr>
        <p:txBody>
          <a:bodyPr wrap="square">
            <a:spAutoFit/>
          </a:bodyPr>
          <a:lstStyle/>
          <a:p>
            <a:r>
              <a:rPr lang="en-US" altLang="ko-KR" sz="3200" b="1" smtClean="0">
                <a:latin typeface="맑은 고딕" panose="020B0503020000020004" pitchFamily="50" charset="-127"/>
                <a:ea typeface="맑은 고딕" panose="020B0503020000020004" pitchFamily="50" charset="-127"/>
              </a:rPr>
              <a:t>chatGPT</a:t>
            </a:r>
            <a:r>
              <a:rPr lang="ko-KR" altLang="en-US" sz="3200" b="1" smtClean="0">
                <a:latin typeface="맑은 고딕" panose="020B0503020000020004" pitchFamily="50" charset="-127"/>
                <a:ea typeface="맑은 고딕" panose="020B0503020000020004" pitchFamily="50" charset="-127"/>
              </a:rPr>
              <a:t>와 </a:t>
            </a:r>
            <a:r>
              <a:rPr lang="en-US" altLang="ko-KR" sz="3200" b="1" smtClean="0">
                <a:latin typeface="맑은 고딕" panose="020B0503020000020004" pitchFamily="50" charset="-127"/>
                <a:ea typeface="맑은 고딕" panose="020B0503020000020004" pitchFamily="50" charset="-127"/>
              </a:rPr>
              <a:t>Langchain </a:t>
            </a:r>
            <a:r>
              <a:rPr lang="ko-KR" altLang="en-US" sz="3200" b="1" smtClean="0">
                <a:latin typeface="맑은 고딕" panose="020B0503020000020004" pitchFamily="50" charset="-127"/>
                <a:ea typeface="맑은 고딕" panose="020B0503020000020004" pitchFamily="50" charset="-127"/>
              </a:rPr>
              <a:t>응용 </a:t>
            </a:r>
            <a:r>
              <a:rPr lang="en-US" altLang="ko-KR" sz="3200" b="1" smtClean="0">
                <a:latin typeface="맑은 고딕" panose="020B0503020000020004" pitchFamily="50" charset="-127"/>
                <a:ea typeface="맑은 고딕" panose="020B0503020000020004" pitchFamily="50" charset="-127"/>
              </a:rPr>
              <a:t>(2)</a:t>
            </a:r>
            <a:endParaRPr lang="en-US" altLang="ko-KR" sz="3200" b="1" dirty="0">
              <a:latin typeface="맑은 고딕" panose="020B0503020000020004" pitchFamily="50" charset="-127"/>
              <a:ea typeface="맑은 고딕" panose="020B0503020000020004" pitchFamily="50" charset="-127"/>
            </a:endParaRPr>
          </a:p>
        </p:txBody>
      </p:sp>
      <p:sp>
        <p:nvSpPr>
          <p:cNvPr id="7" name="내용 개체 틀 2"/>
          <p:cNvSpPr>
            <a:spLocks noGrp="1"/>
          </p:cNvSpPr>
          <p:nvPr>
            <p:ph idx="1"/>
          </p:nvPr>
        </p:nvSpPr>
        <p:spPr>
          <a:xfrm>
            <a:off x="588818" y="1029731"/>
            <a:ext cx="11298382" cy="372349"/>
          </a:xfrm>
        </p:spPr>
        <p:txBody>
          <a:bodyPr>
            <a:noAutofit/>
          </a:bodyPr>
          <a:lstStyle/>
          <a:p>
            <a:pPr>
              <a:buFont typeface="Wingdings" panose="05000000000000000000" pitchFamily="2" charset="2"/>
              <a:buChar char="l"/>
            </a:pPr>
            <a:r>
              <a:rPr lang="ko-KR" altLang="en-US" sz="1800" smtClean="0"/>
              <a:t>프럼프트 템플릿</a:t>
            </a:r>
            <a:endParaRPr lang="en-US" altLang="ko-KR" sz="1800" smtClean="0"/>
          </a:p>
        </p:txBody>
      </p:sp>
      <p:sp>
        <p:nvSpPr>
          <p:cNvPr id="6" name="직사각형 5"/>
          <p:cNvSpPr/>
          <p:nvPr/>
        </p:nvSpPr>
        <p:spPr>
          <a:xfrm>
            <a:off x="6614556" y="5483425"/>
            <a:ext cx="4126771" cy="369332"/>
          </a:xfrm>
          <a:prstGeom prst="rect">
            <a:avLst/>
          </a:prstGeom>
        </p:spPr>
        <p:txBody>
          <a:bodyPr wrap="none">
            <a:spAutoFit/>
          </a:bodyPr>
          <a:lstStyle/>
          <a:p>
            <a:r>
              <a:rPr lang="ko-KR" altLang="en-US" dirty="0"/>
              <a:t>https://hipster4020.tistory.com/m/189</a:t>
            </a:r>
          </a:p>
        </p:txBody>
      </p:sp>
      <p:pic>
        <p:nvPicPr>
          <p:cNvPr id="15" name="그림 14"/>
          <p:cNvPicPr>
            <a:picLocks noChangeAspect="1"/>
          </p:cNvPicPr>
          <p:nvPr/>
        </p:nvPicPr>
        <p:blipFill>
          <a:blip r:embed="rId2"/>
          <a:stretch>
            <a:fillRect/>
          </a:stretch>
        </p:blipFill>
        <p:spPr>
          <a:xfrm>
            <a:off x="886953" y="1402080"/>
            <a:ext cx="5200650" cy="1133475"/>
          </a:xfrm>
          <a:prstGeom prst="rect">
            <a:avLst/>
          </a:prstGeom>
        </p:spPr>
      </p:pic>
      <p:pic>
        <p:nvPicPr>
          <p:cNvPr id="16" name="그림 15"/>
          <p:cNvPicPr>
            <a:picLocks noChangeAspect="1"/>
          </p:cNvPicPr>
          <p:nvPr/>
        </p:nvPicPr>
        <p:blipFill>
          <a:blip r:embed="rId3"/>
          <a:stretch>
            <a:fillRect/>
          </a:stretch>
        </p:blipFill>
        <p:spPr>
          <a:xfrm>
            <a:off x="886953" y="2612629"/>
            <a:ext cx="2638425" cy="295275"/>
          </a:xfrm>
          <a:prstGeom prst="rect">
            <a:avLst/>
          </a:prstGeom>
        </p:spPr>
      </p:pic>
      <p:sp>
        <p:nvSpPr>
          <p:cNvPr id="2" name="슬라이드 번호 개체 틀 1"/>
          <p:cNvSpPr>
            <a:spLocks noGrp="1"/>
          </p:cNvSpPr>
          <p:nvPr>
            <p:ph type="sldNum" sz="quarter" idx="12"/>
          </p:nvPr>
        </p:nvSpPr>
        <p:spPr/>
        <p:txBody>
          <a:bodyPr/>
          <a:lstStyle/>
          <a:p>
            <a:fld id="{8553D33C-51A3-47FD-B610-A7B5E5BA9802}" type="slidenum">
              <a:rPr lang="ko-KR" altLang="en-US" smtClean="0"/>
              <a:t>37</a:t>
            </a:fld>
            <a:endParaRPr lang="ko-KR" altLang="en-US"/>
          </a:p>
        </p:txBody>
      </p:sp>
      <p:sp>
        <p:nvSpPr>
          <p:cNvPr id="3" name="직사각형 2"/>
          <p:cNvSpPr/>
          <p:nvPr/>
        </p:nvSpPr>
        <p:spPr>
          <a:xfrm>
            <a:off x="886953" y="3182045"/>
            <a:ext cx="6096000" cy="3539430"/>
          </a:xfrm>
          <a:prstGeom prst="rect">
            <a:avLst/>
          </a:prstGeom>
        </p:spPr>
        <p:txBody>
          <a:bodyPr>
            <a:spAutoFit/>
          </a:bodyPr>
          <a:lstStyle/>
          <a:p>
            <a:r>
              <a:rPr lang="en-US" altLang="ko-KR" sz="1400" b="1" dirty="0">
                <a:solidFill>
                  <a:srgbClr val="222222"/>
                </a:solidFill>
                <a:latin typeface="Noto Sans DemiLight"/>
              </a:rPr>
              <a:t>5. Document Loaders</a:t>
            </a:r>
            <a:endParaRPr lang="ko-KR" altLang="en-US" sz="1400" dirty="0">
              <a:solidFill>
                <a:srgbClr val="222222"/>
              </a:solidFill>
              <a:latin typeface="Noto Sans DemiLight"/>
            </a:endParaRPr>
          </a:p>
          <a:p>
            <a:r>
              <a:rPr lang="ko-KR" altLang="en-US" sz="1400" dirty="0">
                <a:solidFill>
                  <a:srgbClr val="222222"/>
                </a:solidFill>
                <a:latin typeface="Noto Sans DemiLight"/>
              </a:rPr>
              <a:t>특정 문서나 </a:t>
            </a:r>
            <a:r>
              <a:rPr lang="ko-KR" altLang="en-US" sz="1400" dirty="0" err="1">
                <a:solidFill>
                  <a:srgbClr val="222222"/>
                </a:solidFill>
                <a:latin typeface="Noto Sans DemiLight"/>
              </a:rPr>
              <a:t>웹페이지</a:t>
            </a:r>
            <a:r>
              <a:rPr lang="en-US" altLang="ko-KR" sz="1400" dirty="0">
                <a:solidFill>
                  <a:srgbClr val="222222"/>
                </a:solidFill>
                <a:latin typeface="Noto Sans DemiLight"/>
              </a:rPr>
              <a:t>, </a:t>
            </a:r>
            <a:r>
              <a:rPr lang="ko-KR" altLang="en-US" sz="1400" dirty="0">
                <a:solidFill>
                  <a:srgbClr val="222222"/>
                </a:solidFill>
                <a:latin typeface="Noto Sans DemiLight"/>
              </a:rPr>
              <a:t>이메일</a:t>
            </a:r>
            <a:r>
              <a:rPr lang="en-US" altLang="ko-KR" sz="1400" dirty="0">
                <a:solidFill>
                  <a:srgbClr val="222222"/>
                </a:solidFill>
                <a:latin typeface="Noto Sans DemiLight"/>
              </a:rPr>
              <a:t>, </a:t>
            </a:r>
            <a:r>
              <a:rPr lang="ko-KR" altLang="en-US" sz="1400" dirty="0">
                <a:solidFill>
                  <a:srgbClr val="222222"/>
                </a:solidFill>
                <a:latin typeface="Noto Sans DemiLight"/>
              </a:rPr>
              <a:t>파워포인트</a:t>
            </a:r>
            <a:r>
              <a:rPr lang="en-US" altLang="ko-KR" sz="1400" dirty="0">
                <a:solidFill>
                  <a:srgbClr val="222222"/>
                </a:solidFill>
                <a:latin typeface="Noto Sans DemiLight"/>
              </a:rPr>
              <a:t>, </a:t>
            </a:r>
            <a:r>
              <a:rPr lang="ko-KR" altLang="en-US" sz="1400" dirty="0">
                <a:solidFill>
                  <a:srgbClr val="222222"/>
                </a:solidFill>
                <a:latin typeface="Noto Sans DemiLight"/>
              </a:rPr>
              <a:t>워드</a:t>
            </a:r>
            <a:r>
              <a:rPr lang="en-US" altLang="ko-KR" sz="1400" dirty="0">
                <a:solidFill>
                  <a:srgbClr val="222222"/>
                </a:solidFill>
                <a:latin typeface="Noto Sans DemiLight"/>
              </a:rPr>
              <a:t>, </a:t>
            </a:r>
            <a:r>
              <a:rPr lang="ko-KR" altLang="en-US" sz="1400" dirty="0">
                <a:solidFill>
                  <a:srgbClr val="222222"/>
                </a:solidFill>
                <a:latin typeface="Noto Sans DemiLight"/>
              </a:rPr>
              <a:t>유튜브</a:t>
            </a:r>
            <a:r>
              <a:rPr lang="en-US" altLang="ko-KR" sz="1400" dirty="0">
                <a:solidFill>
                  <a:srgbClr val="222222"/>
                </a:solidFill>
                <a:latin typeface="Noto Sans DemiLight"/>
              </a:rPr>
              <a:t>, </a:t>
            </a:r>
            <a:r>
              <a:rPr lang="ko-KR" altLang="en-US" sz="1400" dirty="0">
                <a:solidFill>
                  <a:srgbClr val="222222"/>
                </a:solidFill>
                <a:latin typeface="Noto Sans DemiLight"/>
              </a:rPr>
              <a:t>트위터 등에서 텍스트 정보를 긁어오는 </a:t>
            </a:r>
            <a:r>
              <a:rPr lang="ko-KR" altLang="en-US" sz="1400" dirty="0" err="1">
                <a:solidFill>
                  <a:srgbClr val="222222"/>
                </a:solidFill>
                <a:latin typeface="Noto Sans DemiLight"/>
              </a:rPr>
              <a:t>로드하는</a:t>
            </a:r>
            <a:r>
              <a:rPr lang="ko-KR" altLang="en-US" sz="1400" dirty="0">
                <a:solidFill>
                  <a:srgbClr val="222222"/>
                </a:solidFill>
                <a:latin typeface="Noto Sans DemiLight"/>
              </a:rPr>
              <a:t> 역할입니다</a:t>
            </a:r>
            <a:r>
              <a:rPr lang="en-US" altLang="ko-KR" sz="1400" dirty="0">
                <a:solidFill>
                  <a:srgbClr val="222222"/>
                </a:solidFill>
                <a:latin typeface="Noto Sans DemiLight"/>
              </a:rPr>
              <a:t>.</a:t>
            </a:r>
            <a:br>
              <a:rPr lang="en-US" altLang="ko-KR" sz="1400" dirty="0">
                <a:solidFill>
                  <a:srgbClr val="222222"/>
                </a:solidFill>
                <a:latin typeface="Noto Sans DemiLight"/>
              </a:rPr>
            </a:br>
            <a:r>
              <a:rPr lang="en-US" altLang="ko-KR" sz="1400" dirty="0">
                <a:solidFill>
                  <a:srgbClr val="222222"/>
                </a:solidFill>
                <a:latin typeface="Noto Sans DemiLight"/>
              </a:rPr>
              <a:t>GPT4</a:t>
            </a:r>
            <a:r>
              <a:rPr lang="ko-KR" altLang="en-US" sz="1400" dirty="0">
                <a:solidFill>
                  <a:srgbClr val="222222"/>
                </a:solidFill>
                <a:latin typeface="Noto Sans DemiLight"/>
              </a:rPr>
              <a:t>의 최대 입력 토큰은 </a:t>
            </a:r>
            <a:r>
              <a:rPr lang="en-US" altLang="ko-KR" sz="1400" dirty="0">
                <a:solidFill>
                  <a:srgbClr val="222222"/>
                </a:solidFill>
                <a:latin typeface="Noto Sans DemiLight"/>
              </a:rPr>
              <a:t>32,768</a:t>
            </a:r>
            <a:r>
              <a:rPr lang="ko-KR" altLang="en-US" sz="1400" dirty="0">
                <a:solidFill>
                  <a:srgbClr val="222222"/>
                </a:solidFill>
                <a:latin typeface="Noto Sans DemiLight"/>
              </a:rPr>
              <a:t>개로 약 </a:t>
            </a:r>
            <a:r>
              <a:rPr lang="en-US" altLang="ko-KR" sz="1400" dirty="0">
                <a:solidFill>
                  <a:srgbClr val="222222"/>
                </a:solidFill>
                <a:latin typeface="Noto Sans DemiLight"/>
              </a:rPr>
              <a:t>64,000 </a:t>
            </a:r>
            <a:r>
              <a:rPr lang="ko-KR" altLang="en-US" sz="1400" dirty="0">
                <a:solidFill>
                  <a:srgbClr val="222222"/>
                </a:solidFill>
                <a:latin typeface="Noto Sans DemiLight"/>
              </a:rPr>
              <a:t>단어 분량의 값을 입력할 수 있습니다</a:t>
            </a:r>
            <a:r>
              <a:rPr lang="en-US" altLang="ko-KR" sz="1400" dirty="0">
                <a:solidFill>
                  <a:srgbClr val="222222"/>
                </a:solidFill>
                <a:latin typeface="Noto Sans DemiLight"/>
              </a:rPr>
              <a:t>.</a:t>
            </a:r>
            <a:br>
              <a:rPr lang="en-US" altLang="ko-KR" sz="1400" dirty="0">
                <a:solidFill>
                  <a:srgbClr val="222222"/>
                </a:solidFill>
                <a:latin typeface="Noto Sans DemiLight"/>
              </a:rPr>
            </a:br>
            <a:r>
              <a:rPr lang="ko-KR" altLang="en-US" sz="1400" dirty="0">
                <a:solidFill>
                  <a:srgbClr val="222222"/>
                </a:solidFill>
                <a:latin typeface="Noto Sans DemiLight"/>
              </a:rPr>
              <a:t>뒤에서 살펴볼 </a:t>
            </a:r>
            <a:r>
              <a:rPr lang="en-US" altLang="ko-KR" sz="1400" b="1" dirty="0">
                <a:solidFill>
                  <a:srgbClr val="222222"/>
                </a:solidFill>
                <a:latin typeface="Noto Sans DemiLight"/>
              </a:rPr>
              <a:t>Summarization, Embedding and </a:t>
            </a:r>
            <a:r>
              <a:rPr lang="en-US" altLang="ko-KR" sz="1400" b="1" dirty="0" err="1">
                <a:solidFill>
                  <a:srgbClr val="222222"/>
                </a:solidFill>
                <a:latin typeface="Noto Sans DemiLight"/>
              </a:rPr>
              <a:t>VectorStore</a:t>
            </a:r>
            <a:r>
              <a:rPr lang="ko-KR" altLang="en-US" sz="1400" dirty="0">
                <a:solidFill>
                  <a:srgbClr val="222222"/>
                </a:solidFill>
                <a:latin typeface="Noto Sans DemiLight"/>
              </a:rPr>
              <a:t>에서 사용할 수 있도록 </a:t>
            </a:r>
            <a:r>
              <a:rPr lang="ko-KR" altLang="en-US" sz="1400" dirty="0" err="1">
                <a:solidFill>
                  <a:srgbClr val="222222"/>
                </a:solidFill>
                <a:latin typeface="Noto Sans DemiLight"/>
              </a:rPr>
              <a:t>로드한다고</a:t>
            </a:r>
            <a:r>
              <a:rPr lang="ko-KR" altLang="en-US" sz="1400" dirty="0">
                <a:solidFill>
                  <a:srgbClr val="222222"/>
                </a:solidFill>
                <a:latin typeface="Noto Sans DemiLight"/>
              </a:rPr>
              <a:t> 볼 수 있습니다</a:t>
            </a:r>
            <a:r>
              <a:rPr lang="en-US" altLang="ko-KR" sz="1400" dirty="0">
                <a:solidFill>
                  <a:srgbClr val="222222"/>
                </a:solidFill>
                <a:latin typeface="Noto Sans DemiLight"/>
              </a:rPr>
              <a:t>.</a:t>
            </a:r>
          </a:p>
          <a:p>
            <a:pPr>
              <a:buFont typeface="Arial" panose="020B0604020202020204" pitchFamily="34" charset="0"/>
              <a:buChar char="•"/>
            </a:pPr>
            <a:r>
              <a:rPr lang="en-US" altLang="ko-KR" sz="1400" dirty="0">
                <a:solidFill>
                  <a:srgbClr val="555555"/>
                </a:solidFill>
                <a:latin typeface="Noto Sans DemiLight"/>
              </a:rPr>
              <a:t>Web Page</a:t>
            </a:r>
          </a:p>
          <a:p>
            <a:pPr>
              <a:buFont typeface="Arial" panose="020B0604020202020204" pitchFamily="34" charset="0"/>
              <a:buChar char="•"/>
            </a:pPr>
            <a:r>
              <a:rPr lang="en-US" altLang="ko-KR" sz="1400" dirty="0">
                <a:solidFill>
                  <a:srgbClr val="555555"/>
                </a:solidFill>
                <a:latin typeface="Noto Sans DemiLight"/>
              </a:rPr>
              <a:t>PDF</a:t>
            </a:r>
          </a:p>
          <a:p>
            <a:pPr>
              <a:buFont typeface="Arial" panose="020B0604020202020204" pitchFamily="34" charset="0"/>
              <a:buChar char="•"/>
            </a:pPr>
            <a:r>
              <a:rPr lang="en-US" altLang="ko-KR" sz="1400" dirty="0">
                <a:solidFill>
                  <a:srgbClr val="555555"/>
                </a:solidFill>
                <a:latin typeface="Noto Sans DemiLight"/>
              </a:rPr>
              <a:t>Email</a:t>
            </a:r>
          </a:p>
          <a:p>
            <a:pPr>
              <a:buFont typeface="Arial" panose="020B0604020202020204" pitchFamily="34" charset="0"/>
              <a:buChar char="•"/>
            </a:pPr>
            <a:r>
              <a:rPr lang="en-US" altLang="ko-KR" sz="1400" dirty="0">
                <a:solidFill>
                  <a:srgbClr val="555555"/>
                </a:solidFill>
                <a:latin typeface="Noto Sans DemiLight"/>
              </a:rPr>
              <a:t>Twitter</a:t>
            </a:r>
          </a:p>
          <a:p>
            <a:pPr>
              <a:buFont typeface="Arial" panose="020B0604020202020204" pitchFamily="34" charset="0"/>
              <a:buChar char="•"/>
            </a:pPr>
            <a:r>
              <a:rPr lang="en-US" altLang="ko-KR" sz="1400" dirty="0" err="1">
                <a:solidFill>
                  <a:srgbClr val="555555"/>
                </a:solidFill>
                <a:latin typeface="Noto Sans DemiLight"/>
              </a:rPr>
              <a:t>DataFrame</a:t>
            </a:r>
            <a:r>
              <a:rPr lang="en-US" altLang="ko-KR" sz="1400" dirty="0">
                <a:solidFill>
                  <a:srgbClr val="555555"/>
                </a:solidFill>
                <a:latin typeface="Noto Sans DemiLight"/>
              </a:rPr>
              <a:t>(pandas)</a:t>
            </a:r>
          </a:p>
          <a:p>
            <a:pPr>
              <a:buFont typeface="Arial" panose="020B0604020202020204" pitchFamily="34" charset="0"/>
              <a:buChar char="•"/>
            </a:pPr>
            <a:r>
              <a:rPr lang="en-US" altLang="ko-KR" sz="1400" dirty="0">
                <a:solidFill>
                  <a:srgbClr val="555555"/>
                </a:solidFill>
                <a:latin typeface="Noto Sans DemiLight"/>
              </a:rPr>
              <a:t>YouTube</a:t>
            </a:r>
          </a:p>
          <a:p>
            <a:pPr>
              <a:buFont typeface="Arial" panose="020B0604020202020204" pitchFamily="34" charset="0"/>
              <a:buChar char="•"/>
            </a:pPr>
            <a:r>
              <a:rPr lang="en-US" altLang="ko-KR" sz="1400" dirty="0">
                <a:solidFill>
                  <a:srgbClr val="555555"/>
                </a:solidFill>
                <a:latin typeface="Noto Sans DemiLight"/>
              </a:rPr>
              <a:t>Notion</a:t>
            </a:r>
          </a:p>
          <a:p>
            <a:pPr>
              <a:buFont typeface="Arial" panose="020B0604020202020204" pitchFamily="34" charset="0"/>
              <a:buChar char="•"/>
            </a:pPr>
            <a:r>
              <a:rPr lang="en-US" altLang="ko-KR" sz="1400" dirty="0">
                <a:solidFill>
                  <a:srgbClr val="555555"/>
                </a:solidFill>
                <a:latin typeface="Noto Sans DemiLight"/>
              </a:rPr>
              <a:t>Google Drive</a:t>
            </a:r>
          </a:p>
          <a:p>
            <a:pPr>
              <a:buFont typeface="Arial" panose="020B0604020202020204" pitchFamily="34" charset="0"/>
              <a:buChar char="•"/>
            </a:pPr>
            <a:r>
              <a:rPr lang="en-US" altLang="ko-KR" sz="1400" dirty="0" err="1">
                <a:solidFill>
                  <a:srgbClr val="555555"/>
                </a:solidFill>
                <a:latin typeface="Noto Sans DemiLight"/>
              </a:rPr>
              <a:t>Powerpoint</a:t>
            </a:r>
            <a:r>
              <a:rPr lang="en-US" altLang="ko-KR" sz="1400" dirty="0">
                <a:solidFill>
                  <a:srgbClr val="555555"/>
                </a:solidFill>
                <a:latin typeface="Noto Sans DemiLight"/>
              </a:rPr>
              <a:t>, Word</a:t>
            </a:r>
            <a:endParaRPr lang="en-US" altLang="ko-KR" sz="1400" b="0" i="0" dirty="0">
              <a:solidFill>
                <a:srgbClr val="555555"/>
              </a:solidFill>
              <a:effectLst/>
              <a:latin typeface="Noto Sans DemiLight"/>
            </a:endParaRPr>
          </a:p>
        </p:txBody>
      </p:sp>
      <p:sp>
        <p:nvSpPr>
          <p:cNvPr id="5" name="직사각형 4"/>
          <p:cNvSpPr/>
          <p:nvPr/>
        </p:nvSpPr>
        <p:spPr>
          <a:xfrm>
            <a:off x="7266432" y="3177838"/>
            <a:ext cx="4303776" cy="830997"/>
          </a:xfrm>
          <a:prstGeom prst="rect">
            <a:avLst/>
          </a:prstGeom>
        </p:spPr>
        <p:txBody>
          <a:bodyPr wrap="square">
            <a:spAutoFit/>
          </a:bodyPr>
          <a:lstStyle/>
          <a:p>
            <a:r>
              <a:rPr lang="en-US" altLang="ko-KR" sz="1200" b="1" dirty="0">
                <a:solidFill>
                  <a:srgbClr val="222222"/>
                </a:solidFill>
                <a:latin typeface="Noto Sans DemiLight"/>
              </a:rPr>
              <a:t>3. </a:t>
            </a:r>
            <a:r>
              <a:rPr lang="ko-KR" altLang="en-US" sz="1200" b="1" dirty="0">
                <a:solidFill>
                  <a:srgbClr val="222222"/>
                </a:solidFill>
                <a:latin typeface="Noto Sans DemiLight"/>
              </a:rPr>
              <a:t>벡터 </a:t>
            </a:r>
            <a:r>
              <a:rPr lang="en-US" altLang="ko-KR" sz="1200" b="1" dirty="0">
                <a:solidFill>
                  <a:srgbClr val="222222"/>
                </a:solidFill>
                <a:latin typeface="Noto Sans DemiLight"/>
              </a:rPr>
              <a:t>DB</a:t>
            </a:r>
            <a:r>
              <a:rPr lang="ko-KR" altLang="en-US" sz="1200" b="1" dirty="0">
                <a:solidFill>
                  <a:srgbClr val="222222"/>
                </a:solidFill>
                <a:latin typeface="Noto Sans DemiLight"/>
              </a:rPr>
              <a:t>에서 </a:t>
            </a:r>
            <a:r>
              <a:rPr lang="ko-KR" altLang="en-US" sz="1200" b="1" dirty="0" err="1">
                <a:solidFill>
                  <a:srgbClr val="222222"/>
                </a:solidFill>
                <a:latin typeface="Noto Sans DemiLight"/>
              </a:rPr>
              <a:t>질의문을</a:t>
            </a:r>
            <a:r>
              <a:rPr lang="ko-KR" altLang="en-US" sz="1200" b="1" dirty="0">
                <a:solidFill>
                  <a:srgbClr val="222222"/>
                </a:solidFill>
                <a:latin typeface="Noto Sans DemiLight"/>
              </a:rPr>
              <a:t> </a:t>
            </a:r>
            <a:r>
              <a:rPr lang="en-US" altLang="ko-KR" sz="1200" b="1" dirty="0">
                <a:solidFill>
                  <a:srgbClr val="222222"/>
                </a:solidFill>
                <a:latin typeface="Noto Sans DemiLight"/>
              </a:rPr>
              <a:t>index query</a:t>
            </a:r>
            <a:r>
              <a:rPr lang="ko-KR" altLang="en-US" sz="1200" b="1" dirty="0">
                <a:solidFill>
                  <a:srgbClr val="222222"/>
                </a:solidFill>
                <a:latin typeface="Noto Sans DemiLight"/>
              </a:rPr>
              <a:t>문으로 특정 벡터를 뽑고 그중 제일 가까운 문서를 뽑아냅니다</a:t>
            </a:r>
            <a:r>
              <a:rPr lang="en-US" altLang="ko-KR" sz="1200" b="1" dirty="0">
                <a:solidFill>
                  <a:srgbClr val="222222"/>
                </a:solidFill>
                <a:latin typeface="Noto Sans DemiLight"/>
              </a:rPr>
              <a:t>.</a:t>
            </a:r>
            <a:r>
              <a:rPr lang="ko-KR" altLang="en-US" sz="1200" dirty="0"/>
              <a:t/>
            </a:r>
            <a:br>
              <a:rPr lang="ko-KR" altLang="en-US" sz="1200" dirty="0"/>
            </a:br>
            <a:r>
              <a:rPr lang="ko-KR" altLang="en-US" sz="1200" b="1" dirty="0">
                <a:solidFill>
                  <a:srgbClr val="222222"/>
                </a:solidFill>
                <a:latin typeface="Noto Sans DemiLight"/>
              </a:rPr>
              <a:t>그 후 검색된 문서와 </a:t>
            </a:r>
            <a:r>
              <a:rPr lang="ko-KR" altLang="en-US" sz="1200" b="1" dirty="0" err="1">
                <a:solidFill>
                  <a:srgbClr val="222222"/>
                </a:solidFill>
                <a:latin typeface="Noto Sans DemiLight"/>
              </a:rPr>
              <a:t>질의문을</a:t>
            </a:r>
            <a:r>
              <a:rPr lang="ko-KR" altLang="en-US" sz="1200" b="1" dirty="0">
                <a:solidFill>
                  <a:srgbClr val="222222"/>
                </a:solidFill>
                <a:latin typeface="Noto Sans DemiLight"/>
              </a:rPr>
              <a:t> 함께 </a:t>
            </a:r>
            <a:r>
              <a:rPr lang="en-US" altLang="ko-KR" sz="1200" b="1" dirty="0">
                <a:solidFill>
                  <a:srgbClr val="222222"/>
                </a:solidFill>
                <a:latin typeface="Noto Sans DemiLight"/>
              </a:rPr>
              <a:t>GPT4</a:t>
            </a:r>
            <a:r>
              <a:rPr lang="ko-KR" altLang="en-US" sz="1200" b="1" dirty="0">
                <a:solidFill>
                  <a:srgbClr val="222222"/>
                </a:solidFill>
                <a:latin typeface="Noto Sans DemiLight"/>
              </a:rPr>
              <a:t>로 입력하는 방식입니다</a:t>
            </a:r>
            <a:r>
              <a:rPr lang="en-US" altLang="ko-KR" sz="1200" b="1" dirty="0">
                <a:solidFill>
                  <a:srgbClr val="222222"/>
                </a:solidFill>
                <a:latin typeface="Noto Sans DemiLight"/>
              </a:rPr>
              <a:t>.</a:t>
            </a:r>
            <a:r>
              <a:rPr lang="en-US" altLang="ko-KR" sz="1200" dirty="0">
                <a:solidFill>
                  <a:srgbClr val="9D9D9D"/>
                </a:solidFill>
                <a:latin typeface="Noto Sans DemiLight"/>
              </a:rPr>
              <a:t>(GPT4 </a:t>
            </a:r>
            <a:r>
              <a:rPr lang="ko-KR" altLang="en-US" sz="1200" dirty="0">
                <a:solidFill>
                  <a:srgbClr val="9D9D9D"/>
                </a:solidFill>
                <a:latin typeface="Noto Sans DemiLight"/>
              </a:rPr>
              <a:t>입력 </a:t>
            </a:r>
            <a:r>
              <a:rPr lang="en-US" altLang="ko-KR" sz="1200" dirty="0">
                <a:solidFill>
                  <a:srgbClr val="9D9D9D"/>
                </a:solidFill>
                <a:latin typeface="Noto Sans DemiLight"/>
              </a:rPr>
              <a:t>: </a:t>
            </a:r>
            <a:r>
              <a:rPr lang="ko-KR" altLang="en-US" sz="1200" dirty="0" err="1">
                <a:solidFill>
                  <a:srgbClr val="9D9D9D"/>
                </a:solidFill>
                <a:latin typeface="Noto Sans DemiLight"/>
              </a:rPr>
              <a:t>질의문과</a:t>
            </a:r>
            <a:r>
              <a:rPr lang="ko-KR" altLang="en-US" sz="1200" dirty="0">
                <a:solidFill>
                  <a:srgbClr val="9D9D9D"/>
                </a:solidFill>
                <a:latin typeface="Noto Sans DemiLight"/>
              </a:rPr>
              <a:t> 유사한 문서 </a:t>
            </a:r>
            <a:r>
              <a:rPr lang="en-US" altLang="ko-KR" sz="1200" dirty="0">
                <a:solidFill>
                  <a:srgbClr val="9D9D9D"/>
                </a:solidFill>
                <a:latin typeface="Noto Sans DemiLight"/>
              </a:rPr>
              <a:t>+ </a:t>
            </a:r>
            <a:r>
              <a:rPr lang="ko-KR" altLang="en-US" sz="1200" dirty="0" err="1">
                <a:solidFill>
                  <a:srgbClr val="9D9D9D"/>
                </a:solidFill>
                <a:latin typeface="Noto Sans DemiLight"/>
              </a:rPr>
              <a:t>질의문</a:t>
            </a:r>
            <a:r>
              <a:rPr lang="en-US" altLang="ko-KR" sz="1200" dirty="0">
                <a:solidFill>
                  <a:srgbClr val="9D9D9D"/>
                </a:solidFill>
                <a:latin typeface="Noto Sans DemiLight"/>
              </a:rPr>
              <a:t>)</a:t>
            </a:r>
            <a:endParaRPr lang="ko-KR" altLang="en-US" sz="1200" dirty="0"/>
          </a:p>
        </p:txBody>
      </p:sp>
      <p:sp>
        <p:nvSpPr>
          <p:cNvPr id="8" name="직사각형 7"/>
          <p:cNvSpPr/>
          <p:nvPr/>
        </p:nvSpPr>
        <p:spPr>
          <a:xfrm>
            <a:off x="6873225" y="5987018"/>
            <a:ext cx="4208203" cy="923330"/>
          </a:xfrm>
          <a:prstGeom prst="rect">
            <a:avLst/>
          </a:prstGeom>
        </p:spPr>
        <p:txBody>
          <a:bodyPr wrap="none">
            <a:spAutoFit/>
          </a:bodyPr>
          <a:lstStyle/>
          <a:p>
            <a:r>
              <a:rPr lang="ko-KR" altLang="en-US" u="sng" dirty="0" smtClean="0">
                <a:solidFill>
                  <a:srgbClr val="006DD7"/>
                </a:solidFill>
                <a:latin typeface="Noto Sans DemiLight"/>
                <a:hlinkClick r:id="rId4"/>
              </a:rPr>
              <a:t>출처</a:t>
            </a:r>
            <a:r>
              <a:rPr lang="en-US" altLang="ko-KR" u="sng" dirty="0" smtClean="0">
                <a:solidFill>
                  <a:srgbClr val="006DD7"/>
                </a:solidFill>
                <a:latin typeface="Noto Sans DemiLight"/>
                <a:hlinkClick r:id="rId4"/>
              </a:rPr>
              <a:t>: https</a:t>
            </a:r>
            <a:r>
              <a:rPr lang="en-US" altLang="ko-KR" u="sng" dirty="0">
                <a:solidFill>
                  <a:srgbClr val="006DD7"/>
                </a:solidFill>
                <a:latin typeface="Noto Sans DemiLight"/>
                <a:hlinkClick r:id="rId4"/>
              </a:rPr>
              <a:t>://</a:t>
            </a:r>
            <a:r>
              <a:rPr lang="en-US" altLang="ko-KR" u="sng" dirty="0" smtClean="0">
                <a:solidFill>
                  <a:srgbClr val="006DD7"/>
                </a:solidFill>
                <a:latin typeface="Noto Sans DemiLight"/>
                <a:hlinkClick r:id="rId4"/>
              </a:rPr>
              <a:t>youtu.be/KdbPZNdFJU0</a:t>
            </a:r>
            <a:endParaRPr lang="en-US" altLang="ko-KR" u="sng" dirty="0" smtClean="0">
              <a:solidFill>
                <a:srgbClr val="006DD7"/>
              </a:solidFill>
              <a:latin typeface="Noto Sans DemiLight"/>
            </a:endParaRPr>
          </a:p>
          <a:p>
            <a:r>
              <a:rPr lang="ko-KR" altLang="en-US" u="sng" dirty="0" err="1" smtClean="0">
                <a:solidFill>
                  <a:srgbClr val="006DD7"/>
                </a:solidFill>
                <a:latin typeface="Noto Sans DemiLight"/>
              </a:rPr>
              <a:t>한국어처리</a:t>
            </a:r>
            <a:r>
              <a:rPr lang="ko-KR" altLang="en-US" u="sng" dirty="0" smtClean="0">
                <a:solidFill>
                  <a:srgbClr val="006DD7"/>
                </a:solidFill>
                <a:latin typeface="Noto Sans DemiLight"/>
              </a:rPr>
              <a:t> </a:t>
            </a:r>
            <a:r>
              <a:rPr lang="ko-KR" altLang="en-US" u="sng" dirty="0" err="1" smtClean="0">
                <a:solidFill>
                  <a:srgbClr val="006DD7"/>
                </a:solidFill>
                <a:latin typeface="Noto Sans DemiLight"/>
              </a:rPr>
              <a:t>유틸</a:t>
            </a:r>
            <a:r>
              <a:rPr lang="ko-KR" altLang="en-US" u="sng" dirty="0" smtClean="0">
                <a:solidFill>
                  <a:srgbClr val="006DD7"/>
                </a:solidFill>
                <a:latin typeface="Noto Sans DemiLight"/>
              </a:rPr>
              <a:t> </a:t>
            </a:r>
            <a:r>
              <a:rPr lang="ko-KR" altLang="en-US" u="sng" dirty="0" err="1" smtClean="0">
                <a:solidFill>
                  <a:srgbClr val="006DD7"/>
                </a:solidFill>
                <a:latin typeface="Noto Sans DemiLight"/>
              </a:rPr>
              <a:t>도움받아</a:t>
            </a:r>
            <a:r>
              <a:rPr lang="ko-KR" altLang="en-US" u="sng" dirty="0" smtClean="0">
                <a:solidFill>
                  <a:srgbClr val="006DD7"/>
                </a:solidFill>
                <a:latin typeface="Noto Sans DemiLight"/>
              </a:rPr>
              <a:t> 처리</a:t>
            </a:r>
            <a:endParaRPr lang="en-US" altLang="ko-KR" u="sng" dirty="0" smtClean="0">
              <a:solidFill>
                <a:srgbClr val="006DD7"/>
              </a:solidFill>
              <a:latin typeface="Noto Sans DemiLight"/>
            </a:endParaRPr>
          </a:p>
          <a:p>
            <a:r>
              <a:rPr lang="en-US" altLang="ko-KR" u="sng" dirty="0" smtClean="0">
                <a:solidFill>
                  <a:srgbClr val="006DD7"/>
                </a:solidFill>
                <a:latin typeface="Noto Sans DemiLight"/>
              </a:rPr>
              <a:t>prompt layer</a:t>
            </a:r>
            <a:endParaRPr lang="ko-KR" altLang="en-US" dirty="0"/>
          </a:p>
        </p:txBody>
      </p:sp>
    </p:spTree>
    <p:extLst>
      <p:ext uri="{BB962C8B-B14F-4D97-AF65-F5344CB8AC3E}">
        <p14:creationId xmlns:p14="http://schemas.microsoft.com/office/powerpoint/2010/main" val="116516504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5714823" y="1203098"/>
            <a:ext cx="5694572" cy="923330"/>
          </a:xfrm>
          <a:prstGeom prst="rect">
            <a:avLst/>
          </a:prstGeom>
        </p:spPr>
        <p:txBody>
          <a:bodyPr wrap="none">
            <a:spAutoFit/>
          </a:bodyPr>
          <a:lstStyle/>
          <a:p>
            <a:r>
              <a:rPr lang="en-US" altLang="ko-KR" b="1" dirty="0"/>
              <a:t>How-To Force </a:t>
            </a:r>
            <a:r>
              <a:rPr lang="en-US" altLang="ko-KR" b="1" dirty="0" err="1"/>
              <a:t>ChatGPT</a:t>
            </a:r>
            <a:r>
              <a:rPr lang="en-US" altLang="ko-KR" b="1" dirty="0"/>
              <a:t> To Write In Your Style</a:t>
            </a:r>
          </a:p>
          <a:p>
            <a:endParaRPr lang="en-US" altLang="ko-KR" dirty="0" smtClean="0"/>
          </a:p>
          <a:p>
            <a:r>
              <a:rPr lang="en-US" altLang="ko-KR" dirty="0" smtClean="0"/>
              <a:t>https</a:t>
            </a:r>
            <a:r>
              <a:rPr lang="en-US" altLang="ko-KR" dirty="0"/>
              <a:t>://youtu.be/33FcIL6tFnY?si=H1D5hyBtnrbUuYB1</a:t>
            </a:r>
            <a:endParaRPr lang="ko-KR" altLang="en-US" dirty="0"/>
          </a:p>
        </p:txBody>
      </p:sp>
      <p:sp>
        <p:nvSpPr>
          <p:cNvPr id="2" name="직사각형 1"/>
          <p:cNvSpPr/>
          <p:nvPr/>
        </p:nvSpPr>
        <p:spPr>
          <a:xfrm>
            <a:off x="3048000" y="3105835"/>
            <a:ext cx="6096000" cy="2585323"/>
          </a:xfrm>
          <a:prstGeom prst="rect">
            <a:avLst/>
          </a:prstGeom>
        </p:spPr>
        <p:txBody>
          <a:bodyPr>
            <a:spAutoFit/>
          </a:bodyPr>
          <a:lstStyle/>
          <a:p>
            <a:r>
              <a:rPr lang="ko-KR" altLang="en-US" dirty="0"/>
              <a:t>[한글자막] </a:t>
            </a:r>
            <a:r>
              <a:rPr lang="ko-KR" altLang="en-US" dirty="0" err="1"/>
              <a:t>How</a:t>
            </a:r>
            <a:r>
              <a:rPr lang="ko-KR" altLang="en-US" dirty="0"/>
              <a:t> </a:t>
            </a:r>
            <a:r>
              <a:rPr lang="ko-KR" altLang="en-US" dirty="0" err="1"/>
              <a:t>to</a:t>
            </a:r>
            <a:r>
              <a:rPr lang="ko-KR" altLang="en-US" dirty="0"/>
              <a:t> </a:t>
            </a:r>
            <a:r>
              <a:rPr lang="ko-KR" altLang="en-US" dirty="0" err="1"/>
              <a:t>Make</a:t>
            </a:r>
            <a:r>
              <a:rPr lang="ko-KR" altLang="en-US" dirty="0"/>
              <a:t> RAG </a:t>
            </a:r>
            <a:r>
              <a:rPr lang="ko-KR" altLang="en-US" dirty="0" err="1"/>
              <a:t>Chatbots</a:t>
            </a:r>
            <a:r>
              <a:rPr lang="ko-KR" altLang="en-US" dirty="0"/>
              <a:t> FAST</a:t>
            </a:r>
          </a:p>
          <a:p>
            <a:r>
              <a:rPr lang="ko-KR" altLang="en-US" dirty="0">
                <a:hlinkClick r:id="rId2"/>
              </a:rPr>
              <a:t>https://</a:t>
            </a:r>
            <a:r>
              <a:rPr lang="ko-KR" altLang="en-US" dirty="0" smtClean="0">
                <a:hlinkClick r:id="rId2"/>
              </a:rPr>
              <a:t>youtu.be/2PI1-5a3uao</a:t>
            </a:r>
            <a:endParaRPr lang="en-US" altLang="ko-KR" dirty="0" smtClean="0"/>
          </a:p>
          <a:p>
            <a:endParaRPr lang="en-US" altLang="ko-KR" dirty="0"/>
          </a:p>
          <a:p>
            <a:r>
              <a:rPr lang="en-US" altLang="ko-KR" dirty="0"/>
              <a:t>[</a:t>
            </a:r>
            <a:r>
              <a:rPr lang="ko-KR" altLang="en-US" dirty="0"/>
              <a:t>한글자막</a:t>
            </a:r>
            <a:r>
              <a:rPr lang="en-US" altLang="ko-KR" dirty="0"/>
              <a:t>] What is Retrieval Augmented Generation RAG</a:t>
            </a:r>
            <a:r>
              <a:rPr lang="ko-KR" altLang="en-US" dirty="0"/>
              <a:t>？</a:t>
            </a:r>
          </a:p>
          <a:p>
            <a:r>
              <a:rPr lang="en-US" altLang="ko-KR" dirty="0">
                <a:hlinkClick r:id="rId3"/>
              </a:rPr>
              <a:t>https://</a:t>
            </a:r>
            <a:r>
              <a:rPr lang="en-US" altLang="ko-KR" dirty="0" smtClean="0">
                <a:hlinkClick r:id="rId3"/>
              </a:rPr>
              <a:t>youtu.be/0fU7AS8qiwU</a:t>
            </a:r>
            <a:endParaRPr lang="en-US" altLang="ko-KR" dirty="0" smtClean="0"/>
          </a:p>
          <a:p>
            <a:endParaRPr lang="en-US" altLang="ko-KR" dirty="0" smtClean="0"/>
          </a:p>
          <a:p>
            <a:r>
              <a:rPr lang="en-US" altLang="ko-KR" b="1" dirty="0"/>
              <a:t>[</a:t>
            </a:r>
            <a:r>
              <a:rPr lang="ko-KR" altLang="en-US" b="1" dirty="0"/>
              <a:t>한글자막</a:t>
            </a:r>
            <a:r>
              <a:rPr lang="en-US" altLang="ko-KR" b="1" dirty="0"/>
              <a:t>] Large Language Models in 2023</a:t>
            </a:r>
          </a:p>
          <a:p>
            <a:r>
              <a:rPr lang="en-US" altLang="ko-KR" dirty="0" smtClean="0"/>
              <a:t>https</a:t>
            </a:r>
            <a:r>
              <a:rPr lang="en-US" altLang="ko-KR" dirty="0"/>
              <a:t>://youtu.be/VtJoyMEogBc?si=HGB9iVb8DjdOh8ar</a:t>
            </a:r>
            <a:endParaRPr lang="ko-KR" altLang="en-US" dirty="0"/>
          </a:p>
        </p:txBody>
      </p:sp>
    </p:spTree>
    <p:extLst>
      <p:ext uri="{BB962C8B-B14F-4D97-AF65-F5344CB8AC3E}">
        <p14:creationId xmlns:p14="http://schemas.microsoft.com/office/powerpoint/2010/main" val="19571278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810047" y="805934"/>
            <a:ext cx="4475905" cy="369332"/>
          </a:xfrm>
          <a:prstGeom prst="rect">
            <a:avLst/>
          </a:prstGeom>
        </p:spPr>
        <p:txBody>
          <a:bodyPr wrap="none">
            <a:spAutoFit/>
          </a:bodyPr>
          <a:lstStyle/>
          <a:p>
            <a:r>
              <a:rPr lang="sv-SE" altLang="ko-KR" dirty="0">
                <a:solidFill>
                  <a:srgbClr val="232629"/>
                </a:solidFill>
                <a:latin typeface="ui-monospace"/>
              </a:rPr>
              <a:t>python3.8 -m pip install python-dotenv</a:t>
            </a:r>
            <a:endParaRPr lang="ko-KR" altLang="en-US" dirty="0"/>
          </a:p>
        </p:txBody>
      </p:sp>
      <p:sp>
        <p:nvSpPr>
          <p:cNvPr id="5" name="직사각형 4"/>
          <p:cNvSpPr/>
          <p:nvPr/>
        </p:nvSpPr>
        <p:spPr>
          <a:xfrm>
            <a:off x="4523874" y="6266130"/>
            <a:ext cx="7668126" cy="369332"/>
          </a:xfrm>
          <a:prstGeom prst="rect">
            <a:avLst/>
          </a:prstGeom>
        </p:spPr>
        <p:txBody>
          <a:bodyPr wrap="square">
            <a:spAutoFit/>
          </a:bodyPr>
          <a:lstStyle/>
          <a:p>
            <a:r>
              <a:rPr lang="ko-KR" altLang="en-US" dirty="0"/>
              <a:t>https://python.langchain.com/docs/integrations/chat/openai</a:t>
            </a:r>
          </a:p>
        </p:txBody>
      </p:sp>
      <p:sp>
        <p:nvSpPr>
          <p:cNvPr id="6" name="직사각형 5"/>
          <p:cNvSpPr/>
          <p:nvPr/>
        </p:nvSpPr>
        <p:spPr>
          <a:xfrm>
            <a:off x="5364480" y="270982"/>
            <a:ext cx="6827520" cy="646331"/>
          </a:xfrm>
          <a:prstGeom prst="rect">
            <a:avLst/>
          </a:prstGeom>
        </p:spPr>
        <p:txBody>
          <a:bodyPr wrap="square">
            <a:spAutoFit/>
          </a:bodyPr>
          <a:lstStyle/>
          <a:p>
            <a:r>
              <a:rPr lang="ko-KR" altLang="en-US" dirty="0" err="1" smtClean="0"/>
              <a:t>조코딩</a:t>
            </a:r>
            <a:r>
              <a:rPr lang="ko-KR" altLang="en-US" dirty="0" smtClean="0"/>
              <a:t> 강의</a:t>
            </a:r>
            <a:endParaRPr lang="en-US" altLang="ko-KR" dirty="0" smtClean="0"/>
          </a:p>
          <a:p>
            <a:r>
              <a:rPr lang="ko-KR" altLang="en-US" dirty="0" smtClean="0"/>
              <a:t>https</a:t>
            </a:r>
            <a:r>
              <a:rPr lang="ko-KR" altLang="en-US" dirty="0"/>
              <a:t>://jocoding.net/AI-f7cb92fbbb8e4f24a1aaed93845bbde4</a:t>
            </a:r>
          </a:p>
        </p:txBody>
      </p:sp>
      <p:sp>
        <p:nvSpPr>
          <p:cNvPr id="7" name="직사각형 6"/>
          <p:cNvSpPr/>
          <p:nvPr/>
        </p:nvSpPr>
        <p:spPr>
          <a:xfrm>
            <a:off x="946484" y="1405372"/>
            <a:ext cx="6096000" cy="4801314"/>
          </a:xfrm>
          <a:prstGeom prst="rect">
            <a:avLst/>
          </a:prstGeom>
        </p:spPr>
        <p:txBody>
          <a:bodyPr>
            <a:spAutoFit/>
          </a:bodyPr>
          <a:lstStyle/>
          <a:p>
            <a:r>
              <a:rPr lang="ko-KR" altLang="en-US" dirty="0" smtClean="0"/>
              <a:t>신용카드</a:t>
            </a:r>
            <a:endParaRPr lang="en-US" altLang="ko-KR" dirty="0" smtClean="0"/>
          </a:p>
          <a:p>
            <a:r>
              <a:rPr lang="en-US" altLang="ko-KR" dirty="0" smtClean="0">
                <a:hlinkClick r:id="rId2"/>
              </a:rPr>
              <a:t>https</a:t>
            </a:r>
            <a:r>
              <a:rPr lang="en-US" altLang="ko-KR" dirty="0">
                <a:hlinkClick r:id="rId2"/>
              </a:rPr>
              <a:t>://ko.wikipedia.org/wiki/%</a:t>
            </a:r>
            <a:r>
              <a:rPr lang="en-US" altLang="ko-KR" dirty="0" smtClean="0">
                <a:hlinkClick r:id="rId2"/>
              </a:rPr>
              <a:t>EC%8B%A0%EC%9A%A9%EC%B9%B4%EB%93%9C</a:t>
            </a:r>
            <a:endParaRPr lang="en-US" altLang="ko-KR" dirty="0" smtClean="0"/>
          </a:p>
          <a:p>
            <a:endParaRPr lang="en-US" altLang="ko-KR" dirty="0"/>
          </a:p>
          <a:p>
            <a:endParaRPr lang="en-US" altLang="ko-KR" dirty="0" smtClean="0"/>
          </a:p>
          <a:p>
            <a:endParaRPr lang="en-US" altLang="ko-KR" dirty="0"/>
          </a:p>
          <a:p>
            <a:r>
              <a:rPr lang="en-US" altLang="ko-KR" dirty="0"/>
              <a:t>5-5a  </a:t>
            </a:r>
          </a:p>
          <a:p>
            <a:r>
              <a:rPr lang="en-US" altLang="ko-KR" strike="sngStrike" dirty="0"/>
              <a:t>!pip install </a:t>
            </a:r>
            <a:r>
              <a:rPr lang="en-US" altLang="ko-KR" strike="sngStrike" dirty="0" err="1"/>
              <a:t>chromadb</a:t>
            </a:r>
            <a:r>
              <a:rPr lang="en-US" altLang="ko-KR" strike="sngStrike" dirty="0"/>
              <a:t> </a:t>
            </a:r>
            <a:r>
              <a:rPr lang="ko-KR" altLang="en-US" dirty="0"/>
              <a:t>설치 성공 후</a:t>
            </a:r>
            <a:r>
              <a:rPr lang="en-US" altLang="ko-KR" dirty="0"/>
              <a:t>~ </a:t>
            </a:r>
            <a:r>
              <a:rPr lang="en-US" altLang="ko-KR" dirty="0" smtClean="0"/>
              <a:t>(0.4.13</a:t>
            </a:r>
            <a:r>
              <a:rPr lang="ko-KR" altLang="en-US" dirty="0" smtClean="0"/>
              <a:t>설치 됨</a:t>
            </a:r>
            <a:r>
              <a:rPr lang="en-US" altLang="ko-KR" smtClean="0"/>
              <a:t>) </a:t>
            </a:r>
            <a:endParaRPr lang="en-US" altLang="ko-KR" dirty="0" smtClean="0"/>
          </a:p>
          <a:p>
            <a:r>
              <a:rPr lang="en-US" altLang="ko-KR" dirty="0"/>
              <a:t>!pip uninstall </a:t>
            </a:r>
            <a:r>
              <a:rPr lang="en-US" altLang="ko-KR" dirty="0" err="1"/>
              <a:t>chromadb</a:t>
            </a:r>
            <a:endParaRPr lang="en-US" altLang="ko-KR" dirty="0"/>
          </a:p>
          <a:p>
            <a:endParaRPr lang="en-US" altLang="ko-KR" dirty="0"/>
          </a:p>
          <a:p>
            <a:r>
              <a:rPr lang="en-US" altLang="ko-KR" dirty="0"/>
              <a:t># load it into Chroma</a:t>
            </a:r>
          </a:p>
          <a:p>
            <a:r>
              <a:rPr lang="en-US" altLang="ko-KR" dirty="0" err="1"/>
              <a:t>db</a:t>
            </a:r>
            <a:r>
              <a:rPr lang="en-US" altLang="ko-KR" dirty="0"/>
              <a:t> = </a:t>
            </a:r>
            <a:r>
              <a:rPr lang="en-US" altLang="ko-KR" dirty="0" err="1"/>
              <a:t>Chroma.from_documents</a:t>
            </a:r>
            <a:r>
              <a:rPr lang="en-US" altLang="ko-KR" dirty="0"/>
              <a:t>(texts, </a:t>
            </a:r>
            <a:r>
              <a:rPr lang="en-US" altLang="ko-KR" dirty="0" err="1"/>
              <a:t>embeddings_model</a:t>
            </a:r>
            <a:r>
              <a:rPr lang="en-US" altLang="ko-KR" dirty="0"/>
              <a:t>)</a:t>
            </a:r>
          </a:p>
          <a:p>
            <a:endParaRPr lang="en-US" altLang="ko-KR" dirty="0"/>
          </a:p>
          <a:p>
            <a:r>
              <a:rPr lang="en-US" altLang="ko-KR" dirty="0" err="1"/>
              <a:t>RuntimeError</a:t>
            </a:r>
            <a:r>
              <a:rPr lang="en-US" altLang="ko-KR" dirty="0"/>
              <a:t>: Your system has an unsupported version of sqlite3. Chroma requires sqlite3 &gt;= 3.35.0</a:t>
            </a:r>
            <a:r>
              <a:rPr lang="en-US" altLang="ko-KR" dirty="0" smtClean="0"/>
              <a:t>.</a:t>
            </a:r>
          </a:p>
          <a:p>
            <a:endParaRPr lang="en-US" altLang="ko-KR" dirty="0"/>
          </a:p>
          <a:p>
            <a:r>
              <a:rPr lang="en-US" altLang="ko-KR" dirty="0">
                <a:solidFill>
                  <a:srgbClr val="FF0000"/>
                </a:solidFill>
              </a:rPr>
              <a:t>pip install </a:t>
            </a:r>
            <a:r>
              <a:rPr lang="en-US" altLang="ko-KR" dirty="0" err="1">
                <a:solidFill>
                  <a:srgbClr val="FF0000"/>
                </a:solidFill>
              </a:rPr>
              <a:t>chromadb</a:t>
            </a:r>
            <a:r>
              <a:rPr lang="en-US" altLang="ko-KR" dirty="0">
                <a:solidFill>
                  <a:srgbClr val="FF0000"/>
                </a:solidFill>
              </a:rPr>
              <a:t>==0.3.29</a:t>
            </a:r>
            <a:endParaRPr lang="ko-KR" altLang="en-US" dirty="0">
              <a:solidFill>
                <a:srgbClr val="FF0000"/>
              </a:solidFill>
            </a:endParaRPr>
          </a:p>
        </p:txBody>
      </p:sp>
    </p:spTree>
    <p:extLst>
      <p:ext uri="{BB962C8B-B14F-4D97-AF65-F5344CB8AC3E}">
        <p14:creationId xmlns:p14="http://schemas.microsoft.com/office/powerpoint/2010/main" val="10985116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755373" y="601174"/>
            <a:ext cx="9528314" cy="923330"/>
          </a:xfrm>
          <a:prstGeom prst="rect">
            <a:avLst/>
          </a:prstGeom>
        </p:spPr>
        <p:txBody>
          <a:bodyPr wrap="square">
            <a:spAutoFit/>
          </a:bodyPr>
          <a:lstStyle/>
          <a:p>
            <a:r>
              <a:rPr lang="ko-KR" altLang="en-US" b="1" smtClean="0"/>
              <a:t>조코딩 </a:t>
            </a:r>
            <a:r>
              <a:rPr lang="en-US" altLang="ko-KR" b="1" smtClean="0"/>
              <a:t>JoCoding : </a:t>
            </a:r>
            <a:r>
              <a:rPr lang="ko-KR" altLang="en-US" b="1" smtClean="0"/>
              <a:t>랭체인으로 </a:t>
            </a:r>
            <a:r>
              <a:rPr lang="ko-KR" altLang="en-US" b="1"/>
              <a:t>수익형 </a:t>
            </a:r>
            <a:r>
              <a:rPr lang="en-US" altLang="ko-KR" b="1"/>
              <a:t>AI </a:t>
            </a:r>
            <a:r>
              <a:rPr lang="ko-KR" altLang="en-US" b="1"/>
              <a:t>웹서비스 만들기 </a:t>
            </a:r>
            <a:r>
              <a:rPr lang="en-US" altLang="ko-KR" b="1"/>
              <a:t>with ChatGPT, LLaMA 2</a:t>
            </a:r>
          </a:p>
          <a:p>
            <a:endParaRPr lang="en-US" altLang="ko-KR" smtClean="0"/>
          </a:p>
          <a:p>
            <a:r>
              <a:rPr lang="ko-KR" altLang="en-US" smtClean="0"/>
              <a:t>https</a:t>
            </a:r>
            <a:r>
              <a:rPr lang="ko-KR" altLang="en-US"/>
              <a:t>://www.youtube.com/watch?v=EWKbZFqiCsE&amp;t=2274s</a:t>
            </a:r>
          </a:p>
        </p:txBody>
      </p:sp>
      <p:pic>
        <p:nvPicPr>
          <p:cNvPr id="5" name="그림 4"/>
          <p:cNvPicPr>
            <a:picLocks noChangeAspect="1"/>
          </p:cNvPicPr>
          <p:nvPr/>
        </p:nvPicPr>
        <p:blipFill>
          <a:blip r:embed="rId2"/>
          <a:stretch>
            <a:fillRect/>
          </a:stretch>
        </p:blipFill>
        <p:spPr>
          <a:xfrm>
            <a:off x="1149004" y="1785109"/>
            <a:ext cx="5838825" cy="1724025"/>
          </a:xfrm>
          <a:prstGeom prst="rect">
            <a:avLst/>
          </a:prstGeom>
        </p:spPr>
      </p:pic>
      <p:pic>
        <p:nvPicPr>
          <p:cNvPr id="6" name="그림 5"/>
          <p:cNvPicPr>
            <a:picLocks noChangeAspect="1"/>
          </p:cNvPicPr>
          <p:nvPr/>
        </p:nvPicPr>
        <p:blipFill>
          <a:blip r:embed="rId3"/>
          <a:stretch>
            <a:fillRect/>
          </a:stretch>
        </p:blipFill>
        <p:spPr>
          <a:xfrm>
            <a:off x="7637186" y="1014854"/>
            <a:ext cx="2085975" cy="3286125"/>
          </a:xfrm>
          <a:prstGeom prst="rect">
            <a:avLst/>
          </a:prstGeom>
        </p:spPr>
      </p:pic>
      <p:pic>
        <p:nvPicPr>
          <p:cNvPr id="7" name="그림 6"/>
          <p:cNvPicPr>
            <a:picLocks noChangeAspect="1"/>
          </p:cNvPicPr>
          <p:nvPr/>
        </p:nvPicPr>
        <p:blipFill>
          <a:blip r:embed="rId4"/>
          <a:stretch>
            <a:fillRect/>
          </a:stretch>
        </p:blipFill>
        <p:spPr>
          <a:xfrm>
            <a:off x="477077" y="3769739"/>
            <a:ext cx="3932857" cy="3054006"/>
          </a:xfrm>
          <a:prstGeom prst="rect">
            <a:avLst/>
          </a:prstGeom>
        </p:spPr>
      </p:pic>
      <p:pic>
        <p:nvPicPr>
          <p:cNvPr id="8" name="그림 7"/>
          <p:cNvPicPr>
            <a:picLocks noChangeAspect="1"/>
          </p:cNvPicPr>
          <p:nvPr/>
        </p:nvPicPr>
        <p:blipFill>
          <a:blip r:embed="rId5"/>
          <a:stretch>
            <a:fillRect/>
          </a:stretch>
        </p:blipFill>
        <p:spPr>
          <a:xfrm>
            <a:off x="4757115" y="4255101"/>
            <a:ext cx="5362575" cy="2552700"/>
          </a:xfrm>
          <a:prstGeom prst="rect">
            <a:avLst/>
          </a:prstGeom>
        </p:spPr>
      </p:pic>
    </p:spTree>
    <p:extLst>
      <p:ext uri="{BB962C8B-B14F-4D97-AF65-F5344CB8AC3E}">
        <p14:creationId xmlns:p14="http://schemas.microsoft.com/office/powerpoint/2010/main" val="831470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530086" y="124095"/>
            <a:ext cx="9528314" cy="923330"/>
          </a:xfrm>
          <a:prstGeom prst="rect">
            <a:avLst/>
          </a:prstGeom>
        </p:spPr>
        <p:txBody>
          <a:bodyPr wrap="square">
            <a:spAutoFit/>
          </a:bodyPr>
          <a:lstStyle/>
          <a:p>
            <a:r>
              <a:rPr lang="ko-KR" altLang="en-US" b="1" smtClean="0"/>
              <a:t>조코딩 </a:t>
            </a:r>
            <a:r>
              <a:rPr lang="en-US" altLang="ko-KR" b="1" smtClean="0"/>
              <a:t>JoCoding : </a:t>
            </a:r>
            <a:r>
              <a:rPr lang="ko-KR" altLang="en-US" b="1" smtClean="0"/>
              <a:t>랭체인으로 </a:t>
            </a:r>
            <a:r>
              <a:rPr lang="ko-KR" altLang="en-US" b="1"/>
              <a:t>수익형 </a:t>
            </a:r>
            <a:r>
              <a:rPr lang="en-US" altLang="ko-KR" b="1"/>
              <a:t>AI </a:t>
            </a:r>
            <a:r>
              <a:rPr lang="ko-KR" altLang="en-US" b="1"/>
              <a:t>웹서비스 만들기 </a:t>
            </a:r>
            <a:r>
              <a:rPr lang="en-US" altLang="ko-KR" b="1"/>
              <a:t>with ChatGPT, LLaMA 2</a:t>
            </a:r>
          </a:p>
          <a:p>
            <a:endParaRPr lang="en-US" altLang="ko-KR" smtClean="0"/>
          </a:p>
          <a:p>
            <a:r>
              <a:rPr lang="ko-KR" altLang="en-US" smtClean="0"/>
              <a:t>https</a:t>
            </a:r>
            <a:r>
              <a:rPr lang="ko-KR" altLang="en-US"/>
              <a:t>://www.youtube.com/watch?v=EWKbZFqiCsE&amp;t=2274s</a:t>
            </a:r>
          </a:p>
        </p:txBody>
      </p:sp>
      <p:pic>
        <p:nvPicPr>
          <p:cNvPr id="5" name="그림 4"/>
          <p:cNvPicPr>
            <a:picLocks noChangeAspect="1"/>
          </p:cNvPicPr>
          <p:nvPr/>
        </p:nvPicPr>
        <p:blipFill>
          <a:blip r:embed="rId2"/>
          <a:stretch>
            <a:fillRect/>
          </a:stretch>
        </p:blipFill>
        <p:spPr>
          <a:xfrm>
            <a:off x="834887" y="1259460"/>
            <a:ext cx="7726638" cy="5080529"/>
          </a:xfrm>
          <a:prstGeom prst="rect">
            <a:avLst/>
          </a:prstGeom>
        </p:spPr>
      </p:pic>
      <p:pic>
        <p:nvPicPr>
          <p:cNvPr id="6" name="그림 5"/>
          <p:cNvPicPr>
            <a:picLocks noChangeAspect="1"/>
          </p:cNvPicPr>
          <p:nvPr/>
        </p:nvPicPr>
        <p:blipFill>
          <a:blip r:embed="rId3"/>
          <a:stretch>
            <a:fillRect/>
          </a:stretch>
        </p:blipFill>
        <p:spPr>
          <a:xfrm>
            <a:off x="8734839" y="3684933"/>
            <a:ext cx="1905000" cy="495300"/>
          </a:xfrm>
          <a:prstGeom prst="rect">
            <a:avLst/>
          </a:prstGeom>
        </p:spPr>
      </p:pic>
      <p:sp>
        <p:nvSpPr>
          <p:cNvPr id="7" name="TextBox 6"/>
          <p:cNvSpPr txBox="1"/>
          <p:nvPr/>
        </p:nvSpPr>
        <p:spPr>
          <a:xfrm>
            <a:off x="8878957" y="2544417"/>
            <a:ext cx="3608295" cy="369332"/>
          </a:xfrm>
          <a:prstGeom prst="rect">
            <a:avLst/>
          </a:prstGeom>
          <a:noFill/>
        </p:spPr>
        <p:txBody>
          <a:bodyPr wrap="none" rtlCol="0">
            <a:spAutoFit/>
          </a:bodyPr>
          <a:lstStyle/>
          <a:p>
            <a:r>
              <a:rPr lang="en-US" altLang="ko-KR" smtClean="0"/>
              <a:t>temperature : 1-2 : 2</a:t>
            </a:r>
            <a:r>
              <a:rPr lang="ko-KR" altLang="en-US" smtClean="0"/>
              <a:t>일수록 다양</a:t>
            </a:r>
            <a:endParaRPr lang="ko-KR" altLang="en-US"/>
          </a:p>
        </p:txBody>
      </p:sp>
    </p:spTree>
    <p:extLst>
      <p:ext uri="{BB962C8B-B14F-4D97-AF65-F5344CB8AC3E}">
        <p14:creationId xmlns:p14="http://schemas.microsoft.com/office/powerpoint/2010/main" val="31460041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p:cNvSpPr/>
          <p:nvPr/>
        </p:nvSpPr>
        <p:spPr>
          <a:xfrm>
            <a:off x="530086" y="124095"/>
            <a:ext cx="9528314" cy="923330"/>
          </a:xfrm>
          <a:prstGeom prst="rect">
            <a:avLst/>
          </a:prstGeom>
        </p:spPr>
        <p:txBody>
          <a:bodyPr wrap="square">
            <a:spAutoFit/>
          </a:bodyPr>
          <a:lstStyle/>
          <a:p>
            <a:r>
              <a:rPr lang="ko-KR" altLang="en-US" b="1" smtClean="0"/>
              <a:t>조코딩 </a:t>
            </a:r>
            <a:r>
              <a:rPr lang="en-US" altLang="ko-KR" b="1" smtClean="0"/>
              <a:t>JoCoding : </a:t>
            </a:r>
            <a:r>
              <a:rPr lang="ko-KR" altLang="en-US" b="1" smtClean="0"/>
              <a:t>랭체인으로 </a:t>
            </a:r>
            <a:r>
              <a:rPr lang="ko-KR" altLang="en-US" b="1"/>
              <a:t>수익형 </a:t>
            </a:r>
            <a:r>
              <a:rPr lang="en-US" altLang="ko-KR" b="1"/>
              <a:t>AI </a:t>
            </a:r>
            <a:r>
              <a:rPr lang="ko-KR" altLang="en-US" b="1"/>
              <a:t>웹서비스 만들기 </a:t>
            </a:r>
            <a:r>
              <a:rPr lang="en-US" altLang="ko-KR" b="1"/>
              <a:t>with ChatGPT, LLaMA 2</a:t>
            </a:r>
          </a:p>
          <a:p>
            <a:r>
              <a:rPr lang="en-US" altLang="ko-KR" smtClean="0"/>
              <a:t>  - </a:t>
            </a:r>
            <a:r>
              <a:rPr lang="ko-KR" altLang="en-US" smtClean="0"/>
              <a:t>로컬에 </a:t>
            </a:r>
            <a:r>
              <a:rPr lang="en-US" altLang="ko-KR" smtClean="0"/>
              <a:t>python-dotenv  </a:t>
            </a:r>
            <a:r>
              <a:rPr lang="ko-KR" altLang="en-US" smtClean="0"/>
              <a:t>설치</a:t>
            </a:r>
            <a:endParaRPr lang="en-US" altLang="ko-KR" smtClean="0"/>
          </a:p>
          <a:p>
            <a:r>
              <a:rPr lang="ko-KR" altLang="en-US" smtClean="0"/>
              <a:t>https</a:t>
            </a:r>
            <a:r>
              <a:rPr lang="ko-KR" altLang="en-US"/>
              <a:t>://www.youtube.com/watch?v=EWKbZFqiCsE&amp;t=2274s</a:t>
            </a:r>
          </a:p>
        </p:txBody>
      </p:sp>
      <p:pic>
        <p:nvPicPr>
          <p:cNvPr id="6" name="그림 5"/>
          <p:cNvPicPr>
            <a:picLocks noChangeAspect="1"/>
          </p:cNvPicPr>
          <p:nvPr/>
        </p:nvPicPr>
        <p:blipFill>
          <a:blip r:embed="rId2"/>
          <a:stretch>
            <a:fillRect/>
          </a:stretch>
        </p:blipFill>
        <p:spPr>
          <a:xfrm>
            <a:off x="1079017" y="1168262"/>
            <a:ext cx="7673227" cy="3774799"/>
          </a:xfrm>
          <a:prstGeom prst="rect">
            <a:avLst/>
          </a:prstGeom>
        </p:spPr>
      </p:pic>
      <p:sp>
        <p:nvSpPr>
          <p:cNvPr id="7" name="직사각형 6"/>
          <p:cNvSpPr/>
          <p:nvPr/>
        </p:nvSpPr>
        <p:spPr>
          <a:xfrm>
            <a:off x="742122" y="5941801"/>
            <a:ext cx="6096000" cy="646331"/>
          </a:xfrm>
          <a:prstGeom prst="rect">
            <a:avLst/>
          </a:prstGeom>
        </p:spPr>
        <p:txBody>
          <a:bodyPr>
            <a:spAutoFit/>
          </a:bodyPr>
          <a:lstStyle/>
          <a:p>
            <a:r>
              <a:rPr lang="ko-KR" altLang="en-US"/>
              <a:t>https://jocoding.net/AI-f7cb92fbbb8e4f24a1aaed93845bbde4</a:t>
            </a:r>
          </a:p>
        </p:txBody>
      </p:sp>
      <p:pic>
        <p:nvPicPr>
          <p:cNvPr id="8" name="그림 7"/>
          <p:cNvPicPr>
            <a:picLocks noChangeAspect="1"/>
          </p:cNvPicPr>
          <p:nvPr/>
        </p:nvPicPr>
        <p:blipFill>
          <a:blip r:embed="rId3"/>
          <a:stretch>
            <a:fillRect/>
          </a:stretch>
        </p:blipFill>
        <p:spPr>
          <a:xfrm>
            <a:off x="5923721" y="5063898"/>
            <a:ext cx="4900819" cy="1636267"/>
          </a:xfrm>
          <a:prstGeom prst="rect">
            <a:avLst/>
          </a:prstGeom>
        </p:spPr>
      </p:pic>
      <p:sp>
        <p:nvSpPr>
          <p:cNvPr id="9" name="TextBox 8"/>
          <p:cNvSpPr txBox="1"/>
          <p:nvPr/>
        </p:nvSpPr>
        <p:spPr>
          <a:xfrm>
            <a:off x="530086" y="5486400"/>
            <a:ext cx="4549322" cy="369332"/>
          </a:xfrm>
          <a:prstGeom prst="rect">
            <a:avLst/>
          </a:prstGeom>
          <a:noFill/>
        </p:spPr>
        <p:txBody>
          <a:bodyPr wrap="none" rtlCol="0">
            <a:spAutoFit/>
          </a:bodyPr>
          <a:lstStyle/>
          <a:p>
            <a:r>
              <a:rPr lang="en-US" altLang="ko-KR" smtClean="0"/>
              <a:t>dotenv</a:t>
            </a:r>
            <a:r>
              <a:rPr lang="ko-KR" altLang="en-US" smtClean="0"/>
              <a:t>를 쓰는 이유는 파일을 외부에 저장</a:t>
            </a:r>
            <a:endParaRPr lang="ko-KR" altLang="en-US"/>
          </a:p>
        </p:txBody>
      </p:sp>
      <p:pic>
        <p:nvPicPr>
          <p:cNvPr id="10" name="그림 9"/>
          <p:cNvPicPr>
            <a:picLocks noChangeAspect="1"/>
          </p:cNvPicPr>
          <p:nvPr/>
        </p:nvPicPr>
        <p:blipFill>
          <a:blip r:embed="rId4"/>
          <a:stretch>
            <a:fillRect/>
          </a:stretch>
        </p:blipFill>
        <p:spPr>
          <a:xfrm>
            <a:off x="7957723" y="1168262"/>
            <a:ext cx="3114675" cy="704850"/>
          </a:xfrm>
          <a:prstGeom prst="rect">
            <a:avLst/>
          </a:prstGeom>
        </p:spPr>
      </p:pic>
    </p:spTree>
    <p:extLst>
      <p:ext uri="{BB962C8B-B14F-4D97-AF65-F5344CB8AC3E}">
        <p14:creationId xmlns:p14="http://schemas.microsoft.com/office/powerpoint/2010/main" val="27010004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p:cNvSpPr/>
          <p:nvPr/>
        </p:nvSpPr>
        <p:spPr>
          <a:xfrm>
            <a:off x="530086" y="124095"/>
            <a:ext cx="9528314" cy="923330"/>
          </a:xfrm>
          <a:prstGeom prst="rect">
            <a:avLst/>
          </a:prstGeom>
        </p:spPr>
        <p:txBody>
          <a:bodyPr wrap="square">
            <a:spAutoFit/>
          </a:bodyPr>
          <a:lstStyle/>
          <a:p>
            <a:r>
              <a:rPr lang="ko-KR" altLang="en-US" b="1" smtClean="0"/>
              <a:t>조코딩 </a:t>
            </a:r>
            <a:r>
              <a:rPr lang="en-US" altLang="ko-KR" b="1" smtClean="0"/>
              <a:t>JoCoding : </a:t>
            </a:r>
            <a:r>
              <a:rPr lang="ko-KR" altLang="en-US" b="1" smtClean="0"/>
              <a:t>랭체인으로 </a:t>
            </a:r>
            <a:r>
              <a:rPr lang="ko-KR" altLang="en-US" b="1"/>
              <a:t>수익형 </a:t>
            </a:r>
            <a:r>
              <a:rPr lang="en-US" altLang="ko-KR" b="1"/>
              <a:t>AI </a:t>
            </a:r>
            <a:r>
              <a:rPr lang="ko-KR" altLang="en-US" b="1"/>
              <a:t>웹서비스 만들기 </a:t>
            </a:r>
            <a:r>
              <a:rPr lang="en-US" altLang="ko-KR" b="1"/>
              <a:t>with ChatGPT, LLaMA 2</a:t>
            </a:r>
          </a:p>
          <a:p>
            <a:r>
              <a:rPr lang="en-US" altLang="ko-KR" smtClean="0"/>
              <a:t>  - </a:t>
            </a:r>
            <a:r>
              <a:rPr lang="ko-KR" altLang="en-US" smtClean="0"/>
              <a:t>로컬에 </a:t>
            </a:r>
            <a:r>
              <a:rPr lang="en-US" altLang="ko-KR" smtClean="0"/>
              <a:t>python-dotenv  </a:t>
            </a:r>
            <a:r>
              <a:rPr lang="ko-KR" altLang="en-US" smtClean="0"/>
              <a:t>설치</a:t>
            </a:r>
            <a:endParaRPr lang="en-US" altLang="ko-KR" smtClean="0"/>
          </a:p>
          <a:p>
            <a:r>
              <a:rPr lang="ko-KR" altLang="en-US" smtClean="0"/>
              <a:t>https</a:t>
            </a:r>
            <a:r>
              <a:rPr lang="ko-KR" altLang="en-US"/>
              <a:t>://www.youtube.com/watch?v=EWKbZFqiCsE&amp;t=2274s</a:t>
            </a:r>
          </a:p>
        </p:txBody>
      </p:sp>
      <p:pic>
        <p:nvPicPr>
          <p:cNvPr id="3" name="그림 2"/>
          <p:cNvPicPr>
            <a:picLocks noChangeAspect="1"/>
          </p:cNvPicPr>
          <p:nvPr/>
        </p:nvPicPr>
        <p:blipFill>
          <a:blip r:embed="rId2"/>
          <a:stretch>
            <a:fillRect/>
          </a:stretch>
        </p:blipFill>
        <p:spPr>
          <a:xfrm>
            <a:off x="836543" y="1335157"/>
            <a:ext cx="5116582" cy="2798814"/>
          </a:xfrm>
          <a:prstGeom prst="rect">
            <a:avLst/>
          </a:prstGeom>
        </p:spPr>
      </p:pic>
      <p:pic>
        <p:nvPicPr>
          <p:cNvPr id="4" name="그림 3"/>
          <p:cNvPicPr>
            <a:picLocks noChangeAspect="1"/>
          </p:cNvPicPr>
          <p:nvPr/>
        </p:nvPicPr>
        <p:blipFill>
          <a:blip r:embed="rId3"/>
          <a:stretch>
            <a:fillRect/>
          </a:stretch>
        </p:blipFill>
        <p:spPr>
          <a:xfrm>
            <a:off x="6102626" y="2062634"/>
            <a:ext cx="2895600" cy="819150"/>
          </a:xfrm>
          <a:prstGeom prst="rect">
            <a:avLst/>
          </a:prstGeom>
        </p:spPr>
      </p:pic>
      <p:cxnSp>
        <p:nvCxnSpPr>
          <p:cNvPr id="12" name="직선 화살표 연결선 11"/>
          <p:cNvCxnSpPr/>
          <p:nvPr/>
        </p:nvCxnSpPr>
        <p:spPr>
          <a:xfrm>
            <a:off x="4400550" y="2376959"/>
            <a:ext cx="23974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3" name="그림 12"/>
          <p:cNvPicPr>
            <a:picLocks noChangeAspect="1"/>
          </p:cNvPicPr>
          <p:nvPr/>
        </p:nvPicPr>
        <p:blipFill>
          <a:blip r:embed="rId4"/>
          <a:stretch>
            <a:fillRect/>
          </a:stretch>
        </p:blipFill>
        <p:spPr>
          <a:xfrm>
            <a:off x="5618300" y="2993776"/>
            <a:ext cx="6355588" cy="3595216"/>
          </a:xfrm>
          <a:prstGeom prst="rect">
            <a:avLst/>
          </a:prstGeom>
        </p:spPr>
      </p:pic>
      <p:sp>
        <p:nvSpPr>
          <p:cNvPr id="14" name="TextBox 13"/>
          <p:cNvSpPr txBox="1"/>
          <p:nvPr/>
        </p:nvSpPr>
        <p:spPr>
          <a:xfrm>
            <a:off x="9372600" y="1047425"/>
            <a:ext cx="2191947" cy="1200329"/>
          </a:xfrm>
          <a:prstGeom prst="rect">
            <a:avLst/>
          </a:prstGeom>
          <a:noFill/>
        </p:spPr>
        <p:txBody>
          <a:bodyPr wrap="none" rtlCol="0">
            <a:spAutoFit/>
          </a:bodyPr>
          <a:lstStyle/>
          <a:p>
            <a:r>
              <a:rPr lang="en-US" altLang="ko-KR" sz="1200" smtClean="0"/>
              <a:t>llm, chat_mode </a:t>
            </a:r>
            <a:r>
              <a:rPr lang="ko-KR" altLang="en-US" sz="1200" smtClean="0"/>
              <a:t>차이</a:t>
            </a:r>
            <a:endParaRPr lang="en-US" altLang="ko-KR" sz="1200" smtClean="0"/>
          </a:p>
          <a:p>
            <a:r>
              <a:rPr lang="en-US" altLang="ko-KR" sz="1200"/>
              <a:t> </a:t>
            </a:r>
            <a:r>
              <a:rPr lang="en-US" altLang="ko-KR" sz="1200" smtClean="0"/>
              <a:t>-  play ground</a:t>
            </a:r>
          </a:p>
          <a:p>
            <a:pPr marL="171450" indent="-171450">
              <a:buFontTx/>
              <a:buChar char="-"/>
            </a:pPr>
            <a:r>
              <a:rPr lang="en-US" altLang="ko-KR" sz="1200" smtClean="0"/>
              <a:t>complete mode : llms</a:t>
            </a:r>
          </a:p>
          <a:p>
            <a:pPr marL="171450" indent="-171450">
              <a:buFontTx/>
              <a:buChar char="-"/>
            </a:pPr>
            <a:r>
              <a:rPr lang="en-US" altLang="ko-KR" sz="1200" smtClean="0"/>
              <a:t>chat mode : chat_models</a:t>
            </a:r>
          </a:p>
          <a:p>
            <a:pPr marL="171450" indent="-171450">
              <a:buFontTx/>
              <a:buChar char="-"/>
            </a:pPr>
            <a:endParaRPr lang="en-US" altLang="ko-KR" sz="1200"/>
          </a:p>
          <a:p>
            <a:pPr marL="171450" indent="-171450">
              <a:buFontTx/>
              <a:buChar char="-"/>
            </a:pPr>
            <a:r>
              <a:rPr lang="en-US" altLang="ko-KR" sz="1200" smtClean="0"/>
              <a:t>complte mode : </a:t>
            </a:r>
            <a:r>
              <a:rPr lang="ko-KR" altLang="en-US" sz="1200" smtClean="0"/>
              <a:t>자동완성 </a:t>
            </a:r>
            <a:endParaRPr lang="ko-KR" altLang="en-US" sz="1200"/>
          </a:p>
        </p:txBody>
      </p:sp>
      <p:pic>
        <p:nvPicPr>
          <p:cNvPr id="15" name="그림 14"/>
          <p:cNvPicPr>
            <a:picLocks noChangeAspect="1"/>
          </p:cNvPicPr>
          <p:nvPr/>
        </p:nvPicPr>
        <p:blipFill>
          <a:blip r:embed="rId5"/>
          <a:stretch>
            <a:fillRect/>
          </a:stretch>
        </p:blipFill>
        <p:spPr>
          <a:xfrm>
            <a:off x="7552578" y="510896"/>
            <a:ext cx="1595149" cy="1563246"/>
          </a:xfrm>
          <a:prstGeom prst="rect">
            <a:avLst/>
          </a:prstGeom>
        </p:spPr>
      </p:pic>
      <p:cxnSp>
        <p:nvCxnSpPr>
          <p:cNvPr id="17" name="직선 화살표 연결선 16"/>
          <p:cNvCxnSpPr/>
          <p:nvPr/>
        </p:nvCxnSpPr>
        <p:spPr>
          <a:xfrm flipH="1">
            <a:off x="5000625" y="1143000"/>
            <a:ext cx="2762250" cy="2047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직선 화살표 연결선 18"/>
          <p:cNvCxnSpPr/>
          <p:nvPr/>
        </p:nvCxnSpPr>
        <p:spPr>
          <a:xfrm flipH="1">
            <a:off x="4524375" y="1462923"/>
            <a:ext cx="3205163" cy="7278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 name="그림 19"/>
          <p:cNvPicPr>
            <a:picLocks noChangeAspect="1"/>
          </p:cNvPicPr>
          <p:nvPr/>
        </p:nvPicPr>
        <p:blipFill>
          <a:blip r:embed="rId6"/>
          <a:stretch>
            <a:fillRect/>
          </a:stretch>
        </p:blipFill>
        <p:spPr>
          <a:xfrm>
            <a:off x="245924" y="4946623"/>
            <a:ext cx="5233988" cy="554788"/>
          </a:xfrm>
          <a:prstGeom prst="rect">
            <a:avLst/>
          </a:prstGeom>
        </p:spPr>
      </p:pic>
      <p:sp>
        <p:nvSpPr>
          <p:cNvPr id="21" name="직사각형 20"/>
          <p:cNvSpPr/>
          <p:nvPr/>
        </p:nvSpPr>
        <p:spPr>
          <a:xfrm>
            <a:off x="117596" y="4284239"/>
            <a:ext cx="4691028" cy="553998"/>
          </a:xfrm>
          <a:prstGeom prst="rect">
            <a:avLst/>
          </a:prstGeom>
        </p:spPr>
        <p:txBody>
          <a:bodyPr wrap="none">
            <a:spAutoFit/>
          </a:bodyPr>
          <a:lstStyle/>
          <a:p>
            <a:pPr marL="171450" indent="-171450">
              <a:buFontTx/>
              <a:buChar char="-"/>
            </a:pPr>
            <a:r>
              <a:rPr lang="en-US" altLang="ko-KR" sz="1200"/>
              <a:t>complte mode : </a:t>
            </a:r>
            <a:r>
              <a:rPr lang="ko-KR" altLang="en-US" sz="1200" smtClean="0"/>
              <a:t>자동완성 모드로 실행 </a:t>
            </a:r>
            <a:r>
              <a:rPr lang="en-US" altLang="ko-KR" sz="1200" smtClean="0"/>
              <a:t>: </a:t>
            </a:r>
            <a:r>
              <a:rPr lang="ko-KR" altLang="en-US" sz="1200" smtClean="0"/>
              <a:t>일반적인 </a:t>
            </a:r>
            <a:r>
              <a:rPr lang="en-US" altLang="ko-KR" sz="1200" smtClean="0"/>
              <a:t>openAI </a:t>
            </a:r>
            <a:r>
              <a:rPr lang="ko-KR" altLang="en-US" sz="1200" smtClean="0"/>
              <a:t>모드</a:t>
            </a:r>
            <a:endParaRPr lang="en-US" altLang="ko-KR" sz="1200" smtClean="0"/>
          </a:p>
          <a:p>
            <a:pPr marL="171450" indent="-171450">
              <a:buFontTx/>
              <a:buChar char="-"/>
            </a:pPr>
            <a:r>
              <a:rPr lang="ko-KR" altLang="en-US" sz="1200" smtClean="0"/>
              <a:t>내가 좋아하는 동물은</a:t>
            </a:r>
            <a:r>
              <a:rPr lang="en-US" altLang="ko-KR" sz="1200" smtClean="0"/>
              <a:t>?</a:t>
            </a:r>
            <a:r>
              <a:rPr lang="ko-KR" altLang="en-US" smtClean="0"/>
              <a:t> </a:t>
            </a:r>
            <a:endParaRPr lang="ko-KR" altLang="en-US"/>
          </a:p>
        </p:txBody>
      </p:sp>
      <p:sp>
        <p:nvSpPr>
          <p:cNvPr id="22" name="직사각형 21"/>
          <p:cNvSpPr/>
          <p:nvPr/>
        </p:nvSpPr>
        <p:spPr>
          <a:xfrm>
            <a:off x="117596" y="5678815"/>
            <a:ext cx="1625766" cy="738664"/>
          </a:xfrm>
          <a:prstGeom prst="rect">
            <a:avLst/>
          </a:prstGeom>
        </p:spPr>
        <p:txBody>
          <a:bodyPr wrap="none">
            <a:spAutoFit/>
          </a:bodyPr>
          <a:lstStyle/>
          <a:p>
            <a:pPr marL="171450" indent="-171450">
              <a:buFontTx/>
              <a:buChar char="-"/>
            </a:pPr>
            <a:r>
              <a:rPr lang="en-US" altLang="ko-KR" sz="1200" smtClean="0"/>
              <a:t>chat mode</a:t>
            </a:r>
            <a:r>
              <a:rPr lang="ko-KR" altLang="en-US" sz="1200" smtClean="0"/>
              <a:t>로 수행</a:t>
            </a:r>
            <a:endParaRPr lang="en-US" altLang="ko-KR" sz="1200" smtClean="0"/>
          </a:p>
          <a:p>
            <a:r>
              <a:rPr lang="en-US" altLang="ko-KR" sz="1200" smtClean="0"/>
              <a:t>    . human : hi</a:t>
            </a:r>
          </a:p>
          <a:p>
            <a:pPr marL="171450" indent="-171450">
              <a:buFontTx/>
              <a:buChar char="-"/>
            </a:pPr>
            <a:endParaRPr lang="ko-KR" altLang="en-US"/>
          </a:p>
        </p:txBody>
      </p:sp>
      <p:pic>
        <p:nvPicPr>
          <p:cNvPr id="23" name="그림 22"/>
          <p:cNvPicPr>
            <a:picLocks noChangeAspect="1"/>
          </p:cNvPicPr>
          <p:nvPr/>
        </p:nvPicPr>
        <p:blipFill>
          <a:blip r:embed="rId7"/>
          <a:stretch>
            <a:fillRect/>
          </a:stretch>
        </p:blipFill>
        <p:spPr>
          <a:xfrm>
            <a:off x="422014" y="6154990"/>
            <a:ext cx="3209925" cy="381000"/>
          </a:xfrm>
          <a:prstGeom prst="rect">
            <a:avLst/>
          </a:prstGeom>
        </p:spPr>
      </p:pic>
      <p:pic>
        <p:nvPicPr>
          <p:cNvPr id="24" name="그림 23"/>
          <p:cNvPicPr>
            <a:picLocks noChangeAspect="1"/>
          </p:cNvPicPr>
          <p:nvPr/>
        </p:nvPicPr>
        <p:blipFill>
          <a:blip r:embed="rId8"/>
          <a:stretch>
            <a:fillRect/>
          </a:stretch>
        </p:blipFill>
        <p:spPr>
          <a:xfrm>
            <a:off x="2417349" y="4512169"/>
            <a:ext cx="2924175" cy="552450"/>
          </a:xfrm>
          <a:prstGeom prst="rect">
            <a:avLst/>
          </a:prstGeom>
        </p:spPr>
      </p:pic>
    </p:spTree>
    <p:extLst>
      <p:ext uri="{BB962C8B-B14F-4D97-AF65-F5344CB8AC3E}">
        <p14:creationId xmlns:p14="http://schemas.microsoft.com/office/powerpoint/2010/main" val="34780189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p:cNvPicPr>
            <a:picLocks noChangeAspect="1"/>
          </p:cNvPicPr>
          <p:nvPr/>
        </p:nvPicPr>
        <p:blipFill>
          <a:blip r:embed="rId2"/>
          <a:stretch>
            <a:fillRect/>
          </a:stretch>
        </p:blipFill>
        <p:spPr>
          <a:xfrm>
            <a:off x="1142293" y="1085850"/>
            <a:ext cx="8373181" cy="5772150"/>
          </a:xfrm>
          <a:prstGeom prst="rect">
            <a:avLst/>
          </a:prstGeom>
        </p:spPr>
      </p:pic>
      <p:pic>
        <p:nvPicPr>
          <p:cNvPr id="5" name="그림 4"/>
          <p:cNvPicPr>
            <a:picLocks noChangeAspect="1"/>
          </p:cNvPicPr>
          <p:nvPr/>
        </p:nvPicPr>
        <p:blipFill>
          <a:blip r:embed="rId3"/>
          <a:stretch>
            <a:fillRect/>
          </a:stretch>
        </p:blipFill>
        <p:spPr>
          <a:xfrm>
            <a:off x="438150" y="3138162"/>
            <a:ext cx="1581150" cy="314325"/>
          </a:xfrm>
          <a:prstGeom prst="rect">
            <a:avLst/>
          </a:prstGeom>
        </p:spPr>
      </p:pic>
      <p:sp>
        <p:nvSpPr>
          <p:cNvPr id="6" name="TextBox 5"/>
          <p:cNvSpPr txBox="1"/>
          <p:nvPr/>
        </p:nvSpPr>
        <p:spPr>
          <a:xfrm>
            <a:off x="561975" y="1085850"/>
            <a:ext cx="360996" cy="369332"/>
          </a:xfrm>
          <a:prstGeom prst="rect">
            <a:avLst/>
          </a:prstGeom>
          <a:noFill/>
        </p:spPr>
        <p:txBody>
          <a:bodyPr wrap="none" rtlCol="0">
            <a:spAutoFit/>
          </a:bodyPr>
          <a:lstStyle/>
          <a:p>
            <a:r>
              <a:rPr lang="en-US" altLang="ko-KR" smtClean="0"/>
              <a:t>- </a:t>
            </a:r>
            <a:endParaRPr lang="ko-KR" altLang="en-US"/>
          </a:p>
        </p:txBody>
      </p:sp>
      <p:sp>
        <p:nvSpPr>
          <p:cNvPr id="7" name="직사각형 6"/>
          <p:cNvSpPr/>
          <p:nvPr/>
        </p:nvSpPr>
        <p:spPr>
          <a:xfrm>
            <a:off x="530086" y="124095"/>
            <a:ext cx="9528314" cy="923330"/>
          </a:xfrm>
          <a:prstGeom prst="rect">
            <a:avLst/>
          </a:prstGeom>
        </p:spPr>
        <p:txBody>
          <a:bodyPr wrap="square">
            <a:spAutoFit/>
          </a:bodyPr>
          <a:lstStyle/>
          <a:p>
            <a:r>
              <a:rPr lang="ko-KR" altLang="en-US" b="1" smtClean="0"/>
              <a:t>조코딩 </a:t>
            </a:r>
            <a:r>
              <a:rPr lang="en-US" altLang="ko-KR" b="1" smtClean="0"/>
              <a:t>JoCoding : </a:t>
            </a:r>
            <a:r>
              <a:rPr lang="ko-KR" altLang="en-US" b="1" smtClean="0"/>
              <a:t>랭체인으로 </a:t>
            </a:r>
            <a:r>
              <a:rPr lang="ko-KR" altLang="en-US" b="1"/>
              <a:t>수익형 </a:t>
            </a:r>
            <a:r>
              <a:rPr lang="en-US" altLang="ko-KR" b="1"/>
              <a:t>AI </a:t>
            </a:r>
            <a:r>
              <a:rPr lang="ko-KR" altLang="en-US" b="1"/>
              <a:t>웹서비스 만들기 </a:t>
            </a:r>
            <a:r>
              <a:rPr lang="en-US" altLang="ko-KR" b="1"/>
              <a:t>with ChatGPT, LLaMA 2</a:t>
            </a:r>
          </a:p>
          <a:p>
            <a:r>
              <a:rPr lang="en-US" altLang="ko-KR" smtClean="0"/>
              <a:t>  - </a:t>
            </a:r>
            <a:r>
              <a:rPr lang="ko-KR" altLang="en-US" smtClean="0"/>
              <a:t>로컬에 </a:t>
            </a:r>
            <a:r>
              <a:rPr lang="en-US" altLang="ko-KR" smtClean="0"/>
              <a:t>python-dotenv  </a:t>
            </a:r>
            <a:r>
              <a:rPr lang="ko-KR" altLang="en-US" smtClean="0"/>
              <a:t>설치</a:t>
            </a:r>
            <a:endParaRPr lang="en-US" altLang="ko-KR" smtClean="0"/>
          </a:p>
          <a:p>
            <a:r>
              <a:rPr lang="ko-KR" altLang="en-US" smtClean="0"/>
              <a:t>https</a:t>
            </a:r>
            <a:r>
              <a:rPr lang="ko-KR" altLang="en-US"/>
              <a:t>://www.youtube.com/watch?v=EWKbZFqiCsE&amp;t=2274s</a:t>
            </a:r>
          </a:p>
        </p:txBody>
      </p:sp>
    </p:spTree>
    <p:extLst>
      <p:ext uri="{BB962C8B-B14F-4D97-AF65-F5344CB8AC3E}">
        <p14:creationId xmlns:p14="http://schemas.microsoft.com/office/powerpoint/2010/main" val="41184629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p:cNvPicPr>
            <a:picLocks noChangeAspect="1"/>
          </p:cNvPicPr>
          <p:nvPr/>
        </p:nvPicPr>
        <p:blipFill>
          <a:blip r:embed="rId2"/>
          <a:stretch>
            <a:fillRect/>
          </a:stretch>
        </p:blipFill>
        <p:spPr>
          <a:xfrm>
            <a:off x="814387" y="1204912"/>
            <a:ext cx="4943475" cy="2324100"/>
          </a:xfrm>
          <a:prstGeom prst="rect">
            <a:avLst/>
          </a:prstGeom>
        </p:spPr>
      </p:pic>
      <p:pic>
        <p:nvPicPr>
          <p:cNvPr id="6" name="그림 5"/>
          <p:cNvPicPr>
            <a:picLocks noChangeAspect="1"/>
          </p:cNvPicPr>
          <p:nvPr/>
        </p:nvPicPr>
        <p:blipFill>
          <a:blip r:embed="rId3"/>
          <a:stretch>
            <a:fillRect/>
          </a:stretch>
        </p:blipFill>
        <p:spPr>
          <a:xfrm>
            <a:off x="6281737" y="1233486"/>
            <a:ext cx="4714875" cy="1343025"/>
          </a:xfrm>
          <a:prstGeom prst="rect">
            <a:avLst/>
          </a:prstGeom>
        </p:spPr>
      </p:pic>
      <p:pic>
        <p:nvPicPr>
          <p:cNvPr id="7" name="그림 6"/>
          <p:cNvPicPr>
            <a:picLocks noChangeAspect="1"/>
          </p:cNvPicPr>
          <p:nvPr/>
        </p:nvPicPr>
        <p:blipFill>
          <a:blip r:embed="rId4"/>
          <a:stretch>
            <a:fillRect/>
          </a:stretch>
        </p:blipFill>
        <p:spPr>
          <a:xfrm>
            <a:off x="5665361" y="2652712"/>
            <a:ext cx="4797851" cy="4205288"/>
          </a:xfrm>
          <a:prstGeom prst="rect">
            <a:avLst/>
          </a:prstGeom>
        </p:spPr>
      </p:pic>
      <p:sp>
        <p:nvSpPr>
          <p:cNvPr id="8" name="직사각형 7"/>
          <p:cNvSpPr/>
          <p:nvPr/>
        </p:nvSpPr>
        <p:spPr>
          <a:xfrm>
            <a:off x="530086" y="124095"/>
            <a:ext cx="9528314" cy="923330"/>
          </a:xfrm>
          <a:prstGeom prst="rect">
            <a:avLst/>
          </a:prstGeom>
        </p:spPr>
        <p:txBody>
          <a:bodyPr wrap="square">
            <a:spAutoFit/>
          </a:bodyPr>
          <a:lstStyle/>
          <a:p>
            <a:r>
              <a:rPr lang="ko-KR" altLang="en-US" b="1" smtClean="0"/>
              <a:t>조코딩 </a:t>
            </a:r>
            <a:r>
              <a:rPr lang="en-US" altLang="ko-KR" b="1" smtClean="0"/>
              <a:t>JoCoding : </a:t>
            </a:r>
            <a:r>
              <a:rPr lang="ko-KR" altLang="en-US" b="1" smtClean="0"/>
              <a:t>랭체인으로 </a:t>
            </a:r>
            <a:r>
              <a:rPr lang="ko-KR" altLang="en-US" b="1"/>
              <a:t>수익형 </a:t>
            </a:r>
            <a:r>
              <a:rPr lang="en-US" altLang="ko-KR" b="1"/>
              <a:t>AI </a:t>
            </a:r>
            <a:r>
              <a:rPr lang="ko-KR" altLang="en-US" b="1"/>
              <a:t>웹서비스 만들기 </a:t>
            </a:r>
            <a:r>
              <a:rPr lang="en-US" altLang="ko-KR" b="1"/>
              <a:t>with ChatGPT, LLaMA 2</a:t>
            </a:r>
          </a:p>
          <a:p>
            <a:r>
              <a:rPr lang="en-US" altLang="ko-KR" smtClean="0"/>
              <a:t>  - </a:t>
            </a:r>
            <a:r>
              <a:rPr lang="ko-KR" altLang="en-US" smtClean="0"/>
              <a:t>로컬에 </a:t>
            </a:r>
            <a:r>
              <a:rPr lang="en-US" altLang="ko-KR" smtClean="0"/>
              <a:t>python-dotenv  </a:t>
            </a:r>
            <a:r>
              <a:rPr lang="ko-KR" altLang="en-US" smtClean="0"/>
              <a:t>설치</a:t>
            </a:r>
            <a:endParaRPr lang="en-US" altLang="ko-KR" smtClean="0"/>
          </a:p>
          <a:p>
            <a:r>
              <a:rPr lang="ko-KR" altLang="en-US" smtClean="0"/>
              <a:t>https</a:t>
            </a:r>
            <a:r>
              <a:rPr lang="ko-KR" altLang="en-US"/>
              <a:t>://www.youtube.com/watch?v=EWKbZFqiCsE&amp;t=2274s</a:t>
            </a:r>
          </a:p>
        </p:txBody>
      </p:sp>
    </p:spTree>
    <p:extLst>
      <p:ext uri="{BB962C8B-B14F-4D97-AF65-F5344CB8AC3E}">
        <p14:creationId xmlns:p14="http://schemas.microsoft.com/office/powerpoint/2010/main" val="10510122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530086" y="124095"/>
            <a:ext cx="9528314" cy="923330"/>
          </a:xfrm>
          <a:prstGeom prst="rect">
            <a:avLst/>
          </a:prstGeom>
        </p:spPr>
        <p:txBody>
          <a:bodyPr wrap="square">
            <a:spAutoFit/>
          </a:bodyPr>
          <a:lstStyle/>
          <a:p>
            <a:r>
              <a:rPr lang="ko-KR" altLang="en-US" b="1" smtClean="0"/>
              <a:t>조코딩 </a:t>
            </a:r>
            <a:r>
              <a:rPr lang="en-US" altLang="ko-KR" b="1" smtClean="0"/>
              <a:t>JoCoding : </a:t>
            </a:r>
            <a:r>
              <a:rPr lang="ko-KR" altLang="en-US" b="1" smtClean="0"/>
              <a:t>랭체인으로 </a:t>
            </a:r>
            <a:r>
              <a:rPr lang="ko-KR" altLang="en-US" b="1"/>
              <a:t>수익형 </a:t>
            </a:r>
            <a:r>
              <a:rPr lang="en-US" altLang="ko-KR" b="1"/>
              <a:t>AI </a:t>
            </a:r>
            <a:r>
              <a:rPr lang="ko-KR" altLang="en-US" b="1"/>
              <a:t>웹서비스 만들기 </a:t>
            </a:r>
            <a:r>
              <a:rPr lang="en-US" altLang="ko-KR" b="1"/>
              <a:t>with ChatGPT, LLaMA 2</a:t>
            </a:r>
          </a:p>
          <a:p>
            <a:r>
              <a:rPr lang="en-US" altLang="ko-KR" smtClean="0"/>
              <a:t>  - </a:t>
            </a:r>
            <a:r>
              <a:rPr lang="ko-KR" altLang="en-US" smtClean="0"/>
              <a:t>로컬에 </a:t>
            </a:r>
            <a:r>
              <a:rPr lang="en-US" altLang="ko-KR" smtClean="0"/>
              <a:t>python-dotenv  </a:t>
            </a:r>
            <a:r>
              <a:rPr lang="ko-KR" altLang="en-US" smtClean="0"/>
              <a:t>설치</a:t>
            </a:r>
            <a:endParaRPr lang="en-US" altLang="ko-KR" smtClean="0"/>
          </a:p>
          <a:p>
            <a:r>
              <a:rPr lang="ko-KR" altLang="en-US" smtClean="0"/>
              <a:t>https</a:t>
            </a:r>
            <a:r>
              <a:rPr lang="ko-KR" altLang="en-US"/>
              <a:t>://www.youtube.com/watch?v=EWKbZFqiCsE&amp;t=2274s</a:t>
            </a:r>
          </a:p>
        </p:txBody>
      </p:sp>
      <p:pic>
        <p:nvPicPr>
          <p:cNvPr id="5" name="그림 4"/>
          <p:cNvPicPr>
            <a:picLocks noChangeAspect="1"/>
          </p:cNvPicPr>
          <p:nvPr/>
        </p:nvPicPr>
        <p:blipFill>
          <a:blip r:embed="rId2"/>
          <a:stretch>
            <a:fillRect/>
          </a:stretch>
        </p:blipFill>
        <p:spPr>
          <a:xfrm>
            <a:off x="666750" y="1132119"/>
            <a:ext cx="4705350" cy="1987318"/>
          </a:xfrm>
          <a:prstGeom prst="rect">
            <a:avLst/>
          </a:prstGeom>
        </p:spPr>
      </p:pic>
      <p:pic>
        <p:nvPicPr>
          <p:cNvPr id="6" name="그림 5"/>
          <p:cNvPicPr>
            <a:picLocks noChangeAspect="1"/>
          </p:cNvPicPr>
          <p:nvPr/>
        </p:nvPicPr>
        <p:blipFill>
          <a:blip r:embed="rId3"/>
          <a:stretch>
            <a:fillRect/>
          </a:stretch>
        </p:blipFill>
        <p:spPr>
          <a:xfrm>
            <a:off x="323849" y="3463488"/>
            <a:ext cx="7370693" cy="2918261"/>
          </a:xfrm>
          <a:prstGeom prst="rect">
            <a:avLst/>
          </a:prstGeom>
        </p:spPr>
      </p:pic>
      <p:pic>
        <p:nvPicPr>
          <p:cNvPr id="7" name="그림 6"/>
          <p:cNvPicPr>
            <a:picLocks noChangeAspect="1"/>
          </p:cNvPicPr>
          <p:nvPr/>
        </p:nvPicPr>
        <p:blipFill>
          <a:blip r:embed="rId4"/>
          <a:stretch>
            <a:fillRect/>
          </a:stretch>
        </p:blipFill>
        <p:spPr>
          <a:xfrm>
            <a:off x="7863384" y="3933825"/>
            <a:ext cx="4218581" cy="2187138"/>
          </a:xfrm>
          <a:prstGeom prst="rect">
            <a:avLst/>
          </a:prstGeom>
        </p:spPr>
      </p:pic>
      <p:pic>
        <p:nvPicPr>
          <p:cNvPr id="8" name="그림 7"/>
          <p:cNvPicPr>
            <a:picLocks noChangeAspect="1"/>
          </p:cNvPicPr>
          <p:nvPr/>
        </p:nvPicPr>
        <p:blipFill>
          <a:blip r:embed="rId5"/>
          <a:stretch>
            <a:fillRect/>
          </a:stretch>
        </p:blipFill>
        <p:spPr>
          <a:xfrm>
            <a:off x="8747957" y="1387315"/>
            <a:ext cx="3268585" cy="1715075"/>
          </a:xfrm>
          <a:prstGeom prst="rect">
            <a:avLst/>
          </a:prstGeom>
        </p:spPr>
      </p:pic>
      <p:pic>
        <p:nvPicPr>
          <p:cNvPr id="9" name="그림 8"/>
          <p:cNvPicPr>
            <a:picLocks noChangeAspect="1"/>
          </p:cNvPicPr>
          <p:nvPr/>
        </p:nvPicPr>
        <p:blipFill>
          <a:blip r:embed="rId6"/>
          <a:stretch>
            <a:fillRect/>
          </a:stretch>
        </p:blipFill>
        <p:spPr>
          <a:xfrm>
            <a:off x="5898711" y="1219020"/>
            <a:ext cx="2254301" cy="2051667"/>
          </a:xfrm>
          <a:prstGeom prst="rect">
            <a:avLst/>
          </a:prstGeom>
        </p:spPr>
      </p:pic>
      <p:cxnSp>
        <p:nvCxnSpPr>
          <p:cNvPr id="11" name="직선 화살표 연결선 10"/>
          <p:cNvCxnSpPr>
            <a:stCxn id="5" idx="2"/>
          </p:cNvCxnSpPr>
          <p:nvPr/>
        </p:nvCxnSpPr>
        <p:spPr>
          <a:xfrm flipH="1">
            <a:off x="2428875" y="3119437"/>
            <a:ext cx="590550" cy="814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직선 화살표 연결선 12"/>
          <p:cNvCxnSpPr/>
          <p:nvPr/>
        </p:nvCxnSpPr>
        <p:spPr>
          <a:xfrm>
            <a:off x="6750963" y="5457826"/>
            <a:ext cx="1326237" cy="19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직선 화살표 연결선 14"/>
          <p:cNvCxnSpPr/>
          <p:nvPr/>
        </p:nvCxnSpPr>
        <p:spPr>
          <a:xfrm flipV="1">
            <a:off x="10382250" y="3491422"/>
            <a:ext cx="66675" cy="985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직선 화살표 연결선 15"/>
          <p:cNvCxnSpPr>
            <a:stCxn id="8" idx="1"/>
            <a:endCxn id="9" idx="3"/>
          </p:cNvCxnSpPr>
          <p:nvPr/>
        </p:nvCxnSpPr>
        <p:spPr>
          <a:xfrm flipH="1">
            <a:off x="8153012" y="2244853"/>
            <a:ext cx="59494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95819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530086" y="124095"/>
            <a:ext cx="9528314" cy="923330"/>
          </a:xfrm>
          <a:prstGeom prst="rect">
            <a:avLst/>
          </a:prstGeom>
        </p:spPr>
        <p:txBody>
          <a:bodyPr wrap="square">
            <a:spAutoFit/>
          </a:bodyPr>
          <a:lstStyle/>
          <a:p>
            <a:r>
              <a:rPr lang="ko-KR" altLang="en-US" b="1" smtClean="0"/>
              <a:t>조코딩 </a:t>
            </a:r>
            <a:r>
              <a:rPr lang="en-US" altLang="ko-KR" b="1" smtClean="0"/>
              <a:t>JoCoding : </a:t>
            </a:r>
            <a:r>
              <a:rPr lang="ko-KR" altLang="en-US" b="1" smtClean="0"/>
              <a:t>랭체인으로 </a:t>
            </a:r>
            <a:r>
              <a:rPr lang="ko-KR" altLang="en-US" b="1"/>
              <a:t>수익형 </a:t>
            </a:r>
            <a:r>
              <a:rPr lang="en-US" altLang="ko-KR" b="1"/>
              <a:t>AI </a:t>
            </a:r>
            <a:r>
              <a:rPr lang="ko-KR" altLang="en-US" b="1"/>
              <a:t>웹서비스 만들기 </a:t>
            </a:r>
            <a:r>
              <a:rPr lang="en-US" altLang="ko-KR" b="1"/>
              <a:t>with ChatGPT, LLaMA 2</a:t>
            </a:r>
          </a:p>
          <a:p>
            <a:r>
              <a:rPr lang="en-US" altLang="ko-KR" smtClean="0"/>
              <a:t>  - </a:t>
            </a:r>
            <a:r>
              <a:rPr lang="ko-KR" altLang="en-US" smtClean="0"/>
              <a:t>로컬에 </a:t>
            </a:r>
            <a:r>
              <a:rPr lang="en-US" altLang="ko-KR" smtClean="0"/>
              <a:t>python-dotenv  </a:t>
            </a:r>
            <a:r>
              <a:rPr lang="ko-KR" altLang="en-US" smtClean="0"/>
              <a:t>설치</a:t>
            </a:r>
            <a:endParaRPr lang="en-US" altLang="ko-KR" smtClean="0"/>
          </a:p>
          <a:p>
            <a:r>
              <a:rPr lang="ko-KR" altLang="en-US" smtClean="0"/>
              <a:t>https</a:t>
            </a:r>
            <a:r>
              <a:rPr lang="ko-KR" altLang="en-US"/>
              <a:t>://www.youtube.com/watch?v=EWKbZFqiCsE&amp;t=2274s</a:t>
            </a:r>
          </a:p>
        </p:txBody>
      </p:sp>
      <p:pic>
        <p:nvPicPr>
          <p:cNvPr id="2" name="그림 1"/>
          <p:cNvPicPr>
            <a:picLocks noChangeAspect="1"/>
          </p:cNvPicPr>
          <p:nvPr/>
        </p:nvPicPr>
        <p:blipFill>
          <a:blip r:embed="rId2"/>
          <a:stretch>
            <a:fillRect/>
          </a:stretch>
        </p:blipFill>
        <p:spPr>
          <a:xfrm>
            <a:off x="7152415" y="1650205"/>
            <a:ext cx="4558571" cy="2928937"/>
          </a:xfrm>
          <a:prstGeom prst="rect">
            <a:avLst/>
          </a:prstGeom>
        </p:spPr>
      </p:pic>
      <p:sp>
        <p:nvSpPr>
          <p:cNvPr id="10" name="TextBox 9"/>
          <p:cNvSpPr txBox="1"/>
          <p:nvPr/>
        </p:nvSpPr>
        <p:spPr>
          <a:xfrm>
            <a:off x="530086" y="1609725"/>
            <a:ext cx="1827744" cy="369332"/>
          </a:xfrm>
          <a:prstGeom prst="rect">
            <a:avLst/>
          </a:prstGeom>
          <a:noFill/>
        </p:spPr>
        <p:txBody>
          <a:bodyPr wrap="none" rtlCol="0">
            <a:spAutoFit/>
          </a:bodyPr>
          <a:lstStyle/>
          <a:p>
            <a:r>
              <a:rPr lang="en-US" altLang="ko-KR" smtClean="0"/>
              <a:t>- </a:t>
            </a:r>
            <a:r>
              <a:rPr lang="ko-KR" altLang="en-US" smtClean="0"/>
              <a:t>서비스 내릴때</a:t>
            </a:r>
            <a:endParaRPr lang="ko-KR" altLang="en-US"/>
          </a:p>
        </p:txBody>
      </p:sp>
      <p:pic>
        <p:nvPicPr>
          <p:cNvPr id="12" name="그림 11"/>
          <p:cNvPicPr>
            <a:picLocks noChangeAspect="1"/>
          </p:cNvPicPr>
          <p:nvPr/>
        </p:nvPicPr>
        <p:blipFill>
          <a:blip r:embed="rId3"/>
          <a:stretch>
            <a:fillRect/>
          </a:stretch>
        </p:blipFill>
        <p:spPr>
          <a:xfrm>
            <a:off x="5640948" y="2195510"/>
            <a:ext cx="1352550" cy="1838325"/>
          </a:xfrm>
          <a:prstGeom prst="rect">
            <a:avLst/>
          </a:prstGeom>
        </p:spPr>
      </p:pic>
      <p:sp>
        <p:nvSpPr>
          <p:cNvPr id="17" name="TextBox 16"/>
          <p:cNvSpPr txBox="1"/>
          <p:nvPr/>
        </p:nvSpPr>
        <p:spPr>
          <a:xfrm>
            <a:off x="6530836" y="1211774"/>
            <a:ext cx="4554452" cy="369332"/>
          </a:xfrm>
          <a:prstGeom prst="rect">
            <a:avLst/>
          </a:prstGeom>
          <a:noFill/>
        </p:spPr>
        <p:txBody>
          <a:bodyPr wrap="none" rtlCol="0">
            <a:spAutoFit/>
          </a:bodyPr>
          <a:lstStyle/>
          <a:p>
            <a:r>
              <a:rPr lang="en-US" altLang="ko-KR" smtClean="0"/>
              <a:t>- </a:t>
            </a:r>
            <a:r>
              <a:rPr lang="ko-KR" altLang="en-US" smtClean="0"/>
              <a:t>일반인에게 공개할때 </a:t>
            </a:r>
            <a:r>
              <a:rPr lang="en-US" altLang="ko-KR" smtClean="0"/>
              <a:t>/ </a:t>
            </a:r>
            <a:r>
              <a:rPr lang="ko-KR" altLang="en-US" smtClean="0"/>
              <a:t>검색도 가능하게 </a:t>
            </a:r>
            <a:endParaRPr lang="ko-KR" altLang="en-US"/>
          </a:p>
        </p:txBody>
      </p:sp>
      <p:pic>
        <p:nvPicPr>
          <p:cNvPr id="14" name="그림 13"/>
          <p:cNvPicPr>
            <a:picLocks noChangeAspect="1"/>
          </p:cNvPicPr>
          <p:nvPr/>
        </p:nvPicPr>
        <p:blipFill>
          <a:blip r:embed="rId4"/>
          <a:stretch>
            <a:fillRect/>
          </a:stretch>
        </p:blipFill>
        <p:spPr>
          <a:xfrm>
            <a:off x="185737" y="2169319"/>
            <a:ext cx="5665309" cy="2409823"/>
          </a:xfrm>
          <a:prstGeom prst="rect">
            <a:avLst/>
          </a:prstGeom>
        </p:spPr>
      </p:pic>
    </p:spTree>
    <p:extLst>
      <p:ext uri="{BB962C8B-B14F-4D97-AF65-F5344CB8AC3E}">
        <p14:creationId xmlns:p14="http://schemas.microsoft.com/office/powerpoint/2010/main" val="18281846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p:cNvSpPr/>
          <p:nvPr/>
        </p:nvSpPr>
        <p:spPr>
          <a:xfrm>
            <a:off x="530086" y="124095"/>
            <a:ext cx="9528314" cy="923330"/>
          </a:xfrm>
          <a:prstGeom prst="rect">
            <a:avLst/>
          </a:prstGeom>
        </p:spPr>
        <p:txBody>
          <a:bodyPr wrap="square">
            <a:spAutoFit/>
          </a:bodyPr>
          <a:lstStyle/>
          <a:p>
            <a:r>
              <a:rPr lang="ko-KR" altLang="en-US" b="1" smtClean="0"/>
              <a:t>조코딩 </a:t>
            </a:r>
            <a:r>
              <a:rPr lang="en-US" altLang="ko-KR" b="1" smtClean="0"/>
              <a:t>JoCoding : </a:t>
            </a:r>
            <a:r>
              <a:rPr lang="ko-KR" altLang="en-US" b="1" smtClean="0"/>
              <a:t>랭체인으로 </a:t>
            </a:r>
            <a:r>
              <a:rPr lang="ko-KR" altLang="en-US" b="1"/>
              <a:t>수익형 </a:t>
            </a:r>
            <a:r>
              <a:rPr lang="en-US" altLang="ko-KR" b="1"/>
              <a:t>AI </a:t>
            </a:r>
            <a:r>
              <a:rPr lang="ko-KR" altLang="en-US" b="1"/>
              <a:t>웹서비스 만들기 </a:t>
            </a:r>
            <a:r>
              <a:rPr lang="en-US" altLang="ko-KR" b="1"/>
              <a:t>with ChatGPT, LLaMA 2</a:t>
            </a:r>
          </a:p>
          <a:p>
            <a:r>
              <a:rPr lang="en-US" altLang="ko-KR" smtClean="0"/>
              <a:t>  - </a:t>
            </a:r>
            <a:r>
              <a:rPr lang="ko-KR" altLang="en-US" smtClean="0"/>
              <a:t>로컬에 </a:t>
            </a:r>
            <a:r>
              <a:rPr lang="en-US" altLang="ko-KR" smtClean="0"/>
              <a:t>python-dotenv  </a:t>
            </a:r>
            <a:r>
              <a:rPr lang="ko-KR" altLang="en-US" smtClean="0"/>
              <a:t>설치</a:t>
            </a:r>
            <a:endParaRPr lang="en-US" altLang="ko-KR" smtClean="0"/>
          </a:p>
          <a:p>
            <a:r>
              <a:rPr lang="ko-KR" altLang="en-US" smtClean="0"/>
              <a:t>https</a:t>
            </a:r>
            <a:r>
              <a:rPr lang="ko-KR" altLang="en-US"/>
              <a:t>://www.youtube.com/watch?v=EWKbZFqiCsE&amp;t=2274s</a:t>
            </a:r>
          </a:p>
        </p:txBody>
      </p:sp>
      <p:sp>
        <p:nvSpPr>
          <p:cNvPr id="2" name="Rectangle 1"/>
          <p:cNvSpPr>
            <a:spLocks noChangeArrowheads="1"/>
          </p:cNvSpPr>
          <p:nvPr/>
        </p:nvSpPr>
        <p:spPr bwMode="auto">
          <a:xfrm>
            <a:off x="962024" y="1047425"/>
            <a:ext cx="6696075"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smtClean="0">
                <a:ln>
                  <a:noFill/>
                </a:ln>
                <a:solidFill>
                  <a:schemeClr val="tx1"/>
                </a:solidFill>
                <a:effectLst/>
                <a:latin typeface="Arial" panose="020B0604020202020204" pitchFamily="34" charset="0"/>
              </a:rPr>
              <a:t>수업 코드 정리</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smtClean="0">
                <a:ln>
                  <a:noFill/>
                </a:ln>
                <a:solidFill>
                  <a:schemeClr val="tx1"/>
                </a:solidFill>
                <a:effectLst/>
                <a:latin typeface="Arial" panose="020B0604020202020204" pitchFamily="34" charset="0"/>
              </a:rPr>
              <a:t>인공지능 시인</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smtClean="0">
                <a:ln>
                  <a:noFill/>
                </a:ln>
                <a:solidFill>
                  <a:schemeClr val="tx1"/>
                </a:solidFill>
                <a:effectLst/>
                <a:latin typeface="Arial" panose="020B0604020202020204" pitchFamily="34" charset="0"/>
                <a:hlinkClick r:id="rId2"/>
              </a:rPr>
              <a:t>https://gist.github.com/youtube-jocoding/b4a9f2080e730c6818d53aeb7a21062d</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smtClean="0">
                <a:ln>
                  <a:noFill/>
                </a:ln>
                <a:solidFill>
                  <a:schemeClr val="tx1"/>
                </a:solidFill>
                <a:effectLst/>
                <a:latin typeface="Arial" panose="020B0604020202020204" pitchFamily="34" charset="0"/>
              </a:rPr>
              <a:t>LLaMA2 GGML (고맙다 조지 민수야~)</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smtClean="0">
                <a:ln>
                  <a:noFill/>
                </a:ln>
                <a:solidFill>
                  <a:schemeClr val="tx1"/>
                </a:solidFill>
                <a:effectLst/>
                <a:latin typeface="Arial" panose="020B0604020202020204" pitchFamily="34" charset="0"/>
                <a:hlinkClick r:id="rId3"/>
              </a:rPr>
              <a:t>https://huggingface.co/TheBloke/Llama-2-7B-Chat-GGML/tree/main</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smtClean="0">
                <a:ln>
                  <a:noFill/>
                </a:ln>
                <a:solidFill>
                  <a:schemeClr val="tx1"/>
                </a:solidFill>
                <a:effectLst/>
                <a:latin typeface="Arial" panose="020B0604020202020204" pitchFamily="34" charset="0"/>
              </a:rPr>
              <a:t>인공지능 시인 (LLaMA 2 로컬 버전)</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smtClean="0">
                <a:ln>
                  <a:noFill/>
                </a:ln>
                <a:solidFill>
                  <a:schemeClr val="tx1"/>
                </a:solidFill>
                <a:effectLst/>
                <a:latin typeface="Arial" panose="020B0604020202020204" pitchFamily="34" charset="0"/>
                <a:hlinkClick r:id="rId4"/>
              </a:rPr>
              <a:t>https://gist.github.com/youtube-jocoding/f255a3f29afb8944b1121b663c0d8412</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smtClean="0">
                <a:ln>
                  <a:noFill/>
                </a:ln>
                <a:solidFill>
                  <a:schemeClr val="tx1"/>
                </a:solidFill>
                <a:effectLst/>
                <a:latin typeface="Arial" panose="020B0604020202020204" pitchFamily="34" charset="0"/>
              </a:rPr>
              <a:t>저작권 만료 소설</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smtClean="0">
                <a:ln>
                  <a:noFill/>
                </a:ln>
                <a:solidFill>
                  <a:schemeClr val="tx1"/>
                </a:solidFill>
                <a:effectLst/>
                <a:latin typeface="Arial" panose="020B0604020202020204" pitchFamily="34" charset="0"/>
                <a:hlinkClick r:id="rId5"/>
              </a:rPr>
              <a:t>https://gongu.copyright.or.kr/gongu/wrt/wrt/view.do?wrtSn=9002094&amp;menuNo=200030</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smtClean="0">
                <a:ln>
                  <a:noFill/>
                </a:ln>
                <a:solidFill>
                  <a:schemeClr val="tx1"/>
                </a:solidFill>
                <a:effectLst/>
                <a:latin typeface="Arial" panose="020B0604020202020204" pitchFamily="34" charset="0"/>
              </a:rPr>
              <a:t>ChatPDF (1) - embedding까지</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smtClean="0">
                <a:ln>
                  <a:noFill/>
                </a:ln>
                <a:solidFill>
                  <a:schemeClr val="tx1"/>
                </a:solidFill>
                <a:effectLst/>
                <a:latin typeface="Arial" panose="020B0604020202020204" pitchFamily="34" charset="0"/>
                <a:hlinkClick r:id="rId6"/>
              </a:rPr>
              <a:t>https://gist.github.com/youtube-jocoding/a909a52065766328a9eb934b6b891e59</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smtClean="0">
                <a:ln>
                  <a:noFill/>
                </a:ln>
                <a:solidFill>
                  <a:schemeClr val="tx1"/>
                </a:solidFill>
                <a:effectLst/>
                <a:latin typeface="Arial" panose="020B0604020202020204" pitchFamily="34" charset="0"/>
              </a:rPr>
              <a:t>ChatPDF (2) - 기능 완성</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smtClean="0">
                <a:ln>
                  <a:noFill/>
                </a:ln>
                <a:solidFill>
                  <a:schemeClr val="tx1"/>
                </a:solidFill>
                <a:effectLst/>
                <a:latin typeface="Arial" panose="020B0604020202020204" pitchFamily="34" charset="0"/>
                <a:hlinkClick r:id="rId7"/>
              </a:rPr>
              <a:t>https://gist.github.com/youtube-jocoding/0b96f01710f166b52f171022376f19ec</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smtClean="0">
                <a:ln>
                  <a:noFill/>
                </a:ln>
                <a:solidFill>
                  <a:schemeClr val="tx1"/>
                </a:solidFill>
                <a:effectLst/>
                <a:latin typeface="Arial" panose="020B0604020202020204" pitchFamily="34" charset="0"/>
              </a:rPr>
              <a:t>ChatPDF (3) - Streamlit File Upload 추가</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smtClean="0">
                <a:ln>
                  <a:noFill/>
                </a:ln>
                <a:solidFill>
                  <a:schemeClr val="tx1"/>
                </a:solidFill>
                <a:effectLst/>
                <a:latin typeface="Arial" panose="020B0604020202020204" pitchFamily="34" charset="0"/>
                <a:hlinkClick r:id="rId8"/>
              </a:rPr>
              <a:t>https://gist.github.com/youtube-jocoding/1f954877c62f42bfdb001aedd7a76c3a</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smtClean="0">
                <a:ln>
                  <a:noFill/>
                </a:ln>
                <a:solidFill>
                  <a:schemeClr val="tx1"/>
                </a:solidFill>
                <a:effectLst/>
                <a:latin typeface="Arial" panose="020B0604020202020204" pitchFamily="34" charset="0"/>
              </a:rPr>
              <a:t>ChatPDF (4) - 코드 완성</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smtClean="0">
                <a:ln>
                  <a:noFill/>
                </a:ln>
                <a:solidFill>
                  <a:schemeClr val="tx1"/>
                </a:solidFill>
                <a:effectLst/>
                <a:latin typeface="Arial" panose="020B0604020202020204" pitchFamily="34" charset="0"/>
                <a:hlinkClick r:id="rId9"/>
              </a:rPr>
              <a:t>https://gist.github.com/youtube-jocoding/816bc06e7b7acb49ef55ee0ff5106637</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smtClean="0">
                <a:ln>
                  <a:noFill/>
                </a:ln>
                <a:solidFill>
                  <a:schemeClr val="tx1"/>
                </a:solidFill>
                <a:effectLst/>
                <a:latin typeface="Arial" panose="020B0604020202020204" pitchFamily="34" charset="0"/>
              </a:rPr>
              <a:t>ChatPDF (5) - Streamlit Cloud 업로드용 코드 완성</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smtClean="0">
                <a:ln>
                  <a:noFill/>
                </a:ln>
                <a:solidFill>
                  <a:schemeClr val="tx1"/>
                </a:solidFill>
                <a:effectLst/>
                <a:latin typeface="Arial" panose="020B0604020202020204" pitchFamily="34" charset="0"/>
                <a:hlinkClick r:id="rId10"/>
              </a:rPr>
              <a:t>https://gist.github.com/youtube-jocoding/f5f9fa33216a08439658f790a66b60bd</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smtClean="0">
                <a:ln>
                  <a:noFill/>
                </a:ln>
                <a:solidFill>
                  <a:schemeClr val="tx1"/>
                </a:solidFill>
                <a:effectLst/>
                <a:latin typeface="Arial" panose="020B0604020202020204" pitchFamily="34" charset="0"/>
              </a:rPr>
              <a:t>requirements.txt</a:t>
            </a:r>
            <a:endParaRPr kumimoji="0" lang="ko-KR" altLang="ko-KR" sz="1200" b="0" i="0" u="none" strike="noStrike" cap="none" normalizeH="0" baseline="0" smtClean="0">
              <a:ln>
                <a:noFill/>
              </a:ln>
              <a:solidFill>
                <a:schemeClr val="tx1"/>
              </a:solidFill>
              <a:effectLst/>
              <a:latin typeface="Arial Unicode MS" panose="020B0604020202020204" pitchFamily="50" charset="-12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smtClean="0">
                <a:ln>
                  <a:noFill/>
                </a:ln>
                <a:solidFill>
                  <a:schemeClr val="tx1"/>
                </a:solidFill>
                <a:effectLst/>
                <a:latin typeface="Arial Unicode MS" panose="020B0604020202020204" pitchFamily="50" charset="-127"/>
              </a:rPr>
              <a:t>langchain openai pypdf chromadb tiktoken pysqlite3-binary </a:t>
            </a:r>
            <a:endParaRPr kumimoji="0" lang="ko-KR" altLang="ko-KR" sz="12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smtClean="0">
                <a:ln>
                  <a:noFill/>
                </a:ln>
                <a:solidFill>
                  <a:schemeClr val="tx1"/>
                </a:solidFill>
                <a:effectLst/>
                <a:latin typeface="Arial" panose="020B0604020202020204" pitchFamily="34" charset="0"/>
              </a:rPr>
              <a:t>ChatPDF (6) - 수익화 완성</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smtClean="0">
                <a:ln>
                  <a:noFill/>
                </a:ln>
                <a:solidFill>
                  <a:schemeClr val="tx1"/>
                </a:solidFill>
                <a:effectLst/>
                <a:latin typeface="Arial" panose="020B0604020202020204" pitchFamily="34" charset="0"/>
                <a:hlinkClick r:id="rId11"/>
              </a:rPr>
              <a:t>https://gist.github.com/youtube-jocoding/b80e6cb9104198efbe8454463e255629</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smtClean="0">
                <a:ln>
                  <a:noFill/>
                </a:ln>
                <a:solidFill>
                  <a:schemeClr val="tx1"/>
                </a:solidFill>
                <a:effectLst/>
                <a:latin typeface="Arial" panose="020B0604020202020204" pitchFamily="34" charset="0"/>
              </a:rPr>
              <a:t>requirements.txt</a:t>
            </a:r>
            <a:endParaRPr kumimoji="0" lang="ko-KR" altLang="ko-KR" sz="1200" b="0" i="0" u="none" strike="noStrike" cap="none" normalizeH="0" baseline="0" smtClean="0">
              <a:ln>
                <a:noFill/>
              </a:ln>
              <a:solidFill>
                <a:schemeClr val="tx1"/>
              </a:solidFill>
              <a:effectLst/>
              <a:latin typeface="Arial Unicode MS" panose="020B0604020202020204" pitchFamily="50" charset="-12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smtClean="0">
                <a:ln>
                  <a:noFill/>
                </a:ln>
                <a:solidFill>
                  <a:schemeClr val="tx1"/>
                </a:solidFill>
                <a:effectLst/>
                <a:latin typeface="Arial Unicode MS" panose="020B0604020202020204" pitchFamily="50" charset="-127"/>
              </a:rPr>
              <a:t>langchain openai pypdf chromadb tiktoken pysqlite3-binary streamlit-extras </a:t>
            </a:r>
            <a:endParaRPr kumimoji="0" lang="ko-KR" altLang="ko-KR" sz="12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smtClean="0">
                <a:ln>
                  <a:noFill/>
                </a:ln>
                <a:solidFill>
                  <a:schemeClr val="tx1"/>
                </a:solidFill>
                <a:effectLst/>
                <a:latin typeface="Arial" panose="020B0604020202020204" pitchFamily="34" charset="0"/>
              </a:rPr>
              <a:t>ChatPDF (7) - Stream 완성</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smtClean="0">
                <a:ln>
                  <a:noFill/>
                </a:ln>
                <a:solidFill>
                  <a:schemeClr val="tx1"/>
                </a:solidFill>
                <a:effectLst/>
                <a:latin typeface="Arial" panose="020B0604020202020204" pitchFamily="34" charset="0"/>
                <a:hlinkClick r:id="rId12"/>
              </a:rPr>
              <a:t>https://gist.github.com/youtube-jocoding/9dd7cd3a6cea48bc27eeb43923b7849b</a:t>
            </a:r>
            <a:endParaRPr kumimoji="0" lang="ko-KR" altLang="ko-K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smtClean="0">
                <a:ln>
                  <a:noFill/>
                </a:ln>
                <a:solidFill>
                  <a:schemeClr val="tx1"/>
                </a:solidFill>
                <a:effectLst/>
                <a:latin typeface="Arial" panose="020B0604020202020204" pitchFamily="34" charset="0"/>
              </a:rPr>
              <a:t>requirements.txt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2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112207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409574" y="569089"/>
            <a:ext cx="11115675" cy="1323439"/>
          </a:xfrm>
          <a:prstGeom prst="rect">
            <a:avLst/>
          </a:prstGeom>
          <a:ln>
            <a:solidFill>
              <a:schemeClr val="accent1"/>
            </a:solidFill>
          </a:ln>
        </p:spPr>
        <p:txBody>
          <a:bodyPr wrap="square">
            <a:spAutoFit/>
          </a:bodyPr>
          <a:lstStyle/>
          <a:p>
            <a:r>
              <a:rPr lang="ko-KR" altLang="en-US" sz="1000"/>
              <a:t>#Embedding</a:t>
            </a:r>
          </a:p>
          <a:p>
            <a:r>
              <a:rPr lang="ko-KR" altLang="en-US" sz="1000"/>
              <a:t># embeddings_model = OpenAIEmbeddings()</a:t>
            </a:r>
          </a:p>
          <a:p>
            <a:r>
              <a:rPr lang="ko-KR" altLang="en-US" sz="1000"/>
              <a:t>embeddings_model = OpenAIEmbeddings(temperature=0, openai_api_key="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", openai_organization="org-iGRI2q2XjZKgtTPsvh1fNOJ9")</a:t>
            </a:r>
          </a:p>
          <a:p>
            <a:endParaRPr lang="ko-KR" altLang="en-US" sz="1000"/>
          </a:p>
          <a:p>
            <a:endParaRPr lang="ko-KR" altLang="en-US" sz="1000"/>
          </a:p>
          <a:p>
            <a:r>
              <a:rPr lang="ko-KR" altLang="en-US" sz="1000"/>
              <a:t># load it into Chroma</a:t>
            </a:r>
          </a:p>
          <a:p>
            <a:r>
              <a:rPr lang="ko-KR" altLang="en-US" sz="1000"/>
              <a:t>db = Chroma.from_documents(texts, embeddings_model)</a:t>
            </a:r>
          </a:p>
        </p:txBody>
      </p:sp>
      <p:sp>
        <p:nvSpPr>
          <p:cNvPr id="7" name="TextBox 6"/>
          <p:cNvSpPr txBox="1"/>
          <p:nvPr/>
        </p:nvSpPr>
        <p:spPr>
          <a:xfrm>
            <a:off x="284480" y="2275840"/>
            <a:ext cx="7021474" cy="400110"/>
          </a:xfrm>
          <a:prstGeom prst="rect">
            <a:avLst/>
          </a:prstGeom>
          <a:noFill/>
        </p:spPr>
        <p:txBody>
          <a:bodyPr wrap="none" rtlCol="0">
            <a:spAutoFit/>
          </a:bodyPr>
          <a:lstStyle/>
          <a:p>
            <a:r>
              <a:rPr lang="ko-KR" altLang="en-US" sz="1000" smtClean="0"/>
              <a:t>사내업무지원 시나리오</a:t>
            </a:r>
            <a:endParaRPr lang="en-US" altLang="ko-KR" sz="1000" smtClean="0"/>
          </a:p>
          <a:p>
            <a:r>
              <a:rPr lang="en-US" altLang="ko-KR" sz="1000" smtClean="0"/>
              <a:t>G</a:t>
            </a:r>
            <a:r>
              <a:rPr lang="en-US" altLang="ko-KR" sz="1000"/>
              <a:t>:\backup_f </a:t>
            </a:r>
            <a:r>
              <a:rPr lang="ko-KR" altLang="en-US" sz="1000"/>
              <a:t>노트북</a:t>
            </a:r>
            <a:r>
              <a:rPr lang="en-US" altLang="ko-KR" sz="1000"/>
              <a:t>\D\AI study\</a:t>
            </a:r>
            <a:r>
              <a:rPr lang="ko-KR" altLang="en-US" sz="1000"/>
              <a:t>퍼니웍</a:t>
            </a:r>
            <a:r>
              <a:rPr lang="en-US" altLang="ko-KR" sz="1000"/>
              <a:t>-</a:t>
            </a:r>
            <a:r>
              <a:rPr lang="ko-KR" altLang="en-US" sz="1000"/>
              <a:t>시나리오</a:t>
            </a:r>
            <a:r>
              <a:rPr lang="en-US" altLang="ko-KR" sz="1000"/>
              <a:t>-</a:t>
            </a:r>
            <a:r>
              <a:rPr lang="ko-KR" altLang="en-US" sz="1000"/>
              <a:t>최순덕</a:t>
            </a:r>
            <a:r>
              <a:rPr lang="en-US" altLang="ko-KR" sz="1000"/>
              <a:t>_</a:t>
            </a:r>
            <a:r>
              <a:rPr lang="ko-KR" altLang="en-US" sz="1000"/>
              <a:t>정승현</a:t>
            </a:r>
            <a:r>
              <a:rPr lang="en-US" altLang="ko-KR" sz="1000"/>
              <a:t>\</a:t>
            </a:r>
            <a:r>
              <a:rPr lang="ko-KR" altLang="en-US" sz="1000"/>
              <a:t>교육자료 및 유지보수</a:t>
            </a:r>
            <a:r>
              <a:rPr lang="en-US" altLang="ko-KR" sz="1000"/>
              <a:t>(</a:t>
            </a:r>
            <a:r>
              <a:rPr lang="ko-KR" altLang="en-US" sz="1000"/>
              <a:t>정승현</a:t>
            </a:r>
            <a:r>
              <a:rPr lang="en-US" altLang="ko-KR" sz="1000"/>
              <a:t>)\ETC\</a:t>
            </a:r>
            <a:r>
              <a:rPr lang="ko-KR" altLang="en-US" sz="1000"/>
              <a:t>사내업무지원</a:t>
            </a:r>
          </a:p>
        </p:txBody>
      </p:sp>
      <p:sp>
        <p:nvSpPr>
          <p:cNvPr id="8" name="TextBox 7"/>
          <p:cNvSpPr txBox="1"/>
          <p:nvPr/>
        </p:nvSpPr>
        <p:spPr>
          <a:xfrm>
            <a:off x="772160" y="3393440"/>
            <a:ext cx="8664551" cy="2462213"/>
          </a:xfrm>
          <a:prstGeom prst="rect">
            <a:avLst/>
          </a:prstGeom>
          <a:noFill/>
        </p:spPr>
        <p:txBody>
          <a:bodyPr wrap="none" rtlCol="0">
            <a:spAutoFit/>
          </a:bodyPr>
          <a:lstStyle/>
          <a:p>
            <a:r>
              <a:rPr lang="en-US" altLang="ko-KR" sz="1100"/>
              <a:t>Pinecone </a:t>
            </a:r>
            <a:r>
              <a:rPr lang="ko-KR" altLang="en-US" sz="1100"/>
              <a:t>파인콘 벡터</a:t>
            </a:r>
            <a:r>
              <a:rPr lang="en-US" altLang="ko-KR" sz="1100"/>
              <a:t>DB</a:t>
            </a:r>
            <a:r>
              <a:rPr lang="ko-KR" altLang="en-US" sz="1100"/>
              <a:t>시리즈 </a:t>
            </a:r>
            <a:r>
              <a:rPr lang="en-US" altLang="ko-KR" sz="1100"/>
              <a:t>-(1)</a:t>
            </a:r>
            <a:endParaRPr lang="en-US" altLang="ko-KR" sz="1100" smtClean="0"/>
          </a:p>
          <a:p>
            <a:r>
              <a:rPr lang="en-US" altLang="ko-KR" sz="1100" smtClean="0">
                <a:hlinkClick r:id="rId2"/>
              </a:rPr>
              <a:t>https</a:t>
            </a:r>
            <a:r>
              <a:rPr lang="en-US" altLang="ko-KR" sz="1100">
                <a:hlinkClick r:id="rId2"/>
              </a:rPr>
              <a:t>://</a:t>
            </a:r>
            <a:r>
              <a:rPr lang="en-US" altLang="ko-KR" sz="1100" smtClean="0">
                <a:hlinkClick r:id="rId2"/>
              </a:rPr>
              <a:t>m.blog.naver.com/ulsancoding/223114445215</a:t>
            </a:r>
            <a:endParaRPr lang="en-US" altLang="ko-KR" sz="1100" smtClean="0"/>
          </a:p>
          <a:p>
            <a:endParaRPr lang="en-US" altLang="ko-KR" sz="1100"/>
          </a:p>
          <a:p>
            <a:pPr fontAlgn="base"/>
            <a:r>
              <a:rPr lang="en-US" altLang="ko-KR" sz="1100"/>
              <a:t>AI Factory</a:t>
            </a:r>
            <a:r>
              <a:rPr lang="ko-KR" altLang="en-US" sz="1100"/>
              <a:t>의 김태영님의 랭체인 러닝데이에서 크로마 벡터</a:t>
            </a:r>
            <a:r>
              <a:rPr lang="en-US" altLang="ko-KR" sz="1100"/>
              <a:t>DB</a:t>
            </a:r>
            <a:r>
              <a:rPr lang="ko-KR" altLang="en-US" sz="1100"/>
              <a:t>를 사용하는 코드를 일부 발췌했는데</a:t>
            </a:r>
            <a:r>
              <a:rPr lang="en-US" altLang="ko-KR" sz="1100"/>
              <a:t>, FlowiseAI </a:t>
            </a:r>
            <a:r>
              <a:rPr lang="ko-KR" altLang="en-US" sz="1100"/>
              <a:t>그림과 비교하겠습니다</a:t>
            </a:r>
            <a:r>
              <a:rPr lang="en-US" altLang="ko-KR" sz="1100"/>
              <a:t>. </a:t>
            </a:r>
            <a:endParaRPr lang="ko-KR" altLang="en-US" sz="1100"/>
          </a:p>
          <a:p>
            <a:pPr fontAlgn="base"/>
            <a:r>
              <a:rPr lang="ko-KR" altLang="en-US" sz="1100"/>
              <a:t>​</a:t>
            </a:r>
          </a:p>
          <a:p>
            <a:pPr fontAlgn="base"/>
            <a:r>
              <a:rPr lang="ko-KR" altLang="en-US" sz="1100" b="1"/>
              <a:t>*소스코드 위치</a:t>
            </a:r>
            <a:endParaRPr lang="ko-KR" altLang="en-US" sz="1100"/>
          </a:p>
          <a:p>
            <a:pPr fontAlgn="base"/>
            <a:r>
              <a:rPr lang="en-US" altLang="ko-KR" sz="1100">
                <a:hlinkClick r:id="rId3"/>
              </a:rPr>
              <a:t>https://</a:t>
            </a:r>
            <a:r>
              <a:rPr lang="en-US" altLang="ko-KR" sz="1100" smtClean="0">
                <a:hlinkClick r:id="rId3"/>
              </a:rPr>
              <a:t>aifactory.space/learning/2446/discussion/402</a:t>
            </a:r>
            <a:endParaRPr lang="en-US" altLang="ko-KR" sz="1100" smtClean="0"/>
          </a:p>
          <a:p>
            <a:pPr fontAlgn="base"/>
            <a:endParaRPr lang="en-US" altLang="ko-KR" sz="1100"/>
          </a:p>
          <a:p>
            <a:pPr fontAlgn="base"/>
            <a:r>
              <a:rPr lang="en-US" altLang="ko-KR" sz="1100" smtClean="0"/>
              <a:t> </a:t>
            </a:r>
            <a:r>
              <a:rPr lang="en-US" altLang="ko-KR" sz="1100" smtClean="0">
                <a:sym typeface="Wingdings" panose="05000000000000000000" pitchFamily="2" charset="2"/>
              </a:rPr>
              <a:t> </a:t>
            </a:r>
            <a:r>
              <a:rPr lang="ko-KR" altLang="en-US" sz="1100" smtClean="0">
                <a:sym typeface="Wingdings" panose="05000000000000000000" pitchFamily="2" charset="2"/>
              </a:rPr>
              <a:t>사규 검색</a:t>
            </a:r>
            <a:endParaRPr lang="en-US" altLang="ko-KR" sz="1100" smtClean="0">
              <a:sym typeface="Wingdings" panose="05000000000000000000" pitchFamily="2" charset="2"/>
            </a:endParaRPr>
          </a:p>
          <a:p>
            <a:pPr fontAlgn="base"/>
            <a:endParaRPr lang="en-US" altLang="ko-KR" sz="1100">
              <a:sym typeface="Wingdings" panose="05000000000000000000" pitchFamily="2" charset="2"/>
            </a:endParaRPr>
          </a:p>
          <a:p>
            <a:pPr fontAlgn="base"/>
            <a:endParaRPr lang="ko-KR" altLang="en-US" sz="1100"/>
          </a:p>
          <a:p>
            <a:r>
              <a:rPr lang="en-US" altLang="ko-KR" sz="1100"/>
              <a:t>query = "</a:t>
            </a:r>
            <a:r>
              <a:rPr lang="ko-KR" altLang="en-US" sz="1100"/>
              <a:t>음료 지원은</a:t>
            </a:r>
            <a:r>
              <a:rPr lang="en-US" altLang="ko-KR" sz="1100"/>
              <a:t>?"</a:t>
            </a:r>
          </a:p>
          <a:p>
            <a:r>
              <a:rPr lang="en-US" altLang="ko-KR" sz="1100"/>
              <a:t>result = chain(query)</a:t>
            </a:r>
          </a:p>
          <a:p>
            <a:r>
              <a:rPr lang="en-US" altLang="ko-KR" sz="1100"/>
              <a:t>print(result)</a:t>
            </a:r>
            <a:endParaRPr lang="ko-KR" altLang="en-US" sz="1100"/>
          </a:p>
        </p:txBody>
      </p:sp>
    </p:spTree>
    <p:extLst>
      <p:ext uri="{BB962C8B-B14F-4D97-AF65-F5344CB8AC3E}">
        <p14:creationId xmlns:p14="http://schemas.microsoft.com/office/powerpoint/2010/main" val="1317608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4480" y="416560"/>
            <a:ext cx="2650854" cy="461665"/>
          </a:xfrm>
          <a:prstGeom prst="rect">
            <a:avLst/>
          </a:prstGeom>
          <a:noFill/>
        </p:spPr>
        <p:txBody>
          <a:bodyPr wrap="none" rtlCol="0">
            <a:spAutoFit/>
          </a:bodyPr>
          <a:lstStyle/>
          <a:p>
            <a:r>
              <a:rPr lang="ko-KR" altLang="en-US" sz="1200" smtClean="0"/>
              <a:t>한글 임베딩</a:t>
            </a:r>
            <a:endParaRPr lang="en-US" altLang="ko-KR" sz="1200" smtClean="0"/>
          </a:p>
          <a:p>
            <a:r>
              <a:rPr lang="en-US" altLang="ko-KR" sz="1200"/>
              <a:t>https://feel2certainty.tistory.com/28</a:t>
            </a:r>
            <a:endParaRPr lang="ko-KR" altLang="en-US" sz="1200"/>
          </a:p>
        </p:txBody>
      </p:sp>
      <p:sp>
        <p:nvSpPr>
          <p:cNvPr id="5" name="TextBox 4"/>
          <p:cNvSpPr txBox="1"/>
          <p:nvPr/>
        </p:nvSpPr>
        <p:spPr>
          <a:xfrm>
            <a:off x="985520" y="2225040"/>
            <a:ext cx="184731" cy="369332"/>
          </a:xfrm>
          <a:prstGeom prst="rect">
            <a:avLst/>
          </a:prstGeom>
          <a:noFill/>
        </p:spPr>
        <p:txBody>
          <a:bodyPr wrap="none" rtlCol="0">
            <a:spAutoFit/>
          </a:bodyPr>
          <a:lstStyle/>
          <a:p>
            <a:endParaRPr lang="ko-KR" altLang="en-US"/>
          </a:p>
        </p:txBody>
      </p:sp>
      <p:sp>
        <p:nvSpPr>
          <p:cNvPr id="6" name="TextBox 5"/>
          <p:cNvSpPr txBox="1"/>
          <p:nvPr/>
        </p:nvSpPr>
        <p:spPr>
          <a:xfrm>
            <a:off x="284480" y="1948041"/>
            <a:ext cx="3799840" cy="461665"/>
          </a:xfrm>
          <a:prstGeom prst="rect">
            <a:avLst/>
          </a:prstGeom>
          <a:noFill/>
        </p:spPr>
        <p:txBody>
          <a:bodyPr wrap="square" rtlCol="0">
            <a:spAutoFit/>
          </a:bodyPr>
          <a:lstStyle/>
          <a:p>
            <a:r>
              <a:rPr lang="ko-KR" altLang="en-US" sz="1200" smtClean="0"/>
              <a:t>랭체인 </a:t>
            </a:r>
            <a:r>
              <a:rPr lang="en-US" altLang="ko-KR" sz="1200" smtClean="0"/>
              <a:t>/ </a:t>
            </a:r>
            <a:r>
              <a:rPr lang="ko-KR" altLang="en-US" sz="1200" smtClean="0"/>
              <a:t>크로마</a:t>
            </a:r>
            <a:r>
              <a:rPr lang="en-US" altLang="ko-KR" sz="1200" smtClean="0"/>
              <a:t>db – </a:t>
            </a:r>
            <a:r>
              <a:rPr lang="ko-KR" altLang="en-US" sz="1200" smtClean="0"/>
              <a:t>유사도 검색</a:t>
            </a:r>
            <a:endParaRPr lang="en-US" altLang="ko-KR" sz="1200" smtClean="0"/>
          </a:p>
          <a:p>
            <a:r>
              <a:rPr lang="en-US" altLang="ko-KR" sz="1200" smtClean="0"/>
              <a:t>https</a:t>
            </a:r>
            <a:r>
              <a:rPr lang="en-US" altLang="ko-KR" sz="1200"/>
              <a:t>://blog.naver.com/sodaincan7/223209843650</a:t>
            </a:r>
            <a:endParaRPr lang="ko-KR" altLang="en-US" sz="1200"/>
          </a:p>
        </p:txBody>
      </p:sp>
      <p:pic>
        <p:nvPicPr>
          <p:cNvPr id="7" name="그림 6"/>
          <p:cNvPicPr>
            <a:picLocks noChangeAspect="1"/>
          </p:cNvPicPr>
          <p:nvPr/>
        </p:nvPicPr>
        <p:blipFill>
          <a:blip r:embed="rId2"/>
          <a:stretch>
            <a:fillRect/>
          </a:stretch>
        </p:blipFill>
        <p:spPr>
          <a:xfrm>
            <a:off x="4785360" y="556845"/>
            <a:ext cx="6648450" cy="5962650"/>
          </a:xfrm>
          <a:prstGeom prst="rect">
            <a:avLst/>
          </a:prstGeom>
        </p:spPr>
      </p:pic>
    </p:spTree>
    <p:extLst>
      <p:ext uri="{BB962C8B-B14F-4D97-AF65-F5344CB8AC3E}">
        <p14:creationId xmlns:p14="http://schemas.microsoft.com/office/powerpoint/2010/main" val="23091625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05840" y="619760"/>
            <a:ext cx="5695790" cy="1477328"/>
          </a:xfrm>
          <a:prstGeom prst="rect">
            <a:avLst/>
          </a:prstGeom>
          <a:noFill/>
        </p:spPr>
        <p:txBody>
          <a:bodyPr wrap="none" rtlCol="0">
            <a:spAutoFit/>
          </a:bodyPr>
          <a:lstStyle/>
          <a:p>
            <a:r>
              <a:rPr lang="ko-KR" altLang="en-US" smtClean="0"/>
              <a:t>유사도 설치</a:t>
            </a:r>
            <a:endParaRPr lang="en-US" altLang="ko-KR" smtClean="0"/>
          </a:p>
          <a:p>
            <a:r>
              <a:rPr lang="en-US" altLang="ko-KR" smtClean="0"/>
              <a:t>koNLPy </a:t>
            </a:r>
            <a:r>
              <a:rPr lang="ko-KR" altLang="en-US" smtClean="0"/>
              <a:t>설치 </a:t>
            </a:r>
            <a:r>
              <a:rPr lang="en-US" altLang="ko-KR" smtClean="0"/>
              <a:t>: 3.10.9  - cp31 </a:t>
            </a:r>
            <a:r>
              <a:rPr lang="ko-KR" altLang="en-US" smtClean="0"/>
              <a:t>설치</a:t>
            </a:r>
            <a:endParaRPr lang="en-US" altLang="ko-KR" smtClean="0"/>
          </a:p>
          <a:p>
            <a:r>
              <a:rPr lang="en-US" altLang="ko-KR">
                <a:hlinkClick r:id="rId2"/>
              </a:rPr>
              <a:t>https://</a:t>
            </a:r>
            <a:r>
              <a:rPr lang="en-US" altLang="ko-KR" smtClean="0">
                <a:hlinkClick r:id="rId2"/>
              </a:rPr>
              <a:t>beausty23.tistory.com/54</a:t>
            </a:r>
            <a:endParaRPr lang="en-US" altLang="ko-KR" smtClean="0"/>
          </a:p>
          <a:p>
            <a:endParaRPr lang="en-US" altLang="ko-KR"/>
          </a:p>
          <a:p>
            <a:r>
              <a:rPr lang="en-US" altLang="ko-KR"/>
              <a:t>pip install JPype1-1.4.0-cp310-cp310-win_amd64.whl</a:t>
            </a:r>
            <a:endParaRPr lang="ko-KR" altLang="en-US"/>
          </a:p>
        </p:txBody>
      </p:sp>
    </p:spTree>
    <p:extLst>
      <p:ext uri="{BB962C8B-B14F-4D97-AF65-F5344CB8AC3E}">
        <p14:creationId xmlns:p14="http://schemas.microsoft.com/office/powerpoint/2010/main" val="20718232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678926" y="1149526"/>
            <a:ext cx="9437477" cy="3046988"/>
          </a:xfrm>
          <a:prstGeom prst="rect">
            <a:avLst/>
          </a:prstGeom>
        </p:spPr>
        <p:txBody>
          <a:bodyPr wrap="square">
            <a:spAutoFit/>
          </a:bodyPr>
          <a:lstStyle/>
          <a:p>
            <a:r>
              <a:rPr lang="ko-KR" altLang="en-US" dirty="0" smtClean="0"/>
              <a:t>영화검색 예제 </a:t>
            </a:r>
            <a:r>
              <a:rPr lang="en-US" altLang="ko-KR" dirty="0" smtClean="0"/>
              <a:t>- /rag/</a:t>
            </a:r>
          </a:p>
          <a:p>
            <a:r>
              <a:rPr lang="en-US" altLang="ko-KR" dirty="0"/>
              <a:t>---------------------------------------------------------------------------</a:t>
            </a:r>
          </a:p>
          <a:p>
            <a:r>
              <a:rPr lang="en-US" altLang="ko-KR" sz="1050" dirty="0" err="1"/>
              <a:t>AttributeError</a:t>
            </a:r>
            <a:r>
              <a:rPr lang="en-US" altLang="ko-KR" sz="1050" dirty="0"/>
              <a:t>                            </a:t>
            </a:r>
            <a:r>
              <a:rPr lang="en-US" altLang="ko-KR" sz="1050" dirty="0" err="1"/>
              <a:t>Traceback</a:t>
            </a:r>
            <a:r>
              <a:rPr lang="en-US" altLang="ko-KR" sz="1050" dirty="0"/>
              <a:t> (most recent call last)</a:t>
            </a:r>
          </a:p>
          <a:p>
            <a:r>
              <a:rPr lang="en-US" altLang="ko-KR" sz="1050" dirty="0"/>
              <a:t>&lt;ipython-input-2-b20d9a099b26&gt; in &lt;module&gt;</a:t>
            </a:r>
          </a:p>
          <a:p>
            <a:r>
              <a:rPr lang="en-US" altLang="ko-KR" sz="1050" dirty="0"/>
              <a:t>      8 </a:t>
            </a:r>
          </a:p>
          <a:p>
            <a:r>
              <a:rPr lang="en-US" altLang="ko-KR" sz="1050" dirty="0"/>
              <a:t>      9 import </a:t>
            </a:r>
            <a:r>
              <a:rPr lang="en-US" altLang="ko-KR" sz="1050" dirty="0" err="1"/>
              <a:t>chromadb</a:t>
            </a:r>
            <a:endParaRPr lang="en-US" altLang="ko-KR" sz="1050" dirty="0"/>
          </a:p>
          <a:p>
            <a:r>
              <a:rPr lang="en-US" altLang="ko-KR" sz="1050" dirty="0"/>
              <a:t>---&gt; 10 client = </a:t>
            </a:r>
            <a:r>
              <a:rPr lang="en-US" altLang="ko-KR" sz="1050" dirty="0" err="1"/>
              <a:t>chromadb.PersistentClient</a:t>
            </a:r>
            <a:r>
              <a:rPr lang="en-US" altLang="ko-KR" sz="1050" dirty="0"/>
              <a:t>(path="../data")</a:t>
            </a:r>
          </a:p>
          <a:p>
            <a:r>
              <a:rPr lang="en-US" altLang="ko-KR" sz="1050" dirty="0"/>
              <a:t>     11 </a:t>
            </a:r>
          </a:p>
          <a:p>
            <a:r>
              <a:rPr lang="en-US" altLang="ko-KR" sz="1050" dirty="0"/>
              <a:t>     12 collection = </a:t>
            </a:r>
            <a:r>
              <a:rPr lang="en-US" altLang="ko-KR" sz="1050" dirty="0" err="1"/>
              <a:t>client.get_or_create_collection</a:t>
            </a:r>
            <a:r>
              <a:rPr lang="en-US" altLang="ko-KR" sz="1050" dirty="0"/>
              <a:t>(</a:t>
            </a:r>
          </a:p>
          <a:p>
            <a:endParaRPr lang="en-US" altLang="ko-KR" sz="1050" dirty="0"/>
          </a:p>
          <a:p>
            <a:r>
              <a:rPr lang="en-US" altLang="ko-KR" sz="1050" dirty="0" err="1"/>
              <a:t>AttributeError</a:t>
            </a:r>
            <a:r>
              <a:rPr lang="en-US" altLang="ko-KR" sz="1050" dirty="0"/>
              <a:t>: module '</a:t>
            </a:r>
            <a:r>
              <a:rPr lang="en-US" altLang="ko-KR" sz="1050" dirty="0" err="1"/>
              <a:t>chromadb</a:t>
            </a:r>
            <a:r>
              <a:rPr lang="en-US" altLang="ko-KR" sz="1050" dirty="0"/>
              <a:t>' has no attribute </a:t>
            </a:r>
            <a:r>
              <a:rPr lang="en-US" altLang="ko-KR" sz="1050" dirty="0" smtClean="0"/>
              <a:t>'</a:t>
            </a:r>
            <a:r>
              <a:rPr lang="en-US" altLang="ko-KR" sz="1050" dirty="0" err="1" smtClean="0"/>
              <a:t>PersistentClient</a:t>
            </a:r>
            <a:r>
              <a:rPr lang="en-US" altLang="ko-KR" dirty="0" smtClean="0"/>
              <a:t>‘</a:t>
            </a:r>
          </a:p>
          <a:p>
            <a:endParaRPr lang="en-US" altLang="ko-KR" dirty="0"/>
          </a:p>
          <a:p>
            <a:endParaRPr lang="en-US" altLang="ko-KR" dirty="0" smtClean="0"/>
          </a:p>
          <a:p>
            <a:r>
              <a:rPr lang="en-US" altLang="ko-KR" dirty="0" smtClean="0"/>
              <a:t>https</a:t>
            </a:r>
            <a:r>
              <a:rPr lang="en-US" altLang="ko-KR" dirty="0"/>
              <a:t>://docs.trychroma.com/usage-guide</a:t>
            </a:r>
            <a:endParaRPr lang="ko-KR" altLang="en-US" dirty="0"/>
          </a:p>
        </p:txBody>
      </p:sp>
      <p:sp>
        <p:nvSpPr>
          <p:cNvPr id="6" name="TextBox 5"/>
          <p:cNvSpPr txBox="1"/>
          <p:nvPr/>
        </p:nvSpPr>
        <p:spPr>
          <a:xfrm>
            <a:off x="130286" y="304800"/>
            <a:ext cx="10793596" cy="646331"/>
          </a:xfrm>
          <a:prstGeom prst="rect">
            <a:avLst/>
          </a:prstGeom>
          <a:noFill/>
        </p:spPr>
        <p:txBody>
          <a:bodyPr wrap="none" rtlCol="0">
            <a:spAutoFit/>
          </a:bodyPr>
          <a:lstStyle/>
          <a:p>
            <a:r>
              <a:rPr lang="ko-KR" altLang="en-US" dirty="0"/>
              <a:t>여러 문서에서 검색</a:t>
            </a:r>
            <a:r>
              <a:rPr lang="en-US" altLang="ko-KR" dirty="0"/>
              <a:t>/</a:t>
            </a:r>
            <a:r>
              <a:rPr lang="ko-KR" altLang="en-US" dirty="0"/>
              <a:t>질문</a:t>
            </a:r>
            <a:r>
              <a:rPr lang="en-US" altLang="ko-KR" dirty="0"/>
              <a:t>/</a:t>
            </a:r>
            <a:r>
              <a:rPr lang="ko-KR" altLang="en-US" dirty="0"/>
              <a:t>답변하는 </a:t>
            </a:r>
            <a:r>
              <a:rPr lang="en-US" altLang="ko-KR" dirty="0"/>
              <a:t>QA </a:t>
            </a:r>
            <a:r>
              <a:rPr lang="ko-KR" altLang="en-US" dirty="0" err="1"/>
              <a:t>챗봇</a:t>
            </a:r>
            <a:r>
              <a:rPr lang="ko-KR" altLang="en-US" dirty="0"/>
              <a:t> 만들기 </a:t>
            </a:r>
            <a:r>
              <a:rPr lang="en-US" altLang="ko-KR" dirty="0"/>
              <a:t>[</a:t>
            </a:r>
            <a:r>
              <a:rPr lang="ko-KR" altLang="en-US" dirty="0" err="1"/>
              <a:t>매우쉬움주의</a:t>
            </a:r>
            <a:r>
              <a:rPr lang="en-US" altLang="ko-KR" dirty="0"/>
              <a:t>] - </a:t>
            </a:r>
            <a:r>
              <a:rPr lang="en-US" altLang="ko-KR" dirty="0" err="1"/>
              <a:t>LangChain</a:t>
            </a:r>
            <a:r>
              <a:rPr lang="en-US" altLang="ko-KR" dirty="0"/>
              <a:t>, </a:t>
            </a:r>
            <a:r>
              <a:rPr lang="en-US" altLang="ko-KR" dirty="0" err="1"/>
              <a:t>ChatGPT</a:t>
            </a:r>
            <a:r>
              <a:rPr lang="en-US" altLang="ko-KR" dirty="0"/>
              <a:t>, Chroma DB</a:t>
            </a:r>
            <a:endParaRPr lang="en-US" altLang="ko-KR" dirty="0" smtClean="0"/>
          </a:p>
          <a:p>
            <a:r>
              <a:rPr lang="en-US" altLang="ko-KR" dirty="0" smtClean="0"/>
              <a:t>- </a:t>
            </a:r>
            <a:r>
              <a:rPr lang="en-US" altLang="ko-KR" dirty="0"/>
              <a:t>https://www.youtube.com/watch?v=ftXLn9DE7YY&amp;t=43s</a:t>
            </a:r>
            <a:endParaRPr lang="ko-KR" altLang="en-US" dirty="0"/>
          </a:p>
        </p:txBody>
      </p:sp>
    </p:spTree>
    <p:extLst>
      <p:ext uri="{BB962C8B-B14F-4D97-AF65-F5344CB8AC3E}">
        <p14:creationId xmlns:p14="http://schemas.microsoft.com/office/powerpoint/2010/main" val="208863491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p:cNvPicPr>
            <a:picLocks noChangeAspect="1"/>
          </p:cNvPicPr>
          <p:nvPr/>
        </p:nvPicPr>
        <p:blipFill>
          <a:blip r:embed="rId2"/>
          <a:stretch>
            <a:fillRect/>
          </a:stretch>
        </p:blipFill>
        <p:spPr>
          <a:xfrm>
            <a:off x="1074820" y="622894"/>
            <a:ext cx="10975307" cy="5526245"/>
          </a:xfrm>
          <a:prstGeom prst="rect">
            <a:avLst/>
          </a:prstGeom>
        </p:spPr>
      </p:pic>
    </p:spTree>
    <p:extLst>
      <p:ext uri="{BB962C8B-B14F-4D97-AF65-F5344CB8AC3E}">
        <p14:creationId xmlns:p14="http://schemas.microsoft.com/office/powerpoint/2010/main" val="32955939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p:cNvPicPr>
            <a:picLocks noChangeAspect="1"/>
          </p:cNvPicPr>
          <p:nvPr/>
        </p:nvPicPr>
        <p:blipFill>
          <a:blip r:embed="rId2"/>
          <a:stretch>
            <a:fillRect/>
          </a:stretch>
        </p:blipFill>
        <p:spPr>
          <a:xfrm>
            <a:off x="1366837" y="1309687"/>
            <a:ext cx="9458325" cy="4238625"/>
          </a:xfrm>
          <a:prstGeom prst="rect">
            <a:avLst/>
          </a:prstGeom>
        </p:spPr>
      </p:pic>
    </p:spTree>
    <p:extLst>
      <p:ext uri="{BB962C8B-B14F-4D97-AF65-F5344CB8AC3E}">
        <p14:creationId xmlns:p14="http://schemas.microsoft.com/office/powerpoint/2010/main" val="32548602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3"/>
          <p:cNvGraphicFramePr>
            <a:graphicFrameLocks noGrp="1"/>
          </p:cNvGraphicFramePr>
          <p:nvPr>
            <p:extLst>
              <p:ext uri="{D42A27DB-BD31-4B8C-83A1-F6EECF244321}">
                <p14:modId xmlns:p14="http://schemas.microsoft.com/office/powerpoint/2010/main" val="3322939053"/>
              </p:ext>
            </p:extLst>
          </p:nvPr>
        </p:nvGraphicFramePr>
        <p:xfrm>
          <a:off x="331537" y="674132"/>
          <a:ext cx="10769600" cy="1112520"/>
        </p:xfrm>
        <a:graphic>
          <a:graphicData uri="http://schemas.openxmlformats.org/drawingml/2006/table">
            <a:tbl>
              <a:tblPr firstRow="1" bandRow="1">
                <a:tableStyleId>{5C22544A-7EE6-4342-B048-85BDC9FD1C3A}</a:tableStyleId>
              </a:tblPr>
              <a:tblGrid>
                <a:gridCol w="3589866">
                  <a:extLst>
                    <a:ext uri="{9D8B030D-6E8A-4147-A177-3AD203B41FA5}">
                      <a16:colId xmlns:a16="http://schemas.microsoft.com/office/drawing/2014/main" xmlns="" val="749883679"/>
                    </a:ext>
                  </a:extLst>
                </a:gridCol>
                <a:gridCol w="3589866">
                  <a:extLst>
                    <a:ext uri="{9D8B030D-6E8A-4147-A177-3AD203B41FA5}">
                      <a16:colId xmlns:a16="http://schemas.microsoft.com/office/drawing/2014/main" xmlns="" val="909391574"/>
                    </a:ext>
                  </a:extLst>
                </a:gridCol>
                <a:gridCol w="1794934">
                  <a:extLst>
                    <a:ext uri="{9D8B030D-6E8A-4147-A177-3AD203B41FA5}">
                      <a16:colId xmlns:a16="http://schemas.microsoft.com/office/drawing/2014/main" xmlns="" val="2259373645"/>
                    </a:ext>
                  </a:extLst>
                </a:gridCol>
                <a:gridCol w="1794934">
                  <a:extLst>
                    <a:ext uri="{9D8B030D-6E8A-4147-A177-3AD203B41FA5}">
                      <a16:colId xmlns:a16="http://schemas.microsoft.com/office/drawing/2014/main" xmlns="" val="3082878824"/>
                    </a:ext>
                  </a:extLst>
                </a:gridCol>
              </a:tblGrid>
              <a:tr h="370840">
                <a:tc>
                  <a:txBody>
                    <a:bodyPr/>
                    <a:lstStyle/>
                    <a:p>
                      <a:pPr latinLnBrk="1"/>
                      <a:r>
                        <a:rPr lang="ko-KR" altLang="en-US" dirty="0" smtClean="0"/>
                        <a:t>출시일</a:t>
                      </a:r>
                      <a:endParaRPr lang="ko-KR" altLang="en-US" dirty="0"/>
                    </a:p>
                  </a:txBody>
                  <a:tcPr/>
                </a:tc>
                <a:tc>
                  <a:txBody>
                    <a:bodyPr/>
                    <a:lstStyle/>
                    <a:p>
                      <a:pPr latinLnBrk="1"/>
                      <a:r>
                        <a:rPr lang="ko-KR" altLang="en-US" dirty="0" smtClean="0"/>
                        <a:t>카드사</a:t>
                      </a:r>
                      <a:endParaRPr lang="ko-KR" altLang="en-US" dirty="0"/>
                    </a:p>
                  </a:txBody>
                  <a:tcPr/>
                </a:tc>
                <a:tc>
                  <a:txBody>
                    <a:bodyPr/>
                    <a:lstStyle/>
                    <a:p>
                      <a:pPr latinLnBrk="1"/>
                      <a:r>
                        <a:rPr lang="ko-KR" altLang="en-US" dirty="0" smtClean="0"/>
                        <a:t>제품명</a:t>
                      </a:r>
                      <a:endParaRPr lang="ko-KR" altLang="en-US" dirty="0"/>
                    </a:p>
                  </a:txBody>
                  <a:tcPr/>
                </a:tc>
                <a:tc>
                  <a:txBody>
                    <a:bodyPr/>
                    <a:lstStyle/>
                    <a:p>
                      <a:pPr latinLnBrk="1"/>
                      <a:r>
                        <a:rPr lang="ko-KR" altLang="en-US" dirty="0" smtClean="0"/>
                        <a:t>설명</a:t>
                      </a:r>
                      <a:endParaRPr lang="ko-KR" altLang="en-US" dirty="0"/>
                    </a:p>
                  </a:txBody>
                  <a:tcPr/>
                </a:tc>
                <a:extLst>
                  <a:ext uri="{0D108BD9-81ED-4DB2-BD59-A6C34878D82A}">
                    <a16:rowId xmlns:a16="http://schemas.microsoft.com/office/drawing/2014/main" xmlns="" val="2364613616"/>
                  </a:ext>
                </a:extLst>
              </a:tr>
              <a:tr h="370840">
                <a:tc>
                  <a:txBody>
                    <a:bodyPr/>
                    <a:lstStyle/>
                    <a:p>
                      <a:pPr latinLnBrk="1"/>
                      <a:endParaRPr lang="ko-KR" altLang="en-US" dirty="0"/>
                    </a:p>
                  </a:txBody>
                  <a:tcPr/>
                </a:tc>
                <a:tc>
                  <a:txBody>
                    <a:bodyPr/>
                    <a:lstStyle/>
                    <a:p>
                      <a:pPr latinLnBrk="1"/>
                      <a:endParaRPr lang="ko-KR" altLang="en-US"/>
                    </a:p>
                  </a:txBody>
                  <a:tcPr/>
                </a:tc>
                <a:tc>
                  <a:txBody>
                    <a:bodyPr/>
                    <a:lstStyle/>
                    <a:p>
                      <a:pPr latinLnBrk="1"/>
                      <a:endParaRPr lang="ko-KR" altLang="en-US" dirty="0"/>
                    </a:p>
                  </a:txBody>
                  <a:tcPr/>
                </a:tc>
                <a:tc>
                  <a:txBody>
                    <a:bodyPr/>
                    <a:lstStyle/>
                    <a:p>
                      <a:pPr latinLnBrk="1"/>
                      <a:endParaRPr lang="ko-KR" altLang="en-US" dirty="0"/>
                    </a:p>
                  </a:txBody>
                  <a:tcPr/>
                </a:tc>
                <a:extLst>
                  <a:ext uri="{0D108BD9-81ED-4DB2-BD59-A6C34878D82A}">
                    <a16:rowId xmlns:a16="http://schemas.microsoft.com/office/drawing/2014/main" xmlns="" val="4000599850"/>
                  </a:ext>
                </a:extLst>
              </a:tr>
              <a:tr h="370840">
                <a:tc>
                  <a:txBody>
                    <a:bodyPr/>
                    <a:lstStyle/>
                    <a:p>
                      <a:pPr latinLnBrk="1"/>
                      <a:endParaRPr lang="ko-KR" altLang="en-US"/>
                    </a:p>
                  </a:txBody>
                  <a:tcPr/>
                </a:tc>
                <a:tc>
                  <a:txBody>
                    <a:bodyPr/>
                    <a:lstStyle/>
                    <a:p>
                      <a:pPr latinLnBrk="1"/>
                      <a:endParaRPr lang="ko-KR" altLang="en-US"/>
                    </a:p>
                  </a:txBody>
                  <a:tcPr/>
                </a:tc>
                <a:tc>
                  <a:txBody>
                    <a:bodyPr/>
                    <a:lstStyle/>
                    <a:p>
                      <a:pPr latinLnBrk="1"/>
                      <a:endParaRPr lang="ko-KR" altLang="en-US" dirty="0"/>
                    </a:p>
                  </a:txBody>
                  <a:tcPr/>
                </a:tc>
                <a:tc>
                  <a:txBody>
                    <a:bodyPr/>
                    <a:lstStyle/>
                    <a:p>
                      <a:pPr latinLnBrk="1"/>
                      <a:endParaRPr lang="ko-KR" altLang="en-US" dirty="0"/>
                    </a:p>
                  </a:txBody>
                  <a:tcPr/>
                </a:tc>
                <a:extLst>
                  <a:ext uri="{0D108BD9-81ED-4DB2-BD59-A6C34878D82A}">
                    <a16:rowId xmlns:a16="http://schemas.microsoft.com/office/drawing/2014/main" xmlns="" val="1186739994"/>
                  </a:ext>
                </a:extLst>
              </a:tr>
            </a:tbl>
          </a:graphicData>
        </a:graphic>
      </p:graphicFrame>
      <p:sp>
        <p:nvSpPr>
          <p:cNvPr id="5" name="TextBox 4"/>
          <p:cNvSpPr txBox="1"/>
          <p:nvPr/>
        </p:nvSpPr>
        <p:spPr>
          <a:xfrm>
            <a:off x="946484" y="304800"/>
            <a:ext cx="2194832" cy="369332"/>
          </a:xfrm>
          <a:prstGeom prst="rect">
            <a:avLst/>
          </a:prstGeom>
          <a:noFill/>
        </p:spPr>
        <p:txBody>
          <a:bodyPr wrap="none" rtlCol="0">
            <a:spAutoFit/>
          </a:bodyPr>
          <a:lstStyle/>
          <a:p>
            <a:r>
              <a:rPr lang="ko-KR" altLang="en-US" dirty="0" smtClean="0"/>
              <a:t>새로운 상품 알려줘</a:t>
            </a:r>
            <a:endParaRPr lang="ko-KR" altLang="en-US" dirty="0"/>
          </a:p>
        </p:txBody>
      </p:sp>
      <p:pic>
        <p:nvPicPr>
          <p:cNvPr id="6" name="그림 5"/>
          <p:cNvPicPr>
            <a:picLocks noChangeAspect="1"/>
          </p:cNvPicPr>
          <p:nvPr/>
        </p:nvPicPr>
        <p:blipFill>
          <a:blip r:embed="rId2"/>
          <a:stretch>
            <a:fillRect/>
          </a:stretch>
        </p:blipFill>
        <p:spPr>
          <a:xfrm>
            <a:off x="1732548" y="1604053"/>
            <a:ext cx="7782175" cy="5391307"/>
          </a:xfrm>
          <a:prstGeom prst="rect">
            <a:avLst/>
          </a:prstGeom>
        </p:spPr>
      </p:pic>
    </p:spTree>
    <p:extLst>
      <p:ext uri="{BB962C8B-B14F-4D97-AF65-F5344CB8AC3E}">
        <p14:creationId xmlns:p14="http://schemas.microsoft.com/office/powerpoint/2010/main" val="42147143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602378" y="1126776"/>
            <a:ext cx="11030007" cy="923330"/>
          </a:xfrm>
          <a:prstGeom prst="rect">
            <a:avLst/>
          </a:prstGeom>
        </p:spPr>
        <p:txBody>
          <a:bodyPr wrap="none">
            <a:spAutoFit/>
          </a:bodyPr>
          <a:lstStyle/>
          <a:p>
            <a:r>
              <a:rPr lang="ko-KR" altLang="en-US" b="1" dirty="0"/>
              <a:t>여러 문서에서 검색</a:t>
            </a:r>
            <a:r>
              <a:rPr lang="en-US" altLang="ko-KR" b="1" dirty="0"/>
              <a:t>/</a:t>
            </a:r>
            <a:r>
              <a:rPr lang="ko-KR" altLang="en-US" b="1" dirty="0"/>
              <a:t>질문</a:t>
            </a:r>
            <a:r>
              <a:rPr lang="en-US" altLang="ko-KR" b="1" dirty="0"/>
              <a:t>/</a:t>
            </a:r>
            <a:r>
              <a:rPr lang="ko-KR" altLang="en-US" b="1" dirty="0"/>
              <a:t>답변하는 </a:t>
            </a:r>
            <a:r>
              <a:rPr lang="en-US" altLang="ko-KR" b="1" dirty="0"/>
              <a:t>QA </a:t>
            </a:r>
            <a:r>
              <a:rPr lang="ko-KR" altLang="en-US" b="1" dirty="0" err="1"/>
              <a:t>챗봇</a:t>
            </a:r>
            <a:r>
              <a:rPr lang="ko-KR" altLang="en-US" b="1" dirty="0"/>
              <a:t> 만들기 </a:t>
            </a:r>
            <a:r>
              <a:rPr lang="en-US" altLang="ko-KR" b="1" dirty="0"/>
              <a:t>[</a:t>
            </a:r>
            <a:r>
              <a:rPr lang="ko-KR" altLang="en-US" b="1" dirty="0" err="1"/>
              <a:t>매우쉬움주의</a:t>
            </a:r>
            <a:r>
              <a:rPr lang="en-US" altLang="ko-KR" b="1" dirty="0"/>
              <a:t>] - </a:t>
            </a:r>
            <a:r>
              <a:rPr lang="en-US" altLang="ko-KR" b="1" dirty="0" err="1"/>
              <a:t>LangChain</a:t>
            </a:r>
            <a:r>
              <a:rPr lang="en-US" altLang="ko-KR" b="1" dirty="0"/>
              <a:t>, </a:t>
            </a:r>
            <a:r>
              <a:rPr lang="en-US" altLang="ko-KR" b="1" dirty="0" err="1"/>
              <a:t>ChatGPT</a:t>
            </a:r>
            <a:r>
              <a:rPr lang="en-US" altLang="ko-KR" b="1" dirty="0"/>
              <a:t>, Chroma DB</a:t>
            </a:r>
          </a:p>
          <a:p>
            <a:endParaRPr lang="en-US" altLang="ko-KR" dirty="0" smtClean="0"/>
          </a:p>
          <a:p>
            <a:r>
              <a:rPr lang="ko-KR" altLang="en-US" dirty="0" smtClean="0"/>
              <a:t>https</a:t>
            </a:r>
            <a:r>
              <a:rPr lang="ko-KR" altLang="en-US" dirty="0"/>
              <a:t>://www.youtube.com/watch?v=ftXLn9DE7YY</a:t>
            </a:r>
          </a:p>
        </p:txBody>
      </p:sp>
      <p:sp>
        <p:nvSpPr>
          <p:cNvPr id="2" name="직사각형 1"/>
          <p:cNvSpPr/>
          <p:nvPr/>
        </p:nvSpPr>
        <p:spPr>
          <a:xfrm>
            <a:off x="602378" y="2050106"/>
            <a:ext cx="6096000" cy="2246769"/>
          </a:xfrm>
          <a:prstGeom prst="rect">
            <a:avLst/>
          </a:prstGeom>
        </p:spPr>
        <p:txBody>
          <a:bodyPr>
            <a:spAutoFit/>
          </a:bodyPr>
          <a:lstStyle/>
          <a:p>
            <a:r>
              <a:rPr lang="ko-KR" altLang="en-US" sz="1400">
                <a:hlinkClick r:id="rId2"/>
              </a:rPr>
              <a:t>https://</a:t>
            </a:r>
            <a:r>
              <a:rPr lang="ko-KR" altLang="en-US" sz="1400" smtClean="0">
                <a:hlinkClick r:id="rId2"/>
              </a:rPr>
              <a:t>colab.research.google.com/drive/1MlrF0Mo8KHrxcrAeulCP3t9hroc073YN?usp=sharing</a:t>
            </a:r>
            <a:endParaRPr lang="en-US" altLang="ko-KR" sz="1400" smtClean="0"/>
          </a:p>
          <a:p>
            <a:endParaRPr lang="en-US" altLang="ko-KR" sz="1400"/>
          </a:p>
          <a:p>
            <a:r>
              <a:rPr lang="en-US" altLang="ko-KR" sz="1400"/>
              <a:t># loader = TextLoader('single_text_file.txt')</a:t>
            </a:r>
          </a:p>
          <a:p>
            <a:r>
              <a:rPr lang="en-US" altLang="ko-KR" sz="1400"/>
              <a:t>loader = DirectoryLoader('./articles', glob="*.txt", loader_cls=TextLoader)</a:t>
            </a:r>
          </a:p>
          <a:p>
            <a:r>
              <a:rPr lang="en-US" altLang="ko-KR" sz="1400"/>
              <a:t/>
            </a:r>
            <a:br>
              <a:rPr lang="en-US" altLang="ko-KR" sz="1400"/>
            </a:br>
            <a:r>
              <a:rPr lang="en-US" altLang="ko-KR" sz="1400"/>
              <a:t>documents = loader.load()</a:t>
            </a:r>
          </a:p>
          <a:p>
            <a:r>
              <a:rPr lang="en-US" altLang="ko-KR" sz="1400"/>
              <a:t/>
            </a:r>
            <a:br>
              <a:rPr lang="en-US" altLang="ko-KR" sz="1400"/>
            </a:br>
            <a:r>
              <a:rPr lang="en-US" altLang="ko-KR" sz="1400"/>
              <a:t>len(documents)</a:t>
            </a:r>
          </a:p>
          <a:p>
            <a:endParaRPr lang="ko-KR" altLang="en-US" sz="1400"/>
          </a:p>
        </p:txBody>
      </p:sp>
    </p:spTree>
    <p:extLst>
      <p:ext uri="{BB962C8B-B14F-4D97-AF65-F5344CB8AC3E}">
        <p14:creationId xmlns:p14="http://schemas.microsoft.com/office/powerpoint/2010/main" val="8095240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582980" y="339209"/>
            <a:ext cx="7729039" cy="1477328"/>
          </a:xfrm>
          <a:prstGeom prst="rect">
            <a:avLst/>
          </a:prstGeom>
        </p:spPr>
        <p:txBody>
          <a:bodyPr wrap="none">
            <a:spAutoFit/>
          </a:bodyPr>
          <a:lstStyle/>
          <a:p>
            <a:pPr latinLnBrk="0"/>
            <a:r>
              <a:rPr lang="en-US" altLang="ko-KR" b="1">
                <a:solidFill>
                  <a:srgbClr val="212529"/>
                </a:solidFill>
                <a:latin typeface="-apple-system"/>
              </a:rPr>
              <a:t>LangChain Use Case 1 - Document </a:t>
            </a:r>
            <a:r>
              <a:rPr lang="en-US" altLang="ko-KR" b="1" smtClean="0">
                <a:solidFill>
                  <a:srgbClr val="212529"/>
                </a:solidFill>
                <a:latin typeface="-apple-system"/>
              </a:rPr>
              <a:t>QA</a:t>
            </a:r>
          </a:p>
          <a:p>
            <a:pPr latinLnBrk="0"/>
            <a:r>
              <a:rPr lang="en-US" altLang="ko-KR" b="1">
                <a:solidFill>
                  <a:srgbClr val="212529"/>
                </a:solidFill>
                <a:latin typeface="-apple-system"/>
                <a:hlinkClick r:id="rId2"/>
              </a:rPr>
              <a:t>https://velog.io/@</a:t>
            </a:r>
            <a:r>
              <a:rPr lang="en-US" altLang="ko-KR" b="1" smtClean="0">
                <a:solidFill>
                  <a:srgbClr val="212529"/>
                </a:solidFill>
                <a:latin typeface="-apple-system"/>
                <a:hlinkClick r:id="rId2"/>
              </a:rPr>
              <a:t>xcellentbird/LangChain-Use-Case-1-Document-QA</a:t>
            </a:r>
            <a:endParaRPr lang="en-US" altLang="ko-KR" b="1" smtClean="0">
              <a:solidFill>
                <a:srgbClr val="212529"/>
              </a:solidFill>
              <a:latin typeface="-apple-system"/>
            </a:endParaRPr>
          </a:p>
          <a:p>
            <a:pPr latinLnBrk="0"/>
            <a:endParaRPr lang="en-US" altLang="ko-KR" b="1" i="0">
              <a:solidFill>
                <a:srgbClr val="212529"/>
              </a:solidFill>
              <a:effectLst/>
              <a:latin typeface="-apple-system"/>
            </a:endParaRPr>
          </a:p>
          <a:p>
            <a:pPr latinLnBrk="0"/>
            <a:endParaRPr lang="en-US" altLang="ko-KR" b="1" smtClean="0">
              <a:solidFill>
                <a:srgbClr val="212529"/>
              </a:solidFill>
              <a:latin typeface="-apple-system"/>
            </a:endParaRPr>
          </a:p>
          <a:p>
            <a:pPr latinLnBrk="0"/>
            <a:endParaRPr lang="en-US" altLang="ko-KR" b="1" i="0">
              <a:solidFill>
                <a:srgbClr val="212529"/>
              </a:solidFill>
              <a:effectLst/>
              <a:latin typeface="-apple-system"/>
            </a:endParaRPr>
          </a:p>
        </p:txBody>
      </p:sp>
      <p:sp>
        <p:nvSpPr>
          <p:cNvPr id="5" name="직사각형 4"/>
          <p:cNvSpPr/>
          <p:nvPr/>
        </p:nvSpPr>
        <p:spPr>
          <a:xfrm>
            <a:off x="923925" y="1077873"/>
            <a:ext cx="6096000" cy="5678478"/>
          </a:xfrm>
          <a:prstGeom prst="rect">
            <a:avLst/>
          </a:prstGeom>
        </p:spPr>
        <p:txBody>
          <a:bodyPr>
            <a:spAutoFit/>
          </a:bodyPr>
          <a:lstStyle/>
          <a:p>
            <a:r>
              <a:rPr lang="ko-KR" altLang="en-US" sz="1100"/>
              <a:t>Sample Code</a:t>
            </a:r>
          </a:p>
          <a:p>
            <a:r>
              <a:rPr lang="ko-KR" altLang="en-US" sz="1100"/>
              <a:t>외부 데이터 가져오기</a:t>
            </a:r>
          </a:p>
          <a:p>
            <a:r>
              <a:rPr lang="ko-KR" altLang="en-US" sz="1100"/>
              <a:t>from langchain.document_loaders.pdf import PyPDFLoader</a:t>
            </a:r>
          </a:p>
          <a:p>
            <a:endParaRPr lang="ko-KR" altLang="en-US" sz="1100"/>
          </a:p>
          <a:p>
            <a:r>
              <a:rPr lang="ko-KR" altLang="en-US" sz="1100"/>
              <a:t>pdf_url = '/some/path/of/pdf_file.pdf'</a:t>
            </a:r>
          </a:p>
          <a:p>
            <a:r>
              <a:rPr lang="ko-KR" altLang="en-US" sz="1100"/>
              <a:t>loader = PyPDFLoader(pdf_url)</a:t>
            </a:r>
          </a:p>
          <a:p>
            <a:r>
              <a:rPr lang="ko-KR" altLang="en-US" sz="1100"/>
              <a:t>data = loader.load()</a:t>
            </a:r>
          </a:p>
          <a:p>
            <a:r>
              <a:rPr lang="ko-KR" altLang="en-US" sz="1100"/>
              <a:t>데이터 분리</a:t>
            </a:r>
          </a:p>
          <a:p>
            <a:r>
              <a:rPr lang="ko-KR" altLang="en-US" sz="1100"/>
              <a:t>from langchain.text_splitter import RecursiveCharacterTextSplitter</a:t>
            </a:r>
          </a:p>
          <a:p>
            <a:endParaRPr lang="ko-KR" altLang="en-US" sz="1100"/>
          </a:p>
          <a:p>
            <a:r>
              <a:rPr lang="ko-KR" altLang="en-US" sz="1100"/>
              <a:t>text_splitter = RecursiveCharacterTextSplitter(chunk_size = 800, chunk_overlap = 100)</a:t>
            </a:r>
          </a:p>
          <a:p>
            <a:r>
              <a:rPr lang="ko-KR" altLang="en-US" sz="1100"/>
              <a:t>all_splits = text_splitter.split_documents(data)</a:t>
            </a:r>
          </a:p>
          <a:p>
            <a:r>
              <a:rPr lang="ko-KR" altLang="en-US" sz="1100"/>
              <a:t>벡터 스토어 저장</a:t>
            </a:r>
          </a:p>
          <a:p>
            <a:r>
              <a:rPr lang="ko-KR" altLang="en-US" sz="1100"/>
              <a:t>from langchain.embeddings import OpenAIEmbeddings</a:t>
            </a:r>
          </a:p>
          <a:p>
            <a:r>
              <a:rPr lang="ko-KR" altLang="en-US" sz="1100"/>
              <a:t>from langchain.vectorstores import Chroma</a:t>
            </a:r>
          </a:p>
          <a:p>
            <a:endParaRPr lang="ko-KR" altLang="en-US" sz="1100"/>
          </a:p>
          <a:p>
            <a:r>
              <a:rPr lang="ko-KR" altLang="en-US" sz="1100"/>
              <a:t>vectorstore = Chroma.from_documents(documents=all_splits, embedding=OpenAIEmbeddings())</a:t>
            </a:r>
          </a:p>
          <a:p>
            <a:r>
              <a:rPr lang="ko-KR" altLang="en-US" sz="1100"/>
              <a:t>쿼리 및 데이터 검색</a:t>
            </a:r>
          </a:p>
          <a:p>
            <a:r>
              <a:rPr lang="ko-KR" altLang="en-US" sz="1100"/>
              <a:t>question = "apple에 대해서 설명해줘"</a:t>
            </a:r>
          </a:p>
          <a:p>
            <a:r>
              <a:rPr lang="ko-KR" altLang="en-US" sz="1100">
                <a:solidFill>
                  <a:srgbClr val="FF0000"/>
                </a:solidFill>
              </a:rPr>
              <a:t>docs = vectorstore.similarity_search(question)</a:t>
            </a:r>
          </a:p>
          <a:p>
            <a:r>
              <a:rPr lang="ko-KR" altLang="en-US" sz="1100"/>
              <a:t>docs</a:t>
            </a:r>
          </a:p>
          <a:p>
            <a:r>
              <a:rPr lang="ko-KR" altLang="en-US" sz="1100"/>
              <a:t># [Document(</a:t>
            </a:r>
          </a:p>
          <a:p>
            <a:r>
              <a:rPr lang="ko-KR" altLang="en-US" sz="1100"/>
              <a:t>#     page_content='there is something red, \n...', </a:t>
            </a:r>
          </a:p>
          <a:p>
            <a:r>
              <a:rPr lang="ko-KR" altLang="en-US" sz="1100"/>
              <a:t>#     metadata={'page': 7, 'source': '/some/path/of/pdf_file.pdf'}</a:t>
            </a:r>
          </a:p>
          <a:p>
            <a:r>
              <a:rPr lang="ko-KR" altLang="en-US" sz="1100"/>
              <a:t># ), ... ]</a:t>
            </a:r>
          </a:p>
          <a:p>
            <a:r>
              <a:rPr lang="ko-KR" altLang="en-US" sz="1100"/>
              <a:t>쿼리 응답</a:t>
            </a:r>
          </a:p>
          <a:p>
            <a:r>
              <a:rPr lang="ko-KR" altLang="en-US" sz="1100"/>
              <a:t>from langchain.chains import RetrievalQA</a:t>
            </a:r>
          </a:p>
          <a:p>
            <a:r>
              <a:rPr lang="ko-KR" altLang="en-US" sz="1100"/>
              <a:t>from langchain.chat_models import ChatOpenAI</a:t>
            </a:r>
          </a:p>
          <a:p>
            <a:endParaRPr lang="ko-KR" altLang="en-US" sz="1100"/>
          </a:p>
          <a:p>
            <a:r>
              <a:rPr lang="ko-KR" altLang="en-US" sz="1100"/>
              <a:t>llm = ChatOpenAI(model_name="gpt-3.5-turbo", temperature=0)</a:t>
            </a:r>
          </a:p>
          <a:p>
            <a:r>
              <a:rPr lang="ko-KR" altLang="en-US" sz="1100"/>
              <a:t>qa_chain = RetrievalQA.from_chain_type(llm, retriever=vectorstore.as_retriever())</a:t>
            </a:r>
          </a:p>
          <a:p>
            <a:r>
              <a:rPr lang="ko-KR" altLang="en-US" sz="1100"/>
              <a:t>response = qa_chain({"query": question})</a:t>
            </a:r>
          </a:p>
        </p:txBody>
      </p:sp>
    </p:spTree>
    <p:extLst>
      <p:ext uri="{BB962C8B-B14F-4D97-AF65-F5344CB8AC3E}">
        <p14:creationId xmlns:p14="http://schemas.microsoft.com/office/powerpoint/2010/main" val="12617258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4174448" y="3244334"/>
            <a:ext cx="6380145" cy="923330"/>
          </a:xfrm>
          <a:prstGeom prst="rect">
            <a:avLst/>
          </a:prstGeom>
        </p:spPr>
        <p:txBody>
          <a:bodyPr wrap="none">
            <a:spAutoFit/>
          </a:bodyPr>
          <a:lstStyle/>
          <a:p>
            <a:r>
              <a:rPr lang="en-US" altLang="ko-KR" b="1" dirty="0"/>
              <a:t>Week 31 - </a:t>
            </a:r>
            <a:r>
              <a:rPr lang="ko-KR" altLang="en-US" b="1" dirty="0"/>
              <a:t>이루다 같은 </a:t>
            </a:r>
            <a:r>
              <a:rPr lang="ko-KR" altLang="en-US" b="1" dirty="0" err="1"/>
              <a:t>챗봇은</a:t>
            </a:r>
            <a:r>
              <a:rPr lang="ko-KR" altLang="en-US" b="1" dirty="0"/>
              <a:t> 어떤 원리로 작동하는 걸까</a:t>
            </a:r>
            <a:r>
              <a:rPr lang="en-US" altLang="ko-KR" b="1" dirty="0"/>
              <a:t>?</a:t>
            </a:r>
          </a:p>
          <a:p>
            <a:endParaRPr lang="en-US" altLang="ko-KR" dirty="0" smtClean="0"/>
          </a:p>
          <a:p>
            <a:r>
              <a:rPr lang="ko-KR" altLang="en-US" dirty="0" smtClean="0"/>
              <a:t>https</a:t>
            </a:r>
            <a:r>
              <a:rPr lang="ko-KR" altLang="en-US" dirty="0"/>
              <a:t>://jiho-ml.com/weekly-nlp-31/</a:t>
            </a:r>
          </a:p>
        </p:txBody>
      </p:sp>
    </p:spTree>
    <p:extLst>
      <p:ext uri="{BB962C8B-B14F-4D97-AF65-F5344CB8AC3E}">
        <p14:creationId xmlns:p14="http://schemas.microsoft.com/office/powerpoint/2010/main" val="3578225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781049" y="342314"/>
            <a:ext cx="10734675" cy="619208"/>
          </a:xfrm>
          <a:prstGeom prst="rect">
            <a:avLst/>
          </a:prstGeom>
        </p:spPr>
        <p:txBody>
          <a:bodyPr wrap="square">
            <a:spAutoFit/>
          </a:bodyPr>
          <a:lstStyle/>
          <a:p>
            <a:pPr latinLnBrk="0">
              <a:lnSpc>
                <a:spcPct val="107000"/>
              </a:lnSpc>
            </a:pPr>
            <a:r>
              <a:rPr lang="en-US" altLang="ko-KR" b="1" kern="1800" smtClean="0">
                <a:solidFill>
                  <a:srgbClr val="0F0F0F"/>
                </a:solidFill>
                <a:effectLst/>
                <a:latin typeface="Arial" panose="020B0604020202020204" pitchFamily="34" charset="0"/>
                <a:ea typeface="굴림" panose="020B0600000101010101" pitchFamily="50" charset="-127"/>
                <a:cs typeface="Times New Roman" panose="02020603050405020304" pitchFamily="18" charset="0"/>
              </a:rPr>
              <a:t>LangChain </a:t>
            </a:r>
            <a:r>
              <a:rPr lang="ko-KR" altLang="ko-KR" b="1" kern="1800"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실전</a:t>
            </a:r>
            <a:r>
              <a:rPr lang="ko-KR" altLang="ko-KR" b="1" kern="1800" smtClean="0">
                <a:solidFill>
                  <a:srgbClr val="0F0F0F"/>
                </a:solidFill>
                <a:effectLst/>
                <a:latin typeface="맑은 고딕" panose="020B0503020000020004" pitchFamily="50" charset="-127"/>
                <a:ea typeface="Arial" panose="020B0604020202020204" pitchFamily="34" charset="0"/>
                <a:cs typeface="Times New Roman" panose="02020603050405020304" pitchFamily="18" charset="0"/>
              </a:rPr>
              <a:t> </a:t>
            </a:r>
            <a:r>
              <a:rPr lang="ko-KR" altLang="ko-KR" b="1" kern="1800"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프로그래밍</a:t>
            </a:r>
            <a:r>
              <a:rPr lang="en-US" altLang="ko-KR" b="1" kern="1800" smtClean="0">
                <a:solidFill>
                  <a:srgbClr val="0F0F0F"/>
                </a:solidFill>
                <a:effectLst/>
                <a:latin typeface="Arial" panose="020B0604020202020204" pitchFamily="34" charset="0"/>
                <a:ea typeface="굴림" panose="020B0600000101010101" pitchFamily="50" charset="-127"/>
                <a:cs typeface="Times New Roman" panose="02020603050405020304" pitchFamily="18" charset="0"/>
              </a:rPr>
              <a:t>: ChatGPT </a:t>
            </a:r>
            <a:r>
              <a:rPr lang="ko-KR" altLang="ko-KR" b="1" kern="1800"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이용한</a:t>
            </a:r>
            <a:r>
              <a:rPr lang="ko-KR" altLang="ko-KR" b="1" kern="1800" smtClean="0">
                <a:solidFill>
                  <a:srgbClr val="0F0F0F"/>
                </a:solidFill>
                <a:effectLst/>
                <a:latin typeface="맑은 고딕" panose="020B0503020000020004" pitchFamily="50" charset="-127"/>
                <a:ea typeface="Arial" panose="020B0604020202020204" pitchFamily="34" charset="0"/>
                <a:cs typeface="Times New Roman" panose="02020603050405020304" pitchFamily="18" charset="0"/>
              </a:rPr>
              <a:t> </a:t>
            </a:r>
            <a:r>
              <a:rPr lang="ko-KR" altLang="ko-KR" b="1" kern="1800"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개발할때</a:t>
            </a:r>
            <a:r>
              <a:rPr lang="ko-KR" altLang="ko-KR" b="1" kern="1800" smtClean="0">
                <a:solidFill>
                  <a:srgbClr val="0F0F0F"/>
                </a:solidFill>
                <a:effectLst/>
                <a:latin typeface="맑은 고딕" panose="020B0503020000020004" pitchFamily="50" charset="-127"/>
                <a:ea typeface="Arial" panose="020B0604020202020204" pitchFamily="34" charset="0"/>
                <a:cs typeface="Times New Roman" panose="02020603050405020304" pitchFamily="18" charset="0"/>
              </a:rPr>
              <a:t> </a:t>
            </a:r>
            <a:r>
              <a:rPr lang="ko-KR" altLang="ko-KR" b="1" kern="1800"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필수</a:t>
            </a:r>
            <a:r>
              <a:rPr lang="ko-KR" altLang="ko-KR" b="1" kern="1800" smtClean="0">
                <a:solidFill>
                  <a:srgbClr val="0F0F0F"/>
                </a:solidFill>
                <a:effectLst/>
                <a:latin typeface="맑은 고딕" panose="020B0503020000020004" pitchFamily="50" charset="-127"/>
                <a:ea typeface="Arial" panose="020B0604020202020204" pitchFamily="34" charset="0"/>
                <a:cs typeface="Times New Roman" panose="02020603050405020304" pitchFamily="18" charset="0"/>
              </a:rPr>
              <a:t> </a:t>
            </a:r>
            <a:r>
              <a:rPr lang="ko-KR" altLang="ko-KR" b="1" kern="1800"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라이브러리</a:t>
            </a:r>
            <a:r>
              <a:rPr lang="en-US" altLang="ko-KR" b="1" kern="1800"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   </a:t>
            </a:r>
            <a:r>
              <a:rPr lang="ko-KR" altLang="en-US" b="1" kern="1800"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믹스의 인공지능</a:t>
            </a:r>
            <a:endParaRPr lang="ko-KR" altLang="ko-KR" sz="1400" kern="100">
              <a:latin typeface="맑은 고딕" panose="020B0503020000020004" pitchFamily="50" charset="-127"/>
              <a:cs typeface="Times New Roman" panose="02020603050405020304" pitchFamily="18" charset="0"/>
            </a:endParaRPr>
          </a:p>
          <a:p>
            <a:pPr algn="just">
              <a:lnSpc>
                <a:spcPct val="107000"/>
              </a:lnSpc>
              <a:spcAft>
                <a:spcPts val="800"/>
              </a:spcAft>
            </a:pPr>
            <a:r>
              <a:rPr lang="en-US" altLang="ko-KR" sz="1400" kern="100">
                <a:latin typeface="맑은 고딕" panose="020B0503020000020004" pitchFamily="50" charset="-127"/>
                <a:cs typeface="Times New Roman" panose="02020603050405020304" pitchFamily="18" charset="0"/>
              </a:rPr>
              <a:t>https://www.youtube.com/watch?v=KdbPZNdFJU0</a:t>
            </a:r>
            <a:endParaRPr lang="ko-KR" altLang="ko-KR" sz="1400" kern="100">
              <a:latin typeface="맑은 고딕" panose="020B0503020000020004" pitchFamily="50" charset="-127"/>
              <a:cs typeface="Times New Roman" panose="02020603050405020304" pitchFamily="18" charset="0"/>
            </a:endParaRPr>
          </a:p>
        </p:txBody>
      </p:sp>
      <p:sp>
        <p:nvSpPr>
          <p:cNvPr id="5" name="직사각형 4"/>
          <p:cNvSpPr/>
          <p:nvPr/>
        </p:nvSpPr>
        <p:spPr>
          <a:xfrm>
            <a:off x="5495925" y="5791885"/>
            <a:ext cx="6096000" cy="646331"/>
          </a:xfrm>
          <a:prstGeom prst="rect">
            <a:avLst/>
          </a:prstGeom>
        </p:spPr>
        <p:txBody>
          <a:bodyPr>
            <a:spAutoFit/>
          </a:bodyPr>
          <a:lstStyle/>
          <a:p>
            <a:r>
              <a:rPr lang="ko-KR" altLang="en-US" smtClean="0"/>
              <a:t>https://colab.research.google.com/drive/1uLeXxHLwCPoDgCznExw_iXewWAbnt4a9?usp=sharing</a:t>
            </a:r>
            <a:endParaRPr lang="ko-KR" altLang="en-US"/>
          </a:p>
        </p:txBody>
      </p:sp>
      <p:sp>
        <p:nvSpPr>
          <p:cNvPr id="6" name="직사각형 5"/>
          <p:cNvSpPr/>
          <p:nvPr/>
        </p:nvSpPr>
        <p:spPr>
          <a:xfrm>
            <a:off x="552450" y="1377940"/>
            <a:ext cx="6096000" cy="1938992"/>
          </a:xfrm>
          <a:prstGeom prst="rect">
            <a:avLst/>
          </a:prstGeom>
        </p:spPr>
        <p:txBody>
          <a:bodyPr>
            <a:spAutoFit/>
          </a:bodyPr>
          <a:lstStyle/>
          <a:p>
            <a:r>
              <a:rPr lang="ko-KR" altLang="en-US" sz="1200" smtClean="0"/>
              <a:t>LangChain이란?</a:t>
            </a:r>
          </a:p>
          <a:p>
            <a:r>
              <a:rPr lang="ko-KR" altLang="en-US" sz="1200" smtClean="0"/>
              <a:t>Language : Large Language Model의 Language</a:t>
            </a:r>
          </a:p>
          <a:p>
            <a:r>
              <a:rPr lang="ko-KR" altLang="en-US" sz="1200" smtClean="0"/>
              <a:t>Chain: 모듈들을 체인으로 연결하여 다른 툴의 출력을 다음 툴의 입력으로 연결하는 방식</a:t>
            </a:r>
          </a:p>
          <a:p>
            <a:r>
              <a:rPr lang="ko-KR" altLang="en-US" sz="1200" smtClean="0"/>
              <a:t>예: 검색 -&gt; OpenAI(LLM) -&gt; 계산</a:t>
            </a:r>
          </a:p>
          <a:p>
            <a:r>
              <a:rPr lang="ko-KR" altLang="en-US" sz="1200" smtClean="0"/>
              <a:t>LLM(Large Language Model)을 이용해서 뭔가 만들때 쓸수 있는 툴/라이브러리 모음.</a:t>
            </a:r>
          </a:p>
          <a:p>
            <a:r>
              <a:rPr lang="ko-KR" altLang="en-US" sz="1200" smtClean="0"/>
              <a:t>파이썬과 자바스크립트 라이브러리를 제공.</a:t>
            </a:r>
          </a:p>
          <a:p>
            <a:r>
              <a:rPr lang="ko-KR" altLang="en-US" sz="1200" smtClean="0"/>
              <a:t>검색, 메모리, 계산, 요약, 색인, Agent(에이전트) 등의 기능을 제공</a:t>
            </a:r>
          </a:p>
          <a:p>
            <a:r>
              <a:rPr lang="ko-KR" altLang="en-US" sz="1200" smtClean="0"/>
              <a:t>모듈화로 쉽게 부품을 갈아끼울수 있음</a:t>
            </a:r>
          </a:p>
          <a:p>
            <a:r>
              <a:rPr lang="ko-KR" altLang="en-US" sz="1200" smtClean="0"/>
              <a:t>LLM은 기본 OpenAI (text-davinci-003) 이용</a:t>
            </a:r>
            <a:endParaRPr lang="ko-KR" altLang="en-US" sz="1200"/>
          </a:p>
        </p:txBody>
      </p:sp>
      <p:sp>
        <p:nvSpPr>
          <p:cNvPr id="2" name="직사각형 1"/>
          <p:cNvSpPr/>
          <p:nvPr/>
        </p:nvSpPr>
        <p:spPr>
          <a:xfrm>
            <a:off x="638175" y="3436475"/>
            <a:ext cx="6096000" cy="1754326"/>
          </a:xfrm>
          <a:prstGeom prst="rect">
            <a:avLst/>
          </a:prstGeom>
        </p:spPr>
        <p:txBody>
          <a:bodyPr>
            <a:spAutoFit/>
          </a:bodyPr>
          <a:lstStyle/>
          <a:p>
            <a:r>
              <a:rPr lang="ko-KR" altLang="en-US" sz="1200">
                <a:solidFill>
                  <a:srgbClr val="000000"/>
                </a:solidFill>
                <a:latin typeface="Courier New" panose="02070309020205020404" pitchFamily="49" charset="0"/>
              </a:rPr>
              <a:t/>
            </a:r>
            <a:br>
              <a:rPr lang="ko-KR" altLang="en-US" sz="1200">
                <a:solidFill>
                  <a:srgbClr val="000000"/>
                </a:solidFill>
                <a:latin typeface="Courier New" panose="02070309020205020404" pitchFamily="49" charset="0"/>
              </a:rPr>
            </a:br>
            <a:r>
              <a:rPr lang="en-US" altLang="ko-KR" sz="1200">
                <a:solidFill>
                  <a:srgbClr val="0000FF"/>
                </a:solidFill>
                <a:latin typeface="Courier New" panose="02070309020205020404" pitchFamily="49" charset="0"/>
              </a:rPr>
              <a:t>---</a:t>
            </a:r>
            <a:endParaRPr lang="ko-KR" altLang="en-US" sz="1200">
              <a:solidFill>
                <a:srgbClr val="000000"/>
              </a:solidFill>
              <a:latin typeface="Courier New" panose="02070309020205020404" pitchFamily="49" charset="0"/>
            </a:endParaRPr>
          </a:p>
          <a:p>
            <a:r>
              <a:rPr lang="ko-KR" altLang="en-US" sz="1200">
                <a:solidFill>
                  <a:srgbClr val="000000"/>
                </a:solidFill>
                <a:latin typeface="Courier New" panose="02070309020205020404" pitchFamily="49" charset="0"/>
              </a:rPr>
              <a:t>참고 자료</a:t>
            </a:r>
            <a:r>
              <a:rPr lang="en-US" altLang="ko-KR" sz="1200">
                <a:solidFill>
                  <a:srgbClr val="000000"/>
                </a:solidFill>
                <a:latin typeface="Courier New" panose="02070309020205020404" pitchFamily="49" charset="0"/>
              </a:rPr>
              <a:t>:</a:t>
            </a:r>
          </a:p>
          <a:p>
            <a:r>
              <a:rPr lang="ko-KR" altLang="en-US" sz="1200">
                <a:solidFill>
                  <a:srgbClr val="0000FF"/>
                </a:solidFill>
                <a:latin typeface="Courier New" panose="02070309020205020404" pitchFamily="49" charset="0"/>
              </a:rPr>
              <a:t>* </a:t>
            </a:r>
            <a:r>
              <a:rPr lang="ko-KR" altLang="en-US" sz="1200">
                <a:solidFill>
                  <a:srgbClr val="000000"/>
                </a:solidFill>
                <a:latin typeface="Courier New" panose="02070309020205020404" pitchFamily="49" charset="0"/>
              </a:rPr>
              <a:t>파이썬 문서</a:t>
            </a:r>
            <a:r>
              <a:rPr lang="en-US" altLang="ko-KR" sz="1200">
                <a:solidFill>
                  <a:srgbClr val="000000"/>
                </a:solidFill>
                <a:latin typeface="Courier New" panose="02070309020205020404" pitchFamily="49" charset="0"/>
              </a:rPr>
              <a:t>: https://python.langchain.com/en/latest/index.html</a:t>
            </a:r>
          </a:p>
          <a:p>
            <a:r>
              <a:rPr lang="ko-KR" altLang="en-US" sz="1200">
                <a:solidFill>
                  <a:srgbClr val="0000FF"/>
                </a:solidFill>
                <a:latin typeface="Courier New" panose="02070309020205020404" pitchFamily="49" charset="0"/>
              </a:rPr>
              <a:t>* </a:t>
            </a:r>
            <a:r>
              <a:rPr lang="ko-KR" altLang="en-US" sz="1200">
                <a:solidFill>
                  <a:srgbClr val="000000"/>
                </a:solidFill>
                <a:latin typeface="Courier New" panose="02070309020205020404" pitchFamily="49" charset="0"/>
              </a:rPr>
              <a:t>개념 문서</a:t>
            </a:r>
            <a:r>
              <a:rPr lang="en-US" altLang="ko-KR" sz="1200">
                <a:solidFill>
                  <a:srgbClr val="000000"/>
                </a:solidFill>
                <a:latin typeface="Courier New" panose="02070309020205020404" pitchFamily="49" charset="0"/>
              </a:rPr>
              <a:t>: https://docs.langchain.com/docs/</a:t>
            </a:r>
          </a:p>
          <a:p>
            <a:r>
              <a:rPr lang="ko-KR" altLang="en-US" sz="1200">
                <a:solidFill>
                  <a:srgbClr val="0000FF"/>
                </a:solidFill>
                <a:latin typeface="Courier New" panose="02070309020205020404" pitchFamily="49" charset="0"/>
              </a:rPr>
              <a:t>* </a:t>
            </a:r>
            <a:r>
              <a:rPr lang="ko-KR" altLang="en-US" sz="1200">
                <a:solidFill>
                  <a:srgbClr val="000000"/>
                </a:solidFill>
                <a:latin typeface="Courier New" panose="02070309020205020404" pitchFamily="49" charset="0"/>
              </a:rPr>
              <a:t>소스</a:t>
            </a:r>
            <a:r>
              <a:rPr lang="en-US" altLang="ko-KR" sz="1200">
                <a:solidFill>
                  <a:srgbClr val="000000"/>
                </a:solidFill>
                <a:latin typeface="Courier New" panose="02070309020205020404" pitchFamily="49" charset="0"/>
              </a:rPr>
              <a:t>: https://github.com/hwchase17/langchain</a:t>
            </a:r>
          </a:p>
          <a:p>
            <a:r>
              <a:rPr lang="en-US" altLang="ko-KR" sz="1200">
                <a:solidFill>
                  <a:srgbClr val="000000"/>
                </a:solidFill>
                <a:latin typeface="Courier New" panose="02070309020205020404" pitchFamily="49" charset="0"/>
              </a:rPr>
              <a:t/>
            </a:r>
            <a:br>
              <a:rPr lang="en-US" altLang="ko-KR" sz="1200">
                <a:solidFill>
                  <a:srgbClr val="000000"/>
                </a:solidFill>
                <a:latin typeface="Courier New" panose="02070309020205020404" pitchFamily="49" charset="0"/>
              </a:rPr>
            </a:br>
            <a:r>
              <a:rPr lang="ko-KR" altLang="en-US" sz="1200">
                <a:solidFill>
                  <a:srgbClr val="0000FF"/>
                </a:solidFill>
                <a:latin typeface="Courier New" panose="02070309020205020404" pitchFamily="49" charset="0"/>
              </a:rPr>
              <a:t>* </a:t>
            </a:r>
            <a:r>
              <a:rPr lang="ko-KR" altLang="en-US" sz="1200">
                <a:solidFill>
                  <a:srgbClr val="000000"/>
                </a:solidFill>
                <a:latin typeface="Courier New" panose="02070309020205020404" pitchFamily="49" charset="0"/>
              </a:rPr>
              <a:t>설명 유튜브 영상</a:t>
            </a:r>
            <a:r>
              <a:rPr lang="en-US" altLang="ko-KR" sz="1200">
                <a:solidFill>
                  <a:srgbClr val="000000"/>
                </a:solidFill>
                <a:latin typeface="Courier New" panose="02070309020205020404" pitchFamily="49" charset="0"/>
              </a:rPr>
              <a:t>: https://youtu.be/KdbPZNdFJU0</a:t>
            </a:r>
          </a:p>
          <a:p>
            <a:r>
              <a:rPr lang="en-US" altLang="ko-KR" sz="1200">
                <a:solidFill>
                  <a:srgbClr val="0000FF"/>
                </a:solidFill>
                <a:latin typeface="Courier New" panose="02070309020205020404" pitchFamily="49" charset="0"/>
              </a:rPr>
              <a:t>---</a:t>
            </a:r>
            <a:endParaRPr lang="ko-KR" altLang="en-US" sz="1200" b="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39710885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p:cNvSpPr/>
          <p:nvPr/>
        </p:nvSpPr>
        <p:spPr>
          <a:xfrm>
            <a:off x="311171" y="453509"/>
            <a:ext cx="8622040" cy="646331"/>
          </a:xfrm>
          <a:prstGeom prst="rect">
            <a:avLst/>
          </a:prstGeom>
        </p:spPr>
        <p:txBody>
          <a:bodyPr wrap="none">
            <a:spAutoFit/>
          </a:bodyPr>
          <a:lstStyle/>
          <a:p>
            <a:r>
              <a:rPr lang="en-US" altLang="ko-KR" b="1"/>
              <a:t>LangChain </a:t>
            </a:r>
            <a:r>
              <a:rPr lang="ko-KR" altLang="en-US" b="1"/>
              <a:t>실전 프로그래밍 </a:t>
            </a:r>
            <a:r>
              <a:rPr lang="en-US" altLang="ko-KR" b="1"/>
              <a:t>#2: </a:t>
            </a:r>
            <a:r>
              <a:rPr lang="ko-KR" altLang="en-US" b="1"/>
              <a:t>개발에 도움이 되는 정보 </a:t>
            </a:r>
            <a:r>
              <a:rPr lang="en-US" altLang="ko-KR" b="1"/>
              <a:t>/ </a:t>
            </a:r>
            <a:r>
              <a:rPr lang="ko-KR" altLang="en-US" b="1"/>
              <a:t>한글 </a:t>
            </a:r>
            <a:r>
              <a:rPr lang="en-US" altLang="ko-KR" b="1"/>
              <a:t>Summarization</a:t>
            </a:r>
          </a:p>
          <a:p>
            <a:r>
              <a:rPr lang="ko-KR" altLang="en-US" smtClean="0"/>
              <a:t>https://www.youtube.com/watch?v=_oMzRlj7lkc</a:t>
            </a:r>
            <a:endParaRPr lang="ko-KR" altLang="en-US"/>
          </a:p>
        </p:txBody>
      </p:sp>
      <p:sp>
        <p:nvSpPr>
          <p:cNvPr id="6" name="직사각형 5"/>
          <p:cNvSpPr/>
          <p:nvPr/>
        </p:nvSpPr>
        <p:spPr>
          <a:xfrm>
            <a:off x="238125" y="6411010"/>
            <a:ext cx="11725275" cy="276999"/>
          </a:xfrm>
          <a:prstGeom prst="rect">
            <a:avLst/>
          </a:prstGeom>
        </p:spPr>
        <p:txBody>
          <a:bodyPr wrap="square">
            <a:spAutoFit/>
          </a:bodyPr>
          <a:lstStyle/>
          <a:p>
            <a:r>
              <a:rPr lang="ko-KR" altLang="en-US" sz="1200" smtClean="0"/>
              <a:t>https://colab.research.google.com/drive/1pcr3kup-RAEsu72gAkbYcVQmopbczIGT?usp=sharing</a:t>
            </a:r>
            <a:endParaRPr lang="ko-KR" altLang="en-US" sz="1200"/>
          </a:p>
        </p:txBody>
      </p:sp>
      <p:sp>
        <p:nvSpPr>
          <p:cNvPr id="7" name="직사각형 6"/>
          <p:cNvSpPr/>
          <p:nvPr/>
        </p:nvSpPr>
        <p:spPr>
          <a:xfrm>
            <a:off x="638175" y="1183065"/>
            <a:ext cx="6096000" cy="1938992"/>
          </a:xfrm>
          <a:prstGeom prst="rect">
            <a:avLst/>
          </a:prstGeom>
        </p:spPr>
        <p:txBody>
          <a:bodyPr>
            <a:spAutoFit/>
          </a:bodyPr>
          <a:lstStyle/>
          <a:p>
            <a:r>
              <a:rPr lang="ko-KR" altLang="en-US" sz="1200" smtClean="0"/>
              <a:t>LangChain #2 - 개발에 도움이 되는 정보</a:t>
            </a:r>
          </a:p>
          <a:p>
            <a:r>
              <a:rPr lang="ko-KR" altLang="en-US" sz="1200" smtClean="0"/>
              <a:t>API 사용금액 조회</a:t>
            </a:r>
          </a:p>
          <a:p>
            <a:r>
              <a:rPr lang="ko-KR" altLang="en-US" sz="1200" smtClean="0"/>
              <a:t>한글 Summarization</a:t>
            </a:r>
          </a:p>
          <a:p>
            <a:r>
              <a:rPr lang="ko-KR" altLang="en-US" sz="1200" smtClean="0"/>
              <a:t>Python 객체와 친해지기</a:t>
            </a:r>
          </a:p>
          <a:p>
            <a:r>
              <a:rPr lang="ko-KR" altLang="en-US" sz="1200" smtClean="0"/>
              <a:t>PromptLayer 서비스</a:t>
            </a:r>
          </a:p>
          <a:p>
            <a:r>
              <a:rPr lang="ko-KR" altLang="en-US" sz="1200" smtClean="0"/>
              <a:t>참고 자료:</a:t>
            </a:r>
          </a:p>
          <a:p>
            <a:endParaRPr lang="ko-KR" altLang="en-US" sz="1200" smtClean="0"/>
          </a:p>
          <a:p>
            <a:r>
              <a:rPr lang="ko-KR" altLang="en-US" sz="1200" smtClean="0"/>
              <a:t>파이썬 문서: https://python.langchain.com/en/latest/index.html</a:t>
            </a:r>
          </a:p>
          <a:p>
            <a:r>
              <a:rPr lang="ko-KR" altLang="en-US" sz="1200" smtClean="0"/>
              <a:t>개념 문서: https://docs.langchain.com/docs/</a:t>
            </a:r>
          </a:p>
          <a:p>
            <a:r>
              <a:rPr lang="ko-KR" altLang="en-US" sz="1200" smtClean="0"/>
              <a:t>소스: https://github.com/hwchase17/langchain</a:t>
            </a:r>
            <a:endParaRPr lang="ko-KR" altLang="en-US" sz="1200"/>
          </a:p>
        </p:txBody>
      </p:sp>
    </p:spTree>
    <p:extLst>
      <p:ext uri="{BB962C8B-B14F-4D97-AF65-F5344CB8AC3E}">
        <p14:creationId xmlns:p14="http://schemas.microsoft.com/office/powerpoint/2010/main" val="16429904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p:cNvSpPr/>
          <p:nvPr/>
        </p:nvSpPr>
        <p:spPr>
          <a:xfrm>
            <a:off x="311171" y="453509"/>
            <a:ext cx="10924016" cy="646331"/>
          </a:xfrm>
          <a:prstGeom prst="rect">
            <a:avLst/>
          </a:prstGeom>
        </p:spPr>
        <p:txBody>
          <a:bodyPr wrap="none">
            <a:spAutoFit/>
          </a:bodyPr>
          <a:lstStyle/>
          <a:p>
            <a:r>
              <a:rPr lang="en-US" altLang="ko-KR" b="1"/>
              <a:t>LangChain </a:t>
            </a:r>
            <a:r>
              <a:rPr lang="ko-KR" altLang="en-US" b="1"/>
              <a:t>실전 프로그래밍 </a:t>
            </a:r>
            <a:r>
              <a:rPr lang="en-US" altLang="ko-KR" b="1"/>
              <a:t>#3: </a:t>
            </a:r>
            <a:r>
              <a:rPr lang="ko-KR" altLang="en-US" b="1"/>
              <a:t>프롬프트 엔지니어링 강좌 </a:t>
            </a:r>
            <a:r>
              <a:rPr lang="en-US" altLang="ko-KR" b="1"/>
              <a:t>&amp; Chain </a:t>
            </a:r>
            <a:r>
              <a:rPr lang="ko-KR" altLang="en-US" b="1"/>
              <a:t>트리 형태로 보기</a:t>
            </a:r>
          </a:p>
          <a:p>
            <a:r>
              <a:rPr lang="en-US" altLang="ko-KR" smtClean="0"/>
              <a:t>https://www.youtube.com/watch?v=Y0clZkPT0VU&amp;list=PLo_iW4-JxSetdyIdeunPvVLvA_735kt1l&amp;index=3</a:t>
            </a:r>
            <a:endParaRPr lang="ko-KR" altLang="en-US"/>
          </a:p>
        </p:txBody>
      </p:sp>
      <p:sp>
        <p:nvSpPr>
          <p:cNvPr id="6" name="직사각형 5"/>
          <p:cNvSpPr/>
          <p:nvPr/>
        </p:nvSpPr>
        <p:spPr>
          <a:xfrm>
            <a:off x="238125" y="6411010"/>
            <a:ext cx="11725275" cy="276999"/>
          </a:xfrm>
          <a:prstGeom prst="rect">
            <a:avLst/>
          </a:prstGeom>
        </p:spPr>
        <p:txBody>
          <a:bodyPr wrap="square">
            <a:spAutoFit/>
          </a:bodyPr>
          <a:lstStyle/>
          <a:p>
            <a:r>
              <a:rPr lang="en-US" altLang="ko-KR" sz="1200" smtClean="0"/>
              <a:t>https://colab.research.google.com/drive/18qXbTBD6vQNkul20OM58doCMg2ughVHX?usp=sharing</a:t>
            </a:r>
            <a:endParaRPr lang="ko-KR" altLang="en-US" sz="1200"/>
          </a:p>
        </p:txBody>
      </p:sp>
      <p:sp>
        <p:nvSpPr>
          <p:cNvPr id="7" name="직사각형 6"/>
          <p:cNvSpPr/>
          <p:nvPr/>
        </p:nvSpPr>
        <p:spPr>
          <a:xfrm>
            <a:off x="638175" y="1183065"/>
            <a:ext cx="6096000" cy="276999"/>
          </a:xfrm>
          <a:prstGeom prst="rect">
            <a:avLst/>
          </a:prstGeom>
        </p:spPr>
        <p:txBody>
          <a:bodyPr>
            <a:spAutoFit/>
          </a:bodyPr>
          <a:lstStyle/>
          <a:p>
            <a:r>
              <a:rPr lang="en-US" altLang="ko-KR" sz="1200" smtClean="0"/>
              <a:t>-</a:t>
            </a:r>
            <a:endParaRPr lang="ko-KR" altLang="en-US" sz="1200"/>
          </a:p>
        </p:txBody>
      </p:sp>
      <p:sp>
        <p:nvSpPr>
          <p:cNvPr id="2" name="직사각형 1"/>
          <p:cNvSpPr/>
          <p:nvPr/>
        </p:nvSpPr>
        <p:spPr>
          <a:xfrm>
            <a:off x="638175" y="1497821"/>
            <a:ext cx="6096000" cy="4154984"/>
          </a:xfrm>
          <a:prstGeom prst="rect">
            <a:avLst/>
          </a:prstGeom>
        </p:spPr>
        <p:txBody>
          <a:bodyPr>
            <a:spAutoFit/>
          </a:bodyPr>
          <a:lstStyle/>
          <a:p>
            <a:r>
              <a:rPr lang="ko-KR" altLang="en-US" sz="1200" smtClean="0"/>
              <a:t>LangChain #3</a:t>
            </a:r>
          </a:p>
          <a:p>
            <a:r>
              <a:rPr lang="ko-KR" altLang="en-US" sz="1200" smtClean="0"/>
              <a:t>ChatGPT Prompt Engineering for Developers 강좌 소개</a:t>
            </a:r>
          </a:p>
          <a:p>
            <a:r>
              <a:rPr lang="ko-KR" altLang="en-US" sz="1200" smtClean="0"/>
              <a:t>https://www.deeplearning.ai/short-courses/chatgpt-prompt-engineering-for-developers/</a:t>
            </a:r>
          </a:p>
          <a:p>
            <a:r>
              <a:rPr lang="ko-KR" altLang="en-US" sz="1200" smtClean="0"/>
              <a:t>1시간, 무료</a:t>
            </a:r>
          </a:p>
          <a:p>
            <a:r>
              <a:rPr lang="ko-KR" altLang="en-US" sz="1200" smtClean="0"/>
              <a:t>LangChain 객체 정보 트리 형태로 보기</a:t>
            </a:r>
            <a:endParaRPr lang="en-US" altLang="ko-KR" sz="1200" smtClean="0"/>
          </a:p>
          <a:p>
            <a:endParaRPr lang="en-US" altLang="ko-KR" sz="1200"/>
          </a:p>
          <a:p>
            <a:endParaRPr lang="en-US" altLang="ko-KR" sz="1200" smtClean="0"/>
          </a:p>
          <a:p>
            <a:r>
              <a:rPr lang="en-US" altLang="ko-KR" sz="1200" smtClean="0">
                <a:hlinkClick r:id="rId2"/>
              </a:rPr>
              <a:t>https://github.com/langchain-ai/langchain</a:t>
            </a:r>
            <a:endParaRPr lang="en-US" altLang="ko-KR" sz="1200" smtClean="0"/>
          </a:p>
          <a:p>
            <a:endParaRPr lang="en-US" altLang="ko-KR" sz="1200"/>
          </a:p>
          <a:p>
            <a:endParaRPr lang="en-US" altLang="ko-KR" sz="1200" smtClean="0"/>
          </a:p>
          <a:p>
            <a:r>
              <a:rPr lang="en-US" altLang="ko-KR" sz="1200" smtClean="0"/>
              <a:t>#@title show_tree : ipytree </a:t>
            </a:r>
            <a:r>
              <a:rPr lang="ko-KR" altLang="en-US" sz="1200" smtClean="0"/>
              <a:t>이용해서 </a:t>
            </a:r>
            <a:r>
              <a:rPr lang="en-US" altLang="ko-KR" sz="1200" smtClean="0"/>
              <a:t>chain </a:t>
            </a:r>
            <a:r>
              <a:rPr lang="ko-KR" altLang="en-US" sz="1200" smtClean="0"/>
              <a:t>정보 보기</a:t>
            </a:r>
          </a:p>
          <a:p>
            <a:r>
              <a:rPr lang="en-US" altLang="ko-KR" sz="1200" smtClean="0"/>
              <a:t>from google.colab import output</a:t>
            </a:r>
          </a:p>
          <a:p>
            <a:r>
              <a:rPr lang="en-US" altLang="ko-KR" sz="1200" smtClean="0"/>
              <a:t>output.enable_custom_widget_manager()</a:t>
            </a:r>
          </a:p>
          <a:p>
            <a:endParaRPr lang="en-US" altLang="ko-KR" sz="1200" smtClean="0"/>
          </a:p>
          <a:p>
            <a:r>
              <a:rPr lang="en-US" altLang="ko-KR" sz="1200" smtClean="0"/>
              <a:t>from ipytree import Tree, Node</a:t>
            </a:r>
          </a:p>
          <a:p>
            <a:endParaRPr lang="en-US" altLang="ko-KR" sz="1200" smtClean="0"/>
          </a:p>
          <a:p>
            <a:r>
              <a:rPr lang="en-US" altLang="ko-KR" sz="1200" smtClean="0"/>
              <a:t>def show_tree(obj, onclick=None, parent=None):</a:t>
            </a:r>
          </a:p>
          <a:p>
            <a:r>
              <a:rPr lang="en-US" altLang="ko-KR" sz="1200" smtClean="0"/>
              <a:t>  def handle_click(event):</a:t>
            </a:r>
          </a:p>
          <a:p>
            <a:r>
              <a:rPr lang="en-US" altLang="ko-KR" sz="1200" smtClean="0"/>
              <a:t>    if onclick is not None:</a:t>
            </a:r>
          </a:p>
          <a:p>
            <a:r>
              <a:rPr lang="en-US" altLang="ko-KR" sz="1200" smtClean="0"/>
              <a:t>      onclick(event['owner'].key, event['owner'].text)</a:t>
            </a:r>
          </a:p>
          <a:p>
            <a:endParaRPr lang="ko-KR" altLang="en-US" sz="1200"/>
          </a:p>
        </p:txBody>
      </p:sp>
      <p:pic>
        <p:nvPicPr>
          <p:cNvPr id="4" name="그림 3"/>
          <p:cNvPicPr>
            <a:picLocks noChangeAspect="1"/>
          </p:cNvPicPr>
          <p:nvPr/>
        </p:nvPicPr>
        <p:blipFill>
          <a:blip r:embed="rId3"/>
          <a:stretch>
            <a:fillRect/>
          </a:stretch>
        </p:blipFill>
        <p:spPr>
          <a:xfrm>
            <a:off x="8302552" y="1676338"/>
            <a:ext cx="2825895" cy="2419474"/>
          </a:xfrm>
          <a:prstGeom prst="rect">
            <a:avLst/>
          </a:prstGeom>
        </p:spPr>
      </p:pic>
      <p:sp>
        <p:nvSpPr>
          <p:cNvPr id="8" name="직사각형 7"/>
          <p:cNvSpPr/>
          <p:nvPr/>
        </p:nvSpPr>
        <p:spPr>
          <a:xfrm>
            <a:off x="5254552" y="3918020"/>
            <a:ext cx="6096000" cy="2492990"/>
          </a:xfrm>
          <a:prstGeom prst="rect">
            <a:avLst/>
          </a:prstGeom>
        </p:spPr>
        <p:txBody>
          <a:bodyPr>
            <a:spAutoFit/>
          </a:bodyPr>
          <a:lstStyle/>
          <a:p>
            <a:r>
              <a:rPr lang="en-US" altLang="ko-KR" sz="1200" b="0" smtClean="0">
                <a:solidFill>
                  <a:srgbClr val="008000"/>
                </a:solidFill>
                <a:effectLst/>
                <a:latin typeface="Courier New" panose="02070309020205020404" pitchFamily="49" charset="0"/>
              </a:rPr>
              <a:t>#@title </a:t>
            </a:r>
            <a:r>
              <a:rPr lang="ko-KR" altLang="en-US" sz="1200" b="0" smtClean="0">
                <a:solidFill>
                  <a:srgbClr val="008000"/>
                </a:solidFill>
                <a:effectLst/>
                <a:latin typeface="Courier New" panose="02070309020205020404" pitchFamily="49" charset="0"/>
              </a:rPr>
              <a:t>웹페이지 읽어서 나누기</a:t>
            </a:r>
            <a:endParaRPr lang="ko-KR" altLang="en-US" sz="1200" b="0" smtClean="0">
              <a:solidFill>
                <a:srgbClr val="000000"/>
              </a:solidFill>
              <a:effectLst/>
              <a:latin typeface="Courier New" panose="02070309020205020404" pitchFamily="49" charset="0"/>
            </a:endParaRPr>
          </a:p>
          <a:p>
            <a:r>
              <a:rPr lang="en-US" altLang="ko-KR" sz="1200" b="0" smtClean="0">
                <a:solidFill>
                  <a:srgbClr val="AF00DB"/>
                </a:solidFill>
                <a:effectLst/>
                <a:latin typeface="Courier New" panose="02070309020205020404" pitchFamily="49" charset="0"/>
              </a:rPr>
              <a:t>from</a:t>
            </a:r>
            <a:r>
              <a:rPr lang="en-US" altLang="ko-KR" sz="1200" b="0" smtClean="0">
                <a:solidFill>
                  <a:srgbClr val="000000"/>
                </a:solidFill>
                <a:effectLst/>
                <a:latin typeface="Courier New" panose="02070309020205020404" pitchFamily="49" charset="0"/>
              </a:rPr>
              <a:t> langchain.document_loaders </a:t>
            </a:r>
            <a:r>
              <a:rPr lang="en-US" altLang="ko-KR" sz="1200" b="0" smtClean="0">
                <a:solidFill>
                  <a:srgbClr val="AF00DB"/>
                </a:solidFill>
                <a:effectLst/>
                <a:latin typeface="Courier New" panose="02070309020205020404" pitchFamily="49" charset="0"/>
              </a:rPr>
              <a:t>import</a:t>
            </a:r>
            <a:r>
              <a:rPr lang="en-US" altLang="ko-KR" sz="1200" b="0" smtClean="0">
                <a:solidFill>
                  <a:srgbClr val="000000"/>
                </a:solidFill>
                <a:effectLst/>
                <a:latin typeface="Courier New" panose="02070309020205020404" pitchFamily="49" charset="0"/>
              </a:rPr>
              <a:t> WebBaseLoader</a:t>
            </a:r>
          </a:p>
          <a:p>
            <a:r>
              <a:rPr lang="en-US" altLang="ko-KR" sz="1200" b="0" smtClean="0">
                <a:solidFill>
                  <a:srgbClr val="000000"/>
                </a:solidFill>
                <a:effectLst/>
                <a:latin typeface="Courier New" panose="02070309020205020404" pitchFamily="49" charset="0"/>
              </a:rPr>
              <a:t/>
            </a:r>
            <a:br>
              <a:rPr lang="en-US" altLang="ko-KR" sz="1200" b="0" smtClean="0">
                <a:solidFill>
                  <a:srgbClr val="000000"/>
                </a:solidFill>
                <a:effectLst/>
                <a:latin typeface="Courier New" panose="02070309020205020404" pitchFamily="49" charset="0"/>
              </a:rPr>
            </a:br>
            <a:r>
              <a:rPr lang="en-US" altLang="ko-KR" sz="1200" b="0" smtClean="0">
                <a:solidFill>
                  <a:srgbClr val="000000"/>
                </a:solidFill>
                <a:effectLst/>
                <a:latin typeface="Courier New" panose="02070309020205020404" pitchFamily="49" charset="0"/>
              </a:rPr>
              <a:t>loader = WebBaseLoader(web_path=</a:t>
            </a:r>
            <a:r>
              <a:rPr lang="en-US" altLang="ko-KR" sz="1200" b="0" smtClean="0">
                <a:solidFill>
                  <a:srgbClr val="A31515"/>
                </a:solidFill>
                <a:effectLst/>
                <a:latin typeface="Courier New" panose="02070309020205020404" pitchFamily="49" charset="0"/>
              </a:rPr>
              <a:t>"https://ko.wikipedia.org/wiki/NewJeans"</a:t>
            </a:r>
            <a:r>
              <a:rPr lang="en-US" altLang="ko-KR" sz="1200" b="0" smtClean="0">
                <a:solidFill>
                  <a:srgbClr val="000000"/>
                </a:solidFill>
                <a:effectLst/>
                <a:latin typeface="Courier New" panose="02070309020205020404" pitchFamily="49" charset="0"/>
              </a:rPr>
              <a:t>)</a:t>
            </a:r>
          </a:p>
          <a:p>
            <a:r>
              <a:rPr lang="en-US" altLang="ko-KR" sz="1200" b="0" smtClean="0">
                <a:solidFill>
                  <a:srgbClr val="000000"/>
                </a:solidFill>
                <a:effectLst/>
                <a:latin typeface="Courier New" panose="02070309020205020404" pitchFamily="49" charset="0"/>
              </a:rPr>
              <a:t>documents = loader.load()</a:t>
            </a:r>
          </a:p>
          <a:p>
            <a:r>
              <a:rPr lang="en-US" altLang="ko-KR" sz="1200" b="0" smtClean="0">
                <a:solidFill>
                  <a:srgbClr val="000000"/>
                </a:solidFill>
                <a:effectLst/>
                <a:latin typeface="Courier New" panose="02070309020205020404" pitchFamily="49" charset="0"/>
              </a:rPr>
              <a:t/>
            </a:r>
            <a:br>
              <a:rPr lang="en-US" altLang="ko-KR" sz="1200" b="0" smtClean="0">
                <a:solidFill>
                  <a:srgbClr val="000000"/>
                </a:solidFill>
                <a:effectLst/>
                <a:latin typeface="Courier New" panose="02070309020205020404" pitchFamily="49" charset="0"/>
              </a:rPr>
            </a:br>
            <a:r>
              <a:rPr lang="en-US" altLang="ko-KR" sz="1200" b="0" smtClean="0">
                <a:solidFill>
                  <a:srgbClr val="AF00DB"/>
                </a:solidFill>
                <a:effectLst/>
                <a:latin typeface="Courier New" panose="02070309020205020404" pitchFamily="49" charset="0"/>
              </a:rPr>
              <a:t>from</a:t>
            </a:r>
            <a:r>
              <a:rPr lang="en-US" altLang="ko-KR" sz="1200" b="0" smtClean="0">
                <a:solidFill>
                  <a:srgbClr val="000000"/>
                </a:solidFill>
                <a:effectLst/>
                <a:latin typeface="Courier New" panose="02070309020205020404" pitchFamily="49" charset="0"/>
              </a:rPr>
              <a:t> langchain.text_splitter </a:t>
            </a:r>
            <a:r>
              <a:rPr lang="en-US" altLang="ko-KR" sz="1200" b="0" smtClean="0">
                <a:solidFill>
                  <a:srgbClr val="AF00DB"/>
                </a:solidFill>
                <a:effectLst/>
                <a:latin typeface="Courier New" panose="02070309020205020404" pitchFamily="49" charset="0"/>
              </a:rPr>
              <a:t>import</a:t>
            </a:r>
            <a:r>
              <a:rPr lang="en-US" altLang="ko-KR" sz="1200" b="0" smtClean="0">
                <a:solidFill>
                  <a:srgbClr val="000000"/>
                </a:solidFill>
                <a:effectLst/>
                <a:latin typeface="Courier New" panose="02070309020205020404" pitchFamily="49" charset="0"/>
              </a:rPr>
              <a:t> RecursiveCharacterTextSplitter</a:t>
            </a:r>
          </a:p>
          <a:p>
            <a:r>
              <a:rPr lang="en-US" altLang="ko-KR" sz="1200" b="0" smtClean="0">
                <a:solidFill>
                  <a:srgbClr val="000000"/>
                </a:solidFill>
                <a:effectLst/>
                <a:latin typeface="Courier New" panose="02070309020205020404" pitchFamily="49" charset="0"/>
              </a:rPr>
              <a:t>text_splitter = RecursiveCharacterTextSplitter(chunk_size=</a:t>
            </a:r>
            <a:r>
              <a:rPr lang="en-US" altLang="ko-KR" sz="1200" b="0" smtClean="0">
                <a:solidFill>
                  <a:srgbClr val="098156"/>
                </a:solidFill>
                <a:effectLst/>
                <a:latin typeface="Courier New" panose="02070309020205020404" pitchFamily="49" charset="0"/>
              </a:rPr>
              <a:t>1000</a:t>
            </a:r>
            <a:r>
              <a:rPr lang="en-US" altLang="ko-KR" sz="1200" b="0" smtClean="0">
                <a:solidFill>
                  <a:srgbClr val="000000"/>
                </a:solidFill>
                <a:effectLst/>
                <a:latin typeface="Courier New" panose="02070309020205020404" pitchFamily="49" charset="0"/>
              </a:rPr>
              <a:t>, chunk_overlap=</a:t>
            </a:r>
            <a:r>
              <a:rPr lang="en-US" altLang="ko-KR" sz="1200" b="0" smtClean="0">
                <a:solidFill>
                  <a:srgbClr val="098156"/>
                </a:solidFill>
                <a:effectLst/>
                <a:latin typeface="Courier New" panose="02070309020205020404" pitchFamily="49" charset="0"/>
              </a:rPr>
              <a:t>0</a:t>
            </a:r>
            <a:r>
              <a:rPr lang="en-US" altLang="ko-KR" sz="1200" b="0" smtClean="0">
                <a:solidFill>
                  <a:srgbClr val="000000"/>
                </a:solidFill>
                <a:effectLst/>
                <a:latin typeface="Courier New" panose="02070309020205020404" pitchFamily="49" charset="0"/>
              </a:rPr>
              <a:t>)</a:t>
            </a:r>
          </a:p>
          <a:p>
            <a:r>
              <a:rPr lang="en-US" altLang="ko-KR" sz="1200" b="0" smtClean="0">
                <a:solidFill>
                  <a:srgbClr val="000000"/>
                </a:solidFill>
                <a:effectLst/>
                <a:latin typeface="Courier New" panose="02070309020205020404" pitchFamily="49" charset="0"/>
              </a:rPr>
              <a:t>docs = text_splitter.split_documents(documents)</a:t>
            </a:r>
          </a:p>
          <a:p>
            <a:r>
              <a:rPr lang="en-US" altLang="ko-KR" sz="1200" b="0" smtClean="0">
                <a:solidFill>
                  <a:srgbClr val="795E26"/>
                </a:solidFill>
                <a:effectLst/>
                <a:latin typeface="Courier New" panose="02070309020205020404" pitchFamily="49" charset="0"/>
              </a:rPr>
              <a:t>len</a:t>
            </a:r>
            <a:r>
              <a:rPr lang="en-US" altLang="ko-KR" sz="1200" b="0" smtClean="0">
                <a:solidFill>
                  <a:srgbClr val="000000"/>
                </a:solidFill>
                <a:effectLst/>
                <a:latin typeface="Courier New" panose="02070309020205020404" pitchFamily="49" charset="0"/>
              </a:rPr>
              <a:t>(docs)</a:t>
            </a:r>
            <a:endParaRPr lang="en-US" altLang="ko-KR" sz="1200" b="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29413627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p:cNvSpPr/>
          <p:nvPr/>
        </p:nvSpPr>
        <p:spPr>
          <a:xfrm>
            <a:off x="311171" y="453509"/>
            <a:ext cx="10925620" cy="646331"/>
          </a:xfrm>
          <a:prstGeom prst="rect">
            <a:avLst/>
          </a:prstGeom>
        </p:spPr>
        <p:txBody>
          <a:bodyPr wrap="none">
            <a:spAutoFit/>
          </a:bodyPr>
          <a:lstStyle/>
          <a:p>
            <a:r>
              <a:rPr lang="en-US" altLang="ko-KR" b="1"/>
              <a:t>Langchain </a:t>
            </a:r>
            <a:r>
              <a:rPr lang="ko-KR" altLang="en-US" b="1"/>
              <a:t>실전 프로그래밍 </a:t>
            </a:r>
            <a:r>
              <a:rPr lang="en-US" altLang="ko-KR" b="1"/>
              <a:t>#4 - </a:t>
            </a:r>
            <a:r>
              <a:rPr lang="ko-KR" altLang="en-US" b="1"/>
              <a:t>외부 서비스 없이 </a:t>
            </a:r>
            <a:r>
              <a:rPr lang="en-US" altLang="ko-KR" b="1"/>
              <a:t>PC</a:t>
            </a:r>
            <a:r>
              <a:rPr lang="ko-KR" altLang="en-US" b="1"/>
              <a:t>에서 독립적으로 돌리기</a:t>
            </a:r>
          </a:p>
          <a:p>
            <a:r>
              <a:rPr lang="en-US" altLang="ko-KR" smtClean="0"/>
              <a:t>https://www.youtube.com/watch?v=FXy2hGlnavA&amp;list=PLo_iW4-JxSetdyIdeunPvVLvA_735kt1l&amp;index=4</a:t>
            </a:r>
            <a:endParaRPr lang="ko-KR" altLang="en-US"/>
          </a:p>
        </p:txBody>
      </p:sp>
      <p:sp>
        <p:nvSpPr>
          <p:cNvPr id="3" name="직사각형 2"/>
          <p:cNvSpPr/>
          <p:nvPr/>
        </p:nvSpPr>
        <p:spPr>
          <a:xfrm>
            <a:off x="424070" y="1727608"/>
            <a:ext cx="10694504" cy="276999"/>
          </a:xfrm>
          <a:prstGeom prst="rect">
            <a:avLst/>
          </a:prstGeom>
        </p:spPr>
        <p:txBody>
          <a:bodyPr wrap="square">
            <a:spAutoFit/>
          </a:bodyPr>
          <a:lstStyle/>
          <a:p>
            <a:r>
              <a:rPr lang="ko-KR" altLang="en-US" sz="1200" smtClean="0"/>
              <a:t>https://github.com/mix1009/langchain-text-generation-webui/blob/main/Local_Langchain.ipynb</a:t>
            </a:r>
            <a:endParaRPr lang="ko-KR" altLang="en-US" sz="1200"/>
          </a:p>
        </p:txBody>
      </p:sp>
    </p:spTree>
    <p:extLst>
      <p:ext uri="{BB962C8B-B14F-4D97-AF65-F5344CB8AC3E}">
        <p14:creationId xmlns:p14="http://schemas.microsoft.com/office/powerpoint/2010/main" val="3064672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p:cNvSpPr/>
          <p:nvPr/>
        </p:nvSpPr>
        <p:spPr>
          <a:xfrm>
            <a:off x="447675" y="391990"/>
            <a:ext cx="11041960" cy="998800"/>
          </a:xfrm>
          <a:prstGeom prst="rect">
            <a:avLst/>
          </a:prstGeom>
        </p:spPr>
        <p:txBody>
          <a:bodyPr wrap="square">
            <a:spAutoFit/>
          </a:bodyPr>
          <a:lstStyle/>
          <a:p>
            <a:r>
              <a:rPr lang="en-US" altLang="ko-KR" b="1"/>
              <a:t>Langchain </a:t>
            </a:r>
            <a:r>
              <a:rPr lang="ko-KR" altLang="en-US" b="1"/>
              <a:t>실전 프로그래밍 </a:t>
            </a:r>
            <a:r>
              <a:rPr lang="en-US" altLang="ko-KR" b="1"/>
              <a:t>#5 - </a:t>
            </a:r>
            <a:r>
              <a:rPr lang="ko-KR" altLang="en-US" b="1"/>
              <a:t>로컬 </a:t>
            </a:r>
            <a:r>
              <a:rPr lang="en-US" altLang="ko-KR" b="1"/>
              <a:t>PC </a:t>
            </a:r>
            <a:r>
              <a:rPr lang="ko-KR" altLang="en-US" b="1"/>
              <a:t>개발환경 세팅</a:t>
            </a:r>
            <a:r>
              <a:rPr lang="en-US" altLang="ko-KR" b="1"/>
              <a:t>, SearXNG </a:t>
            </a:r>
            <a:r>
              <a:rPr lang="ko-KR" altLang="en-US" b="1"/>
              <a:t>설치</a:t>
            </a:r>
          </a:p>
          <a:p>
            <a:pPr algn="just">
              <a:lnSpc>
                <a:spcPct val="107000"/>
              </a:lnSpc>
              <a:spcAft>
                <a:spcPts val="800"/>
              </a:spcAft>
            </a:pPr>
            <a:r>
              <a:rPr lang="en-US" altLang="ko-KR" kern="100">
                <a:latin typeface="맑은 고딕" panose="020B0503020000020004" pitchFamily="50" charset="-127"/>
                <a:cs typeface="Times New Roman" panose="02020603050405020304" pitchFamily="18" charset="0"/>
              </a:rPr>
              <a:t> </a:t>
            </a:r>
            <a:endParaRPr lang="ko-KR" altLang="ko-KR" kern="100">
              <a:latin typeface="맑은 고딕" panose="020B0503020000020004" pitchFamily="50" charset="-127"/>
              <a:cs typeface="Times New Roman" panose="02020603050405020304" pitchFamily="18" charset="0"/>
            </a:endParaRPr>
          </a:p>
          <a:p>
            <a:pPr algn="just">
              <a:lnSpc>
                <a:spcPct val="107000"/>
              </a:lnSpc>
              <a:spcAft>
                <a:spcPts val="800"/>
              </a:spcAft>
            </a:pPr>
            <a:r>
              <a:rPr lang="en-US" altLang="ko-KR" sz="1400" kern="100" smtClean="0">
                <a:latin typeface="맑은 고딕" panose="020B0503020000020004" pitchFamily="50" charset="-127"/>
                <a:cs typeface="Times New Roman" panose="02020603050405020304" pitchFamily="18" charset="0"/>
              </a:rPr>
              <a:t>https://www.youtube.com/watch?v=GHfw2AWWa9k&amp;list=PLo_iW4-JxSetdyIdeunPvVLvA_735kt1l&amp;index=5</a:t>
            </a:r>
            <a:endParaRPr lang="ko-KR" altLang="ko-KR" sz="1400" kern="100">
              <a:latin typeface="맑은 고딕" panose="020B0503020000020004" pitchFamily="50" charset="-127"/>
              <a:cs typeface="Times New Roman" panose="02020603050405020304" pitchFamily="18" charset="0"/>
            </a:endParaRPr>
          </a:p>
        </p:txBody>
      </p:sp>
      <p:sp>
        <p:nvSpPr>
          <p:cNvPr id="3" name="직사각형 2"/>
          <p:cNvSpPr/>
          <p:nvPr/>
        </p:nvSpPr>
        <p:spPr>
          <a:xfrm>
            <a:off x="264629" y="1677108"/>
            <a:ext cx="5248275" cy="4708981"/>
          </a:xfrm>
          <a:prstGeom prst="rect">
            <a:avLst/>
          </a:prstGeom>
        </p:spPr>
        <p:txBody>
          <a:bodyPr wrap="square">
            <a:spAutoFit/>
          </a:bodyPr>
          <a:lstStyle/>
          <a:p>
            <a:r>
              <a:rPr lang="en-US" altLang="ko-KR" sz="1200" smtClean="0"/>
              <a:t>LangChain</a:t>
            </a:r>
            <a:r>
              <a:rPr lang="ko-KR" altLang="en-US" sz="1200" smtClean="0"/>
              <a:t>을 로컬 </a:t>
            </a:r>
            <a:r>
              <a:rPr lang="en-US" altLang="ko-KR" sz="1200" smtClean="0"/>
              <a:t>PC</a:t>
            </a:r>
            <a:r>
              <a:rPr lang="ko-KR" altLang="en-US" sz="1200" smtClean="0"/>
              <a:t>에 설치하는 방법에 대해서 설명합니다</a:t>
            </a:r>
            <a:r>
              <a:rPr lang="en-US" altLang="ko-KR" sz="1200" smtClean="0"/>
              <a:t>.</a:t>
            </a:r>
          </a:p>
          <a:p>
            <a:r>
              <a:rPr lang="en-US" altLang="ko-KR" sz="1200" smtClean="0"/>
              <a:t>4</a:t>
            </a:r>
            <a:r>
              <a:rPr lang="ko-KR" altLang="en-US" sz="1200" smtClean="0"/>
              <a:t>편에서 외부 서비스 없이 윈도우즈 </a:t>
            </a:r>
            <a:r>
              <a:rPr lang="en-US" altLang="ko-KR" sz="1200" smtClean="0"/>
              <a:t>PC</a:t>
            </a:r>
            <a:r>
              <a:rPr lang="ko-KR" altLang="en-US" sz="1200" smtClean="0"/>
              <a:t>에서 </a:t>
            </a:r>
            <a:r>
              <a:rPr lang="en-US" altLang="ko-KR" sz="1200" smtClean="0"/>
              <a:t>LangChain</a:t>
            </a:r>
            <a:r>
              <a:rPr lang="ko-KR" altLang="en-US" sz="1200" smtClean="0"/>
              <a:t>과 </a:t>
            </a:r>
            <a:r>
              <a:rPr lang="en-US" altLang="ko-KR" sz="1200" smtClean="0"/>
              <a:t>LLM, </a:t>
            </a:r>
            <a:r>
              <a:rPr lang="ko-KR" altLang="en-US" sz="1200" smtClean="0"/>
              <a:t>검색 서비스까지 돌렸는데</a:t>
            </a:r>
            <a:r>
              <a:rPr lang="en-US" altLang="ko-KR" sz="1200" smtClean="0"/>
              <a:t>, </a:t>
            </a:r>
            <a:r>
              <a:rPr lang="ko-KR" altLang="en-US" sz="1200" smtClean="0"/>
              <a:t>개발 환경 세팅한 방법입니다</a:t>
            </a:r>
            <a:r>
              <a:rPr lang="en-US" altLang="ko-KR" sz="1200" smtClean="0"/>
              <a:t>. Nvidia </a:t>
            </a:r>
            <a:r>
              <a:rPr lang="ko-KR" altLang="en-US" sz="1200" smtClean="0"/>
              <a:t>카드</a:t>
            </a:r>
            <a:r>
              <a:rPr lang="en-US" altLang="ko-KR" sz="1200" smtClean="0"/>
              <a:t>(8GB </a:t>
            </a:r>
            <a:r>
              <a:rPr lang="ko-KR" altLang="en-US" sz="1200" smtClean="0"/>
              <a:t>이상 추천</a:t>
            </a:r>
            <a:r>
              <a:rPr lang="en-US" altLang="ko-KR" sz="1200" smtClean="0"/>
              <a:t>)</a:t>
            </a:r>
            <a:r>
              <a:rPr lang="ko-KR" altLang="en-US" sz="1200" smtClean="0"/>
              <a:t>가 있어야</a:t>
            </a:r>
            <a:r>
              <a:rPr lang="en-US" altLang="ko-KR" sz="1200" smtClean="0"/>
              <a:t>, LLM</a:t>
            </a:r>
            <a:r>
              <a:rPr lang="ko-KR" altLang="en-US" sz="1200" smtClean="0"/>
              <a:t>과 </a:t>
            </a:r>
            <a:r>
              <a:rPr lang="en-US" altLang="ko-KR" sz="1200" smtClean="0"/>
              <a:t>Embedding </a:t>
            </a:r>
            <a:r>
              <a:rPr lang="ko-KR" altLang="en-US" sz="1200" smtClean="0"/>
              <a:t>돌리는게 빠르고</a:t>
            </a:r>
            <a:r>
              <a:rPr lang="en-US" altLang="ko-KR" sz="1200" smtClean="0"/>
              <a:t>, CPU</a:t>
            </a:r>
            <a:r>
              <a:rPr lang="ko-KR" altLang="en-US" sz="1200" smtClean="0"/>
              <a:t>로 돌리면 느립니다</a:t>
            </a:r>
            <a:r>
              <a:rPr lang="en-US" altLang="ko-KR" sz="1200" smtClean="0"/>
              <a:t>.</a:t>
            </a:r>
          </a:p>
          <a:p>
            <a:endParaRPr lang="en-US" altLang="ko-KR" sz="1200" smtClean="0"/>
          </a:p>
          <a:p>
            <a:r>
              <a:rPr lang="en-US" altLang="ko-KR" sz="1200" smtClean="0"/>
              <a:t>* Anaconda / miniconda </a:t>
            </a:r>
            <a:r>
              <a:rPr lang="ko-KR" altLang="en-US" sz="1200" smtClean="0"/>
              <a:t>설치</a:t>
            </a:r>
          </a:p>
          <a:p>
            <a:r>
              <a:rPr lang="ko-KR" altLang="en-US" sz="1200" smtClean="0"/>
              <a:t>  </a:t>
            </a:r>
            <a:r>
              <a:rPr lang="en-US" altLang="ko-KR" sz="1200" smtClean="0"/>
              <a:t>- https://www.anaconda.com/</a:t>
            </a:r>
          </a:p>
          <a:p>
            <a:r>
              <a:rPr lang="en-US" altLang="ko-KR" sz="1200" smtClean="0"/>
              <a:t>  - https://docs.conda.io/en/latest/minic...</a:t>
            </a:r>
          </a:p>
          <a:p>
            <a:endParaRPr lang="en-US" altLang="ko-KR" sz="1200" smtClean="0"/>
          </a:p>
          <a:p>
            <a:r>
              <a:rPr lang="en-US" altLang="ko-KR" sz="1200" smtClean="0"/>
              <a:t>* CUDA Toolkit </a:t>
            </a:r>
            <a:r>
              <a:rPr lang="ko-KR" altLang="en-US" sz="1200" smtClean="0"/>
              <a:t>설치 </a:t>
            </a:r>
            <a:r>
              <a:rPr lang="en-US" altLang="ko-KR" sz="1200" smtClean="0"/>
              <a:t>(11.7 </a:t>
            </a:r>
            <a:r>
              <a:rPr lang="ko-KR" altLang="en-US" sz="1200" smtClean="0"/>
              <a:t>또는 </a:t>
            </a:r>
            <a:r>
              <a:rPr lang="en-US" altLang="ko-KR" sz="1200" smtClean="0"/>
              <a:t>11.8 </a:t>
            </a:r>
            <a:r>
              <a:rPr lang="ko-KR" altLang="en-US" sz="1200" smtClean="0"/>
              <a:t>설치</a:t>
            </a:r>
            <a:r>
              <a:rPr lang="en-US" altLang="ko-KR" sz="1200" smtClean="0"/>
              <a:t>)</a:t>
            </a:r>
          </a:p>
          <a:p>
            <a:r>
              <a:rPr lang="en-US" altLang="ko-KR" sz="1200" smtClean="0"/>
              <a:t>  - https://developer.nvidia.com/cuda-11-...</a:t>
            </a:r>
          </a:p>
          <a:p>
            <a:r>
              <a:rPr lang="en-US" altLang="ko-KR" sz="1200" smtClean="0"/>
              <a:t>  - https://developer.nvidia.com/cuda-11-...</a:t>
            </a:r>
          </a:p>
          <a:p>
            <a:endParaRPr lang="en-US" altLang="ko-KR" sz="1200" smtClean="0"/>
          </a:p>
          <a:p>
            <a:r>
              <a:rPr lang="en-US" altLang="ko-KR" sz="1200" smtClean="0"/>
              <a:t>* python </a:t>
            </a:r>
            <a:r>
              <a:rPr lang="ko-KR" altLang="en-US" sz="1200" smtClean="0"/>
              <a:t>설치 </a:t>
            </a:r>
            <a:r>
              <a:rPr lang="en-US" altLang="ko-KR" sz="1200" smtClean="0"/>
              <a:t>(Anaconda Powershell Prompt</a:t>
            </a:r>
            <a:r>
              <a:rPr lang="ko-KR" altLang="en-US" sz="1200" smtClean="0"/>
              <a:t>에서</a:t>
            </a:r>
            <a:r>
              <a:rPr lang="en-US" altLang="ko-KR" sz="1200" smtClean="0"/>
              <a:t>)</a:t>
            </a:r>
          </a:p>
          <a:p>
            <a:r>
              <a:rPr lang="en-US" altLang="ko-KR" sz="1200" smtClean="0"/>
              <a:t>conda create -n langchain python=3.10</a:t>
            </a:r>
          </a:p>
          <a:p>
            <a:r>
              <a:rPr lang="en-US" altLang="ko-KR" sz="1200" smtClean="0"/>
              <a:t>conda activate langchain</a:t>
            </a:r>
          </a:p>
          <a:p>
            <a:endParaRPr lang="en-US" altLang="ko-KR" sz="1200" smtClean="0"/>
          </a:p>
          <a:p>
            <a:r>
              <a:rPr lang="en-US" altLang="ko-KR" sz="1200" smtClean="0"/>
              <a:t>* pytorch </a:t>
            </a:r>
            <a:r>
              <a:rPr lang="ko-KR" altLang="en-US" sz="1200" smtClean="0"/>
              <a:t>설치 </a:t>
            </a:r>
            <a:r>
              <a:rPr lang="en-US" altLang="ko-KR" sz="1200" smtClean="0"/>
              <a:t>( https://pytorch.org/get-started/locally/ </a:t>
            </a:r>
            <a:r>
              <a:rPr lang="ko-KR" altLang="en-US" sz="1200" smtClean="0"/>
              <a:t>참고해서 명령 복사해서 설치 </a:t>
            </a:r>
            <a:r>
              <a:rPr lang="en-US" altLang="ko-KR" sz="1200" smtClean="0"/>
              <a:t>)</a:t>
            </a:r>
          </a:p>
          <a:p>
            <a:endParaRPr lang="en-US" altLang="ko-KR" sz="1200" smtClean="0"/>
          </a:p>
          <a:p>
            <a:r>
              <a:rPr lang="en-US" altLang="ko-KR" sz="1200" smtClean="0"/>
              <a:t>* </a:t>
            </a:r>
            <a:r>
              <a:rPr lang="ko-KR" altLang="en-US" sz="1200" smtClean="0"/>
              <a:t>주피터 노트북 설치</a:t>
            </a:r>
          </a:p>
          <a:p>
            <a:r>
              <a:rPr lang="en-US" altLang="ko-KR" sz="1200" smtClean="0"/>
              <a:t>pip install notebook</a:t>
            </a:r>
          </a:p>
          <a:p>
            <a:r>
              <a:rPr lang="en-US" altLang="ko-KR" sz="1200" smtClean="0"/>
              <a:t>jupyter notebook password</a:t>
            </a:r>
          </a:p>
          <a:p>
            <a:r>
              <a:rPr lang="en-US" altLang="ko-KR" sz="1200" smtClean="0"/>
              <a:t>jupyter notebook</a:t>
            </a:r>
            <a:endParaRPr lang="ko-KR" altLang="en-US" sz="1200"/>
          </a:p>
        </p:txBody>
      </p:sp>
      <p:sp>
        <p:nvSpPr>
          <p:cNvPr id="4" name="직사각형 3"/>
          <p:cNvSpPr/>
          <p:nvPr/>
        </p:nvSpPr>
        <p:spPr>
          <a:xfrm>
            <a:off x="5800485" y="1593883"/>
            <a:ext cx="6096000" cy="5632311"/>
          </a:xfrm>
          <a:prstGeom prst="rect">
            <a:avLst/>
          </a:prstGeom>
        </p:spPr>
        <p:txBody>
          <a:bodyPr>
            <a:spAutoFit/>
          </a:bodyPr>
          <a:lstStyle/>
          <a:p>
            <a:r>
              <a:rPr lang="ko-KR" altLang="en-US" sz="1200" smtClean="0"/>
              <a:t>* 패키지 설치</a:t>
            </a:r>
          </a:p>
          <a:p>
            <a:r>
              <a:rPr lang="en-US" altLang="ko-KR" sz="1200" smtClean="0"/>
              <a:t>pip install langchain</a:t>
            </a:r>
          </a:p>
          <a:p>
            <a:r>
              <a:rPr lang="en-US" altLang="ko-KR" sz="1200" smtClean="0"/>
              <a:t>pip install openai</a:t>
            </a:r>
          </a:p>
          <a:p>
            <a:r>
              <a:rPr lang="en-US" altLang="ko-KR" sz="1200" smtClean="0"/>
              <a:t>pip install faiss-cpu</a:t>
            </a:r>
          </a:p>
          <a:p>
            <a:r>
              <a:rPr lang="en-US" altLang="ko-KR" sz="1200" smtClean="0"/>
              <a:t>pip install tiktoken</a:t>
            </a:r>
          </a:p>
          <a:p>
            <a:r>
              <a:rPr lang="en-US" altLang="ko-KR" sz="1200" smtClean="0"/>
              <a:t>pip install sentence_transformers</a:t>
            </a:r>
          </a:p>
          <a:p>
            <a:r>
              <a:rPr lang="en-US" altLang="ko-KR" sz="1200" smtClean="0"/>
              <a:t>pip install google-search-results</a:t>
            </a:r>
          </a:p>
          <a:p>
            <a:r>
              <a:rPr lang="en-US" altLang="ko-KR" sz="1200" smtClean="0"/>
              <a:t>pip install wikipedia</a:t>
            </a:r>
          </a:p>
          <a:p>
            <a:endParaRPr lang="en-US" altLang="ko-KR" sz="1200" smtClean="0"/>
          </a:p>
          <a:p>
            <a:endParaRPr lang="en-US" altLang="ko-KR" sz="1200" smtClean="0"/>
          </a:p>
          <a:p>
            <a:r>
              <a:rPr lang="en-US" altLang="ko-KR" sz="1200" smtClean="0"/>
              <a:t>* Docker Desktop </a:t>
            </a:r>
            <a:r>
              <a:rPr lang="ko-KR" altLang="en-US" sz="1200" smtClean="0"/>
              <a:t>설치</a:t>
            </a:r>
          </a:p>
          <a:p>
            <a:r>
              <a:rPr lang="ko-KR" altLang="en-US" sz="1200" smtClean="0"/>
              <a:t>  </a:t>
            </a:r>
            <a:r>
              <a:rPr lang="en-US" altLang="ko-KR" sz="1200" smtClean="0"/>
              <a:t>- https://www.docker.com/products/docke...</a:t>
            </a:r>
          </a:p>
          <a:p>
            <a:endParaRPr lang="en-US" altLang="ko-KR" sz="1200" smtClean="0"/>
          </a:p>
          <a:p>
            <a:r>
              <a:rPr lang="en-US" altLang="ko-KR" sz="1200" smtClean="0"/>
              <a:t>* searxng docker : https://hub.docker.com/r/searxng/searxng</a:t>
            </a:r>
          </a:p>
          <a:p>
            <a:endParaRPr lang="en-US" altLang="ko-KR" sz="1200" smtClean="0"/>
          </a:p>
          <a:p>
            <a:r>
              <a:rPr lang="en-US" altLang="ko-KR" sz="1200" smtClean="0"/>
              <a:t>docker pull searxng/searxng (powershell)</a:t>
            </a:r>
          </a:p>
          <a:p>
            <a:endParaRPr lang="en-US" altLang="ko-KR" sz="1200" smtClean="0"/>
          </a:p>
          <a:p>
            <a:r>
              <a:rPr lang="en-US" altLang="ko-KR" sz="1200" smtClean="0"/>
              <a:t>searxng </a:t>
            </a:r>
            <a:r>
              <a:rPr lang="ko-KR" altLang="en-US" sz="1200" smtClean="0"/>
              <a:t>이미지 실행 </a:t>
            </a:r>
            <a:r>
              <a:rPr lang="en-US" altLang="ko-KR" sz="1200" smtClean="0"/>
              <a:t>(port </a:t>
            </a:r>
            <a:r>
              <a:rPr lang="ko-KR" altLang="en-US" sz="1200" smtClean="0"/>
              <a:t>세팅</a:t>
            </a:r>
            <a:r>
              <a:rPr lang="en-US" altLang="ko-KR" sz="1200" smtClean="0"/>
              <a:t>) </a:t>
            </a:r>
            <a:r>
              <a:rPr lang="ko-KR" altLang="en-US" sz="1200" smtClean="0"/>
              <a:t>후 컨테이너의 </a:t>
            </a:r>
            <a:r>
              <a:rPr lang="en-US" altLang="ko-KR" sz="1200" smtClean="0"/>
              <a:t>Terminal</a:t>
            </a:r>
            <a:r>
              <a:rPr lang="ko-KR" altLang="en-US" sz="1200" smtClean="0"/>
              <a:t>에서</a:t>
            </a:r>
          </a:p>
          <a:p>
            <a:r>
              <a:rPr lang="en-US" altLang="ko-KR" sz="1200" smtClean="0"/>
              <a:t>cd /etc/searxng</a:t>
            </a:r>
          </a:p>
          <a:p>
            <a:r>
              <a:rPr lang="en-US" altLang="ko-KR" sz="1200" smtClean="0"/>
              <a:t>vi settings.yml</a:t>
            </a:r>
          </a:p>
          <a:p>
            <a:r>
              <a:rPr lang="ko-KR" altLang="en-US" sz="1200" smtClean="0"/>
              <a:t>또는</a:t>
            </a:r>
          </a:p>
          <a:p>
            <a:r>
              <a:rPr lang="en-US" altLang="ko-KR" sz="1200" smtClean="0"/>
              <a:t>apk add nano (nano </a:t>
            </a:r>
            <a:r>
              <a:rPr lang="ko-KR" altLang="en-US" sz="1200" smtClean="0"/>
              <a:t>설치</a:t>
            </a:r>
            <a:r>
              <a:rPr lang="en-US" altLang="ko-KR" sz="1200" smtClean="0"/>
              <a:t>)</a:t>
            </a:r>
          </a:p>
          <a:p>
            <a:r>
              <a:rPr lang="en-US" altLang="ko-KR" sz="1200" smtClean="0"/>
              <a:t>nano settings.yml</a:t>
            </a:r>
          </a:p>
          <a:p>
            <a:r>
              <a:rPr lang="en-US" altLang="ko-KR" sz="1200" smtClean="0"/>
              <a:t>formats </a:t>
            </a:r>
            <a:r>
              <a:rPr lang="ko-KR" altLang="en-US" sz="1200" smtClean="0"/>
              <a:t>밑에 </a:t>
            </a:r>
            <a:r>
              <a:rPr lang="en-US" altLang="ko-KR" sz="1200" smtClean="0"/>
              <a:t>"  - json" </a:t>
            </a:r>
            <a:r>
              <a:rPr lang="ko-KR" altLang="en-US" sz="1200" smtClean="0"/>
              <a:t>추가 후 저장</a:t>
            </a:r>
          </a:p>
          <a:p>
            <a:r>
              <a:rPr lang="en-US" altLang="ko-KR" sz="1200" smtClean="0"/>
              <a:t>container </a:t>
            </a:r>
            <a:r>
              <a:rPr lang="ko-KR" altLang="en-US" sz="1200" smtClean="0"/>
              <a:t>종료후 재시작</a:t>
            </a:r>
            <a:r>
              <a:rPr lang="en-US" altLang="ko-KR" sz="1200" smtClean="0"/>
              <a:t>.</a:t>
            </a:r>
          </a:p>
          <a:p>
            <a:endParaRPr lang="en-US" altLang="ko-KR" sz="1200" smtClean="0"/>
          </a:p>
          <a:p>
            <a:r>
              <a:rPr lang="en-US" altLang="ko-KR" sz="1200" smtClean="0"/>
              <a:t>* searxng </a:t>
            </a:r>
            <a:r>
              <a:rPr lang="ko-KR" altLang="en-US" sz="1200" smtClean="0"/>
              <a:t>테스트 코드</a:t>
            </a:r>
          </a:p>
          <a:p>
            <a:r>
              <a:rPr lang="en-US" altLang="ko-KR" sz="1200" smtClean="0"/>
              <a:t>from langchain.utilities import SearxSearchWrapper</a:t>
            </a:r>
          </a:p>
          <a:p>
            <a:r>
              <a:rPr lang="en-US" altLang="ko-KR" sz="1200" smtClean="0"/>
              <a:t>s = SearxSearchWrapper(searx_host="http://localhost:8080")</a:t>
            </a:r>
          </a:p>
          <a:p>
            <a:r>
              <a:rPr lang="en-US" altLang="ko-KR" sz="1200" smtClean="0"/>
              <a:t>s.run("what is a large language model?")</a:t>
            </a:r>
            <a:endParaRPr lang="ko-KR" altLang="en-US" sz="1200"/>
          </a:p>
        </p:txBody>
      </p:sp>
    </p:spTree>
    <p:extLst>
      <p:ext uri="{BB962C8B-B14F-4D97-AF65-F5344CB8AC3E}">
        <p14:creationId xmlns:p14="http://schemas.microsoft.com/office/powerpoint/2010/main" val="21393686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p:cNvSpPr/>
          <p:nvPr/>
        </p:nvSpPr>
        <p:spPr>
          <a:xfrm>
            <a:off x="447675" y="391990"/>
            <a:ext cx="6096000" cy="2538515"/>
          </a:xfrm>
          <a:prstGeom prst="rect">
            <a:avLst/>
          </a:prstGeom>
        </p:spPr>
        <p:txBody>
          <a:bodyPr>
            <a:spAutoFit/>
          </a:bodyPr>
          <a:lstStyle/>
          <a:p>
            <a:r>
              <a:rPr lang="en-US" altLang="ko-KR" b="1"/>
              <a:t>Retrieval-Augmented Generation (RAG) using LangChain and Pinecone - The RAG Special Episode</a:t>
            </a:r>
          </a:p>
          <a:p>
            <a:pPr algn="just">
              <a:lnSpc>
                <a:spcPct val="107000"/>
              </a:lnSpc>
              <a:spcAft>
                <a:spcPts val="800"/>
              </a:spcAft>
            </a:pPr>
            <a:endParaRPr lang="en-US" altLang="ko-KR" kern="100" smtClean="0">
              <a:latin typeface="맑은 고딕" panose="020B0503020000020004" pitchFamily="50" charset="-127"/>
              <a:cs typeface="Times New Roman" panose="02020603050405020304" pitchFamily="18" charset="0"/>
            </a:endParaRPr>
          </a:p>
          <a:p>
            <a:pPr algn="just">
              <a:lnSpc>
                <a:spcPct val="107000"/>
              </a:lnSpc>
              <a:spcAft>
                <a:spcPts val="800"/>
              </a:spcAft>
            </a:pPr>
            <a:r>
              <a:rPr lang="en-US" altLang="ko-KR" kern="100" smtClean="0">
                <a:latin typeface="맑은 고딕" panose="020B0503020000020004" pitchFamily="50" charset="-127"/>
                <a:cs typeface="Times New Roman" panose="02020603050405020304" pitchFamily="18" charset="0"/>
                <a:hlinkClick r:id="rId2"/>
              </a:rPr>
              <a:t>https://www.youtube.com/watch?v=J_tCD_J6w3s</a:t>
            </a:r>
            <a:endParaRPr lang="en-US" altLang="ko-KR" kern="100" smtClean="0">
              <a:latin typeface="맑은 고딕" panose="020B0503020000020004" pitchFamily="50" charset="-127"/>
              <a:cs typeface="Times New Roman" panose="02020603050405020304" pitchFamily="18" charset="0"/>
            </a:endParaRPr>
          </a:p>
          <a:p>
            <a:pPr algn="just">
              <a:lnSpc>
                <a:spcPct val="107000"/>
              </a:lnSpc>
              <a:spcAft>
                <a:spcPts val="800"/>
              </a:spcAft>
            </a:pPr>
            <a:endParaRPr lang="en-US" altLang="ko-KR" kern="100">
              <a:latin typeface="맑은 고딕" panose="020B0503020000020004" pitchFamily="50" charset="-127"/>
              <a:cs typeface="Times New Roman" panose="02020603050405020304" pitchFamily="18" charset="0"/>
            </a:endParaRPr>
          </a:p>
          <a:p>
            <a:pPr algn="just">
              <a:lnSpc>
                <a:spcPct val="107000"/>
              </a:lnSpc>
              <a:spcAft>
                <a:spcPts val="800"/>
              </a:spcAft>
            </a:pPr>
            <a:endParaRPr lang="en-US" altLang="ko-KR" kern="100" smtClean="0">
              <a:latin typeface="맑은 고딕" panose="020B0503020000020004" pitchFamily="50" charset="-127"/>
              <a:cs typeface="Times New Roman" panose="02020603050405020304" pitchFamily="18" charset="0"/>
            </a:endParaRPr>
          </a:p>
          <a:p>
            <a:pPr algn="just">
              <a:lnSpc>
                <a:spcPct val="107000"/>
              </a:lnSpc>
              <a:spcAft>
                <a:spcPts val="800"/>
              </a:spcAft>
            </a:pPr>
            <a:r>
              <a:rPr lang="ko-KR" altLang="en-US" kern="100" smtClean="0">
                <a:latin typeface="맑은 고딕" panose="020B0503020000020004" pitchFamily="50" charset="-127"/>
                <a:cs typeface="Times New Roman" panose="02020603050405020304" pitchFamily="18" charset="0"/>
              </a:rPr>
              <a:t>영문자료</a:t>
            </a:r>
            <a:endParaRPr lang="ko-KR" altLang="ko-KR" kern="100">
              <a:latin typeface="맑은 고딕" panose="020B0503020000020004" pitchFamily="50" charset="-127"/>
              <a:cs typeface="Times New Roman" panose="02020603050405020304" pitchFamily="18" charset="0"/>
            </a:endParaRPr>
          </a:p>
        </p:txBody>
      </p:sp>
      <p:pic>
        <p:nvPicPr>
          <p:cNvPr id="3" name="그림 2"/>
          <p:cNvPicPr>
            <a:picLocks noChangeAspect="1"/>
          </p:cNvPicPr>
          <p:nvPr/>
        </p:nvPicPr>
        <p:blipFill>
          <a:blip r:embed="rId3"/>
          <a:stretch>
            <a:fillRect/>
          </a:stretch>
        </p:blipFill>
        <p:spPr>
          <a:xfrm>
            <a:off x="5346885" y="1830120"/>
            <a:ext cx="6741784" cy="3563515"/>
          </a:xfrm>
          <a:prstGeom prst="rect">
            <a:avLst/>
          </a:prstGeom>
        </p:spPr>
      </p:pic>
      <p:sp>
        <p:nvSpPr>
          <p:cNvPr id="4" name="TextBox 3"/>
          <p:cNvSpPr txBox="1"/>
          <p:nvPr/>
        </p:nvSpPr>
        <p:spPr>
          <a:xfrm>
            <a:off x="447675" y="2038412"/>
            <a:ext cx="4694167" cy="4247317"/>
          </a:xfrm>
          <a:prstGeom prst="rect">
            <a:avLst/>
          </a:prstGeom>
          <a:noFill/>
        </p:spPr>
        <p:txBody>
          <a:bodyPr wrap="square" rtlCol="0">
            <a:spAutoFit/>
          </a:bodyPr>
          <a:lstStyle/>
          <a:p>
            <a:r>
              <a:rPr lang="en-US" altLang="ko-KR" smtClean="0"/>
              <a:t>== Related Links ==</a:t>
            </a:r>
          </a:p>
          <a:p>
            <a:endParaRPr lang="en-US" altLang="ko-KR" smtClean="0"/>
          </a:p>
          <a:p>
            <a:r>
              <a:rPr lang="en-US" altLang="ko-KR" smtClean="0"/>
              <a:t>Generative AI Free Course on DeepLearning.ai: https://bit.ly/gllm</a:t>
            </a:r>
          </a:p>
          <a:p>
            <a:r>
              <a:rPr lang="en-US" altLang="ko-KR" smtClean="0"/>
              <a:t>O'Reilly Book: https://www.amazon.com/dp/1492079391/</a:t>
            </a:r>
          </a:p>
          <a:p>
            <a:r>
              <a:rPr lang="en-US" altLang="ko-KR" smtClean="0"/>
              <a:t>Website: https://generativeaionaws.com</a:t>
            </a:r>
          </a:p>
          <a:p>
            <a:r>
              <a:rPr lang="en-US" altLang="ko-KR" smtClean="0"/>
              <a:t>Meetup: https://meetup.generativeaionaws.com</a:t>
            </a:r>
          </a:p>
          <a:p>
            <a:r>
              <a:rPr lang="en-US" altLang="ko-KR" smtClean="0"/>
              <a:t>GitHub Repo: https://github.com/data-science-on-aws/</a:t>
            </a:r>
          </a:p>
          <a:p>
            <a:r>
              <a:rPr lang="en-US" altLang="ko-KR" smtClean="0"/>
              <a:t>YouTube: https://youtube.generativeaionaws.com</a:t>
            </a:r>
          </a:p>
          <a:p>
            <a:r>
              <a:rPr lang="en-US" altLang="ko-KR" smtClean="0"/>
              <a:t>Slideshare: https://slideshare.generativeaionaws.com</a:t>
            </a:r>
            <a:endParaRPr lang="ko-KR" altLang="en-US"/>
          </a:p>
        </p:txBody>
      </p:sp>
    </p:spTree>
    <p:extLst>
      <p:ext uri="{BB962C8B-B14F-4D97-AF65-F5344CB8AC3E}">
        <p14:creationId xmlns:p14="http://schemas.microsoft.com/office/powerpoint/2010/main" val="35321236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200852" y="3501329"/>
            <a:ext cx="9038397" cy="369332"/>
          </a:xfrm>
          <a:prstGeom prst="rect">
            <a:avLst/>
          </a:prstGeom>
        </p:spPr>
        <p:txBody>
          <a:bodyPr wrap="square">
            <a:spAutoFit/>
          </a:bodyPr>
          <a:lstStyle/>
          <a:p>
            <a:r>
              <a:rPr lang="ko-KR" altLang="en-US"/>
              <a:t>https://github.com/limcheekin/flutter-gpt/blob/openai/ask_question.py</a:t>
            </a:r>
          </a:p>
        </p:txBody>
      </p:sp>
      <p:sp>
        <p:nvSpPr>
          <p:cNvPr id="7" name="직사각형 6"/>
          <p:cNvSpPr/>
          <p:nvPr/>
        </p:nvSpPr>
        <p:spPr>
          <a:xfrm>
            <a:off x="486603" y="618246"/>
            <a:ext cx="10952922" cy="2585323"/>
          </a:xfrm>
          <a:prstGeom prst="rect">
            <a:avLst/>
          </a:prstGeom>
        </p:spPr>
        <p:txBody>
          <a:bodyPr wrap="square">
            <a:spAutoFit/>
          </a:bodyPr>
          <a:lstStyle/>
          <a:p>
            <a:r>
              <a:rPr lang="ko-KR" altLang="en-US"/>
              <a:t>limcheekin commented on Apr 3</a:t>
            </a:r>
          </a:p>
          <a:p>
            <a:r>
              <a:rPr lang="ko-KR" altLang="en-US"/>
              <a:t>You can try setting reduce_k_below_max_tokens=True, it is supposed to limit the number of results to return from store based on tokens limit. But for some reason, it seems that it only works on chat models (GPT-3.5/GPT-4), at least from my testing.</a:t>
            </a:r>
          </a:p>
          <a:p>
            <a:endParaRPr lang="ko-KR" altLang="en-US"/>
          </a:p>
          <a:p>
            <a:r>
              <a:rPr lang="ko-KR" altLang="en-US"/>
              <a:t>That's works! Please review the latest code at https://github.com/limcheekin/flutter-gpt/blob/openai/ask_question.py, appreciate if you spot any improvement.</a:t>
            </a:r>
          </a:p>
          <a:p>
            <a:endParaRPr lang="ko-KR" altLang="en-US"/>
          </a:p>
          <a:p>
            <a:r>
              <a:rPr lang="ko-KR" altLang="en-US"/>
              <a:t>Thanks.</a:t>
            </a:r>
          </a:p>
        </p:txBody>
      </p:sp>
      <p:sp>
        <p:nvSpPr>
          <p:cNvPr id="8" name="TextBox 7"/>
          <p:cNvSpPr txBox="1"/>
          <p:nvPr/>
        </p:nvSpPr>
        <p:spPr>
          <a:xfrm>
            <a:off x="486603" y="248914"/>
            <a:ext cx="7094827" cy="369332"/>
          </a:xfrm>
          <a:prstGeom prst="rect">
            <a:avLst/>
          </a:prstGeom>
          <a:noFill/>
        </p:spPr>
        <p:txBody>
          <a:bodyPr wrap="none" rtlCol="0">
            <a:spAutoFit/>
          </a:bodyPr>
          <a:lstStyle/>
          <a:p>
            <a:r>
              <a:rPr lang="en-US" altLang="ko-KR" smtClean="0"/>
              <a:t>RetrievalQA.from_chain_type </a:t>
            </a:r>
            <a:r>
              <a:rPr lang="ko-KR" altLang="en-US" smtClean="0"/>
              <a:t>최대토큰 길이 초과 메시지 해결방법 </a:t>
            </a:r>
            <a:endParaRPr lang="ko-KR" altLang="en-US"/>
          </a:p>
        </p:txBody>
      </p:sp>
      <p:sp>
        <p:nvSpPr>
          <p:cNvPr id="9" name="직사각형 8"/>
          <p:cNvSpPr/>
          <p:nvPr/>
        </p:nvSpPr>
        <p:spPr>
          <a:xfrm>
            <a:off x="628650" y="3870661"/>
            <a:ext cx="9144000" cy="2862322"/>
          </a:xfrm>
          <a:prstGeom prst="rect">
            <a:avLst/>
          </a:prstGeom>
        </p:spPr>
        <p:txBody>
          <a:bodyPr wrap="square">
            <a:spAutoFit/>
          </a:bodyPr>
          <a:lstStyle/>
          <a:p>
            <a:r>
              <a:rPr lang="ko-KR" altLang="en-US"/>
              <a:t>def get_chain(store):</a:t>
            </a:r>
          </a:p>
          <a:p>
            <a:r>
              <a:rPr lang="ko-KR" altLang="en-US"/>
              <a:t>    chain_type_kwargs = {"prompt": prompt}</a:t>
            </a:r>
          </a:p>
          <a:p>
            <a:r>
              <a:rPr lang="ko-KR" altLang="en-US"/>
              <a:t>    chain = RetrievalQAWithSourcesChain.from_chain_type(</a:t>
            </a:r>
          </a:p>
          <a:p>
            <a:r>
              <a:rPr lang="ko-KR" altLang="en-US"/>
              <a:t>        ChatOpenAI(temperature=0), </a:t>
            </a:r>
          </a:p>
          <a:p>
            <a:r>
              <a:rPr lang="ko-KR" altLang="en-US"/>
              <a:t>        chain_type="stuff", </a:t>
            </a:r>
          </a:p>
          <a:p>
            <a:r>
              <a:rPr lang="ko-KR" altLang="en-US"/>
              <a:t>        retriever=store.as_retriever(),</a:t>
            </a:r>
          </a:p>
          <a:p>
            <a:r>
              <a:rPr lang="ko-KR" altLang="en-US"/>
              <a:t>        chain_type_kwargs=chain_type_kwargs,</a:t>
            </a:r>
          </a:p>
          <a:p>
            <a:r>
              <a:rPr lang="ko-KR" altLang="en-US"/>
              <a:t>        reduce_k_below_max_tokens=True</a:t>
            </a:r>
          </a:p>
          <a:p>
            <a:r>
              <a:rPr lang="ko-KR" altLang="en-US"/>
              <a:t>    )</a:t>
            </a:r>
          </a:p>
          <a:p>
            <a:r>
              <a:rPr lang="ko-KR" altLang="en-US"/>
              <a:t>    return chain</a:t>
            </a:r>
          </a:p>
        </p:txBody>
      </p:sp>
      <p:sp>
        <p:nvSpPr>
          <p:cNvPr id="10" name="TextBox 9"/>
          <p:cNvSpPr txBox="1"/>
          <p:nvPr/>
        </p:nvSpPr>
        <p:spPr>
          <a:xfrm>
            <a:off x="8029575" y="4086225"/>
            <a:ext cx="3976895" cy="1015663"/>
          </a:xfrm>
          <a:prstGeom prst="rect">
            <a:avLst/>
          </a:prstGeom>
          <a:noFill/>
          <a:ln>
            <a:solidFill>
              <a:srgbClr val="FF0000"/>
            </a:solidFill>
          </a:ln>
        </p:spPr>
        <p:txBody>
          <a:bodyPr wrap="square" rtlCol="0">
            <a:spAutoFit/>
          </a:bodyPr>
          <a:lstStyle/>
          <a:p>
            <a:r>
              <a:rPr lang="ko-KR" altLang="en-US" sz="1200" smtClean="0"/>
              <a:t>ㅇ </a:t>
            </a:r>
            <a:r>
              <a:rPr lang="en-US" altLang="ko-KR" sz="1200" smtClean="0"/>
              <a:t>RetrievalQA.from_chain_type</a:t>
            </a:r>
            <a:r>
              <a:rPr lang="ko-KR" altLang="en-US" sz="1200" smtClean="0"/>
              <a:t>를 RetrievalQAWithSourcesChain.from_chain_type로 변경하고</a:t>
            </a:r>
            <a:r>
              <a:rPr lang="en-US" altLang="ko-KR" sz="1200" smtClean="0"/>
              <a:t>, </a:t>
            </a:r>
            <a:r>
              <a:rPr lang="ko-KR" altLang="en-US" sz="1200" smtClean="0"/>
              <a:t>reduce_k_below_max_tokens=True 옵션을 추가하면 해결</a:t>
            </a:r>
            <a:endParaRPr lang="ko-KR" altLang="en-US" sz="1200"/>
          </a:p>
          <a:p>
            <a:endParaRPr lang="ko-KR" altLang="en-US" sz="1200"/>
          </a:p>
        </p:txBody>
      </p:sp>
    </p:spTree>
    <p:extLst>
      <p:ext uri="{BB962C8B-B14F-4D97-AF65-F5344CB8AC3E}">
        <p14:creationId xmlns:p14="http://schemas.microsoft.com/office/powerpoint/2010/main" val="19710259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p:cNvSpPr/>
          <p:nvPr/>
        </p:nvSpPr>
        <p:spPr>
          <a:xfrm>
            <a:off x="123825" y="247404"/>
            <a:ext cx="6096000" cy="1618648"/>
          </a:xfrm>
          <a:prstGeom prst="rect">
            <a:avLst/>
          </a:prstGeom>
        </p:spPr>
        <p:txBody>
          <a:bodyPr>
            <a:spAutoFit/>
          </a:bodyPr>
          <a:lstStyle/>
          <a:p>
            <a:pPr>
              <a:spcAft>
                <a:spcPts val="0"/>
              </a:spcAft>
            </a:pPr>
            <a:r>
              <a:rPr lang="ko-KR" altLang="ko-KR"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여러</a:t>
            </a:r>
            <a:r>
              <a:rPr lang="ko-KR" altLang="ko-KR" b="1" smtClean="0">
                <a:solidFill>
                  <a:srgbClr val="0F0F0F"/>
                </a:solidFill>
                <a:effectLst/>
                <a:latin typeface="굴림" panose="020B0600000101010101" pitchFamily="50" charset="-127"/>
                <a:ea typeface="Arial" panose="020B0604020202020204" pitchFamily="34" charset="0"/>
                <a:cs typeface="굴림" panose="020B0600000101010101" pitchFamily="50" charset="-127"/>
              </a:rPr>
              <a:t> </a:t>
            </a:r>
            <a:r>
              <a:rPr lang="ko-KR" altLang="ko-KR"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문서에서</a:t>
            </a:r>
            <a:r>
              <a:rPr lang="ko-KR" altLang="ko-KR" b="1" smtClean="0">
                <a:solidFill>
                  <a:srgbClr val="0F0F0F"/>
                </a:solidFill>
                <a:effectLst/>
                <a:latin typeface="굴림" panose="020B0600000101010101" pitchFamily="50" charset="-127"/>
                <a:ea typeface="Arial" panose="020B0604020202020204" pitchFamily="34" charset="0"/>
                <a:cs typeface="굴림" panose="020B0600000101010101" pitchFamily="50" charset="-127"/>
              </a:rPr>
              <a:t> </a:t>
            </a:r>
            <a:r>
              <a:rPr lang="ko-KR" altLang="ko-KR"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검색</a:t>
            </a:r>
            <a:r>
              <a:rPr lang="en-US" altLang="ko-KR" b="1" smtClean="0">
                <a:solidFill>
                  <a:srgbClr val="0F0F0F"/>
                </a:solidFill>
                <a:effectLst/>
                <a:latin typeface="Arial" panose="020B0604020202020204" pitchFamily="34" charset="0"/>
                <a:ea typeface="굴림" panose="020B0600000101010101" pitchFamily="50" charset="-127"/>
                <a:cs typeface="굴림" panose="020B0600000101010101" pitchFamily="50" charset="-127"/>
              </a:rPr>
              <a:t>/</a:t>
            </a:r>
            <a:r>
              <a:rPr lang="ko-KR" altLang="ko-KR"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질문</a:t>
            </a:r>
            <a:r>
              <a:rPr lang="en-US" altLang="ko-KR" b="1" smtClean="0">
                <a:solidFill>
                  <a:srgbClr val="0F0F0F"/>
                </a:solidFill>
                <a:effectLst/>
                <a:latin typeface="Arial" panose="020B0604020202020204" pitchFamily="34" charset="0"/>
                <a:ea typeface="굴림" panose="020B0600000101010101" pitchFamily="50" charset="-127"/>
                <a:cs typeface="굴림" panose="020B0600000101010101" pitchFamily="50" charset="-127"/>
              </a:rPr>
              <a:t>/</a:t>
            </a:r>
            <a:r>
              <a:rPr lang="ko-KR" altLang="ko-KR"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답변하는</a:t>
            </a:r>
            <a:r>
              <a:rPr lang="en-US" altLang="ko-KR" b="1" smtClean="0">
                <a:solidFill>
                  <a:srgbClr val="0F0F0F"/>
                </a:solidFill>
                <a:effectLst/>
                <a:latin typeface="Arial" panose="020B0604020202020204" pitchFamily="34" charset="0"/>
                <a:ea typeface="굴림" panose="020B0600000101010101" pitchFamily="50" charset="-127"/>
                <a:cs typeface="굴림" panose="020B0600000101010101" pitchFamily="50" charset="-127"/>
              </a:rPr>
              <a:t> QA </a:t>
            </a:r>
            <a:r>
              <a:rPr lang="ko-KR" altLang="ko-KR"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챗봇</a:t>
            </a:r>
            <a:r>
              <a:rPr lang="ko-KR" altLang="ko-KR" b="1" smtClean="0">
                <a:solidFill>
                  <a:srgbClr val="0F0F0F"/>
                </a:solidFill>
                <a:effectLst/>
                <a:latin typeface="굴림" panose="020B0600000101010101" pitchFamily="50" charset="-127"/>
                <a:ea typeface="Arial" panose="020B0604020202020204" pitchFamily="34" charset="0"/>
                <a:cs typeface="굴림" panose="020B0600000101010101" pitchFamily="50" charset="-127"/>
              </a:rPr>
              <a:t> </a:t>
            </a:r>
            <a:r>
              <a:rPr lang="ko-KR" altLang="ko-KR"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만들기</a:t>
            </a:r>
            <a:r>
              <a:rPr lang="en-US" altLang="ko-KR" b="1" smtClean="0">
                <a:solidFill>
                  <a:srgbClr val="0F0F0F"/>
                </a:solidFill>
                <a:effectLst/>
                <a:latin typeface="Arial" panose="020B0604020202020204" pitchFamily="34" charset="0"/>
                <a:ea typeface="굴림" panose="020B0600000101010101" pitchFamily="50" charset="-127"/>
                <a:cs typeface="굴림" panose="020B0600000101010101" pitchFamily="50" charset="-127"/>
              </a:rPr>
              <a:t> [</a:t>
            </a:r>
            <a:r>
              <a:rPr lang="ko-KR" altLang="ko-KR"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매우쉬움주의</a:t>
            </a:r>
            <a:r>
              <a:rPr lang="en-US" altLang="ko-KR" b="1" smtClean="0">
                <a:solidFill>
                  <a:srgbClr val="0F0F0F"/>
                </a:solidFill>
                <a:effectLst/>
                <a:latin typeface="Arial" panose="020B0604020202020204" pitchFamily="34" charset="0"/>
                <a:ea typeface="굴림" panose="020B0600000101010101" pitchFamily="50" charset="-127"/>
                <a:cs typeface="굴림" panose="020B0600000101010101" pitchFamily="50" charset="-127"/>
              </a:rPr>
              <a:t>] - LangChain, ChatGPT, Chroma DB – </a:t>
            </a:r>
            <a:r>
              <a:rPr lang="ko-KR" altLang="ko-KR"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빵형의</a:t>
            </a:r>
            <a:r>
              <a:rPr lang="ko-KR" altLang="ko-KR" b="1" smtClean="0">
                <a:solidFill>
                  <a:srgbClr val="0F0F0F"/>
                </a:solidFill>
                <a:effectLst/>
                <a:latin typeface="굴림" panose="020B0600000101010101" pitchFamily="50" charset="-127"/>
                <a:ea typeface="Arial" panose="020B0604020202020204" pitchFamily="34" charset="0"/>
                <a:cs typeface="굴림" panose="020B0600000101010101" pitchFamily="50" charset="-127"/>
              </a:rPr>
              <a:t> </a:t>
            </a:r>
            <a:r>
              <a:rPr lang="ko-KR" altLang="ko-KR"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개발도상국</a:t>
            </a:r>
            <a:endParaRPr lang="ko-KR" altLang="ko-KR" sz="4800" b="1" smtClean="0">
              <a:effectLst/>
              <a:latin typeface="굴림" panose="020B0600000101010101" pitchFamily="50" charset="-127"/>
              <a:ea typeface="굴림" panose="020B0600000101010101" pitchFamily="50" charset="-127"/>
              <a:cs typeface="굴림" panose="020B0600000101010101" pitchFamily="50" charset="-127"/>
            </a:endParaRPr>
          </a:p>
          <a:p>
            <a:pPr algn="just">
              <a:lnSpc>
                <a:spcPct val="107000"/>
              </a:lnSpc>
              <a:spcAft>
                <a:spcPts val="800"/>
              </a:spcAft>
            </a:pPr>
            <a:r>
              <a:rPr lang="en-US" altLang="ko-KR" u="sng" kern="100">
                <a:solidFill>
                  <a:srgbClr val="0563C1"/>
                </a:solidFill>
                <a:latin typeface="맑은 고딕" panose="020B0503020000020004" pitchFamily="50" charset="-127"/>
                <a:cs typeface="Times New Roman" panose="02020603050405020304" pitchFamily="18" charset="0"/>
                <a:hlinkClick r:id="rId2"/>
              </a:rPr>
              <a:t>https://</a:t>
            </a:r>
            <a:r>
              <a:rPr lang="en-US" altLang="ko-KR" u="sng" kern="100" smtClean="0">
                <a:solidFill>
                  <a:srgbClr val="0563C1"/>
                </a:solidFill>
                <a:latin typeface="맑은 고딕" panose="020B0503020000020004" pitchFamily="50" charset="-127"/>
                <a:cs typeface="Times New Roman" panose="02020603050405020304" pitchFamily="18" charset="0"/>
                <a:hlinkClick r:id="rId2"/>
              </a:rPr>
              <a:t>www.youtube.com/watch?v=ftXLn9DE7YY</a:t>
            </a:r>
            <a:endParaRPr lang="en-US" altLang="ko-KR" u="sng" kern="100" smtClean="0">
              <a:solidFill>
                <a:srgbClr val="0563C1"/>
              </a:solidFill>
              <a:latin typeface="맑은 고딕" panose="020B0503020000020004" pitchFamily="50" charset="-127"/>
              <a:cs typeface="Times New Roman" panose="02020603050405020304" pitchFamily="18" charset="0"/>
            </a:endParaRPr>
          </a:p>
          <a:p>
            <a:pPr algn="just">
              <a:lnSpc>
                <a:spcPct val="107000"/>
              </a:lnSpc>
              <a:spcAft>
                <a:spcPts val="800"/>
              </a:spcAft>
            </a:pPr>
            <a:r>
              <a:rPr lang="en-US" altLang="ko-KR" u="sng" kern="100" smtClean="0">
                <a:solidFill>
                  <a:srgbClr val="0563C1"/>
                </a:solidFill>
                <a:latin typeface="맑은 고딕" panose="020B0503020000020004" pitchFamily="50" charset="-127"/>
                <a:cs typeface="Times New Roman" panose="02020603050405020304" pitchFamily="18" charset="0"/>
              </a:rPr>
              <a:t>1000</a:t>
            </a:r>
            <a:r>
              <a:rPr lang="ko-KR" altLang="en-US" u="sng" kern="100" smtClean="0">
                <a:solidFill>
                  <a:srgbClr val="0563C1"/>
                </a:solidFill>
                <a:latin typeface="맑은 고딕" panose="020B0503020000020004" pitchFamily="50" charset="-127"/>
                <a:cs typeface="Times New Roman" panose="02020603050405020304" pitchFamily="18" charset="0"/>
              </a:rPr>
              <a:t>개씩 분할 </a:t>
            </a:r>
            <a:r>
              <a:rPr lang="en-US" altLang="ko-KR" u="sng" kern="100" smtClean="0">
                <a:solidFill>
                  <a:srgbClr val="0563C1"/>
                </a:solidFill>
                <a:latin typeface="맑은 고딕" panose="020B0503020000020004" pitchFamily="50" charset="-127"/>
                <a:cs typeface="Times New Roman" panose="02020603050405020304" pitchFamily="18" charset="0"/>
              </a:rPr>
              <a:t>: 4: 30</a:t>
            </a:r>
            <a:r>
              <a:rPr lang="ko-KR" altLang="en-US" u="sng" kern="100" smtClean="0">
                <a:solidFill>
                  <a:srgbClr val="0563C1"/>
                </a:solidFill>
                <a:latin typeface="맑은 고딕" panose="020B0503020000020004" pitchFamily="50" charset="-127"/>
                <a:cs typeface="Times New Roman" panose="02020603050405020304" pitchFamily="18" charset="0"/>
              </a:rPr>
              <a:t>분</a:t>
            </a:r>
            <a:endParaRPr lang="ko-KR" altLang="ko-KR" kern="100">
              <a:latin typeface="맑은 고딕" panose="020B0503020000020004" pitchFamily="50" charset="-127"/>
              <a:cs typeface="Times New Roman" panose="02020603050405020304" pitchFamily="18" charset="0"/>
            </a:endParaRPr>
          </a:p>
        </p:txBody>
      </p:sp>
      <p:sp>
        <p:nvSpPr>
          <p:cNvPr id="3" name="직사각형 2"/>
          <p:cNvSpPr/>
          <p:nvPr/>
        </p:nvSpPr>
        <p:spPr>
          <a:xfrm>
            <a:off x="0" y="3041099"/>
            <a:ext cx="8998226" cy="289951"/>
          </a:xfrm>
          <a:prstGeom prst="rect">
            <a:avLst/>
          </a:prstGeom>
        </p:spPr>
        <p:txBody>
          <a:bodyPr wrap="square">
            <a:spAutoFit/>
          </a:bodyPr>
          <a:lstStyle/>
          <a:p>
            <a:pPr algn="just">
              <a:lnSpc>
                <a:spcPct val="107000"/>
              </a:lnSpc>
              <a:spcAft>
                <a:spcPts val="800"/>
              </a:spcAft>
            </a:pPr>
            <a:r>
              <a:rPr lang="ko-KR" altLang="ko-KR" sz="1200" kern="100">
                <a:latin typeface="맑은 고딕" panose="020B0503020000020004" pitchFamily="50" charset="-127"/>
                <a:cs typeface="Times New Roman" panose="02020603050405020304" pitchFamily="18" charset="0"/>
              </a:rPr>
              <a:t>참조 소스</a:t>
            </a:r>
            <a:r>
              <a:rPr lang="en-US" altLang="ko-KR" sz="1200" kern="100">
                <a:latin typeface="맑은 고딕" panose="020B0503020000020004" pitchFamily="50" charset="-127"/>
                <a:cs typeface="Times New Roman" panose="02020603050405020304" pitchFamily="18" charset="0"/>
              </a:rPr>
              <a:t>: https://colab.research.google.com/drive/1MlrF0Mo8KHrxcrAeulCP3t9hroc073YN?usp=sharing</a:t>
            </a:r>
            <a:endParaRPr lang="ko-KR" altLang="ko-KR" sz="1200" kern="100">
              <a:latin typeface="맑은 고딕" panose="020B0503020000020004" pitchFamily="50" charset="-127"/>
              <a:cs typeface="Times New Roman" panose="02020603050405020304" pitchFamily="18" charset="0"/>
            </a:endParaRPr>
          </a:p>
        </p:txBody>
      </p:sp>
      <p:sp>
        <p:nvSpPr>
          <p:cNvPr id="16" name="직사각형 15"/>
          <p:cNvSpPr/>
          <p:nvPr/>
        </p:nvSpPr>
        <p:spPr>
          <a:xfrm>
            <a:off x="6686550" y="392490"/>
            <a:ext cx="6096000" cy="1938992"/>
          </a:xfrm>
          <a:prstGeom prst="rect">
            <a:avLst/>
          </a:prstGeom>
        </p:spPr>
        <p:txBody>
          <a:bodyPr>
            <a:spAutoFit/>
          </a:bodyPr>
          <a:lstStyle/>
          <a:p>
            <a:r>
              <a:rPr lang="ko-KR" altLang="en-US" sz="1200"/>
              <a:t>Load multiple and process documents</a:t>
            </a:r>
          </a:p>
          <a:p>
            <a:r>
              <a:rPr lang="ko-KR" altLang="en-US" sz="1200"/>
              <a:t>[ ]</a:t>
            </a:r>
          </a:p>
          <a:p>
            <a:r>
              <a:rPr lang="ko-KR" altLang="en-US" sz="1200"/>
              <a:t># loader = TextLoader('single_text_file.txt')</a:t>
            </a:r>
          </a:p>
          <a:p>
            <a:r>
              <a:rPr lang="ko-KR" altLang="en-US" sz="1200"/>
              <a:t>loader = DirectoryLoader('./articles', glob="*.txt", loader_cls=TextLoader)</a:t>
            </a:r>
          </a:p>
          <a:p>
            <a:endParaRPr lang="ko-KR" altLang="en-US" sz="1200"/>
          </a:p>
          <a:p>
            <a:r>
              <a:rPr lang="ko-KR" altLang="en-US" sz="1200"/>
              <a:t>documents = loader.load()</a:t>
            </a:r>
          </a:p>
          <a:p>
            <a:endParaRPr lang="ko-KR" altLang="en-US" sz="1200"/>
          </a:p>
          <a:p>
            <a:r>
              <a:rPr lang="ko-KR" altLang="en-US" sz="1200"/>
              <a:t>len(documents)</a:t>
            </a:r>
          </a:p>
          <a:p>
            <a:r>
              <a:rPr lang="ko-KR" altLang="en-US" sz="1200"/>
              <a:t>account_circle</a:t>
            </a:r>
          </a:p>
          <a:p>
            <a:r>
              <a:rPr lang="ko-KR" altLang="en-US" sz="1200"/>
              <a:t>21</a:t>
            </a:r>
          </a:p>
        </p:txBody>
      </p:sp>
      <p:sp>
        <p:nvSpPr>
          <p:cNvPr id="4" name="직사각형 3"/>
          <p:cNvSpPr/>
          <p:nvPr/>
        </p:nvSpPr>
        <p:spPr>
          <a:xfrm>
            <a:off x="450084" y="3671335"/>
            <a:ext cx="11097910" cy="2631490"/>
          </a:xfrm>
          <a:prstGeom prst="rect">
            <a:avLst/>
          </a:prstGeom>
        </p:spPr>
        <p:txBody>
          <a:bodyPr wrap="none">
            <a:spAutoFit/>
          </a:bodyPr>
          <a:lstStyle/>
          <a:p>
            <a:r>
              <a:rPr lang="ko-KR" altLang="en-US" sz="1100">
                <a:hlinkClick r:id="rId3"/>
              </a:rPr>
              <a:t>https://</a:t>
            </a:r>
            <a:r>
              <a:rPr lang="ko-KR" altLang="en-US" sz="1100" smtClean="0">
                <a:hlinkClick r:id="rId3"/>
              </a:rPr>
              <a:t>github.com/langchain-ai/langchain/issues/2133</a:t>
            </a:r>
            <a:endParaRPr lang="en-US" altLang="ko-KR" sz="1100" smtClean="0"/>
          </a:p>
          <a:p>
            <a:r>
              <a:rPr lang="en-US" altLang="ko-KR" sz="1100"/>
              <a:t>Thanks, @limcheekin , I saw your code, but in your code you use RetrievalQAWithSourcesChain, which has reduce_k_below_max_tokens field, as following reference said.</a:t>
            </a:r>
          </a:p>
          <a:p>
            <a:r>
              <a:rPr lang="en-US" altLang="ko-KR" sz="1100"/>
              <a:t>https://python.langchain.com/en/latest/reference/modules/chains.html#langchain.chains.RetrievalQAWithSourcesChain</a:t>
            </a:r>
          </a:p>
          <a:p>
            <a:endParaRPr lang="en-US" altLang="ko-KR" sz="1100"/>
          </a:p>
          <a:p>
            <a:r>
              <a:rPr lang="en-US" altLang="ko-KR" sz="1100"/>
              <a:t>But I use RetrievalQA, it did not has reduce_k_below_max_tokens field, please check this reference</a:t>
            </a:r>
          </a:p>
          <a:p>
            <a:r>
              <a:rPr lang="en-US" altLang="ko-KR" sz="1100"/>
              <a:t>https://python.langchain.com/en/latest/reference/modules/chains.html#langchain.chains.RetrievalQA</a:t>
            </a:r>
          </a:p>
          <a:p>
            <a:endParaRPr lang="en-US" altLang="ko-KR" sz="1100"/>
          </a:p>
          <a:p>
            <a:r>
              <a:rPr lang="en-US" altLang="ko-KR" sz="1100"/>
              <a:t>should I change to RetrievalQAWithSourcesChain? what's the different between them</a:t>
            </a:r>
            <a:r>
              <a:rPr lang="en-US" altLang="ko-KR" sz="1100" smtClean="0"/>
              <a:t>?</a:t>
            </a:r>
          </a:p>
          <a:p>
            <a:endParaRPr lang="en-US" altLang="ko-KR" sz="1100"/>
          </a:p>
          <a:p>
            <a:r>
              <a:rPr lang="en-US" altLang="ko-KR" sz="1100" smtClean="0"/>
              <a:t>=&gt; </a:t>
            </a:r>
          </a:p>
          <a:p>
            <a:r>
              <a:rPr lang="en-US" altLang="ko-KR" sz="1100"/>
              <a:t>imcheekin commented on May 22 • </a:t>
            </a:r>
          </a:p>
          <a:p>
            <a:r>
              <a:rPr lang="en-US" altLang="ko-KR" sz="1100"/>
              <a:t>The following notebook should be helpful:</a:t>
            </a:r>
          </a:p>
          <a:p>
            <a:r>
              <a:rPr lang="en-US" altLang="ko-KR" sz="1100" b="1">
                <a:solidFill>
                  <a:srgbClr val="FF0000"/>
                </a:solidFill>
              </a:rPr>
              <a:t>https://github.com/openai/openai-cookbook/blob/main/examples/Embedding_long_inputs.ipynb</a:t>
            </a:r>
          </a:p>
          <a:p>
            <a:endParaRPr lang="en-US" altLang="ko-KR" sz="1100"/>
          </a:p>
          <a:p>
            <a:r>
              <a:rPr lang="en-US" altLang="ko-KR" sz="1100"/>
              <a:t>If none of the solutions above fixed your problem, most likely that the issue is caused by the data, so make sure you understand your data preparation process.</a:t>
            </a:r>
            <a:endParaRPr lang="ko-KR" altLang="en-US" sz="1100"/>
          </a:p>
        </p:txBody>
      </p:sp>
      <p:sp>
        <p:nvSpPr>
          <p:cNvPr id="5" name="TextBox 4"/>
          <p:cNvSpPr txBox="1"/>
          <p:nvPr/>
        </p:nvSpPr>
        <p:spPr>
          <a:xfrm>
            <a:off x="450084" y="2331482"/>
            <a:ext cx="11397359" cy="400110"/>
          </a:xfrm>
          <a:prstGeom prst="rect">
            <a:avLst/>
          </a:prstGeom>
          <a:noFill/>
        </p:spPr>
        <p:txBody>
          <a:bodyPr wrap="square" rtlCol="0">
            <a:spAutoFit/>
          </a:bodyPr>
          <a:lstStyle/>
          <a:p>
            <a:r>
              <a:rPr lang="en-US" altLang="ko-KR" sz="1000"/>
              <a:t>4097 </a:t>
            </a:r>
            <a:r>
              <a:rPr lang="ko-KR" altLang="en-US" sz="1000"/>
              <a:t>토큰 길이 초과 오류가 발생했습니다</a:t>
            </a:r>
            <a:r>
              <a:rPr lang="en-US" altLang="ko-KR" sz="1000"/>
              <a:t>. InvalidRequestError: This model's maximum context length is 4097 tokens, however you requested 93811 tokens (93555 in your prompt; 256 for the completion). Please reduce your prompt; or completion length.  </a:t>
            </a:r>
            <a:r>
              <a:rPr lang="ko-KR" altLang="en-US" sz="1000"/>
              <a:t>이럴때 어느부분을 보완해야 될까요</a:t>
            </a:r>
            <a:r>
              <a:rPr lang="en-US" altLang="ko-KR" sz="1000"/>
              <a:t>? </a:t>
            </a:r>
            <a:endParaRPr lang="ko-KR" altLang="en-US" sz="1000"/>
          </a:p>
        </p:txBody>
      </p:sp>
    </p:spTree>
    <p:extLst>
      <p:ext uri="{BB962C8B-B14F-4D97-AF65-F5344CB8AC3E}">
        <p14:creationId xmlns:p14="http://schemas.microsoft.com/office/powerpoint/2010/main" val="18521434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581024" y="500360"/>
            <a:ext cx="10277475" cy="646331"/>
          </a:xfrm>
          <a:prstGeom prst="rect">
            <a:avLst/>
          </a:prstGeom>
        </p:spPr>
        <p:txBody>
          <a:bodyPr wrap="square">
            <a:spAutoFit/>
          </a:bodyPr>
          <a:lstStyle/>
          <a:p>
            <a:r>
              <a:rPr lang="en-US" altLang="ko-KR" sz="1200">
                <a:hlinkClick r:id="rId2"/>
              </a:rPr>
              <a:t>RetrievalQA max token limit reached even though its short prompt</a:t>
            </a:r>
            <a:endParaRPr lang="en-US" altLang="ko-KR" sz="1200" b="1"/>
          </a:p>
          <a:p>
            <a:endParaRPr lang="en-US" altLang="ko-KR" sz="1200" smtClean="0"/>
          </a:p>
          <a:p>
            <a:r>
              <a:rPr lang="ko-KR" altLang="en-US" sz="1200" smtClean="0"/>
              <a:t>https</a:t>
            </a:r>
            <a:r>
              <a:rPr lang="ko-KR" altLang="en-US" sz="1200"/>
              <a:t>://stackoverflow.com/questions/77097064/retrievalqa-max-token-limit-reached-even-though-its-short-prompt</a:t>
            </a:r>
          </a:p>
        </p:txBody>
      </p:sp>
      <p:sp>
        <p:nvSpPr>
          <p:cNvPr id="5" name="직사각형 4"/>
          <p:cNvSpPr/>
          <p:nvPr/>
        </p:nvSpPr>
        <p:spPr>
          <a:xfrm>
            <a:off x="581024" y="1644134"/>
            <a:ext cx="5683864" cy="646331"/>
          </a:xfrm>
          <a:prstGeom prst="rect">
            <a:avLst/>
          </a:prstGeom>
        </p:spPr>
        <p:txBody>
          <a:bodyPr wrap="none">
            <a:spAutoFit/>
          </a:bodyPr>
          <a:lstStyle/>
          <a:p>
            <a:pPr latinLnBrk="0"/>
            <a:r>
              <a:rPr lang="en-US" altLang="ko-KR" b="1">
                <a:solidFill>
                  <a:srgbClr val="212529"/>
                </a:solidFill>
                <a:latin typeface="-apple-system"/>
              </a:rPr>
              <a:t>ChatGPT API Token Limit </a:t>
            </a:r>
            <a:r>
              <a:rPr lang="ko-KR" altLang="en-US" b="1">
                <a:solidFill>
                  <a:srgbClr val="212529"/>
                </a:solidFill>
                <a:latin typeface="-apple-system"/>
              </a:rPr>
              <a:t>해결하기 </a:t>
            </a:r>
            <a:r>
              <a:rPr lang="en-US" altLang="ko-KR" b="1">
                <a:solidFill>
                  <a:srgbClr val="212529"/>
                </a:solidFill>
                <a:latin typeface="-apple-system"/>
              </a:rPr>
              <a:t>(+ </a:t>
            </a:r>
            <a:r>
              <a:rPr lang="ko-KR" altLang="en-US" b="1">
                <a:solidFill>
                  <a:srgbClr val="212529"/>
                </a:solidFill>
                <a:latin typeface="-apple-system"/>
              </a:rPr>
              <a:t>요금 줄이기</a:t>
            </a:r>
            <a:r>
              <a:rPr lang="en-US" altLang="ko-KR" b="1" smtClean="0">
                <a:solidFill>
                  <a:srgbClr val="212529"/>
                </a:solidFill>
                <a:latin typeface="-apple-system"/>
              </a:rPr>
              <a:t>)</a:t>
            </a:r>
          </a:p>
          <a:p>
            <a:pPr latinLnBrk="0"/>
            <a:endParaRPr lang="en-US" altLang="ko-KR" b="1" i="0">
              <a:solidFill>
                <a:srgbClr val="212529"/>
              </a:solidFill>
              <a:effectLst/>
              <a:latin typeface="-apple-system"/>
            </a:endParaRPr>
          </a:p>
        </p:txBody>
      </p:sp>
      <p:sp>
        <p:nvSpPr>
          <p:cNvPr id="6" name="직사각형 5"/>
          <p:cNvSpPr/>
          <p:nvPr/>
        </p:nvSpPr>
        <p:spPr>
          <a:xfrm>
            <a:off x="581024" y="1967299"/>
            <a:ext cx="11134726" cy="246221"/>
          </a:xfrm>
          <a:prstGeom prst="rect">
            <a:avLst/>
          </a:prstGeom>
        </p:spPr>
        <p:txBody>
          <a:bodyPr wrap="square">
            <a:spAutoFit/>
          </a:bodyPr>
          <a:lstStyle/>
          <a:p>
            <a:r>
              <a:rPr lang="ko-KR" altLang="en-US" sz="1000"/>
              <a:t>https://velog.io/@noh0907/ChatGPT-API-Token-Limit-%ED%95%B4%EA%B2%B0%ED%95%98%EA%B8%B0-%EC%9A%94%EA%B8%88-%EC%A4%84%EC%9D%B4%EA%B8%B0</a:t>
            </a:r>
          </a:p>
        </p:txBody>
      </p:sp>
      <p:sp>
        <p:nvSpPr>
          <p:cNvPr id="7" name="TextBox 6"/>
          <p:cNvSpPr txBox="1"/>
          <p:nvPr/>
        </p:nvSpPr>
        <p:spPr>
          <a:xfrm>
            <a:off x="372580" y="2290465"/>
            <a:ext cx="6378669" cy="1938992"/>
          </a:xfrm>
          <a:prstGeom prst="rect">
            <a:avLst/>
          </a:prstGeom>
          <a:noFill/>
        </p:spPr>
        <p:txBody>
          <a:bodyPr wrap="none" rtlCol="0">
            <a:spAutoFit/>
          </a:bodyPr>
          <a:lstStyle/>
          <a:p>
            <a:r>
              <a:rPr lang="en-US" altLang="ko-KR" sz="1000"/>
              <a:t>token?</a:t>
            </a:r>
          </a:p>
          <a:p>
            <a:r>
              <a:rPr lang="en-US" altLang="ko-KR" sz="1000"/>
              <a:t>GPT </a:t>
            </a:r>
            <a:r>
              <a:rPr lang="ko-KR" altLang="en-US" sz="1000"/>
              <a:t>모델에서 텍스트를 처리할 때 사용하는 단위입니다</a:t>
            </a:r>
            <a:r>
              <a:rPr lang="en-US" altLang="ko-KR" sz="1000"/>
              <a:t>.</a:t>
            </a:r>
          </a:p>
          <a:p>
            <a:endParaRPr lang="en-US" altLang="ko-KR" sz="1000"/>
          </a:p>
          <a:p>
            <a:r>
              <a:rPr lang="en-US" altLang="ko-KR" sz="1000"/>
              <a:t>GPT</a:t>
            </a:r>
            <a:r>
              <a:rPr lang="ko-KR" altLang="en-US" sz="1000"/>
              <a:t>는 토큰 단위로 돈을 받고 있습니다</a:t>
            </a:r>
            <a:r>
              <a:rPr lang="en-US" altLang="ko-KR" sz="1000"/>
              <a:t>.</a:t>
            </a:r>
          </a:p>
          <a:p>
            <a:endParaRPr lang="en-US" altLang="ko-KR" sz="1000"/>
          </a:p>
          <a:p>
            <a:r>
              <a:rPr lang="en-US" altLang="ko-KR" sz="1000"/>
              <a:t>gpt-3.5-turbo </a:t>
            </a:r>
            <a:r>
              <a:rPr lang="ko-KR" altLang="en-US" sz="1000"/>
              <a:t>모델 기준 </a:t>
            </a:r>
            <a:r>
              <a:rPr lang="en-US" altLang="ko-KR" sz="1000"/>
              <a:t>1000 </a:t>
            </a:r>
            <a:r>
              <a:rPr lang="ko-KR" altLang="en-US" sz="1000"/>
              <a:t>토큰당 </a:t>
            </a:r>
            <a:r>
              <a:rPr lang="en-US" altLang="ko-KR" sz="1000"/>
              <a:t>0.002</a:t>
            </a:r>
            <a:r>
              <a:rPr lang="ko-KR" altLang="en-US" sz="1000"/>
              <a:t>달러를 받고 있죠</a:t>
            </a:r>
          </a:p>
          <a:p>
            <a:endParaRPr lang="ko-KR" altLang="en-US" sz="1000"/>
          </a:p>
          <a:p>
            <a:r>
              <a:rPr lang="ko-KR" altLang="en-US" sz="1000"/>
              <a:t>한 요청당 </a:t>
            </a:r>
            <a:r>
              <a:rPr lang="en-US" altLang="ko-KR" sz="1000"/>
              <a:t>4097</a:t>
            </a:r>
            <a:r>
              <a:rPr lang="ko-KR" altLang="en-US" sz="1000"/>
              <a:t>이 최대입니다</a:t>
            </a:r>
            <a:r>
              <a:rPr lang="en-US" altLang="ko-KR" sz="1000"/>
              <a:t>.</a:t>
            </a:r>
          </a:p>
          <a:p>
            <a:endParaRPr lang="en-US" altLang="ko-KR" sz="1000"/>
          </a:p>
          <a:p>
            <a:r>
              <a:rPr lang="ko-KR" altLang="en-US" sz="1000"/>
              <a:t>토큰은 이 링크에서 테스트가 가능합니다</a:t>
            </a:r>
            <a:r>
              <a:rPr lang="en-US" altLang="ko-KR" sz="1000"/>
              <a:t>. </a:t>
            </a:r>
            <a:r>
              <a:rPr lang="ko-KR" altLang="en-US" sz="1000"/>
              <a:t>테스트 해보시면 대충 어느정도 돈이 빠져나가겠구나 싶을겁니다</a:t>
            </a:r>
            <a:r>
              <a:rPr lang="en-US" altLang="ko-KR" sz="1000"/>
              <a:t>.</a:t>
            </a:r>
          </a:p>
          <a:p>
            <a:endParaRPr lang="en-US" altLang="ko-KR" sz="1000"/>
          </a:p>
          <a:p>
            <a:r>
              <a:rPr lang="ko-KR" altLang="en-US" sz="1000"/>
              <a:t>아무리 많이 보내도 요청당 한국 돈으로 </a:t>
            </a:r>
            <a:r>
              <a:rPr lang="en-US" altLang="ko-KR" sz="1000"/>
              <a:t>10.72</a:t>
            </a:r>
            <a:r>
              <a:rPr lang="ko-KR" altLang="en-US" sz="1000"/>
              <a:t>원 이상은 안나온다는 의미입니다</a:t>
            </a:r>
          </a:p>
        </p:txBody>
      </p:sp>
      <p:pic>
        <p:nvPicPr>
          <p:cNvPr id="9" name="그림 8"/>
          <p:cNvPicPr>
            <a:picLocks noChangeAspect="1"/>
          </p:cNvPicPr>
          <p:nvPr/>
        </p:nvPicPr>
        <p:blipFill>
          <a:blip r:embed="rId3"/>
          <a:stretch>
            <a:fillRect/>
          </a:stretch>
        </p:blipFill>
        <p:spPr>
          <a:xfrm>
            <a:off x="7162402" y="2622470"/>
            <a:ext cx="4286648" cy="3816429"/>
          </a:xfrm>
          <a:prstGeom prst="rect">
            <a:avLst/>
          </a:prstGeom>
        </p:spPr>
      </p:pic>
      <p:sp>
        <p:nvSpPr>
          <p:cNvPr id="11" name="직사각형 10"/>
          <p:cNvSpPr/>
          <p:nvPr/>
        </p:nvSpPr>
        <p:spPr>
          <a:xfrm>
            <a:off x="655249" y="4297979"/>
            <a:ext cx="6096000" cy="2123658"/>
          </a:xfrm>
          <a:prstGeom prst="rect">
            <a:avLst/>
          </a:prstGeom>
        </p:spPr>
        <p:txBody>
          <a:bodyPr>
            <a:spAutoFit/>
          </a:bodyPr>
          <a:lstStyle/>
          <a:p>
            <a:r>
              <a:rPr lang="en-US" altLang="ko-KR" sz="1100" smtClean="0"/>
              <a:t>w</a:t>
            </a:r>
            <a:r>
              <a:rPr lang="ko-KR" altLang="en-US" sz="1100" smtClean="0"/>
              <a:t>hile </a:t>
            </a:r>
            <a:r>
              <a:rPr lang="ko-KR" altLang="en-US" sz="1100"/>
              <a:t>True:</a:t>
            </a:r>
          </a:p>
          <a:p>
            <a:r>
              <a:rPr lang="ko-KR" altLang="en-US" sz="1100"/>
              <a:t>        question = input()</a:t>
            </a:r>
          </a:p>
          <a:p>
            <a:r>
              <a:rPr lang="ko-KR" altLang="en-US" sz="1100"/>
              <a:t>        if question == '':</a:t>
            </a:r>
          </a:p>
          <a:p>
            <a:r>
              <a:rPr lang="ko-KR" altLang="en-US" sz="1100"/>
              <a:t>            break</a:t>
            </a:r>
          </a:p>
          <a:p>
            <a:endParaRPr lang="ko-KR" altLang="en-US" sz="1100"/>
          </a:p>
          <a:p>
            <a:r>
              <a:rPr lang="ko-KR" altLang="en-US" sz="1100"/>
              <a:t>        if len(messages) &gt;= 4:</a:t>
            </a:r>
          </a:p>
          <a:p>
            <a:r>
              <a:rPr lang="ko-KR" altLang="en-US" sz="1100"/>
              <a:t>            messages = messages[len(messages)-4:]  # 최근 2개의 대화만 가져오기</a:t>
            </a:r>
          </a:p>
          <a:p>
            <a:endParaRPr lang="ko-KR" altLang="en-US" sz="1100"/>
          </a:p>
          <a:p>
            <a:r>
              <a:rPr lang="ko-KR" altLang="en-US" sz="1100"/>
              <a:t>        messages.append({</a:t>
            </a:r>
          </a:p>
          <a:p>
            <a:r>
              <a:rPr lang="ko-KR" altLang="en-US" sz="1100"/>
              <a:t>            'role': 'user',</a:t>
            </a:r>
          </a:p>
          <a:p>
            <a:r>
              <a:rPr lang="ko-KR" altLang="en-US" sz="1100"/>
              <a:t>            'content': question</a:t>
            </a:r>
          </a:p>
          <a:p>
            <a:r>
              <a:rPr lang="ko-KR" altLang="en-US" sz="1100"/>
              <a:t>        })</a:t>
            </a:r>
          </a:p>
        </p:txBody>
      </p:sp>
    </p:spTree>
    <p:extLst>
      <p:ext uri="{BB962C8B-B14F-4D97-AF65-F5344CB8AC3E}">
        <p14:creationId xmlns:p14="http://schemas.microsoft.com/office/powerpoint/2010/main" val="19711564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654126" y="803702"/>
            <a:ext cx="10718723" cy="246221"/>
          </a:xfrm>
          <a:prstGeom prst="rect">
            <a:avLst/>
          </a:prstGeom>
        </p:spPr>
        <p:txBody>
          <a:bodyPr wrap="square">
            <a:spAutoFit/>
          </a:bodyPr>
          <a:lstStyle/>
          <a:p>
            <a:r>
              <a:rPr lang="ko-KR" altLang="en-US" sz="1000"/>
              <a:t>https://asecurity.dev/entry/Python-OpenAI-%EC%B5%9C%EB%8C%80-%EC%9A%94%EC%B2%AD-%EC%B4%88%EA%B3%BC-%EC%98%A4%EB%A5%98-%ED%95%B4%EA%B2%B0</a:t>
            </a:r>
          </a:p>
        </p:txBody>
      </p:sp>
      <p:sp>
        <p:nvSpPr>
          <p:cNvPr id="5" name="직사각형 4"/>
          <p:cNvSpPr/>
          <p:nvPr/>
        </p:nvSpPr>
        <p:spPr>
          <a:xfrm>
            <a:off x="654127" y="434370"/>
            <a:ext cx="4711546" cy="369332"/>
          </a:xfrm>
          <a:prstGeom prst="rect">
            <a:avLst/>
          </a:prstGeom>
        </p:spPr>
        <p:txBody>
          <a:bodyPr wrap="none">
            <a:spAutoFit/>
          </a:bodyPr>
          <a:lstStyle/>
          <a:p>
            <a:r>
              <a:rPr lang="en-US" altLang="ko-KR">
                <a:latin typeface="AppleSDGothicNeo"/>
              </a:rPr>
              <a:t>Python - OpenAI </a:t>
            </a:r>
            <a:r>
              <a:rPr lang="ko-KR" altLang="en-US">
                <a:latin typeface="AppleSDGothicNeo"/>
              </a:rPr>
              <a:t>최대 요청 초과 오류 해결</a:t>
            </a:r>
            <a:endParaRPr lang="ko-KR" altLang="en-US" b="0" i="0">
              <a:effectLst/>
              <a:latin typeface="AppleSDGothicNeo"/>
            </a:endParaRPr>
          </a:p>
        </p:txBody>
      </p:sp>
      <p:sp>
        <p:nvSpPr>
          <p:cNvPr id="6" name="직사각형 5"/>
          <p:cNvSpPr/>
          <p:nvPr/>
        </p:nvSpPr>
        <p:spPr>
          <a:xfrm>
            <a:off x="581025" y="1419255"/>
            <a:ext cx="6096000" cy="3631763"/>
          </a:xfrm>
          <a:prstGeom prst="rect">
            <a:avLst/>
          </a:prstGeom>
        </p:spPr>
        <p:txBody>
          <a:bodyPr>
            <a:spAutoFit/>
          </a:bodyPr>
          <a:lstStyle/>
          <a:p>
            <a:r>
              <a:rPr lang="ko-KR" altLang="en-US" sz="1000"/>
              <a:t>1. 여러번 나눠서 요청하기</a:t>
            </a:r>
          </a:p>
          <a:p>
            <a:r>
              <a:rPr lang="ko-KR" altLang="en-US" sz="1000"/>
              <a:t>""" OpenAI Make Summary"""</a:t>
            </a:r>
          </a:p>
          <a:p>
            <a:r>
              <a:rPr lang="ko-KR" altLang="en-US" sz="1000"/>
              <a:t>max_context_length = 4096 # 최대 문맥 길이</a:t>
            </a:r>
          </a:p>
          <a:p>
            <a:r>
              <a:rPr lang="ko-KR" altLang="en-US" sz="1000"/>
              <a:t>max_tokens = 1024 # 최대 토큰 길이</a:t>
            </a:r>
          </a:p>
          <a:p>
            <a:endParaRPr lang="ko-KR" altLang="en-US" sz="1000"/>
          </a:p>
          <a:p>
            <a:endParaRPr lang="ko-KR" altLang="en-US" sz="1000"/>
          </a:p>
          <a:p>
            <a:r>
              <a:rPr lang="ko-KR" altLang="en-US" sz="1000"/>
              <a:t># 입력을 여러 번 요청하는 함수</a:t>
            </a:r>
          </a:p>
          <a:p>
            <a:r>
              <a:rPr lang="ko-KR" altLang="en-US" sz="1000"/>
              <a:t>def generate_text(prompt):</a:t>
            </a:r>
          </a:p>
          <a:p>
            <a:r>
              <a:rPr lang="ko-KR" altLang="en-US" sz="1000"/>
              <a:t>    # 요청 문장의 길이가 최대 문맥 길이를 초과하는 경우 나누어 요청</a:t>
            </a:r>
          </a:p>
          <a:p>
            <a:r>
              <a:rPr lang="ko-KR" altLang="en-US" sz="1000"/>
              <a:t>    if len(prompt) &gt; max_context_length:</a:t>
            </a:r>
          </a:p>
          <a:p>
            <a:r>
              <a:rPr lang="ko-KR" altLang="en-US" sz="1000"/>
              <a:t>        prompt_chunks = [prompt[i:i+max_context_length] for i in range(0, len(prompt), max_context_length)]</a:t>
            </a:r>
          </a:p>
          <a:p>
            <a:r>
              <a:rPr lang="ko-KR" altLang="en-US" sz="1000"/>
              <a:t>... </a:t>
            </a:r>
          </a:p>
          <a:p>
            <a:endParaRPr lang="ko-KR" altLang="en-US" sz="1000"/>
          </a:p>
          <a:p>
            <a:r>
              <a:rPr lang="ko-KR" altLang="en-US" sz="1000"/>
              <a:t>for chunk in prompt_chunks:</a:t>
            </a:r>
          </a:p>
          <a:p>
            <a:r>
              <a:rPr lang="ko-KR" altLang="en-US" sz="1000"/>
              <a:t>        # OpenAI API로 요청</a:t>
            </a:r>
          </a:p>
          <a:p>
            <a:r>
              <a:rPr lang="ko-KR" altLang="en-US" sz="1000"/>
              <a:t>        response = openai.Completion.create(</a:t>
            </a:r>
          </a:p>
          <a:p>
            <a:r>
              <a:rPr lang="ko-KR" altLang="en-US" sz="1000"/>
              <a:t>            engine=OPENAI_DEPLOYMENT_SUMMARY,</a:t>
            </a:r>
          </a:p>
          <a:p>
            <a:r>
              <a:rPr lang="ko-KR" altLang="en-US" sz="1000"/>
              <a:t>            prompt=chunk,</a:t>
            </a:r>
          </a:p>
          <a:p>
            <a:r>
              <a:rPr lang="ko-KR" altLang="en-US" sz="1000"/>
              <a:t>            max_tokens=max_tokens,</a:t>
            </a:r>
          </a:p>
          <a:p>
            <a:r>
              <a:rPr lang="ko-KR" altLang="en-US" sz="1000"/>
              <a:t>...</a:t>
            </a:r>
          </a:p>
          <a:p>
            <a:r>
              <a:rPr lang="ko-KR" altLang="en-US" sz="1000"/>
              <a:t>    # 결과를 하나로 합쳐서 반환</a:t>
            </a:r>
          </a:p>
          <a:p>
            <a:r>
              <a:rPr lang="ko-KR" altLang="en-US" sz="1000"/>
              <a:t>    return " ".join(response_texts)</a:t>
            </a:r>
          </a:p>
        </p:txBody>
      </p:sp>
      <p:sp>
        <p:nvSpPr>
          <p:cNvPr id="7" name="직사각형 6"/>
          <p:cNvSpPr/>
          <p:nvPr/>
        </p:nvSpPr>
        <p:spPr>
          <a:xfrm>
            <a:off x="6448425" y="1295817"/>
            <a:ext cx="5400675" cy="2400657"/>
          </a:xfrm>
          <a:prstGeom prst="rect">
            <a:avLst/>
          </a:prstGeom>
        </p:spPr>
        <p:txBody>
          <a:bodyPr wrap="square">
            <a:spAutoFit/>
          </a:bodyPr>
          <a:lstStyle/>
          <a:p>
            <a:r>
              <a:rPr lang="ko-KR" altLang="en-US" sz="1000"/>
              <a:t>2. 요청 크기 줄이기</a:t>
            </a:r>
          </a:p>
          <a:p>
            <a:endParaRPr lang="ko-KR" altLang="en-US" sz="1000"/>
          </a:p>
          <a:p>
            <a:r>
              <a:rPr lang="ko-KR" altLang="en-US" sz="1000"/>
              <a:t>def generate_split_text(prompt):</a:t>
            </a:r>
          </a:p>
          <a:p>
            <a:r>
              <a:rPr lang="ko-KR" altLang="en-US" sz="1000"/>
              <a:t>    max_context_length = 4096 # 최대 문맥 길이</a:t>
            </a:r>
          </a:p>
          <a:p>
            <a:r>
              <a:rPr lang="ko-KR" altLang="en-US" sz="1000"/>
              <a:t>    if len(prompt) &gt; max_context_length:</a:t>
            </a:r>
          </a:p>
          <a:p>
            <a:r>
              <a:rPr lang="ko-KR" altLang="en-US" sz="1000"/>
              <a:t>        prompt = prompt[:max_context_length]</a:t>
            </a:r>
          </a:p>
          <a:p>
            <a:r>
              <a:rPr lang="ko-KR" altLang="en-US" sz="1000"/>
              <a:t>...</a:t>
            </a:r>
          </a:p>
          <a:p>
            <a:r>
              <a:rPr lang="ko-KR" altLang="en-US" sz="1000"/>
              <a:t>	response = openai.Completion.create(</a:t>
            </a:r>
          </a:p>
          <a:p>
            <a:r>
              <a:rPr lang="ko-KR" altLang="en-US" sz="1000"/>
              <a:t>        engine=OPENAI_DEPLOYMENT_SUMMARY,</a:t>
            </a:r>
          </a:p>
          <a:p>
            <a:r>
              <a:rPr lang="ko-KR" altLang="en-US" sz="1000"/>
              <a:t>        prompt=prompt,</a:t>
            </a:r>
          </a:p>
          <a:p>
            <a:r>
              <a:rPr lang="ko-KR" altLang="en-US" sz="1000"/>
              <a:t>        max_tokens=1024,</a:t>
            </a:r>
          </a:p>
          <a:p>
            <a:r>
              <a:rPr lang="ko-KR" altLang="en-US" sz="1000"/>
              <a:t>        n=1,</a:t>
            </a:r>
          </a:p>
          <a:p>
            <a:r>
              <a:rPr lang="ko-KR" altLang="en-US" sz="1000"/>
              <a:t>        stop=None,</a:t>
            </a:r>
          </a:p>
          <a:p>
            <a:r>
              <a:rPr lang="ko-KR" altLang="en-US" sz="1000"/>
              <a:t>        temperature=0.5</a:t>
            </a:r>
          </a:p>
          <a:p>
            <a:r>
              <a:rPr lang="ko-KR" altLang="en-US" sz="1000"/>
              <a:t>    )</a:t>
            </a:r>
          </a:p>
        </p:txBody>
      </p:sp>
    </p:spTree>
    <p:extLst>
      <p:ext uri="{BB962C8B-B14F-4D97-AF65-F5344CB8AC3E}">
        <p14:creationId xmlns:p14="http://schemas.microsoft.com/office/powerpoint/2010/main" val="36322731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p:cNvSpPr/>
          <p:nvPr/>
        </p:nvSpPr>
        <p:spPr>
          <a:xfrm>
            <a:off x="514350" y="300179"/>
            <a:ext cx="6096000" cy="1454437"/>
          </a:xfrm>
          <a:prstGeom prst="rect">
            <a:avLst/>
          </a:prstGeom>
        </p:spPr>
        <p:txBody>
          <a:bodyPr>
            <a:spAutoFit/>
          </a:bodyPr>
          <a:lstStyle/>
          <a:p>
            <a:pPr>
              <a:spcAft>
                <a:spcPts val="0"/>
              </a:spcAft>
            </a:pPr>
            <a:r>
              <a:rPr lang="en-US" altLang="ko-KR" sz="1200" b="1" smtClean="0">
                <a:solidFill>
                  <a:srgbClr val="0F0F0F"/>
                </a:solidFill>
                <a:effectLst/>
                <a:latin typeface="Arial" panose="020B0604020202020204" pitchFamily="34" charset="0"/>
                <a:ea typeface="굴림" panose="020B0600000101010101" pitchFamily="50" charset="-127"/>
                <a:cs typeface="굴림" panose="020B0600000101010101" pitchFamily="50" charset="-127"/>
              </a:rPr>
              <a:t>[GPT-4] </a:t>
            </a:r>
            <a:r>
              <a:rPr lang="ko-KR" altLang="ko-KR" sz="1200"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책</a:t>
            </a:r>
            <a:r>
              <a:rPr lang="ko-KR" altLang="ko-KR" sz="1200" b="1" smtClean="0">
                <a:solidFill>
                  <a:srgbClr val="0F0F0F"/>
                </a:solidFill>
                <a:effectLst/>
                <a:latin typeface="굴림" panose="020B0600000101010101" pitchFamily="50" charset="-127"/>
                <a:ea typeface="Arial" panose="020B0604020202020204" pitchFamily="34" charset="0"/>
                <a:cs typeface="굴림" panose="020B0600000101010101" pitchFamily="50" charset="-127"/>
              </a:rPr>
              <a:t> </a:t>
            </a:r>
            <a:r>
              <a:rPr lang="ko-KR" altLang="ko-KR" sz="1200"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요약해서</a:t>
            </a:r>
            <a:r>
              <a:rPr lang="ko-KR" altLang="ko-KR" sz="1200" b="1" smtClean="0">
                <a:solidFill>
                  <a:srgbClr val="0F0F0F"/>
                </a:solidFill>
                <a:effectLst/>
                <a:latin typeface="굴림" panose="020B0600000101010101" pitchFamily="50" charset="-127"/>
                <a:ea typeface="Arial" panose="020B0604020202020204" pitchFamily="34" charset="0"/>
                <a:cs typeface="굴림" panose="020B0600000101010101" pitchFamily="50" charset="-127"/>
              </a:rPr>
              <a:t> </a:t>
            </a:r>
            <a:r>
              <a:rPr lang="ko-KR" altLang="ko-KR" sz="1200"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유튜브</a:t>
            </a:r>
            <a:r>
              <a:rPr lang="ko-KR" altLang="ko-KR" sz="1200" b="1" smtClean="0">
                <a:solidFill>
                  <a:srgbClr val="0F0F0F"/>
                </a:solidFill>
                <a:effectLst/>
                <a:latin typeface="굴림" panose="020B0600000101010101" pitchFamily="50" charset="-127"/>
                <a:ea typeface="Arial" panose="020B0604020202020204" pitchFamily="34" charset="0"/>
                <a:cs typeface="굴림" panose="020B0600000101010101" pitchFamily="50" charset="-127"/>
              </a:rPr>
              <a:t> </a:t>
            </a:r>
            <a:r>
              <a:rPr lang="ko-KR" altLang="ko-KR" sz="1200"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쇼츠</a:t>
            </a:r>
            <a:r>
              <a:rPr lang="ko-KR" altLang="ko-KR" sz="1200" b="1" smtClean="0">
                <a:solidFill>
                  <a:srgbClr val="0F0F0F"/>
                </a:solidFill>
                <a:effectLst/>
                <a:latin typeface="굴림" panose="020B0600000101010101" pitchFamily="50" charset="-127"/>
                <a:ea typeface="Arial" panose="020B0604020202020204" pitchFamily="34" charset="0"/>
                <a:cs typeface="굴림" panose="020B0600000101010101" pitchFamily="50" charset="-127"/>
              </a:rPr>
              <a:t> </a:t>
            </a:r>
            <a:r>
              <a:rPr lang="ko-KR" altLang="ko-KR" sz="1200"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영상으로</a:t>
            </a:r>
            <a:r>
              <a:rPr lang="ko-KR" altLang="ko-KR" sz="1200" b="1" smtClean="0">
                <a:solidFill>
                  <a:srgbClr val="0F0F0F"/>
                </a:solidFill>
                <a:effectLst/>
                <a:latin typeface="굴림" panose="020B0600000101010101" pitchFamily="50" charset="-127"/>
                <a:ea typeface="Arial" panose="020B0604020202020204" pitchFamily="34" charset="0"/>
                <a:cs typeface="굴림" panose="020B0600000101010101" pitchFamily="50" charset="-127"/>
              </a:rPr>
              <a:t> </a:t>
            </a:r>
            <a:r>
              <a:rPr lang="ko-KR" altLang="ko-KR" sz="1200"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돈버는</a:t>
            </a:r>
            <a:r>
              <a:rPr lang="ko-KR" altLang="ko-KR" sz="1200" b="1" smtClean="0">
                <a:solidFill>
                  <a:srgbClr val="0F0F0F"/>
                </a:solidFill>
                <a:effectLst/>
                <a:latin typeface="굴림" panose="020B0600000101010101" pitchFamily="50" charset="-127"/>
                <a:ea typeface="Arial" panose="020B0604020202020204" pitchFamily="34" charset="0"/>
                <a:cs typeface="굴림" panose="020B0600000101010101" pitchFamily="50" charset="-127"/>
              </a:rPr>
              <a:t> </a:t>
            </a:r>
            <a:r>
              <a:rPr lang="ko-KR" altLang="ko-KR" sz="1200"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인공지능</a:t>
            </a:r>
            <a:r>
              <a:rPr lang="ko-KR" altLang="ko-KR" sz="1200" b="1" smtClean="0">
                <a:solidFill>
                  <a:srgbClr val="0F0F0F"/>
                </a:solidFill>
                <a:effectLst/>
                <a:latin typeface="굴림" panose="020B0600000101010101" pitchFamily="50" charset="-127"/>
                <a:ea typeface="Arial" panose="020B0604020202020204" pitchFamily="34" charset="0"/>
                <a:cs typeface="굴림" panose="020B0600000101010101" pitchFamily="50" charset="-127"/>
              </a:rPr>
              <a:t> </a:t>
            </a:r>
            <a:r>
              <a:rPr lang="ko-KR" altLang="ko-KR" sz="1200" b="1" smtClean="0">
                <a:solidFill>
                  <a:srgbClr val="0F0F0F"/>
                </a:solidFill>
                <a:effectLst/>
                <a:latin typeface="Arial" panose="020B0604020202020204" pitchFamily="34" charset="0"/>
                <a:ea typeface="굴림" panose="020B0600000101010101" pitchFamily="50" charset="-127"/>
                <a:cs typeface="Arial" panose="020B0604020202020204" pitchFamily="34" charset="0"/>
              </a:rPr>
              <a:t>만들기</a:t>
            </a:r>
            <a:endParaRPr lang="ko-KR" altLang="ko-KR" sz="1200" b="1" smtClean="0">
              <a:effectLst/>
              <a:latin typeface="굴림" panose="020B0600000101010101" pitchFamily="50" charset="-127"/>
              <a:ea typeface="굴림" panose="020B0600000101010101" pitchFamily="50" charset="-127"/>
              <a:cs typeface="굴림" panose="020B0600000101010101" pitchFamily="50" charset="-127"/>
            </a:endParaRPr>
          </a:p>
          <a:p>
            <a:pPr algn="just">
              <a:lnSpc>
                <a:spcPct val="107000"/>
              </a:lnSpc>
              <a:spcAft>
                <a:spcPts val="800"/>
              </a:spcAft>
            </a:pPr>
            <a:r>
              <a:rPr lang="en-US" altLang="ko-KR" sz="1200" u="sng" kern="100">
                <a:solidFill>
                  <a:srgbClr val="0563C1"/>
                </a:solidFill>
                <a:latin typeface="맑은 고딕" panose="020B0503020000020004" pitchFamily="50" charset="-127"/>
                <a:cs typeface="Times New Roman" panose="02020603050405020304" pitchFamily="18" charset="0"/>
                <a:hlinkClick r:id="rId2"/>
              </a:rPr>
              <a:t>https://www.youtube.com/watch?v=_TVyF_4JJgk</a:t>
            </a:r>
            <a:endParaRPr lang="ko-KR" altLang="ko-KR" sz="1200" kern="100">
              <a:latin typeface="맑은 고딕" panose="020B0503020000020004" pitchFamily="50" charset="-127"/>
              <a:cs typeface="Times New Roman" panose="02020603050405020304" pitchFamily="18" charset="0"/>
            </a:endParaRPr>
          </a:p>
          <a:p>
            <a:pPr algn="just">
              <a:lnSpc>
                <a:spcPct val="107000"/>
              </a:lnSpc>
              <a:spcAft>
                <a:spcPts val="800"/>
              </a:spcAft>
            </a:pPr>
            <a:r>
              <a:rPr lang="ko-KR" altLang="ko-KR" sz="1200" kern="100">
                <a:solidFill>
                  <a:srgbClr val="222222"/>
                </a:solidFill>
                <a:latin typeface="Arial" panose="020B0604020202020204" pitchFamily="34" charset="0"/>
                <a:cs typeface="Arial" panose="020B0604020202020204" pitchFamily="34" charset="0"/>
              </a:rPr>
              <a:t>메타가</a:t>
            </a:r>
            <a:r>
              <a:rPr lang="ko-KR" altLang="ko-KR" sz="1200" kern="100" smtClean="0">
                <a:solidFill>
                  <a:srgbClr val="222222"/>
                </a:solidFill>
                <a:effectLst/>
                <a:latin typeface="맑은 고딕" panose="020B0503020000020004" pitchFamily="50" charset="-127"/>
                <a:ea typeface="Arial" panose="020B0604020202020204" pitchFamily="34" charset="0"/>
                <a:cs typeface="Times New Roman" panose="02020603050405020304" pitchFamily="18" charset="0"/>
              </a:rPr>
              <a:t> </a:t>
            </a:r>
            <a:r>
              <a:rPr lang="ko-KR" altLang="ko-KR" sz="1200" kern="100">
                <a:solidFill>
                  <a:srgbClr val="222222"/>
                </a:solidFill>
                <a:latin typeface="Arial" panose="020B0604020202020204" pitchFamily="34" charset="0"/>
                <a:cs typeface="Arial" panose="020B0604020202020204" pitchFamily="34" charset="0"/>
              </a:rPr>
              <a:t>개발한</a:t>
            </a:r>
            <a:r>
              <a:rPr lang="ko-KR" altLang="ko-KR" sz="1200" kern="100" smtClean="0">
                <a:solidFill>
                  <a:srgbClr val="222222"/>
                </a:solidFill>
                <a:effectLst/>
                <a:latin typeface="맑은 고딕" panose="020B0503020000020004" pitchFamily="50" charset="-127"/>
                <a:ea typeface="Arial" panose="020B0604020202020204" pitchFamily="34" charset="0"/>
                <a:cs typeface="Times New Roman" panose="02020603050405020304" pitchFamily="18" charset="0"/>
              </a:rPr>
              <a:t> </a:t>
            </a:r>
            <a:r>
              <a:rPr lang="ko-KR" altLang="ko-KR" sz="1200" kern="100">
                <a:solidFill>
                  <a:srgbClr val="222222"/>
                </a:solidFill>
                <a:latin typeface="Arial" panose="020B0604020202020204" pitchFamily="34" charset="0"/>
                <a:cs typeface="Arial" panose="020B0604020202020204" pitchFamily="34" charset="0"/>
              </a:rPr>
              <a:t>대규모</a:t>
            </a:r>
            <a:r>
              <a:rPr lang="ko-KR" altLang="ko-KR" sz="1200" kern="100" smtClean="0">
                <a:solidFill>
                  <a:srgbClr val="222222"/>
                </a:solidFill>
                <a:effectLst/>
                <a:latin typeface="맑은 고딕" panose="020B0503020000020004" pitchFamily="50" charset="-127"/>
                <a:ea typeface="Arial" panose="020B0604020202020204" pitchFamily="34" charset="0"/>
                <a:cs typeface="Times New Roman" panose="02020603050405020304" pitchFamily="18" charset="0"/>
              </a:rPr>
              <a:t> </a:t>
            </a:r>
            <a:r>
              <a:rPr lang="ko-KR" altLang="ko-KR" sz="1200" kern="100">
                <a:solidFill>
                  <a:srgbClr val="222222"/>
                </a:solidFill>
                <a:latin typeface="Arial" panose="020B0604020202020204" pitchFamily="34" charset="0"/>
                <a:cs typeface="Arial" panose="020B0604020202020204" pitchFamily="34" charset="0"/>
              </a:rPr>
              <a:t>언어</a:t>
            </a:r>
            <a:r>
              <a:rPr lang="ko-KR" altLang="ko-KR" sz="1200" kern="100" smtClean="0">
                <a:solidFill>
                  <a:srgbClr val="222222"/>
                </a:solidFill>
                <a:effectLst/>
                <a:latin typeface="맑은 고딕" panose="020B0503020000020004" pitchFamily="50" charset="-127"/>
                <a:ea typeface="Arial" panose="020B0604020202020204" pitchFamily="34" charset="0"/>
                <a:cs typeface="Times New Roman" panose="02020603050405020304" pitchFamily="18" charset="0"/>
              </a:rPr>
              <a:t> </a:t>
            </a:r>
            <a:r>
              <a:rPr lang="ko-KR" altLang="ko-KR" sz="1200" kern="100">
                <a:solidFill>
                  <a:srgbClr val="222222"/>
                </a:solidFill>
                <a:latin typeface="Arial" panose="020B0604020202020204" pitchFamily="34" charset="0"/>
                <a:cs typeface="Arial" panose="020B0604020202020204" pitchFamily="34" charset="0"/>
              </a:rPr>
              <a:t>모델</a:t>
            </a:r>
            <a:r>
              <a:rPr lang="en-US" altLang="ko-KR" sz="1200" kern="100">
                <a:solidFill>
                  <a:srgbClr val="222222"/>
                </a:solidFill>
                <a:latin typeface="Arial" panose="020B0604020202020204" pitchFamily="34" charset="0"/>
                <a:cs typeface="Times New Roman" panose="02020603050405020304" pitchFamily="18" charset="0"/>
              </a:rPr>
              <a:t>, ‘</a:t>
            </a:r>
            <a:r>
              <a:rPr lang="ko-KR" altLang="ko-KR" sz="1200" kern="100">
                <a:solidFill>
                  <a:srgbClr val="222222"/>
                </a:solidFill>
                <a:latin typeface="Arial" panose="020B0604020202020204" pitchFamily="34" charset="0"/>
                <a:cs typeface="Arial" panose="020B0604020202020204" pitchFamily="34" charset="0"/>
              </a:rPr>
              <a:t>라마</a:t>
            </a:r>
            <a:r>
              <a:rPr lang="en-US" altLang="ko-KR" sz="1200" kern="100">
                <a:solidFill>
                  <a:srgbClr val="222222"/>
                </a:solidFill>
                <a:latin typeface="Arial" panose="020B0604020202020204" pitchFamily="34" charset="0"/>
                <a:cs typeface="Times New Roman" panose="02020603050405020304" pitchFamily="18" charset="0"/>
              </a:rPr>
              <a:t> 2’</a:t>
            </a:r>
            <a:r>
              <a:rPr lang="ko-KR" altLang="ko-KR" sz="1200" kern="100">
                <a:solidFill>
                  <a:srgbClr val="222222"/>
                </a:solidFill>
                <a:latin typeface="Arial" panose="020B0604020202020204" pitchFamily="34" charset="0"/>
                <a:cs typeface="Arial" panose="020B0604020202020204" pitchFamily="34" charset="0"/>
              </a:rPr>
              <a:t>란</a:t>
            </a:r>
            <a:r>
              <a:rPr lang="ko-KR" altLang="ko-KR" sz="1200" kern="100" smtClean="0">
                <a:solidFill>
                  <a:srgbClr val="222222"/>
                </a:solidFill>
                <a:effectLst/>
                <a:latin typeface="맑은 고딕" panose="020B0503020000020004" pitchFamily="50" charset="-127"/>
                <a:ea typeface="Arial" panose="020B0604020202020204" pitchFamily="34" charset="0"/>
                <a:cs typeface="Times New Roman" panose="02020603050405020304" pitchFamily="18" charset="0"/>
              </a:rPr>
              <a:t> </a:t>
            </a:r>
            <a:r>
              <a:rPr lang="ko-KR" altLang="ko-KR" sz="1200" kern="100">
                <a:solidFill>
                  <a:srgbClr val="222222"/>
                </a:solidFill>
                <a:latin typeface="Arial" panose="020B0604020202020204" pitchFamily="34" charset="0"/>
                <a:cs typeface="Arial" panose="020B0604020202020204" pitchFamily="34" charset="0"/>
              </a:rPr>
              <a:t>무엇인가</a:t>
            </a:r>
            <a:r>
              <a:rPr lang="en-US" altLang="ko-KR" sz="1200" kern="100">
                <a:solidFill>
                  <a:srgbClr val="222222"/>
                </a:solidFill>
                <a:latin typeface="Arial" panose="020B0604020202020204" pitchFamily="34" charset="0"/>
                <a:cs typeface="Times New Roman" panose="02020603050405020304" pitchFamily="18" charset="0"/>
              </a:rPr>
              <a:t>? – </a:t>
            </a:r>
            <a:r>
              <a:rPr lang="ko-KR" altLang="ko-KR" sz="1200" kern="100">
                <a:solidFill>
                  <a:srgbClr val="222222"/>
                </a:solidFill>
                <a:latin typeface="Arial" panose="020B0604020202020204" pitchFamily="34" charset="0"/>
                <a:cs typeface="Arial" panose="020B0604020202020204" pitchFamily="34" charset="0"/>
              </a:rPr>
              <a:t>상업적</a:t>
            </a:r>
            <a:r>
              <a:rPr lang="ko-KR" altLang="ko-KR" sz="1200" kern="100" smtClean="0">
                <a:solidFill>
                  <a:srgbClr val="222222"/>
                </a:solidFill>
                <a:effectLst/>
                <a:latin typeface="맑은 고딕" panose="020B0503020000020004" pitchFamily="50" charset="-127"/>
                <a:ea typeface="Arial" panose="020B0604020202020204" pitchFamily="34" charset="0"/>
                <a:cs typeface="Times New Roman" panose="02020603050405020304" pitchFamily="18" charset="0"/>
              </a:rPr>
              <a:t> </a:t>
            </a:r>
            <a:r>
              <a:rPr lang="ko-KR" altLang="ko-KR" sz="1200" kern="100">
                <a:solidFill>
                  <a:srgbClr val="222222"/>
                </a:solidFill>
                <a:latin typeface="Arial" panose="020B0604020202020204" pitchFamily="34" charset="0"/>
                <a:cs typeface="Arial" panose="020B0604020202020204" pitchFamily="34" charset="0"/>
              </a:rPr>
              <a:t>허용</a:t>
            </a:r>
            <a:r>
              <a:rPr lang="ko-KR" altLang="ko-KR" sz="1200" kern="100" smtClean="0">
                <a:solidFill>
                  <a:srgbClr val="222222"/>
                </a:solidFill>
                <a:effectLst/>
                <a:latin typeface="맑은 고딕" panose="020B0503020000020004" pitchFamily="50" charset="-127"/>
                <a:ea typeface="Arial" panose="020B0604020202020204" pitchFamily="34" charset="0"/>
                <a:cs typeface="Times New Roman" panose="02020603050405020304" pitchFamily="18" charset="0"/>
              </a:rPr>
              <a:t> </a:t>
            </a:r>
            <a:r>
              <a:rPr lang="en-US" altLang="ko-KR" sz="1200" kern="100">
                <a:solidFill>
                  <a:srgbClr val="222222"/>
                </a:solidFill>
                <a:latin typeface="Arial" panose="020B0604020202020204" pitchFamily="34" charset="0"/>
                <a:cs typeface="Times New Roman" panose="02020603050405020304" pitchFamily="18" charset="0"/>
              </a:rPr>
              <a:t/>
            </a:r>
            <a:br>
              <a:rPr lang="en-US" altLang="ko-KR" sz="1200" kern="100">
                <a:solidFill>
                  <a:srgbClr val="222222"/>
                </a:solidFill>
                <a:latin typeface="Arial" panose="020B0604020202020204" pitchFamily="34" charset="0"/>
                <a:cs typeface="Times New Roman" panose="02020603050405020304" pitchFamily="18" charset="0"/>
              </a:rPr>
            </a:br>
            <a:r>
              <a:rPr lang="en-US" altLang="ko-KR" sz="1200" kern="100">
                <a:latin typeface="맑은 고딕" panose="020B0503020000020004" pitchFamily="50" charset="-127"/>
                <a:cs typeface="Times New Roman" panose="02020603050405020304" pitchFamily="18" charset="0"/>
              </a:rPr>
              <a:t>https://www.itworld.co.kr/news/308005</a:t>
            </a:r>
            <a:endParaRPr lang="ko-KR" altLang="ko-KR" sz="1200" kern="100">
              <a:latin typeface="맑은 고딕" panose="020B0503020000020004" pitchFamily="50" charset="-127"/>
              <a:cs typeface="Times New Roman" panose="02020603050405020304" pitchFamily="18" charset="0"/>
            </a:endParaRPr>
          </a:p>
          <a:p>
            <a:pPr algn="just">
              <a:lnSpc>
                <a:spcPct val="107000"/>
              </a:lnSpc>
              <a:spcAft>
                <a:spcPts val="800"/>
              </a:spcAft>
            </a:pPr>
            <a:r>
              <a:rPr lang="en-US" altLang="ko-KR" sz="1200" kern="100">
                <a:latin typeface="맑은 고딕" panose="020B0503020000020004" pitchFamily="50" charset="-127"/>
                <a:cs typeface="Times New Roman" panose="02020603050405020304" pitchFamily="18" charset="0"/>
              </a:rPr>
              <a:t>https://contents.premium.naver.com/banya/banyacompany/contents/230720145005714rp</a:t>
            </a:r>
            <a:endParaRPr lang="ko-KR" altLang="ko-KR" sz="1200" kern="100">
              <a:latin typeface="맑은 고딕" panose="020B0503020000020004" pitchFamily="50" charset="-127"/>
              <a:cs typeface="Times New Roman" panose="02020603050405020304" pitchFamily="18" charset="0"/>
            </a:endParaRPr>
          </a:p>
        </p:txBody>
      </p:sp>
    </p:spTree>
    <p:extLst>
      <p:ext uri="{BB962C8B-B14F-4D97-AF65-F5344CB8AC3E}">
        <p14:creationId xmlns:p14="http://schemas.microsoft.com/office/powerpoint/2010/main" val="205076766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p:cNvSpPr/>
          <p:nvPr/>
        </p:nvSpPr>
        <p:spPr>
          <a:xfrm>
            <a:off x="746177" y="470654"/>
            <a:ext cx="6559809" cy="2308324"/>
          </a:xfrm>
          <a:prstGeom prst="rect">
            <a:avLst/>
          </a:prstGeom>
        </p:spPr>
        <p:txBody>
          <a:bodyPr wrap="none">
            <a:spAutoFit/>
          </a:bodyPr>
          <a:lstStyle/>
          <a:p>
            <a:r>
              <a:rPr lang="en-US" altLang="ko-KR"/>
              <a:t>"</a:t>
            </a:r>
            <a:r>
              <a:rPr lang="ko-KR" altLang="en-US"/>
              <a:t>웹에서 밑줄 그으면 </a:t>
            </a:r>
            <a:r>
              <a:rPr lang="en-US" altLang="ko-KR"/>
              <a:t>AI</a:t>
            </a:r>
            <a:r>
              <a:rPr lang="ko-KR" altLang="en-US"/>
              <a:t>가 검색</a:t>
            </a:r>
            <a:r>
              <a:rPr lang="en-US" altLang="ko-KR"/>
              <a:t>·</a:t>
            </a:r>
            <a:r>
              <a:rPr lang="ko-KR" altLang="en-US"/>
              <a:t>추천</a:t>
            </a:r>
            <a:r>
              <a:rPr lang="en-US" altLang="ko-KR"/>
              <a:t>…10</a:t>
            </a:r>
            <a:r>
              <a:rPr lang="ko-KR" altLang="en-US"/>
              <a:t>년 내 구글 넘어설 것</a:t>
            </a:r>
            <a:r>
              <a:rPr lang="en-US" altLang="ko-KR"/>
              <a:t>"</a:t>
            </a:r>
            <a:r>
              <a:rPr lang="ko-KR" altLang="en-US"/>
              <a:t/>
            </a:r>
            <a:br>
              <a:rPr lang="ko-KR" altLang="en-US"/>
            </a:br>
            <a:r>
              <a:rPr lang="en-US" altLang="ko-KR"/>
              <a:t>AI </a:t>
            </a:r>
            <a:r>
              <a:rPr lang="ko-KR" altLang="en-US"/>
              <a:t>검색</a:t>
            </a:r>
            <a:r>
              <a:rPr lang="en-US" altLang="ko-KR"/>
              <a:t>·</a:t>
            </a:r>
            <a:r>
              <a:rPr lang="ko-KR" altLang="en-US"/>
              <a:t>추천 스타트업 </a:t>
            </a:r>
            <a:r>
              <a:rPr lang="en-US" altLang="ko-KR"/>
              <a:t>'</a:t>
            </a:r>
            <a:r>
              <a:rPr lang="ko-KR" altLang="en-US"/>
              <a:t>라이너</a:t>
            </a:r>
            <a:r>
              <a:rPr lang="en-US" altLang="ko-KR"/>
              <a:t>' </a:t>
            </a:r>
            <a:r>
              <a:rPr lang="ko-KR" altLang="en-US"/>
              <a:t>김진우 대표</a:t>
            </a:r>
            <a:br>
              <a:rPr lang="ko-KR" altLang="en-US"/>
            </a:br>
            <a:r>
              <a:rPr lang="ko-KR" altLang="en-US"/>
              <a:t/>
            </a:r>
            <a:br>
              <a:rPr lang="ko-KR" altLang="en-US"/>
            </a:br>
            <a:r>
              <a:rPr lang="ko-KR" altLang="en-US"/>
              <a:t>출처 </a:t>
            </a:r>
            <a:r>
              <a:rPr lang="en-US" altLang="ko-KR"/>
              <a:t>: </a:t>
            </a:r>
            <a:r>
              <a:rPr lang="en-US" altLang="ko-KR">
                <a:hlinkClick r:id="rId2"/>
              </a:rPr>
              <a:t>https://</a:t>
            </a:r>
            <a:r>
              <a:rPr lang="en-US" altLang="ko-KR" smtClean="0">
                <a:hlinkClick r:id="rId2"/>
              </a:rPr>
              <a:t>www.sedaily.com/NewsView/29PF8TONZ4</a:t>
            </a:r>
            <a:endParaRPr lang="en-US" altLang="ko-KR" smtClean="0"/>
          </a:p>
          <a:p>
            <a:endParaRPr lang="en-US" altLang="ko-KR"/>
          </a:p>
          <a:p>
            <a:pPr fontAlgn="t"/>
            <a:r>
              <a:rPr lang="ko-KR" altLang="en-US"/>
              <a:t>전세계 </a:t>
            </a:r>
            <a:r>
              <a:rPr lang="en-US" altLang="ko-KR"/>
              <a:t>160</a:t>
            </a:r>
            <a:r>
              <a:rPr lang="ko-KR" altLang="en-US"/>
              <a:t>여개국서 매월 </a:t>
            </a:r>
            <a:r>
              <a:rPr lang="en-US" altLang="ko-KR"/>
              <a:t>1000</a:t>
            </a:r>
            <a:r>
              <a:rPr lang="ko-KR" altLang="en-US"/>
              <a:t>만 명 사용</a:t>
            </a:r>
          </a:p>
          <a:p>
            <a:pPr fontAlgn="t"/>
            <a:r>
              <a:rPr lang="ko-KR" altLang="en-US"/>
              <a:t>챗</a:t>
            </a:r>
            <a:r>
              <a:rPr lang="en-US" altLang="ko-KR"/>
              <a:t>GPT</a:t>
            </a:r>
            <a:r>
              <a:rPr lang="ko-KR" altLang="en-US"/>
              <a:t>도 결국 시스템 구성하는 일부일뿐</a:t>
            </a:r>
          </a:p>
          <a:p>
            <a:pPr fontAlgn="t"/>
            <a:r>
              <a:rPr lang="ko-KR" altLang="en-US"/>
              <a:t>최강의 </a:t>
            </a:r>
            <a:r>
              <a:rPr lang="en-US" altLang="ko-KR"/>
              <a:t>'</a:t>
            </a:r>
            <a:r>
              <a:rPr lang="ko-KR" altLang="en-US"/>
              <a:t>초개인화된 웹</a:t>
            </a:r>
            <a:r>
              <a:rPr lang="en-US" altLang="ko-KR"/>
              <a:t>' </a:t>
            </a:r>
            <a:r>
              <a:rPr lang="ko-KR" altLang="en-US"/>
              <a:t>구현이 최종 </a:t>
            </a:r>
            <a:r>
              <a:rPr lang="ko-KR" altLang="en-US" smtClean="0"/>
              <a:t>목표</a:t>
            </a:r>
            <a:endParaRPr lang="ko-KR" altLang="en-US"/>
          </a:p>
        </p:txBody>
      </p:sp>
    </p:spTree>
    <p:extLst>
      <p:ext uri="{BB962C8B-B14F-4D97-AF65-F5344CB8AC3E}">
        <p14:creationId xmlns:p14="http://schemas.microsoft.com/office/powerpoint/2010/main" val="3380536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3600" y="670560"/>
            <a:ext cx="5831840" cy="5909310"/>
          </a:xfrm>
          <a:prstGeom prst="rect">
            <a:avLst/>
          </a:prstGeom>
          <a:noFill/>
        </p:spPr>
        <p:txBody>
          <a:bodyPr wrap="square" rtlCol="0">
            <a:spAutoFit/>
          </a:bodyPr>
          <a:lstStyle/>
          <a:p>
            <a:pPr marL="285750" indent="-285750">
              <a:buFont typeface="Wingdings" panose="05000000000000000000" pitchFamily="2" charset="2"/>
              <a:buChar char="l"/>
            </a:pPr>
            <a:r>
              <a:rPr lang="ko-KR" altLang="en-US" smtClean="0"/>
              <a:t>시나리오 구성은 기존 유사문서</a:t>
            </a:r>
            <a:endParaRPr lang="en-US" altLang="ko-KR" smtClean="0"/>
          </a:p>
          <a:p>
            <a:r>
              <a:rPr lang="en-US" altLang="ko-KR" smtClean="0"/>
              <a:t>  - </a:t>
            </a:r>
            <a:r>
              <a:rPr lang="ko-KR" altLang="en-US" smtClean="0"/>
              <a:t>거리기반 유사도 문제점 </a:t>
            </a:r>
            <a:r>
              <a:rPr lang="en-US" altLang="ko-KR" smtClean="0"/>
              <a:t>: </a:t>
            </a:r>
            <a:r>
              <a:rPr lang="ko-KR" altLang="en-US" smtClean="0"/>
              <a:t>기준 정하기 어려움</a:t>
            </a:r>
            <a:endParaRPr lang="en-US" altLang="ko-KR" smtClean="0"/>
          </a:p>
          <a:p>
            <a:r>
              <a:rPr lang="en-US" altLang="ko-KR"/>
              <a:t> </a:t>
            </a:r>
            <a:r>
              <a:rPr lang="en-US" altLang="ko-KR" smtClean="0"/>
              <a:t> - tfidf &amp; </a:t>
            </a:r>
            <a:r>
              <a:rPr lang="ko-KR" altLang="en-US" smtClean="0"/>
              <a:t>코사인유사도 </a:t>
            </a:r>
            <a:r>
              <a:rPr lang="en-US" altLang="ko-KR" smtClean="0"/>
              <a:t>: </a:t>
            </a:r>
            <a:r>
              <a:rPr lang="ko-KR" altLang="en-US" smtClean="0"/>
              <a:t>토큰별로 비교 </a:t>
            </a:r>
            <a:r>
              <a:rPr lang="en-US" altLang="ko-KR" smtClean="0"/>
              <a:t>: </a:t>
            </a:r>
            <a:r>
              <a:rPr lang="ko-KR" altLang="en-US" smtClean="0"/>
              <a:t>제어하기 용이</a:t>
            </a:r>
            <a:endParaRPr lang="en-US" altLang="ko-KR" smtClean="0"/>
          </a:p>
          <a:p>
            <a:r>
              <a:rPr lang="ko-KR" altLang="en-US" smtClean="0"/>
              <a:t> </a:t>
            </a:r>
            <a:r>
              <a:rPr lang="en-US" altLang="ko-KR" smtClean="0"/>
              <a:t> - </a:t>
            </a:r>
            <a:r>
              <a:rPr lang="ko-KR" altLang="en-US" smtClean="0"/>
              <a:t>슬롯필링</a:t>
            </a:r>
            <a:endParaRPr lang="en-US" altLang="ko-KR" smtClean="0"/>
          </a:p>
          <a:p>
            <a:r>
              <a:rPr lang="en-US" altLang="ko-KR" smtClean="0"/>
              <a:t> </a:t>
            </a:r>
          </a:p>
          <a:p>
            <a:pPr marL="285750" indent="-285750">
              <a:buFont typeface="Wingdings" panose="05000000000000000000" pitchFamily="2" charset="2"/>
              <a:buChar char="l"/>
            </a:pPr>
            <a:r>
              <a:rPr lang="ko-KR" altLang="en-US" smtClean="0"/>
              <a:t>문서내용이용하여 프럼프트러닝 </a:t>
            </a:r>
            <a:endParaRPr lang="en-US" altLang="ko-KR" smtClean="0"/>
          </a:p>
          <a:p>
            <a:r>
              <a:rPr lang="en-US" altLang="ko-KR"/>
              <a:t> </a:t>
            </a:r>
            <a:r>
              <a:rPr lang="en-US" altLang="ko-KR" smtClean="0"/>
              <a:t> - </a:t>
            </a:r>
            <a:r>
              <a:rPr lang="ko-KR" altLang="en-US" smtClean="0"/>
              <a:t>대한민국 최초의 신용카드는</a:t>
            </a:r>
            <a:r>
              <a:rPr lang="en-US" altLang="ko-KR" smtClean="0"/>
              <a:t>?</a:t>
            </a:r>
          </a:p>
          <a:p>
            <a:r>
              <a:rPr lang="en-US" altLang="ko-KR"/>
              <a:t> </a:t>
            </a:r>
            <a:r>
              <a:rPr lang="en-US" altLang="ko-KR" smtClean="0"/>
              <a:t> - </a:t>
            </a:r>
            <a:r>
              <a:rPr lang="ko-KR" altLang="en-US" smtClean="0"/>
              <a:t>신용카드 역사에 대한 내용 업로드</a:t>
            </a:r>
            <a:endParaRPr lang="en-US" altLang="ko-KR" smtClean="0"/>
          </a:p>
          <a:p>
            <a:r>
              <a:rPr lang="en-US" altLang="ko-KR"/>
              <a:t> </a:t>
            </a:r>
            <a:r>
              <a:rPr lang="en-US" altLang="ko-KR" smtClean="0"/>
              <a:t> . </a:t>
            </a:r>
            <a:r>
              <a:rPr lang="ko-KR" altLang="en-US" smtClean="0"/>
              <a:t>학습전 답변</a:t>
            </a:r>
            <a:r>
              <a:rPr lang="en-US" altLang="ko-KR" smtClean="0"/>
              <a:t>: </a:t>
            </a:r>
            <a:r>
              <a:rPr lang="ko-KR" altLang="en-US" smtClean="0"/>
              <a:t>삼성카드</a:t>
            </a:r>
            <a:endParaRPr lang="en-US" altLang="ko-KR" smtClean="0"/>
          </a:p>
          <a:p>
            <a:r>
              <a:rPr lang="en-US" altLang="ko-KR"/>
              <a:t> </a:t>
            </a:r>
            <a:r>
              <a:rPr lang="en-US" altLang="ko-KR" smtClean="0"/>
              <a:t> . </a:t>
            </a:r>
            <a:r>
              <a:rPr lang="ko-KR" altLang="en-US" smtClean="0"/>
              <a:t>학습후 답변</a:t>
            </a:r>
            <a:r>
              <a:rPr lang="en-US" altLang="ko-KR" smtClean="0"/>
              <a:t>: </a:t>
            </a:r>
            <a:r>
              <a:rPr lang="ko-KR" altLang="en-US" smtClean="0"/>
              <a:t>신세계카드 </a:t>
            </a:r>
            <a:endParaRPr lang="en-US" altLang="ko-KR" smtClean="0"/>
          </a:p>
          <a:p>
            <a:pPr marL="742950" lvl="1" indent="-285750">
              <a:buFontTx/>
              <a:buChar char="-"/>
            </a:pPr>
            <a:r>
              <a:rPr lang="ko-KR" altLang="en-US" smtClean="0"/>
              <a:t>학습전 상위카드 추천</a:t>
            </a:r>
            <a:endParaRPr lang="en-US" altLang="ko-KR" smtClean="0"/>
          </a:p>
          <a:p>
            <a:pPr marL="742950" lvl="1" indent="-285750">
              <a:buFontTx/>
              <a:buChar char="-"/>
            </a:pPr>
            <a:r>
              <a:rPr lang="en-US" altLang="ko-KR" smtClean="0"/>
              <a:t>choroma </a:t>
            </a:r>
            <a:r>
              <a:rPr lang="ko-KR" altLang="en-US" smtClean="0"/>
              <a:t>학습후 상위카드 추천 </a:t>
            </a:r>
            <a:endParaRPr lang="en-US" altLang="ko-KR"/>
          </a:p>
          <a:p>
            <a:pPr marL="285750" indent="-285750">
              <a:buFont typeface="Wingdings" panose="05000000000000000000" pitchFamily="2" charset="2"/>
              <a:buChar char="l"/>
            </a:pPr>
            <a:r>
              <a:rPr lang="ko-KR" altLang="en-US" smtClean="0"/>
              <a:t>여러 문서 로딩 후 검색 </a:t>
            </a:r>
            <a:endParaRPr lang="en-US" altLang="ko-KR" smtClean="0"/>
          </a:p>
          <a:p>
            <a:pPr marL="285750" indent="-285750">
              <a:buFont typeface="Wingdings" panose="05000000000000000000" pitchFamily="2" charset="2"/>
              <a:buChar char="l"/>
            </a:pPr>
            <a:r>
              <a:rPr lang="ko-KR" altLang="en-US" smtClean="0"/>
              <a:t>비교 </a:t>
            </a:r>
            <a:r>
              <a:rPr lang="en-US" altLang="ko-KR" smtClean="0"/>
              <a:t>– </a:t>
            </a:r>
            <a:r>
              <a:rPr lang="ko-KR" altLang="en-US" smtClean="0"/>
              <a:t>박세리 </a:t>
            </a:r>
            <a:r>
              <a:rPr lang="en-US" altLang="ko-KR" smtClean="0"/>
              <a:t>/ </a:t>
            </a:r>
            <a:r>
              <a:rPr lang="ko-KR" altLang="en-US" smtClean="0"/>
              <a:t>소렌스탐 </a:t>
            </a:r>
            <a:r>
              <a:rPr lang="en-US" altLang="ko-KR" smtClean="0"/>
              <a:t>: 5</a:t>
            </a:r>
            <a:r>
              <a:rPr lang="ko-KR" altLang="en-US" smtClean="0"/>
              <a:t>개</a:t>
            </a:r>
            <a:r>
              <a:rPr lang="en-US" altLang="ko-KR" smtClean="0"/>
              <a:t>, 10</a:t>
            </a:r>
            <a:r>
              <a:rPr lang="ko-KR" altLang="en-US" smtClean="0"/>
              <a:t>개</a:t>
            </a:r>
            <a:endParaRPr lang="en-US" altLang="ko-KR" smtClean="0"/>
          </a:p>
          <a:p>
            <a:pPr marL="285750" indent="-285750">
              <a:buFont typeface="Wingdings" panose="05000000000000000000" pitchFamily="2" charset="2"/>
              <a:buChar char="l"/>
            </a:pPr>
            <a:r>
              <a:rPr lang="ko-KR" altLang="en-US" smtClean="0"/>
              <a:t>문장 요약</a:t>
            </a:r>
            <a:endParaRPr lang="en-US" altLang="ko-KR" smtClean="0"/>
          </a:p>
          <a:p>
            <a:pPr marL="285750" indent="-285750">
              <a:buFont typeface="Wingdings" panose="05000000000000000000" pitchFamily="2" charset="2"/>
              <a:buChar char="l"/>
            </a:pPr>
            <a:r>
              <a:rPr lang="ko-KR" altLang="en-US" smtClean="0"/>
              <a:t>카드해택 문의 </a:t>
            </a:r>
            <a:r>
              <a:rPr lang="en-US" altLang="ko-KR" smtClean="0"/>
              <a:t>– </a:t>
            </a:r>
            <a:r>
              <a:rPr lang="ko-KR" altLang="en-US" smtClean="0"/>
              <a:t>문맥파악 </a:t>
            </a:r>
            <a:r>
              <a:rPr lang="en-US" altLang="ko-KR" smtClean="0"/>
              <a:t>/ </a:t>
            </a:r>
            <a:r>
              <a:rPr lang="ko-KR" altLang="en-US" smtClean="0"/>
              <a:t>반응형 역질문</a:t>
            </a:r>
            <a:endParaRPr lang="en-US" altLang="ko-KR" smtClean="0"/>
          </a:p>
          <a:p>
            <a:pPr marL="285750" indent="-285750">
              <a:buFont typeface="Wingdings" panose="05000000000000000000" pitchFamily="2" charset="2"/>
              <a:buChar char="l"/>
            </a:pPr>
            <a:r>
              <a:rPr lang="ko-KR" altLang="en-US" smtClean="0"/>
              <a:t>포인트 조회</a:t>
            </a:r>
            <a:endParaRPr lang="en-US" altLang="ko-KR" smtClean="0"/>
          </a:p>
          <a:p>
            <a:pPr marL="742950" lvl="1" indent="-285750">
              <a:buFont typeface="Wingdings" panose="05000000000000000000" pitchFamily="2" charset="2"/>
              <a:buChar char="l"/>
            </a:pPr>
            <a:r>
              <a:rPr lang="ko-KR" altLang="en-US" smtClean="0"/>
              <a:t>콜백 통해 조회 가능</a:t>
            </a:r>
            <a:endParaRPr lang="en-US" altLang="ko-KR" smtClean="0"/>
          </a:p>
          <a:p>
            <a:pPr marL="285750" indent="-285750">
              <a:buFont typeface="Wingdings" panose="05000000000000000000" pitchFamily="2" charset="2"/>
              <a:buChar char="l"/>
            </a:pPr>
            <a:r>
              <a:rPr lang="ko-KR" altLang="en-US" smtClean="0"/>
              <a:t>카드이용내역</a:t>
            </a:r>
            <a:endParaRPr lang="en-US" altLang="ko-KR" smtClean="0"/>
          </a:p>
          <a:p>
            <a:pPr marL="742950" lvl="1" indent="-285750">
              <a:buFont typeface="Wingdings" panose="05000000000000000000" pitchFamily="2" charset="2"/>
              <a:buChar char="l"/>
            </a:pPr>
            <a:endParaRPr lang="ko-KR" altLang="en-US"/>
          </a:p>
        </p:txBody>
      </p:sp>
      <p:sp>
        <p:nvSpPr>
          <p:cNvPr id="3" name="TextBox 2"/>
          <p:cNvSpPr txBox="1"/>
          <p:nvPr/>
        </p:nvSpPr>
        <p:spPr>
          <a:xfrm>
            <a:off x="10601325" y="4933950"/>
            <a:ext cx="575799" cy="369332"/>
          </a:xfrm>
          <a:prstGeom prst="rect">
            <a:avLst/>
          </a:prstGeom>
          <a:noFill/>
        </p:spPr>
        <p:txBody>
          <a:bodyPr wrap="none" rtlCol="0">
            <a:spAutoFit/>
          </a:bodyPr>
          <a:lstStyle/>
          <a:p>
            <a:r>
              <a:rPr lang="en-US" altLang="ko-KR" smtClean="0"/>
              <a:t>p46</a:t>
            </a:r>
            <a:endParaRPr lang="ko-KR" altLang="en-US"/>
          </a:p>
        </p:txBody>
      </p:sp>
      <p:sp>
        <p:nvSpPr>
          <p:cNvPr id="4" name="TextBox 3"/>
          <p:cNvSpPr txBox="1"/>
          <p:nvPr/>
        </p:nvSpPr>
        <p:spPr>
          <a:xfrm>
            <a:off x="7447280" y="2875280"/>
            <a:ext cx="3629327" cy="369332"/>
          </a:xfrm>
          <a:prstGeom prst="rect">
            <a:avLst/>
          </a:prstGeom>
          <a:noFill/>
        </p:spPr>
        <p:txBody>
          <a:bodyPr wrap="none" rtlCol="0">
            <a:spAutoFit/>
          </a:bodyPr>
          <a:lstStyle/>
          <a:p>
            <a:r>
              <a:rPr lang="ko-KR" altLang="en-US" smtClean="0"/>
              <a:t>기타삼성카드 질문은 </a:t>
            </a:r>
            <a:r>
              <a:rPr lang="en-US" altLang="ko-KR" smtClean="0"/>
              <a:t>FAQ</a:t>
            </a:r>
            <a:r>
              <a:rPr lang="ko-KR" altLang="en-US" smtClean="0"/>
              <a:t>로 대답</a:t>
            </a:r>
            <a:endParaRPr lang="ko-KR" altLang="en-US"/>
          </a:p>
        </p:txBody>
      </p:sp>
    </p:spTree>
    <p:extLst>
      <p:ext uri="{BB962C8B-B14F-4D97-AF65-F5344CB8AC3E}">
        <p14:creationId xmlns:p14="http://schemas.microsoft.com/office/powerpoint/2010/main" val="32374688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5200" y="426720"/>
            <a:ext cx="4932761" cy="1477328"/>
          </a:xfrm>
          <a:prstGeom prst="rect">
            <a:avLst/>
          </a:prstGeom>
          <a:noFill/>
        </p:spPr>
        <p:txBody>
          <a:bodyPr wrap="none" rtlCol="0">
            <a:spAutoFit/>
          </a:bodyPr>
          <a:lstStyle/>
          <a:p>
            <a:r>
              <a:rPr lang="ko-KR" altLang="en-US" smtClean="0"/>
              <a:t>슬롯필링</a:t>
            </a:r>
            <a:endParaRPr lang="en-US" altLang="ko-KR" smtClean="0"/>
          </a:p>
          <a:p>
            <a:r>
              <a:rPr lang="en-US" altLang="ko-KR"/>
              <a:t> </a:t>
            </a:r>
            <a:r>
              <a:rPr lang="en-US" altLang="ko-KR" smtClean="0"/>
              <a:t> - </a:t>
            </a:r>
            <a:r>
              <a:rPr lang="ko-KR" altLang="en-US" smtClean="0"/>
              <a:t>사용자</a:t>
            </a:r>
            <a:r>
              <a:rPr lang="en-US" altLang="ko-KR" smtClean="0"/>
              <a:t>: </a:t>
            </a:r>
            <a:r>
              <a:rPr lang="ko-KR" altLang="en-US" smtClean="0"/>
              <a:t>전화번호 좀 물어보려구요</a:t>
            </a:r>
            <a:endParaRPr lang="en-US" altLang="ko-KR" smtClean="0"/>
          </a:p>
          <a:p>
            <a:r>
              <a:rPr lang="en-US" altLang="ko-KR"/>
              <a:t> </a:t>
            </a:r>
            <a:r>
              <a:rPr lang="en-US" altLang="ko-KR" smtClean="0"/>
              <a:t> - </a:t>
            </a:r>
            <a:r>
              <a:rPr lang="ko-KR" altLang="en-US" smtClean="0"/>
              <a:t>챗봇</a:t>
            </a:r>
            <a:r>
              <a:rPr lang="en-US" altLang="ko-KR" smtClean="0"/>
              <a:t>: </a:t>
            </a:r>
            <a:r>
              <a:rPr lang="ko-KR" altLang="en-US" smtClean="0"/>
              <a:t>어느 학과의 전화번호가 궁금하세요</a:t>
            </a:r>
            <a:r>
              <a:rPr lang="en-US" altLang="ko-KR" smtClean="0"/>
              <a:t>?</a:t>
            </a:r>
          </a:p>
          <a:p>
            <a:r>
              <a:rPr lang="en-US" altLang="ko-KR"/>
              <a:t> </a:t>
            </a:r>
            <a:r>
              <a:rPr lang="en-US" altLang="ko-KR" smtClean="0"/>
              <a:t> - </a:t>
            </a:r>
            <a:r>
              <a:rPr lang="ko-KR" altLang="en-US" smtClean="0"/>
              <a:t>사용자</a:t>
            </a:r>
            <a:r>
              <a:rPr lang="en-US" altLang="ko-KR" smtClean="0"/>
              <a:t>: </a:t>
            </a:r>
            <a:r>
              <a:rPr lang="ko-KR" altLang="en-US" smtClean="0"/>
              <a:t>시각디자인학과요</a:t>
            </a:r>
            <a:r>
              <a:rPr lang="en-US" altLang="ko-KR" smtClean="0"/>
              <a:t>.</a:t>
            </a:r>
          </a:p>
          <a:p>
            <a:r>
              <a:rPr lang="en-US" altLang="ko-KR"/>
              <a:t> </a:t>
            </a:r>
            <a:r>
              <a:rPr lang="en-US" altLang="ko-KR" smtClean="0"/>
              <a:t> - </a:t>
            </a:r>
            <a:r>
              <a:rPr lang="ko-KR" altLang="en-US" smtClean="0"/>
              <a:t>챗봇</a:t>
            </a:r>
            <a:r>
              <a:rPr lang="en-US" altLang="ko-KR" smtClean="0"/>
              <a:t>: 051-0000-0000</a:t>
            </a:r>
            <a:r>
              <a:rPr lang="ko-KR" altLang="en-US" smtClean="0"/>
              <a:t>입니다</a:t>
            </a:r>
            <a:r>
              <a:rPr lang="en-US" altLang="ko-KR" smtClean="0"/>
              <a:t>. </a:t>
            </a:r>
            <a:endParaRPr lang="ko-KR" altLang="en-US"/>
          </a:p>
        </p:txBody>
      </p:sp>
    </p:spTree>
    <p:extLst>
      <p:ext uri="{BB962C8B-B14F-4D97-AF65-F5344CB8AC3E}">
        <p14:creationId xmlns:p14="http://schemas.microsoft.com/office/powerpoint/2010/main" val="21938950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3599" y="670560"/>
            <a:ext cx="10313525" cy="5078313"/>
          </a:xfrm>
          <a:prstGeom prst="rect">
            <a:avLst/>
          </a:prstGeom>
          <a:noFill/>
        </p:spPr>
        <p:txBody>
          <a:bodyPr wrap="square" rtlCol="0">
            <a:spAutoFit/>
          </a:bodyPr>
          <a:lstStyle/>
          <a:p>
            <a:pPr marL="285750" indent="-285750">
              <a:buFont typeface="Wingdings" panose="05000000000000000000" pitchFamily="2" charset="2"/>
              <a:buChar char="l"/>
            </a:pPr>
            <a:r>
              <a:rPr lang="ko-KR" altLang="en-US" smtClean="0"/>
              <a:t>이번 요청 사항</a:t>
            </a:r>
            <a:endParaRPr lang="en-US" altLang="ko-KR" smtClean="0"/>
          </a:p>
          <a:p>
            <a:pPr marL="742950" lvl="1" indent="-285750">
              <a:buFont typeface="Wingdings" panose="05000000000000000000" pitchFamily="2" charset="2"/>
              <a:buChar char="§"/>
            </a:pPr>
            <a:r>
              <a:rPr lang="ko-KR" altLang="en-US" smtClean="0"/>
              <a:t>벡터</a:t>
            </a:r>
            <a:r>
              <a:rPr lang="en-US" altLang="ko-KR" smtClean="0"/>
              <a:t>db</a:t>
            </a:r>
            <a:r>
              <a:rPr lang="ko-KR" altLang="en-US" smtClean="0"/>
              <a:t>통해 환각증상 개선</a:t>
            </a:r>
            <a:r>
              <a:rPr lang="en-US" altLang="ko-KR" smtClean="0"/>
              <a:t>: </a:t>
            </a:r>
            <a:r>
              <a:rPr lang="ko-KR" altLang="en-US" smtClean="0"/>
              <a:t>대한민국 </a:t>
            </a:r>
            <a:r>
              <a:rPr lang="ko-KR" altLang="en-US"/>
              <a:t>최초의 신용카드는</a:t>
            </a:r>
            <a:r>
              <a:rPr lang="en-US" altLang="ko-KR"/>
              <a:t>?</a:t>
            </a:r>
          </a:p>
          <a:p>
            <a:pPr lvl="1"/>
            <a:r>
              <a:rPr lang="en-US" altLang="ko-KR"/>
              <a:t>  - </a:t>
            </a:r>
            <a:r>
              <a:rPr lang="ko-KR" altLang="en-US" smtClean="0"/>
              <a:t>정보갱신</a:t>
            </a:r>
            <a:r>
              <a:rPr lang="en-US" altLang="ko-KR" smtClean="0"/>
              <a:t>: </a:t>
            </a:r>
            <a:r>
              <a:rPr lang="ko-KR" altLang="en-US" smtClean="0"/>
              <a:t>신용카드 </a:t>
            </a:r>
            <a:r>
              <a:rPr lang="ko-KR" altLang="en-US"/>
              <a:t>역사에 대한 내용 업로드</a:t>
            </a:r>
            <a:endParaRPr lang="en-US" altLang="ko-KR"/>
          </a:p>
          <a:p>
            <a:pPr lvl="2"/>
            <a:r>
              <a:rPr lang="en-US" altLang="ko-KR" smtClean="0"/>
              <a:t>. </a:t>
            </a:r>
            <a:r>
              <a:rPr lang="ko-KR" altLang="en-US" smtClean="0"/>
              <a:t>학습전 </a:t>
            </a:r>
            <a:r>
              <a:rPr lang="ko-KR" altLang="en-US"/>
              <a:t>답변</a:t>
            </a:r>
            <a:r>
              <a:rPr lang="en-US" altLang="ko-KR"/>
              <a:t>: </a:t>
            </a:r>
            <a:r>
              <a:rPr lang="ko-KR" altLang="en-US"/>
              <a:t>삼성카드</a:t>
            </a:r>
            <a:endParaRPr lang="en-US" altLang="ko-KR"/>
          </a:p>
          <a:p>
            <a:pPr lvl="2"/>
            <a:r>
              <a:rPr lang="en-US" altLang="ko-KR" smtClean="0"/>
              <a:t>. </a:t>
            </a:r>
            <a:r>
              <a:rPr lang="ko-KR" altLang="en-US"/>
              <a:t>학습후 답변</a:t>
            </a:r>
            <a:r>
              <a:rPr lang="en-US" altLang="ko-KR"/>
              <a:t>: </a:t>
            </a:r>
            <a:r>
              <a:rPr lang="ko-KR" altLang="en-US"/>
              <a:t>신세계카드 </a:t>
            </a:r>
            <a:endParaRPr lang="en-US" altLang="ko-KR"/>
          </a:p>
          <a:p>
            <a:pPr lvl="2"/>
            <a:r>
              <a:rPr lang="en-US" altLang="ko-KR" smtClean="0"/>
              <a:t>. </a:t>
            </a:r>
            <a:r>
              <a:rPr lang="ko-KR" altLang="en-US" smtClean="0"/>
              <a:t>학습전 </a:t>
            </a:r>
            <a:r>
              <a:rPr lang="ko-KR" altLang="en-US"/>
              <a:t>상위카드 추천</a:t>
            </a:r>
            <a:endParaRPr lang="en-US" altLang="ko-KR"/>
          </a:p>
          <a:p>
            <a:pPr lvl="2"/>
            <a:r>
              <a:rPr lang="en-US" altLang="ko-KR" smtClean="0"/>
              <a:t>. choroma </a:t>
            </a:r>
            <a:r>
              <a:rPr lang="ko-KR" altLang="en-US"/>
              <a:t>학습후 상위카드 추천 </a:t>
            </a:r>
            <a:endParaRPr lang="en-US" altLang="ko-KR" smtClean="0"/>
          </a:p>
          <a:p>
            <a:pPr lvl="1"/>
            <a:r>
              <a:rPr lang="en-US" altLang="ko-KR" smtClean="0"/>
              <a:t>  - </a:t>
            </a:r>
            <a:r>
              <a:rPr lang="ko-KR" altLang="en-US" smtClean="0"/>
              <a:t>요약수행</a:t>
            </a:r>
            <a:endParaRPr lang="en-US" altLang="ko-KR" smtClean="0"/>
          </a:p>
          <a:p>
            <a:pPr lvl="1"/>
            <a:r>
              <a:rPr lang="en-US" altLang="ko-KR"/>
              <a:t> </a:t>
            </a:r>
            <a:r>
              <a:rPr lang="en-US" altLang="ko-KR" smtClean="0"/>
              <a:t>    . </a:t>
            </a:r>
            <a:r>
              <a:rPr lang="ko-KR" altLang="en-US" smtClean="0"/>
              <a:t>문서내용에 대한 요약 수행</a:t>
            </a:r>
            <a:endParaRPr lang="en-US" altLang="ko-KR" smtClean="0"/>
          </a:p>
          <a:p>
            <a:pPr lvl="1"/>
            <a:r>
              <a:rPr lang="en-US" altLang="ko-KR"/>
              <a:t> </a:t>
            </a:r>
            <a:r>
              <a:rPr lang="en-US" altLang="ko-KR" smtClean="0"/>
              <a:t> - </a:t>
            </a:r>
            <a:r>
              <a:rPr lang="ko-KR" altLang="en-US" smtClean="0"/>
              <a:t>여러문서 로딩 </a:t>
            </a:r>
            <a:r>
              <a:rPr lang="en-US" altLang="ko-KR" smtClean="0"/>
              <a:t>/ </a:t>
            </a:r>
            <a:r>
              <a:rPr lang="ko-KR" altLang="en-US" smtClean="0"/>
              <a:t>정보검색</a:t>
            </a:r>
            <a:endParaRPr lang="en-US" altLang="ko-KR" smtClean="0"/>
          </a:p>
          <a:p>
            <a:pPr marL="742950" lvl="1" indent="-285750">
              <a:buFont typeface="Wingdings" panose="05000000000000000000" pitchFamily="2" charset="2"/>
              <a:buChar char="§"/>
            </a:pPr>
            <a:r>
              <a:rPr lang="ko-KR" altLang="en-US" smtClean="0"/>
              <a:t>번역 </a:t>
            </a:r>
            <a:r>
              <a:rPr lang="en-US" altLang="ko-KR" smtClean="0"/>
              <a:t>: </a:t>
            </a:r>
            <a:r>
              <a:rPr lang="ko-KR" altLang="en-US" smtClean="0"/>
              <a:t>임무부여하여 번역 수행</a:t>
            </a:r>
            <a:endParaRPr lang="en-US" altLang="ko-KR"/>
          </a:p>
          <a:p>
            <a:pPr marL="285750" indent="-285750">
              <a:buFont typeface="Wingdings" panose="05000000000000000000" pitchFamily="2" charset="2"/>
              <a:buChar char="l"/>
            </a:pPr>
            <a:r>
              <a:rPr lang="ko-KR" altLang="en-US" smtClean="0"/>
              <a:t>향후 준비 기술 </a:t>
            </a:r>
            <a:endParaRPr lang="en-US" altLang="ko-KR" smtClean="0"/>
          </a:p>
          <a:p>
            <a:pPr marL="742950" lvl="1" indent="-285750">
              <a:buFont typeface="Wingdings" panose="05000000000000000000" pitchFamily="2" charset="2"/>
              <a:buChar char="§"/>
            </a:pPr>
            <a:r>
              <a:rPr lang="ko-KR" altLang="en-US" smtClean="0"/>
              <a:t>시나리오 기반 챗봇 구현은 기존 </a:t>
            </a:r>
            <a:r>
              <a:rPr lang="en-US" altLang="ko-KR" smtClean="0"/>
              <a:t>tfidf &amp;  </a:t>
            </a:r>
            <a:r>
              <a:rPr lang="ko-KR" altLang="en-US" smtClean="0"/>
              <a:t>코사인유사도 안전</a:t>
            </a:r>
            <a:endParaRPr lang="en-US" altLang="ko-KR" smtClean="0"/>
          </a:p>
          <a:p>
            <a:pPr lvl="1"/>
            <a:r>
              <a:rPr lang="en-US" altLang="ko-KR" smtClean="0"/>
              <a:t>  - </a:t>
            </a:r>
            <a:r>
              <a:rPr lang="ko-KR" altLang="en-US" smtClean="0"/>
              <a:t>거리기반 유사도 문제점 </a:t>
            </a:r>
            <a:r>
              <a:rPr lang="en-US" altLang="ko-KR" smtClean="0"/>
              <a:t>: </a:t>
            </a:r>
            <a:r>
              <a:rPr lang="ko-KR" altLang="en-US" smtClean="0"/>
              <a:t>기본 검색 편이 기능은 좋으나</a:t>
            </a:r>
            <a:r>
              <a:rPr lang="en-US" altLang="ko-KR" smtClean="0"/>
              <a:t>, </a:t>
            </a:r>
            <a:r>
              <a:rPr lang="ko-KR" altLang="en-US" smtClean="0"/>
              <a:t>의도치 않은 답변 채택이 되는 경우 있고</a:t>
            </a:r>
            <a:r>
              <a:rPr lang="en-US" altLang="ko-KR" smtClean="0"/>
              <a:t>, </a:t>
            </a:r>
            <a:r>
              <a:rPr lang="ko-KR" altLang="en-US" smtClean="0"/>
              <a:t>유사도 거리에 대한 임계치 선택이 어려울 수 있음 </a:t>
            </a:r>
            <a:endParaRPr lang="en-US" altLang="ko-KR" smtClean="0"/>
          </a:p>
          <a:p>
            <a:pPr lvl="1"/>
            <a:r>
              <a:rPr lang="en-US" altLang="ko-KR"/>
              <a:t> </a:t>
            </a:r>
            <a:r>
              <a:rPr lang="en-US" altLang="ko-KR" smtClean="0"/>
              <a:t> - </a:t>
            </a:r>
            <a:r>
              <a:rPr lang="ko-KR" altLang="en-US" smtClean="0"/>
              <a:t>기존 </a:t>
            </a:r>
            <a:r>
              <a:rPr lang="en-US" altLang="ko-KR" smtClean="0"/>
              <a:t>tfidf &amp; </a:t>
            </a:r>
            <a:r>
              <a:rPr lang="ko-KR" altLang="en-US" smtClean="0"/>
              <a:t>코사인유사도 기술 </a:t>
            </a:r>
            <a:r>
              <a:rPr lang="en-US" altLang="ko-KR" smtClean="0"/>
              <a:t>: </a:t>
            </a:r>
            <a:r>
              <a:rPr lang="ko-KR" altLang="en-US" smtClean="0"/>
              <a:t>개별 코딩을 더 해야 되는 단점이 있으나</a:t>
            </a:r>
            <a:r>
              <a:rPr lang="en-US" altLang="ko-KR" smtClean="0"/>
              <a:t>, </a:t>
            </a:r>
            <a:r>
              <a:rPr lang="ko-KR" altLang="en-US" smtClean="0"/>
              <a:t>규칙기반에 가깝게 구현 가능하며</a:t>
            </a:r>
            <a:r>
              <a:rPr lang="en-US" altLang="ko-KR" smtClean="0"/>
              <a:t>, </a:t>
            </a:r>
            <a:r>
              <a:rPr lang="ko-KR" altLang="en-US" smtClean="0"/>
              <a:t>백터</a:t>
            </a:r>
            <a:r>
              <a:rPr lang="en-US" altLang="ko-KR" smtClean="0"/>
              <a:t>db</a:t>
            </a:r>
            <a:r>
              <a:rPr lang="ko-KR" altLang="en-US" smtClean="0"/>
              <a:t>에 비해 더 다양한 형태로 구성이 가능</a:t>
            </a:r>
            <a:r>
              <a:rPr lang="en-US" altLang="ko-KR" smtClean="0"/>
              <a:t>.</a:t>
            </a:r>
          </a:p>
          <a:p>
            <a:r>
              <a:rPr lang="en-US" altLang="ko-KR" smtClean="0"/>
              <a:t> </a:t>
            </a:r>
            <a:endParaRPr lang="ko-KR" altLang="en-US"/>
          </a:p>
        </p:txBody>
      </p:sp>
    </p:spTree>
    <p:extLst>
      <p:ext uri="{BB962C8B-B14F-4D97-AF65-F5344CB8AC3E}">
        <p14:creationId xmlns:p14="http://schemas.microsoft.com/office/powerpoint/2010/main" val="21236769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581025" y="371475"/>
            <a:ext cx="6096000" cy="6247864"/>
          </a:xfrm>
          <a:prstGeom prst="rect">
            <a:avLst/>
          </a:prstGeom>
        </p:spPr>
        <p:txBody>
          <a:bodyPr>
            <a:spAutoFit/>
          </a:bodyPr>
          <a:lstStyle/>
          <a:p>
            <a:r>
              <a:rPr lang="en-US" altLang="ko-KR" sz="1000"/>
              <a:t>[LLMOps]LangChain </a:t>
            </a:r>
            <a:r>
              <a:rPr lang="ko-KR" altLang="en-US" sz="1000"/>
              <a:t>소개 </a:t>
            </a:r>
            <a:r>
              <a:rPr lang="en-US" altLang="ko-KR" sz="1000"/>
              <a:t>(3) - </a:t>
            </a:r>
            <a:r>
              <a:rPr lang="ko-KR" altLang="en-US" sz="1000"/>
              <a:t>활용 사례 및 </a:t>
            </a:r>
            <a:r>
              <a:rPr lang="ko-KR" altLang="en-US" sz="1000" smtClean="0"/>
              <a:t>실습 SQL </a:t>
            </a:r>
            <a:r>
              <a:rPr lang="ko-KR" altLang="en-US" sz="1000"/>
              <a:t>Database </a:t>
            </a:r>
            <a:r>
              <a:rPr lang="ko-KR" altLang="en-US" sz="1000" smtClean="0"/>
              <a:t>Chain  </a:t>
            </a:r>
            <a:r>
              <a:rPr lang="en-US" altLang="ko-KR" sz="1000" smtClean="0"/>
              <a:t>---- 1   </a:t>
            </a:r>
          </a:p>
          <a:p>
            <a:r>
              <a:rPr lang="en-US" altLang="ko-KR" sz="1000">
                <a:hlinkClick r:id="rId2"/>
              </a:rPr>
              <a:t>https://</a:t>
            </a:r>
            <a:r>
              <a:rPr lang="en-US" altLang="ko-KR" sz="1000" smtClean="0">
                <a:hlinkClick r:id="rId2"/>
              </a:rPr>
              <a:t>blog.mnc.ai/71</a:t>
            </a:r>
            <a:r>
              <a:rPr lang="en-US" altLang="ko-KR" sz="1000" smtClean="0"/>
              <a:t> </a:t>
            </a:r>
            <a:endParaRPr lang="en-US" altLang="ko-KR" sz="1000"/>
          </a:p>
          <a:p>
            <a:endParaRPr lang="ko-KR" altLang="en-US" sz="1000"/>
          </a:p>
          <a:p>
            <a:r>
              <a:rPr lang="ko-KR" altLang="en-US" sz="1000"/>
              <a:t>다음으로는 SQL 질의를 수행하는 SQLDatabaseChain을 사용해 보겠습니다. 아래처럼 사용할 테이블을 전달해야 프롬프트에 해당 테이블의 DDL(Data Definition Language)을 포함하고, LLM이 해당 정보를 보고 올바른 쿼리를 작성할 수 있게 됩니다. LLM으로 SQL 쿼리 작성 시 자주 발생하는 에러를 LLM으로 한번 더 체크하는 use_query_checker 옵션도 제공합니다</a:t>
            </a:r>
            <a:r>
              <a:rPr lang="ko-KR" altLang="en-US" sz="1000" smtClean="0"/>
              <a:t>.</a:t>
            </a:r>
            <a:endParaRPr lang="en-US" altLang="ko-KR" sz="1000" smtClean="0"/>
          </a:p>
          <a:p>
            <a:endParaRPr lang="en-US" altLang="ko-KR" sz="1000"/>
          </a:p>
          <a:p>
            <a:endParaRPr lang="en-US" altLang="ko-KR" sz="1000" smtClean="0"/>
          </a:p>
          <a:p>
            <a:r>
              <a:rPr lang="en-US" altLang="ko-KR" sz="1000"/>
              <a:t>from langchain import SQLDatabase, SQLDatabaseChain</a:t>
            </a:r>
          </a:p>
          <a:p>
            <a:endParaRPr lang="en-US" altLang="ko-KR" sz="1000"/>
          </a:p>
          <a:p>
            <a:r>
              <a:rPr lang="en-US" altLang="ko-KR" sz="1000"/>
              <a:t>url_mariadb = 'mysql+pymysql://llmops:password@127.0.0.1:32039/llmops'</a:t>
            </a:r>
          </a:p>
          <a:p>
            <a:r>
              <a:rPr lang="en-US" altLang="ko-KR" sz="1000"/>
              <a:t>db = SQLDatabase.from_uri(url_mariadb, include_tables=[</a:t>
            </a:r>
          </a:p>
          <a:p>
            <a:r>
              <a:rPr lang="en-US" altLang="ko-KR" sz="1000"/>
              <a:t>		'dataset_tb', 'dataset_version_tb', 'dataset_version_file_tb'</a:t>
            </a:r>
          </a:p>
          <a:p>
            <a:r>
              <a:rPr lang="en-US" altLang="ko-KR" sz="1000"/>
              <a:t>])</a:t>
            </a:r>
          </a:p>
          <a:p>
            <a:r>
              <a:rPr lang="en-US" altLang="ko-KR" sz="1000"/>
              <a:t>chain = SQLDatabaseChain.from_llm(llm_openai, db, verbose=True, return_intermediate_steps=True)</a:t>
            </a:r>
          </a:p>
          <a:p>
            <a:endParaRPr lang="en-US" altLang="ko-KR" sz="1000"/>
          </a:p>
          <a:p>
            <a:r>
              <a:rPr lang="en-US" altLang="ko-KR" sz="1000"/>
              <a:t>chain("How many files in dataset TestUIAdd - Edited UI and version v2.6? and whats the sum of file sizes and row counts?")</a:t>
            </a:r>
          </a:p>
          <a:p>
            <a:endParaRPr lang="en-US" altLang="ko-KR" sz="1000"/>
          </a:p>
          <a:p>
            <a:r>
              <a:rPr lang="en-US" altLang="ko-KR" sz="1000"/>
              <a:t>[Output]: &gt; Entering new  chain...</a:t>
            </a:r>
          </a:p>
          <a:p>
            <a:r>
              <a:rPr lang="en-US" altLang="ko-KR" sz="1000"/>
              <a:t>"How many files in dataset TestUIAdd - Edited UI and version v2.6? and whats the sum of file sizes and row counts?"</a:t>
            </a:r>
          </a:p>
          <a:p>
            <a:r>
              <a:rPr lang="en-US" altLang="ko-KR" sz="1000"/>
              <a:t>SQLQuery: "SELECT COUNT(*) AS 'Number of Files', SUM(file_size) AS 'Sum of File Sizes', SUM(row_count) AS 'Sum of Row Counts' FROM dataset_version_file_tb WHERE dataset_id = (SELECT id FROM dataset_tb WHERE name = 'TestUIAdd - Edited UI') AND version_id = (SELECT id FROM dataset_version_tb WHERE dataset_id = (SELECT id FROM dataset_tb WHERE name = 'TestUIAdd - Edited UI') AND version = 'v2.6');"</a:t>
            </a:r>
          </a:p>
          <a:p>
            <a:r>
              <a:rPr lang="en-US" altLang="ko-KR" sz="1000"/>
              <a:t>SQLResult: "[(2, Decimal('1355'), Decimal('205'))]"</a:t>
            </a:r>
          </a:p>
          <a:p>
            <a:r>
              <a:rPr lang="en-US" altLang="ko-KR" sz="1000"/>
              <a:t>Answer:</a:t>
            </a:r>
          </a:p>
          <a:p>
            <a:r>
              <a:rPr lang="en-US" altLang="ko-KR" sz="1000"/>
              <a:t>"There are 2 files in dataset TestUIAdd - Edited UI and version v2.6, with a sum of file sizes of 1355 and a sum of row counts of 205."</a:t>
            </a:r>
          </a:p>
          <a:p>
            <a:pPr marL="171450" indent="-171450">
              <a:buFont typeface="Wingdings" panose="05000000000000000000" pitchFamily="2" charset="2"/>
              <a:buChar char="Ø"/>
            </a:pPr>
            <a:r>
              <a:rPr lang="en-US" altLang="ko-KR" sz="1000" smtClean="0"/>
              <a:t>Finished </a:t>
            </a:r>
            <a:r>
              <a:rPr lang="en-US" altLang="ko-KR" sz="1000"/>
              <a:t>chain</a:t>
            </a:r>
            <a:r>
              <a:rPr lang="en-US" altLang="ko-KR" sz="1000" smtClean="0"/>
              <a:t>.</a:t>
            </a:r>
          </a:p>
          <a:p>
            <a:pPr marL="171450" indent="-171450">
              <a:buFont typeface="Wingdings" panose="05000000000000000000" pitchFamily="2" charset="2"/>
              <a:buChar char="Ø"/>
            </a:pPr>
            <a:endParaRPr lang="en-US" altLang="ko-KR" sz="1000"/>
          </a:p>
          <a:p>
            <a:pPr marL="171450" indent="-171450">
              <a:buFont typeface="Wingdings" panose="05000000000000000000" pitchFamily="2" charset="2"/>
              <a:buChar char="Ø"/>
            </a:pPr>
            <a:endParaRPr lang="en-US" altLang="ko-KR" sz="1000" smtClean="0"/>
          </a:p>
          <a:p>
            <a:r>
              <a:rPr lang="en-US" altLang="ko-KR" sz="1000" b="1"/>
              <a:t>API Chain</a:t>
            </a:r>
            <a:endParaRPr lang="ko-KR" altLang="en-US" sz="1000" b="1"/>
          </a:p>
          <a:p>
            <a:r>
              <a:rPr lang="en-US" altLang="ko-KR" sz="1000"/>
              <a:t>LangChain</a:t>
            </a:r>
            <a:r>
              <a:rPr lang="ko-KR" altLang="en-US" sz="1000"/>
              <a:t>에서는 </a:t>
            </a:r>
            <a:r>
              <a:rPr lang="en-US" altLang="ko-KR" sz="1000"/>
              <a:t>API </a:t>
            </a:r>
            <a:r>
              <a:rPr lang="ko-KR" altLang="en-US" sz="1000"/>
              <a:t>설명서를 </a:t>
            </a:r>
            <a:r>
              <a:rPr lang="en-US" altLang="ko-KR" sz="1000"/>
              <a:t>LLM</a:t>
            </a:r>
            <a:r>
              <a:rPr lang="ko-KR" altLang="en-US" sz="1000"/>
              <a:t>으로 해석하여 자동으로 필요한 요청을 보내는 기능을 제공합니다</a:t>
            </a:r>
            <a:r>
              <a:rPr lang="en-US" altLang="ko-KR" sz="1000"/>
              <a:t>. </a:t>
            </a:r>
            <a:r>
              <a:rPr lang="ko-KR" altLang="en-US" sz="1000"/>
              <a:t>공공데이터포털의 </a:t>
            </a:r>
            <a:r>
              <a:rPr lang="ko-KR" altLang="en-US" sz="1000">
                <a:hlinkClick r:id="rId3"/>
              </a:rPr>
              <a:t>기상청 단기예보 조회서비스</a:t>
            </a:r>
            <a:r>
              <a:rPr lang="ko-KR" altLang="en-US" sz="1000"/>
              <a:t>를 대상으로 해당 페이지의 설명을 그대로 복사하겠습니다</a:t>
            </a:r>
            <a:r>
              <a:rPr lang="en-US" altLang="ko-KR" sz="1000"/>
              <a:t>.</a:t>
            </a:r>
            <a:endParaRPr lang="ko-KR" altLang="en-US" sz="1000"/>
          </a:p>
          <a:p>
            <a:pPr marL="171450" indent="-171450">
              <a:buFont typeface="Wingdings" panose="05000000000000000000" pitchFamily="2" charset="2"/>
              <a:buChar char="Ø"/>
            </a:pPr>
            <a:endParaRPr lang="ko-KR" altLang="en-US" sz="1000"/>
          </a:p>
        </p:txBody>
      </p:sp>
    </p:spTree>
    <p:extLst>
      <p:ext uri="{BB962C8B-B14F-4D97-AF65-F5344CB8AC3E}">
        <p14:creationId xmlns:p14="http://schemas.microsoft.com/office/powerpoint/2010/main" val="26572007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561975" y="302359"/>
            <a:ext cx="11477625" cy="6555641"/>
          </a:xfrm>
          <a:prstGeom prst="rect">
            <a:avLst/>
          </a:prstGeom>
        </p:spPr>
        <p:txBody>
          <a:bodyPr wrap="square">
            <a:spAutoFit/>
          </a:bodyPr>
          <a:lstStyle/>
          <a:p>
            <a:r>
              <a:rPr lang="en-US" altLang="ko-KR" sz="1000"/>
              <a:t>[LLMOps]LangChain </a:t>
            </a:r>
            <a:r>
              <a:rPr lang="ko-KR" altLang="en-US" sz="1000"/>
              <a:t>소개 </a:t>
            </a:r>
            <a:r>
              <a:rPr lang="en-US" altLang="ko-KR" sz="1000"/>
              <a:t>(3) - </a:t>
            </a:r>
            <a:r>
              <a:rPr lang="ko-KR" altLang="en-US" sz="1000"/>
              <a:t>활용 사례 및 </a:t>
            </a:r>
            <a:r>
              <a:rPr lang="ko-KR" altLang="en-US" sz="1000" smtClean="0"/>
              <a:t>실습 SQL </a:t>
            </a:r>
            <a:r>
              <a:rPr lang="ko-KR" altLang="en-US" sz="1000"/>
              <a:t>Database Chain  </a:t>
            </a:r>
            <a:r>
              <a:rPr lang="en-US" altLang="ko-KR" sz="1000"/>
              <a:t>---- </a:t>
            </a:r>
            <a:r>
              <a:rPr lang="en-US" altLang="ko-KR" sz="1000" smtClean="0"/>
              <a:t>2</a:t>
            </a:r>
            <a:endParaRPr lang="en-US" altLang="ko-KR" sz="1000"/>
          </a:p>
          <a:p>
            <a:r>
              <a:rPr lang="en-US" altLang="ko-KR" sz="1000">
                <a:hlinkClick r:id="rId2"/>
              </a:rPr>
              <a:t>https://blog.mnc.ai/71</a:t>
            </a:r>
            <a:r>
              <a:rPr lang="en-US" altLang="ko-KR" sz="1000"/>
              <a:t> </a:t>
            </a:r>
          </a:p>
          <a:p>
            <a:endParaRPr lang="en-US" altLang="ko-KR" sz="1000" smtClean="0"/>
          </a:p>
          <a:p>
            <a:r>
              <a:rPr lang="ko-KR" altLang="en-US" sz="1000" smtClean="0"/>
              <a:t>from </a:t>
            </a:r>
            <a:r>
              <a:rPr lang="ko-KR" altLang="en-US" sz="1000"/>
              <a:t>langchain.chains import APIChain</a:t>
            </a:r>
          </a:p>
          <a:p>
            <a:r>
              <a:rPr lang="ko-KR" altLang="en-US" sz="1000" smtClean="0"/>
              <a:t>from </a:t>
            </a:r>
            <a:r>
              <a:rPr lang="ko-KR" altLang="en-US" sz="1000"/>
              <a:t>datetime import datetime</a:t>
            </a:r>
          </a:p>
          <a:p>
            <a:r>
              <a:rPr lang="ko-KR" altLang="en-US" sz="1000"/>
              <a:t>today = datetime.now().strftime('%Y%m%d')</a:t>
            </a:r>
          </a:p>
          <a:p>
            <a:endParaRPr lang="ko-KR" altLang="en-US" sz="1000"/>
          </a:p>
          <a:p>
            <a:r>
              <a:rPr lang="ko-KR" altLang="en-US" sz="1000"/>
              <a:t>chain = APIChain.from_llm_and_api_docs(llm_openai, api_docs, verbose=True)</a:t>
            </a:r>
          </a:p>
          <a:p>
            <a:r>
              <a:rPr lang="ko-KR" altLang="en-US" sz="1000"/>
              <a:t>chain.run(f"""</a:t>
            </a:r>
          </a:p>
          <a:p>
            <a:r>
              <a:rPr lang="ko-KR" altLang="en-US" sz="1000"/>
              <a:t>(55,127) 좌표의 {today} 일자 6시 초단기 실황 온도를 JSON 타입으로 얻으면? 파라미터는 아래와 같음.</a:t>
            </a:r>
          </a:p>
          <a:p>
            <a:r>
              <a:rPr lang="ko-KR" altLang="en-US" sz="1000"/>
              <a:t>ServiceKey: 발급받은 키</a:t>
            </a:r>
          </a:p>
          <a:p>
            <a:r>
              <a:rPr lang="ko-KR" altLang="en-US" sz="1000" smtClean="0"/>
              <a:t>""")</a:t>
            </a:r>
            <a:endParaRPr lang="ko-KR" altLang="en-US" sz="1000"/>
          </a:p>
          <a:p>
            <a:r>
              <a:rPr lang="ko-KR" altLang="en-US" sz="1000"/>
              <a:t>Output Parser</a:t>
            </a:r>
          </a:p>
          <a:p>
            <a:r>
              <a:rPr lang="ko-KR" altLang="en-US" sz="1000"/>
              <a:t>위 프롬프트를 이용하여 각각의 Chain을 구성합니다. 평가를 위한 Chain에서는 출력 형식을 지정하여 자동화 될 수 있도록 합니다.</a:t>
            </a:r>
          </a:p>
          <a:p>
            <a:endParaRPr lang="ko-KR" altLang="en-US" sz="1000"/>
          </a:p>
          <a:p>
            <a:endParaRPr lang="ko-KR" altLang="en-US" sz="1000"/>
          </a:p>
          <a:p>
            <a:r>
              <a:rPr lang="ko-KR" altLang="en-US" sz="1000"/>
              <a:t>class Answer(BaseModel):</a:t>
            </a:r>
          </a:p>
          <a:p>
            <a:r>
              <a:rPr lang="ko-KR" altLang="en-US" sz="1000"/>
              <a:t>    score: int = Field(description="score of the answer in range of 1 to 10")</a:t>
            </a:r>
          </a:p>
          <a:p>
            <a:r>
              <a:rPr lang="ko-KR" altLang="en-US" sz="1000"/>
              <a:t>    reason: str = Field(description="detailed reason for the score")</a:t>
            </a:r>
          </a:p>
          <a:p>
            <a:endParaRPr lang="ko-KR" altLang="en-US" sz="1000"/>
          </a:p>
          <a:p>
            <a:r>
              <a:rPr lang="ko-KR" altLang="en-US" sz="1000"/>
              <a:t>parser = PydanticOutputParser(pydantic_object=Answer)</a:t>
            </a:r>
          </a:p>
          <a:p>
            <a:endParaRPr lang="ko-KR" altLang="en-US" sz="1000"/>
          </a:p>
          <a:p>
            <a:endParaRPr lang="ko-KR" altLang="en-US" sz="1000"/>
          </a:p>
          <a:p>
            <a:r>
              <a:rPr lang="ko-KR" altLang="en-US" sz="1000" smtClean="0"/>
              <a:t>다음으로는 </a:t>
            </a:r>
            <a:r>
              <a:rPr lang="ko-KR" altLang="en-US" sz="1000"/>
              <a:t>실제로 문서 검색과 Chain을 실행해보겠습니다. 이번에는 RetrieverQA Chain을 사용하지 않고 벡터스토어만으로 검색을 수행하겠습니다.</a:t>
            </a:r>
          </a:p>
          <a:p>
            <a:endParaRPr lang="ko-KR" altLang="en-US" sz="1000"/>
          </a:p>
          <a:p>
            <a:r>
              <a:rPr lang="ko-KR" altLang="en-US" sz="1000"/>
              <a:t>query = '해외 ㅇ여행 무료 여행자보험 혜택이 있는 카드 있을까요?'</a:t>
            </a:r>
          </a:p>
          <a:p>
            <a:endParaRPr lang="ko-KR" altLang="en-US" sz="1000"/>
          </a:p>
          <a:p>
            <a:r>
              <a:rPr lang="ko-KR" altLang="en-US" sz="1000"/>
              <a:t>docs = vs.similarity_search_with_score(query, k=3)</a:t>
            </a:r>
          </a:p>
          <a:p>
            <a:endParaRPr lang="ko-KR" altLang="en-US" sz="1000"/>
          </a:p>
          <a:p>
            <a:r>
              <a:rPr lang="ko-KR" altLang="en-US" sz="1000"/>
              <a:t>answer = answer_chain({</a:t>
            </a:r>
          </a:p>
          <a:p>
            <a:r>
              <a:rPr lang="ko-KR" altLang="en-US" sz="1000"/>
              <a:t>		'user_query': query</a:t>
            </a:r>
            <a:r>
              <a:rPr lang="ko-KR" altLang="en-US" sz="1000" smtClean="0"/>
              <a:t>, </a:t>
            </a:r>
            <a:r>
              <a:rPr lang="ko-KR" altLang="en-US" sz="1000"/>
              <a:t>		'ref1': docs[0].page_content</a:t>
            </a:r>
            <a:r>
              <a:rPr lang="ko-KR" altLang="en-US" sz="1000" smtClean="0"/>
              <a:t>,</a:t>
            </a:r>
            <a:r>
              <a:rPr lang="ko-KR" altLang="en-US" sz="1000"/>
              <a:t>		'ref2': docs[1].page_content</a:t>
            </a:r>
            <a:r>
              <a:rPr lang="ko-KR" altLang="en-US" sz="1000" smtClean="0"/>
              <a:t>,</a:t>
            </a:r>
            <a:r>
              <a:rPr lang="ko-KR" altLang="en-US" sz="1000"/>
              <a:t>		'ref3': docs[2].</a:t>
            </a:r>
            <a:r>
              <a:rPr lang="ko-KR" altLang="en-US" sz="1000" smtClean="0"/>
              <a:t>page_content  })</a:t>
            </a:r>
            <a:endParaRPr lang="ko-KR" altLang="en-US" sz="1000"/>
          </a:p>
          <a:p>
            <a:endParaRPr lang="ko-KR" altLang="en-US" sz="1000"/>
          </a:p>
          <a:p>
            <a:r>
              <a:rPr lang="ko-KR" altLang="en-US" sz="1000"/>
              <a:t>[Output]: &gt; Entering new  chain...</a:t>
            </a:r>
          </a:p>
          <a:p>
            <a:r>
              <a:rPr lang="ko-KR" altLang="en-US" sz="1000"/>
              <a:t>Prompt after formatting:</a:t>
            </a:r>
          </a:p>
          <a:p>
            <a:r>
              <a:rPr lang="ko-KR" altLang="en-US" sz="1000"/>
              <a:t>사용자 질문: 해외 여행 모두 무료 여행자보험 혜택이 있는 카드 있을까요?</a:t>
            </a:r>
          </a:p>
          <a:p>
            <a:r>
              <a:rPr lang="ko-KR" altLang="en-US" sz="1000"/>
              <a:t>단락:</a:t>
            </a:r>
          </a:p>
          <a:p>
            <a:r>
              <a:rPr lang="ko-KR" altLang="en-US" sz="1000"/>
              <a:t>- 우리카드 프리미엄 프리미엄 투어 서비스 - 카 </a:t>
            </a:r>
          </a:p>
          <a:p>
            <a:r>
              <a:rPr lang="ko-KR" altLang="en-US" sz="1000"/>
              <a:t>&gt; Finished chain.</a:t>
            </a:r>
          </a:p>
          <a:p>
            <a:endParaRPr lang="ko-KR" altLang="en-US" sz="1000"/>
          </a:p>
          <a:p>
            <a:r>
              <a:rPr lang="ko-KR" altLang="en-US" sz="1000"/>
              <a:t>Answer: 우리카드 프리미엄 프리미엄 투어 서비스는 해외 여행 모두 무료 여행자보험 혜택을 제공합니다. 국내외 여</a:t>
            </a:r>
          </a:p>
        </p:txBody>
      </p:sp>
      <p:sp>
        <p:nvSpPr>
          <p:cNvPr id="3" name="직사각형 2"/>
          <p:cNvSpPr/>
          <p:nvPr/>
        </p:nvSpPr>
        <p:spPr>
          <a:xfrm>
            <a:off x="7010400" y="511909"/>
            <a:ext cx="4610100" cy="1477328"/>
          </a:xfrm>
          <a:prstGeom prst="rect">
            <a:avLst/>
          </a:prstGeom>
        </p:spPr>
        <p:txBody>
          <a:bodyPr wrap="square">
            <a:spAutoFit/>
          </a:bodyPr>
          <a:lstStyle/>
          <a:p>
            <a:r>
              <a:rPr lang="ko-KR" altLang="en-US" sz="1000"/>
              <a:t>equential Chain</a:t>
            </a:r>
          </a:p>
          <a:p>
            <a:r>
              <a:rPr lang="ko-KR" altLang="en-US" sz="1000"/>
              <a:t>위의 마지막 작업은 LangChain의 SequentialChain을 이용하여 구현할 수 있습니다.</a:t>
            </a:r>
          </a:p>
          <a:p>
            <a:endParaRPr lang="ko-KR" altLang="en-US" sz="1000"/>
          </a:p>
          <a:p>
            <a:r>
              <a:rPr lang="ko-KR" altLang="en-US" sz="1000"/>
              <a:t>from langchain.chains import SequentialChain</a:t>
            </a:r>
          </a:p>
          <a:p>
            <a:endParaRPr lang="ko-KR" altLang="en-US" sz="1000"/>
          </a:p>
          <a:p>
            <a:r>
              <a:rPr lang="ko-KR" altLang="en-US" sz="1000"/>
              <a:t>seq_chain = SequentialChain(</a:t>
            </a:r>
          </a:p>
          <a:p>
            <a:r>
              <a:rPr lang="ko-KR" altLang="en-US" sz="1000"/>
              <a:t>    chains=[answer_chain, evaluation_chain],</a:t>
            </a:r>
          </a:p>
          <a:p>
            <a:r>
              <a:rPr lang="ko-KR" altLang="en-US" sz="1000"/>
              <a:t>    input_variables=["user_query", "ref1", "ref2", "ref3"]</a:t>
            </a:r>
          </a:p>
        </p:txBody>
      </p:sp>
    </p:spTree>
    <p:extLst>
      <p:ext uri="{BB962C8B-B14F-4D97-AF65-F5344CB8AC3E}">
        <p14:creationId xmlns:p14="http://schemas.microsoft.com/office/powerpoint/2010/main" val="40772884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9600" y="304800"/>
            <a:ext cx="5562741" cy="530915"/>
          </a:xfrm>
          <a:prstGeom prst="rect">
            <a:avLst/>
          </a:prstGeom>
          <a:noFill/>
        </p:spPr>
        <p:txBody>
          <a:bodyPr wrap="none" rtlCol="0">
            <a:spAutoFit/>
          </a:bodyPr>
          <a:lstStyle/>
          <a:p>
            <a:r>
              <a:rPr lang="en-US" altLang="ko-KR" smtClean="0"/>
              <a:t>chromadb  </a:t>
            </a:r>
            <a:r>
              <a:rPr lang="ko-KR" altLang="en-US" smtClean="0"/>
              <a:t>통합</a:t>
            </a:r>
            <a:endParaRPr lang="en-US" altLang="ko-KR" smtClean="0"/>
          </a:p>
          <a:p>
            <a:r>
              <a:rPr lang="en-US" altLang="ko-KR" sz="1050"/>
              <a:t>https://stackoverflow.com/questions/76048941/how-to-combine-two-chroma-databases</a:t>
            </a:r>
            <a:endParaRPr lang="ko-KR" altLang="en-US" sz="1050"/>
          </a:p>
        </p:txBody>
      </p:sp>
      <p:sp>
        <p:nvSpPr>
          <p:cNvPr id="5" name="직사각형 4"/>
          <p:cNvSpPr/>
          <p:nvPr/>
        </p:nvSpPr>
        <p:spPr>
          <a:xfrm>
            <a:off x="609600" y="972741"/>
            <a:ext cx="6096000" cy="1954381"/>
          </a:xfrm>
          <a:prstGeom prst="rect">
            <a:avLst/>
          </a:prstGeom>
        </p:spPr>
        <p:txBody>
          <a:bodyPr>
            <a:spAutoFit/>
          </a:bodyPr>
          <a:lstStyle/>
          <a:p>
            <a:r>
              <a:rPr lang="ko-KR" altLang="en-US" sz="1100"/>
              <a:t>from langchain.vectorstores import Chroma</a:t>
            </a:r>
          </a:p>
          <a:p>
            <a:endParaRPr lang="ko-KR" altLang="en-US" sz="1100"/>
          </a:p>
          <a:p>
            <a:r>
              <a:rPr lang="ko-KR" altLang="en-US" sz="1100"/>
              <a:t>chroma_directory = 'db/'</a:t>
            </a:r>
          </a:p>
          <a:p>
            <a:endParaRPr lang="ko-KR" altLang="en-US" sz="1100"/>
          </a:p>
          <a:p>
            <a:r>
              <a:rPr lang="ko-KR" altLang="en-US" sz="1100"/>
              <a:t>db = Chroma(persist_directory=chroma_directory, embedding_function=embedding)</a:t>
            </a:r>
          </a:p>
          <a:p>
            <a:endParaRPr lang="ko-KR" altLang="en-US" sz="1100"/>
          </a:p>
          <a:p>
            <a:r>
              <a:rPr lang="ko-KR" altLang="en-US" sz="1100"/>
              <a:t>db.add_documents(documents=texts1)</a:t>
            </a:r>
          </a:p>
          <a:p>
            <a:r>
              <a:rPr lang="ko-KR" altLang="en-US" sz="1100"/>
              <a:t>db.add_documents(documents=texts2)</a:t>
            </a:r>
          </a:p>
          <a:p>
            <a:endParaRPr lang="ko-KR" altLang="en-US" sz="1100"/>
          </a:p>
          <a:p>
            <a:r>
              <a:rPr lang="ko-KR" altLang="en-US" sz="1100"/>
              <a:t>db.similarity_search_with_score(query="Introduction to the document")</a:t>
            </a:r>
          </a:p>
          <a:p>
            <a:r>
              <a:rPr lang="ko-KR" altLang="en-US" sz="1100"/>
              <a:t># --&gt; results from both documents</a:t>
            </a:r>
          </a:p>
        </p:txBody>
      </p:sp>
      <p:sp>
        <p:nvSpPr>
          <p:cNvPr id="6" name="직사각형 5"/>
          <p:cNvSpPr/>
          <p:nvPr/>
        </p:nvSpPr>
        <p:spPr>
          <a:xfrm>
            <a:off x="6477000" y="460147"/>
            <a:ext cx="6096000" cy="3477875"/>
          </a:xfrm>
          <a:prstGeom prst="rect">
            <a:avLst/>
          </a:prstGeom>
        </p:spPr>
        <p:txBody>
          <a:bodyPr>
            <a:spAutoFit/>
          </a:bodyPr>
          <a:lstStyle/>
          <a:p>
            <a:r>
              <a:rPr lang="ko-KR" altLang="en-US" sz="1000"/>
              <a:t>1</a:t>
            </a:r>
          </a:p>
          <a:p>
            <a:endParaRPr lang="ko-KR" altLang="en-US" sz="1000"/>
          </a:p>
          <a:p>
            <a:r>
              <a:rPr lang="ko-KR" altLang="en-US" sz="1000"/>
              <a:t>Building on the above answer by Jordy, this is how I ended up doing it without rebuilding embeddings every time:</a:t>
            </a:r>
          </a:p>
          <a:p>
            <a:endParaRPr lang="ko-KR" altLang="en-US" sz="1000"/>
          </a:p>
          <a:p>
            <a:r>
              <a:rPr lang="ko-KR" altLang="en-US" sz="1000"/>
              <a:t>db1 = Chroma(</a:t>
            </a:r>
          </a:p>
          <a:p>
            <a:r>
              <a:rPr lang="ko-KR" altLang="en-US" sz="1000"/>
              <a:t>    persist_directory=persist_directory1,</a:t>
            </a:r>
          </a:p>
          <a:p>
            <a:r>
              <a:rPr lang="ko-KR" altLang="en-US" sz="1000"/>
              <a:t>    embedding_function=embeddings,</a:t>
            </a:r>
          </a:p>
          <a:p>
            <a:r>
              <a:rPr lang="ko-KR" altLang="en-US" sz="1000"/>
              <a:t>)</a:t>
            </a:r>
          </a:p>
          <a:p>
            <a:endParaRPr lang="ko-KR" altLang="en-US" sz="1000"/>
          </a:p>
          <a:p>
            <a:r>
              <a:rPr lang="ko-KR" altLang="en-US" sz="1000"/>
              <a:t>db2 = Chroma(</a:t>
            </a:r>
          </a:p>
          <a:p>
            <a:r>
              <a:rPr lang="ko-KR" altLang="en-US" sz="1000"/>
              <a:t>    persist_directory=persist_directory2,</a:t>
            </a:r>
          </a:p>
          <a:p>
            <a:r>
              <a:rPr lang="ko-KR" altLang="en-US" sz="1000"/>
              <a:t>    embedding_function=embeddings,</a:t>
            </a:r>
          </a:p>
          <a:p>
            <a:r>
              <a:rPr lang="ko-KR" altLang="en-US" sz="1000"/>
              <a:t>)</a:t>
            </a:r>
          </a:p>
          <a:p>
            <a:endParaRPr lang="ko-KR" altLang="en-US" sz="1000"/>
          </a:p>
          <a:p>
            <a:r>
              <a:rPr lang="ko-KR" altLang="en-US" sz="1000"/>
              <a:t>db2_data=db2._collection.get(include=['documents','metadatas','embeddings'])</a:t>
            </a:r>
          </a:p>
          <a:p>
            <a:r>
              <a:rPr lang="ko-KR" altLang="en-US" sz="1000"/>
              <a:t>db1._collection.add(</a:t>
            </a:r>
          </a:p>
          <a:p>
            <a:r>
              <a:rPr lang="ko-KR" altLang="en-US" sz="1000"/>
              <a:t>     embeddings=db2_data['embeddings'],</a:t>
            </a:r>
          </a:p>
          <a:p>
            <a:r>
              <a:rPr lang="ko-KR" altLang="en-US" sz="1000"/>
              <a:t>     metadatas=db2_data['metadatas'],</a:t>
            </a:r>
          </a:p>
          <a:p>
            <a:r>
              <a:rPr lang="ko-KR" altLang="en-US" sz="1000"/>
              <a:t>     documents=db2_data['documents'],</a:t>
            </a:r>
          </a:p>
          <a:p>
            <a:r>
              <a:rPr lang="ko-KR" altLang="en-US" sz="1000"/>
              <a:t>     ids=db2_data['ids']</a:t>
            </a:r>
          </a:p>
          <a:p>
            <a:r>
              <a:rPr lang="ko-KR" altLang="en-US" sz="1000"/>
              <a:t>)</a:t>
            </a:r>
          </a:p>
        </p:txBody>
      </p:sp>
    </p:spTree>
    <p:extLst>
      <p:ext uri="{BB962C8B-B14F-4D97-AF65-F5344CB8AC3E}">
        <p14:creationId xmlns:p14="http://schemas.microsoft.com/office/powerpoint/2010/main" val="38565598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0500" y="447675"/>
            <a:ext cx="10942098" cy="523220"/>
          </a:xfrm>
          <a:prstGeom prst="rect">
            <a:avLst/>
          </a:prstGeom>
          <a:noFill/>
        </p:spPr>
        <p:txBody>
          <a:bodyPr wrap="none" rtlCol="0">
            <a:spAutoFit/>
          </a:bodyPr>
          <a:lstStyle/>
          <a:p>
            <a:r>
              <a:rPr lang="ko-KR" altLang="en-US" smtClean="0"/>
              <a:t>ㅇ </a:t>
            </a:r>
            <a:r>
              <a:rPr lang="en-US" altLang="ko-KR" b="1"/>
              <a:t>Langchain Chatbot for Multiple PDFs: Harnessing GPT and Free Huggingface LLM Alternatives</a:t>
            </a:r>
          </a:p>
          <a:p>
            <a:r>
              <a:rPr lang="en-US" altLang="ko-KR" sz="1000"/>
              <a:t>https://medium.com/@abdullahw72/langchain-chatbot-for-multiple-pdfs-harnessing-gpt-and-free-huggingface-llm-alternatives-9a106c239975</a:t>
            </a:r>
            <a:endParaRPr lang="ko-KR" altLang="en-US" sz="1000"/>
          </a:p>
        </p:txBody>
      </p:sp>
      <p:sp>
        <p:nvSpPr>
          <p:cNvPr id="5" name="직사각형 4"/>
          <p:cNvSpPr/>
          <p:nvPr/>
        </p:nvSpPr>
        <p:spPr>
          <a:xfrm>
            <a:off x="866775" y="1667560"/>
            <a:ext cx="6096000" cy="646331"/>
          </a:xfrm>
          <a:prstGeom prst="rect">
            <a:avLst/>
          </a:prstGeom>
        </p:spPr>
        <p:txBody>
          <a:bodyPr>
            <a:spAutoFit/>
          </a:bodyPr>
          <a:lstStyle/>
          <a:p>
            <a:r>
              <a:rPr lang="ko-KR" altLang="en-US"/>
              <a:t>https://twitter.com/LangChainAI/status/1640745207477202945</a:t>
            </a:r>
          </a:p>
        </p:txBody>
      </p:sp>
      <p:pic>
        <p:nvPicPr>
          <p:cNvPr id="6" name="그림 5"/>
          <p:cNvPicPr>
            <a:picLocks noChangeAspect="1"/>
          </p:cNvPicPr>
          <p:nvPr/>
        </p:nvPicPr>
        <p:blipFill>
          <a:blip r:embed="rId2"/>
          <a:stretch>
            <a:fillRect/>
          </a:stretch>
        </p:blipFill>
        <p:spPr>
          <a:xfrm>
            <a:off x="1181100" y="2313891"/>
            <a:ext cx="5276850" cy="819150"/>
          </a:xfrm>
          <a:prstGeom prst="rect">
            <a:avLst/>
          </a:prstGeom>
        </p:spPr>
      </p:pic>
    </p:spTree>
    <p:extLst>
      <p:ext uri="{BB962C8B-B14F-4D97-AF65-F5344CB8AC3E}">
        <p14:creationId xmlns:p14="http://schemas.microsoft.com/office/powerpoint/2010/main" val="380892025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209550" y="1724948"/>
            <a:ext cx="5372100" cy="4893647"/>
          </a:xfrm>
          <a:prstGeom prst="rect">
            <a:avLst/>
          </a:prstGeom>
        </p:spPr>
        <p:txBody>
          <a:bodyPr wrap="square">
            <a:spAutoFit/>
          </a:bodyPr>
          <a:lstStyle/>
          <a:p>
            <a:r>
              <a:rPr lang="en-US" altLang="ko-KR" sz="1200"/>
              <a:t>tools = [</a:t>
            </a:r>
          </a:p>
          <a:p>
            <a:r>
              <a:rPr lang="en-US" altLang="ko-KR" sz="1200"/>
              <a:t>    Tool(</a:t>
            </a:r>
          </a:p>
          <a:p>
            <a:r>
              <a:rPr lang="en-US" altLang="ko-KR" sz="1200"/>
              <a:t>        name = "Space Farers",</a:t>
            </a:r>
          </a:p>
          <a:p>
            <a:r>
              <a:rPr lang="en-US" altLang="ko-KR" sz="1200"/>
              <a:t>        func=space_retriever.run,</a:t>
            </a:r>
          </a:p>
          <a:p>
            <a:r>
              <a:rPr lang="en-US" altLang="ko-KR" sz="1200"/>
              <a:t>        description="useful for when you need to answer questions about the space farers."</a:t>
            </a:r>
          </a:p>
          <a:p>
            <a:r>
              <a:rPr lang="en-US" altLang="ko-KR" sz="1200"/>
              <a:t>    ),</a:t>
            </a:r>
          </a:p>
          <a:p>
            <a:r>
              <a:rPr lang="en-US" altLang="ko-KR" sz="1200"/>
              <a:t>    Tool(</a:t>
            </a:r>
          </a:p>
          <a:p>
            <a:r>
              <a:rPr lang="en-US" altLang="ko-KR" sz="1200"/>
              <a:t>        name = "Linux Commands",</a:t>
            </a:r>
          </a:p>
          <a:p>
            <a:r>
              <a:rPr lang="en-US" altLang="ko-KR" sz="1200"/>
              <a:t>        func=lin_retriever.run,</a:t>
            </a:r>
          </a:p>
          <a:p>
            <a:r>
              <a:rPr lang="en-US" altLang="ko-KR" sz="1200"/>
              <a:t>        description="useful for when you need to answer questions about Linux commands."</a:t>
            </a:r>
          </a:p>
          <a:p>
            <a:r>
              <a:rPr lang="en-US" altLang="ko-KR" sz="1200"/>
              <a:t>    ),</a:t>
            </a:r>
          </a:p>
          <a:p>
            <a:r>
              <a:rPr lang="en-US" altLang="ko-KR" sz="1200"/>
              <a:t>]</a:t>
            </a:r>
          </a:p>
          <a:p>
            <a:r>
              <a:rPr lang="en-US" altLang="ko-KR" sz="1200"/>
              <a:t>    </a:t>
            </a:r>
          </a:p>
          <a:p>
            <a:endParaRPr lang="en-US" altLang="ko-KR" sz="1200"/>
          </a:p>
          <a:p>
            <a:r>
              <a:rPr lang="en-US" altLang="ko-KR" sz="1200"/>
              <a:t>example_agent = initialize_agent(tools, </a:t>
            </a:r>
          </a:p>
          <a:p>
            <a:r>
              <a:rPr lang="en-US" altLang="ko-KR" sz="1200"/>
              <a:t>                         fact_llm, </a:t>
            </a:r>
          </a:p>
          <a:p>
            <a:r>
              <a:rPr lang="en-US" altLang="ko-KR" sz="1200"/>
              <a:t>                         agent="zero-shot-react-description", </a:t>
            </a:r>
          </a:p>
          <a:p>
            <a:r>
              <a:rPr lang="en-US" altLang="ko-KR" sz="1200"/>
              <a:t>                         verbose=True)</a:t>
            </a:r>
          </a:p>
          <a:p>
            <a:r>
              <a:rPr lang="en-US" altLang="ko-KR" sz="1200"/>
              <a:t>     </a:t>
            </a:r>
          </a:p>
          <a:p>
            <a:endParaRPr lang="en-US" altLang="ko-KR" sz="1200"/>
          </a:p>
          <a:p>
            <a:r>
              <a:rPr lang="en-US" altLang="ko-KR" sz="1200"/>
              <a:t>example_agent.save("Custom_tool_VS.json")</a:t>
            </a:r>
          </a:p>
          <a:p>
            <a:r>
              <a:rPr lang="en-US" altLang="ko-KR" sz="1200"/>
              <a:t>     </a:t>
            </a:r>
          </a:p>
          <a:p>
            <a:endParaRPr lang="en-US" altLang="ko-KR" sz="1200"/>
          </a:p>
          <a:p>
            <a:r>
              <a:rPr lang="en-US" altLang="ko-KR" sz="1200"/>
              <a:t>example_agent.run("How many space farers are there?")</a:t>
            </a:r>
            <a:endParaRPr lang="ko-KR" altLang="en-US" sz="1200"/>
          </a:p>
        </p:txBody>
      </p:sp>
      <p:sp>
        <p:nvSpPr>
          <p:cNvPr id="5" name="직사각형 4"/>
          <p:cNvSpPr/>
          <p:nvPr/>
        </p:nvSpPr>
        <p:spPr>
          <a:xfrm>
            <a:off x="504825" y="548759"/>
            <a:ext cx="10152779" cy="369332"/>
          </a:xfrm>
          <a:prstGeom prst="rect">
            <a:avLst/>
          </a:prstGeom>
        </p:spPr>
        <p:txBody>
          <a:bodyPr wrap="none">
            <a:spAutoFit/>
          </a:bodyPr>
          <a:lstStyle/>
          <a:p>
            <a:r>
              <a:rPr lang="en-US" altLang="ko-KR"/>
              <a:t>Two ways of Reading Multiple VectorStores in Langchain: Custom Tools &amp; Agents in </a:t>
            </a:r>
            <a:r>
              <a:rPr lang="en-US" altLang="ko-KR" smtClean="0"/>
              <a:t>Langchain</a:t>
            </a:r>
            <a:endParaRPr lang="en-US" altLang="ko-KR"/>
          </a:p>
        </p:txBody>
      </p:sp>
      <p:sp>
        <p:nvSpPr>
          <p:cNvPr id="6" name="직사각형 5"/>
          <p:cNvSpPr/>
          <p:nvPr/>
        </p:nvSpPr>
        <p:spPr>
          <a:xfrm>
            <a:off x="819149" y="918091"/>
            <a:ext cx="9572625" cy="646331"/>
          </a:xfrm>
          <a:prstGeom prst="rect">
            <a:avLst/>
          </a:prstGeom>
        </p:spPr>
        <p:txBody>
          <a:bodyPr wrap="square">
            <a:spAutoFit/>
          </a:bodyPr>
          <a:lstStyle/>
          <a:p>
            <a:r>
              <a:rPr lang="ko-KR" altLang="en-US" sz="1200">
                <a:hlinkClick r:id="rId2"/>
              </a:rPr>
              <a:t>https://www.youtube.com/watch?v=-B0dNAednJ8</a:t>
            </a:r>
            <a:endParaRPr lang="en-US" altLang="ko-KR" sz="1200"/>
          </a:p>
          <a:p>
            <a:r>
              <a:rPr lang="en-US" altLang="ko-KR" sz="1200"/>
              <a:t>https://github.com/insightbuilder/python_de_learners_data/blob/main/code_script_notebooks/projects/langChain_exploration/multi_vectorstore_with_openai.ipynb</a:t>
            </a:r>
            <a:endParaRPr lang="ko-KR" altLang="en-US" sz="1200"/>
          </a:p>
        </p:txBody>
      </p:sp>
      <p:sp>
        <p:nvSpPr>
          <p:cNvPr id="7" name="직사각형 6"/>
          <p:cNvSpPr/>
          <p:nvPr/>
        </p:nvSpPr>
        <p:spPr>
          <a:xfrm>
            <a:off x="5343525" y="1933754"/>
            <a:ext cx="6743700" cy="2862322"/>
          </a:xfrm>
          <a:prstGeom prst="rect">
            <a:avLst/>
          </a:prstGeom>
        </p:spPr>
        <p:txBody>
          <a:bodyPr wrap="square">
            <a:spAutoFit/>
          </a:bodyPr>
          <a:lstStyle/>
          <a:p>
            <a:r>
              <a:rPr lang="en-US" altLang="ko-KR" sz="1200">
                <a:solidFill>
                  <a:srgbClr val="000000"/>
                </a:solidFill>
                <a:latin typeface="Courier New" panose="02070309020205020404" pitchFamily="49" charset="0"/>
              </a:rPr>
              <a:t>linux_vectorstore_info = VectorStoreInfo( name=</a:t>
            </a:r>
            <a:r>
              <a:rPr lang="en-US" altLang="ko-KR" sz="1200">
                <a:solidFill>
                  <a:srgbClr val="008000"/>
                </a:solidFill>
                <a:latin typeface="Courier New" panose="02070309020205020404" pitchFamily="49" charset="0"/>
              </a:rPr>
              <a:t>"linux"</a:t>
            </a:r>
            <a:r>
              <a:rPr lang="en-US" altLang="ko-KR" sz="1200">
                <a:solidFill>
                  <a:srgbClr val="000000"/>
                </a:solidFill>
                <a:latin typeface="Courier New" panose="02070309020205020404" pitchFamily="49" charset="0"/>
              </a:rPr>
              <a:t>, description=</a:t>
            </a:r>
            <a:r>
              <a:rPr lang="en-US" altLang="ko-KR" sz="1200">
                <a:solidFill>
                  <a:srgbClr val="008000"/>
                </a:solidFill>
                <a:latin typeface="Courier New" panose="02070309020205020404" pitchFamily="49" charset="0"/>
              </a:rPr>
              <a:t>"Used when need to answer about playbook"</a:t>
            </a:r>
            <a:r>
              <a:rPr lang="en-US" altLang="ko-KR" sz="1200">
                <a:solidFill>
                  <a:srgbClr val="000000"/>
                </a:solidFill>
                <a:latin typeface="Courier New" panose="02070309020205020404" pitchFamily="49" charset="0"/>
              </a:rPr>
              <a:t>, vectorstore=lin_chroma ) </a:t>
            </a:r>
          </a:p>
          <a:p>
            <a:pPr algn="r"/>
            <a:r>
              <a:rPr lang="en-US" altLang="ko-KR" sz="1200">
                <a:solidFill>
                  <a:srgbClr val="000000"/>
                </a:solidFill>
                <a:latin typeface="var(--jp-cell-prompt-font-family)"/>
              </a:rPr>
              <a:t>In [ ]:</a:t>
            </a:r>
          </a:p>
          <a:p>
            <a:r>
              <a:rPr lang="en-US" altLang="ko-KR" sz="1200">
                <a:solidFill>
                  <a:srgbClr val="000000"/>
                </a:solidFill>
                <a:latin typeface="Courier New" panose="02070309020205020404" pitchFamily="49" charset="0"/>
              </a:rPr>
              <a:t>router_toolkit = VectorStoreRouterToolkit( vectorstores=[space_vectorstore_info, linux_vectorstore_info], llm=fact_llm ) agent_executor = create_vectorstore_router_agent( llm=fact_llm, toolkit=router_toolkit, verbose=</a:t>
            </a:r>
            <a:r>
              <a:rPr lang="en-US" altLang="ko-KR" sz="1200">
                <a:solidFill>
                  <a:srgbClr val="AA5D00"/>
                </a:solidFill>
                <a:latin typeface="Courier New" panose="02070309020205020404" pitchFamily="49" charset="0"/>
              </a:rPr>
              <a:t>True</a:t>
            </a:r>
            <a:r>
              <a:rPr lang="en-US" altLang="ko-KR" sz="1200">
                <a:solidFill>
                  <a:srgbClr val="000000"/>
                </a:solidFill>
                <a:latin typeface="Courier New" panose="02070309020205020404" pitchFamily="49" charset="0"/>
              </a:rPr>
              <a:t> ) </a:t>
            </a:r>
          </a:p>
          <a:p>
            <a:pPr algn="r"/>
            <a:r>
              <a:rPr lang="en-US" altLang="ko-KR" sz="1200">
                <a:solidFill>
                  <a:srgbClr val="000000"/>
                </a:solidFill>
                <a:latin typeface="var(--jp-cell-prompt-font-family)"/>
              </a:rPr>
              <a:t>In [ ]:</a:t>
            </a:r>
          </a:p>
          <a:p>
            <a:r>
              <a:rPr lang="en-US" altLang="ko-KR" sz="1200">
                <a:solidFill>
                  <a:srgbClr val="000000"/>
                </a:solidFill>
                <a:latin typeface="Courier New" panose="02070309020205020404" pitchFamily="49" charset="0"/>
              </a:rPr>
              <a:t>query = </a:t>
            </a:r>
            <a:r>
              <a:rPr lang="en-US" altLang="ko-KR" sz="1200">
                <a:solidFill>
                  <a:srgbClr val="008000"/>
                </a:solidFill>
                <a:latin typeface="Courier New" panose="02070309020205020404" pitchFamily="49" charset="0"/>
              </a:rPr>
              <a:t>"""How many Space fares are there?"""</a:t>
            </a:r>
            <a:r>
              <a:rPr lang="en-US" altLang="ko-KR" sz="1200">
                <a:solidFill>
                  <a:srgbClr val="000000"/>
                </a:solidFill>
                <a:latin typeface="Courier New" panose="02070309020205020404" pitchFamily="49" charset="0"/>
              </a:rPr>
              <a:t> </a:t>
            </a:r>
          </a:p>
          <a:p>
            <a:pPr algn="r"/>
            <a:r>
              <a:rPr lang="en-US" altLang="ko-KR" sz="1200">
                <a:solidFill>
                  <a:srgbClr val="000000"/>
                </a:solidFill>
                <a:latin typeface="var(--jp-cell-prompt-font-family)"/>
              </a:rPr>
              <a:t>In [ ]:</a:t>
            </a:r>
          </a:p>
          <a:p>
            <a:r>
              <a:rPr lang="en-US" altLang="ko-KR" sz="1200">
                <a:solidFill>
                  <a:srgbClr val="000000"/>
                </a:solidFill>
                <a:latin typeface="Courier New" panose="02070309020205020404" pitchFamily="49" charset="0"/>
              </a:rPr>
              <a:t>agent_executor.run(query) </a:t>
            </a:r>
          </a:p>
          <a:p>
            <a:pPr algn="r"/>
            <a:r>
              <a:rPr lang="en-US" altLang="ko-KR" sz="1200">
                <a:solidFill>
                  <a:srgbClr val="000000"/>
                </a:solidFill>
                <a:latin typeface="var(--jp-cell-prompt-font-family)"/>
              </a:rPr>
              <a:t>In [ ]:</a:t>
            </a:r>
          </a:p>
          <a:p>
            <a:r>
              <a:rPr lang="en-US" altLang="ko-KR" sz="1200">
                <a:solidFill>
                  <a:srgbClr val="000000"/>
                </a:solidFill>
                <a:latin typeface="Courier New" panose="02070309020205020404" pitchFamily="49" charset="0"/>
              </a:rPr>
              <a:t>agent_executor.save_agent(</a:t>
            </a:r>
            <a:r>
              <a:rPr lang="en-US" altLang="ko-KR" sz="1200">
                <a:solidFill>
                  <a:srgbClr val="008000"/>
                </a:solidFill>
                <a:latin typeface="Courier New" panose="02070309020205020404" pitchFamily="49" charset="0"/>
              </a:rPr>
              <a:t>"multi_doc_agent.json"</a:t>
            </a:r>
            <a:r>
              <a:rPr lang="en-US" altLang="ko-KR" sz="1200">
                <a:solidFill>
                  <a:srgbClr val="000000"/>
                </a:solidFill>
                <a:latin typeface="Courier New" panose="02070309020205020404" pitchFamily="49" charset="0"/>
              </a:rPr>
              <a:t>)</a:t>
            </a:r>
            <a:endParaRPr lang="en-US" altLang="ko-KR" sz="1200" b="0" i="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4565041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81100" y="762000"/>
            <a:ext cx="3405099" cy="369332"/>
          </a:xfrm>
          <a:prstGeom prst="rect">
            <a:avLst/>
          </a:prstGeom>
          <a:noFill/>
        </p:spPr>
        <p:txBody>
          <a:bodyPr wrap="none" rtlCol="0">
            <a:spAutoFit/>
          </a:bodyPr>
          <a:lstStyle/>
          <a:p>
            <a:r>
              <a:rPr lang="ko-KR" altLang="en-US" smtClean="0"/>
              <a:t>파이썬 개발환경 구축 </a:t>
            </a:r>
            <a:r>
              <a:rPr lang="en-US" altLang="ko-KR" smtClean="0"/>
              <a:t>- vscode</a:t>
            </a:r>
            <a:endParaRPr lang="ko-KR" altLang="en-US"/>
          </a:p>
        </p:txBody>
      </p:sp>
      <p:sp>
        <p:nvSpPr>
          <p:cNvPr id="5" name="직사각형 4"/>
          <p:cNvSpPr/>
          <p:nvPr/>
        </p:nvSpPr>
        <p:spPr>
          <a:xfrm>
            <a:off x="8108424" y="6397109"/>
            <a:ext cx="3785652" cy="369332"/>
          </a:xfrm>
          <a:prstGeom prst="rect">
            <a:avLst/>
          </a:prstGeom>
        </p:spPr>
        <p:txBody>
          <a:bodyPr wrap="none">
            <a:spAutoFit/>
          </a:bodyPr>
          <a:lstStyle/>
          <a:p>
            <a:r>
              <a:rPr lang="ko-KR" altLang="en-US"/>
              <a:t>https://pgh268400.tistory.com/446</a:t>
            </a:r>
          </a:p>
        </p:txBody>
      </p:sp>
    </p:spTree>
    <p:extLst>
      <p:ext uri="{BB962C8B-B14F-4D97-AF65-F5344CB8AC3E}">
        <p14:creationId xmlns:p14="http://schemas.microsoft.com/office/powerpoint/2010/main" val="27996468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333375" y="200710"/>
            <a:ext cx="6096000" cy="646331"/>
          </a:xfrm>
          <a:prstGeom prst="rect">
            <a:avLst/>
          </a:prstGeom>
        </p:spPr>
        <p:txBody>
          <a:bodyPr>
            <a:spAutoFit/>
          </a:bodyPr>
          <a:lstStyle/>
          <a:p>
            <a:r>
              <a:rPr lang="ko-KR" altLang="en-US"/>
              <a:t>[FastAPI + React] 소셜 로그인 구현하기 - 이메일 로그인</a:t>
            </a:r>
          </a:p>
          <a:p>
            <a:r>
              <a:rPr lang="ko-KR" altLang="en-US"/>
              <a:t>https://blog.joonas.io/228</a:t>
            </a:r>
          </a:p>
        </p:txBody>
      </p:sp>
    </p:spTree>
    <p:extLst>
      <p:ext uri="{BB962C8B-B14F-4D97-AF65-F5344CB8AC3E}">
        <p14:creationId xmlns:p14="http://schemas.microsoft.com/office/powerpoint/2010/main" val="4090182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p:cNvSpPr/>
          <p:nvPr/>
        </p:nvSpPr>
        <p:spPr>
          <a:xfrm>
            <a:off x="590549" y="295960"/>
            <a:ext cx="7515225" cy="646331"/>
          </a:xfrm>
          <a:prstGeom prst="rect">
            <a:avLst/>
          </a:prstGeom>
        </p:spPr>
        <p:txBody>
          <a:bodyPr wrap="square">
            <a:spAutoFit/>
          </a:bodyPr>
          <a:lstStyle/>
          <a:p>
            <a:r>
              <a:rPr lang="ko-KR" altLang="en-US"/>
              <a:t>[FastAPI] 비밀번호 암호화, JWT 사용하기 </a:t>
            </a:r>
            <a:r>
              <a:rPr lang="ko-KR" altLang="en-US"/>
              <a:t>- </a:t>
            </a:r>
            <a:r>
              <a:rPr lang="ko-KR" altLang="en-US" smtClean="0"/>
              <a:t>2023.8.15  </a:t>
            </a:r>
            <a:r>
              <a:rPr lang="en-US" altLang="ko-KR" smtClean="0"/>
              <a:t>- </a:t>
            </a:r>
            <a:r>
              <a:rPr lang="ko-KR" altLang="en-US" smtClean="0"/>
              <a:t>공식 예제</a:t>
            </a:r>
            <a:endParaRPr lang="ko-KR" altLang="en-US"/>
          </a:p>
          <a:p>
            <a:r>
              <a:rPr lang="ko-KR" altLang="en-US"/>
              <a:t>https://hello-bryan.tistory.com/535</a:t>
            </a:r>
          </a:p>
        </p:txBody>
      </p:sp>
    </p:spTree>
    <p:extLst>
      <p:ext uri="{BB962C8B-B14F-4D97-AF65-F5344CB8AC3E}">
        <p14:creationId xmlns:p14="http://schemas.microsoft.com/office/powerpoint/2010/main" val="300210548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8855136" y="91559"/>
            <a:ext cx="3073277" cy="369332"/>
          </a:xfrm>
          <a:prstGeom prst="rect">
            <a:avLst/>
          </a:prstGeom>
        </p:spPr>
        <p:txBody>
          <a:bodyPr wrap="none">
            <a:spAutoFit/>
          </a:bodyPr>
          <a:lstStyle/>
          <a:p>
            <a:r>
              <a:rPr lang="ko-KR" altLang="en-US"/>
              <a:t>https://wikidocs.net/176934</a:t>
            </a:r>
          </a:p>
        </p:txBody>
      </p:sp>
      <p:sp>
        <p:nvSpPr>
          <p:cNvPr id="5" name="직사각형 4"/>
          <p:cNvSpPr/>
          <p:nvPr/>
        </p:nvSpPr>
        <p:spPr>
          <a:xfrm>
            <a:off x="607545" y="276225"/>
            <a:ext cx="2690160" cy="369332"/>
          </a:xfrm>
          <a:prstGeom prst="rect">
            <a:avLst/>
          </a:prstGeom>
        </p:spPr>
        <p:txBody>
          <a:bodyPr wrap="none">
            <a:spAutoFit/>
          </a:bodyPr>
          <a:lstStyle/>
          <a:p>
            <a:r>
              <a:rPr lang="en-US" altLang="ko-KR" b="1">
                <a:solidFill>
                  <a:srgbClr val="24292F"/>
                </a:solidFill>
                <a:latin typeface="Noto Sans KR"/>
              </a:rPr>
              <a:t>3-08 </a:t>
            </a:r>
            <a:r>
              <a:rPr lang="ko-KR" altLang="en-US" b="1">
                <a:solidFill>
                  <a:srgbClr val="24292F"/>
                </a:solidFill>
                <a:latin typeface="Noto Sans KR"/>
              </a:rPr>
              <a:t>로그인과 로그아웃</a:t>
            </a:r>
            <a:endParaRPr lang="ko-KR" altLang="en-US" b="1" i="0">
              <a:solidFill>
                <a:srgbClr val="24292F"/>
              </a:solidFill>
              <a:effectLst/>
              <a:latin typeface="Noto Sans KR"/>
            </a:endParaRPr>
          </a:p>
        </p:txBody>
      </p:sp>
      <p:sp>
        <p:nvSpPr>
          <p:cNvPr id="6" name="직사각형 5"/>
          <p:cNvSpPr/>
          <p:nvPr/>
        </p:nvSpPr>
        <p:spPr>
          <a:xfrm>
            <a:off x="685800" y="785336"/>
            <a:ext cx="6096000" cy="1477328"/>
          </a:xfrm>
          <a:prstGeom prst="rect">
            <a:avLst/>
          </a:prstGeom>
        </p:spPr>
        <p:txBody>
          <a:bodyPr>
            <a:spAutoFit/>
          </a:bodyPr>
          <a:lstStyle/>
          <a:p>
            <a:r>
              <a:rPr lang="ko-KR" altLang="en-US"/>
              <a:t>[완성 소스] : https://github.com/pahkey/fastapi-book/tree/v3.08</a:t>
            </a:r>
          </a:p>
          <a:p>
            <a:r>
              <a:rPr lang="ko-KR" altLang="en-US"/>
              <a:t>[변경 내역] : https://github.com/pahkey/fastapi-book/commit/694c34432260bfb48413982363a079f413e0f0ca?diff=split</a:t>
            </a:r>
          </a:p>
        </p:txBody>
      </p:sp>
      <p:pic>
        <p:nvPicPr>
          <p:cNvPr id="7" name="그림 6"/>
          <p:cNvPicPr>
            <a:picLocks noChangeAspect="1"/>
          </p:cNvPicPr>
          <p:nvPr/>
        </p:nvPicPr>
        <p:blipFill>
          <a:blip r:embed="rId2"/>
          <a:stretch>
            <a:fillRect/>
          </a:stretch>
        </p:blipFill>
        <p:spPr>
          <a:xfrm>
            <a:off x="561975" y="2262664"/>
            <a:ext cx="3171825" cy="3838575"/>
          </a:xfrm>
          <a:prstGeom prst="rect">
            <a:avLst/>
          </a:prstGeom>
        </p:spPr>
      </p:pic>
    </p:spTree>
    <p:extLst>
      <p:ext uri="{BB962C8B-B14F-4D97-AF65-F5344CB8AC3E}">
        <p14:creationId xmlns:p14="http://schemas.microsoft.com/office/powerpoint/2010/main" val="2531570846"/>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3683</TotalTime>
  <Words>7114</Words>
  <Application>Microsoft Office PowerPoint</Application>
  <PresentationFormat>와이드스크린</PresentationFormat>
  <Paragraphs>1226</Paragraphs>
  <Slides>82</Slides>
  <Notes>0</Notes>
  <HiddenSlides>0</HiddenSlides>
  <MMClips>0</MMClips>
  <ScaleCrop>false</ScaleCrop>
  <HeadingPairs>
    <vt:vector size="6" baseType="variant">
      <vt:variant>
        <vt:lpstr>사용한 글꼴</vt:lpstr>
      </vt:variant>
      <vt:variant>
        <vt:i4>21</vt:i4>
      </vt:variant>
      <vt:variant>
        <vt:lpstr>테마</vt:lpstr>
      </vt:variant>
      <vt:variant>
        <vt:i4>1</vt:i4>
      </vt:variant>
      <vt:variant>
        <vt:lpstr>슬라이드 제목</vt:lpstr>
      </vt:variant>
      <vt:variant>
        <vt:i4>82</vt:i4>
      </vt:variant>
    </vt:vector>
  </HeadingPairs>
  <TitlesOfParts>
    <vt:vector size="104" baseType="lpstr">
      <vt:lpstr>AppleSDGothicNeo</vt:lpstr>
      <vt:lpstr>-apple-system</vt:lpstr>
      <vt:lpstr>Arial Unicode MS</vt:lpstr>
      <vt:lpstr>Courier 10 Pitch</vt:lpstr>
      <vt:lpstr>Inconsolata</vt:lpstr>
      <vt:lpstr>Noto Sans DemiLight</vt:lpstr>
      <vt:lpstr>Noto Sans KR</vt:lpstr>
      <vt:lpstr>Noto Serif</vt:lpstr>
      <vt:lpstr>Roboto</vt:lpstr>
      <vt:lpstr>SFMono-Regular</vt:lpstr>
      <vt:lpstr>source-code-pro</vt:lpstr>
      <vt:lpstr>ui-monospace</vt:lpstr>
      <vt:lpstr>var(--ifm-heading-font-family)</vt:lpstr>
      <vt:lpstr>var(--jp-cell-prompt-font-family)</vt:lpstr>
      <vt:lpstr>YouTube Sans</vt:lpstr>
      <vt:lpstr>굴림</vt:lpstr>
      <vt:lpstr>맑은 고딕</vt:lpstr>
      <vt:lpstr>Arial</vt:lpstr>
      <vt:lpstr>Courier New</vt:lpstr>
      <vt:lpstr>Times New Roman</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PC</dc:creator>
  <cp:lastModifiedBy>PC</cp:lastModifiedBy>
  <cp:revision>205</cp:revision>
  <dcterms:created xsi:type="dcterms:W3CDTF">2023-10-06T06:30:36Z</dcterms:created>
  <dcterms:modified xsi:type="dcterms:W3CDTF">2023-10-23T04:32:33Z</dcterms:modified>
</cp:coreProperties>
</file>