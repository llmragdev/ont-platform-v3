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75" r:id="rId8"/>
    <p:sldId id="262" r:id="rId9"/>
    <p:sldId id="274" r:id="rId10"/>
    <p:sldId id="264" r:id="rId11"/>
    <p:sldId id="265" r:id="rId12"/>
    <p:sldId id="266" r:id="rId13"/>
    <p:sldId id="267" r:id="rId14"/>
    <p:sldId id="273" r:id="rId15"/>
    <p:sldId id="272" r:id="rId16"/>
    <p:sldId id="269" r:id="rId17"/>
    <p:sldId id="270" r:id="rId18"/>
    <p:sldId id="268" r:id="rId19"/>
    <p:sldId id="277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0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76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25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51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42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12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40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40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01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1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0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09A01-043D-4531-84C1-B6BF8224977D}" type="datetimeFigureOut">
              <a:rPr lang="ko-KR" altLang="en-US" smtClean="0"/>
              <a:t>2024-02-24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68E43-F04D-4840-AED2-EEA6B9E076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32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kakao.com/o/gqs05N6f" TargetMode="External"/><Relationship Id="rId2" Type="http://schemas.openxmlformats.org/officeDocument/2006/relationships/hyperlink" Target="https://cafe.naver.com/aidev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hops.pub/flask-to-fast-api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hops.pub/flask-to-fast-ap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log.hops.pub/flask-to-fast-ap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qlalchemy.org/en/14/changelog/migration_20.html#migration-20-unify-select" TargetMode="External"/><Relationship Id="rId7" Type="http://schemas.openxmlformats.org/officeDocument/2006/relationships/hyperlink" Target="https://docs.sqlalchemy.org/en/14/core/connections.html#sqlalchemy.engine.Result.first" TargetMode="External"/><Relationship Id="rId2" Type="http://schemas.openxmlformats.org/officeDocument/2006/relationships/hyperlink" Target="https://docs.sqlalchemy.org/en/14/changelog/migration_20.html#migration-20-get-to-sess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qlalchemy.org/en/14/core/connections.html#sqlalchemy.engine.Result.scalar_one" TargetMode="External"/><Relationship Id="rId5" Type="http://schemas.openxmlformats.org/officeDocument/2006/relationships/hyperlink" Target="https://docs.sqlalchemy.org/en/14/core/connections.html#sqlalchemy.engine.Result.scalars" TargetMode="External"/><Relationship Id="rId4" Type="http://schemas.openxmlformats.org/officeDocument/2006/relationships/hyperlink" Target="https://docs.sqlalchemy.org/en/14/orm/session_api.html#sqlalchemy.orm.Session.scalar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0918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LLM &amp; </a:t>
            </a:r>
            <a:r>
              <a:rPr lang="en-US" altLang="ko-KR" smtClean="0"/>
              <a:t>RAG </a:t>
            </a:r>
            <a:r>
              <a:rPr lang="ko-KR" altLang="en-US" smtClean="0"/>
              <a:t>프로젝트 소개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4400" smtClean="0"/>
              <a:t>- </a:t>
            </a:r>
            <a:r>
              <a:rPr lang="ko-KR" altLang="en-US" sz="4400" smtClean="0"/>
              <a:t>개선사항</a:t>
            </a:r>
            <a:r>
              <a:rPr lang="en-US" altLang="ko-KR" sz="4400" smtClean="0"/>
              <a:t>, </a:t>
            </a:r>
            <a:r>
              <a:rPr lang="ko-KR" altLang="en-US" sz="4400" smtClean="0"/>
              <a:t>기술스택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154917"/>
            <a:ext cx="9830765" cy="1356719"/>
          </a:xfrm>
        </p:spPr>
        <p:txBody>
          <a:bodyPr/>
          <a:lstStyle/>
          <a:p>
            <a:pPr algn="l"/>
            <a:r>
              <a:rPr lang="ko-KR" altLang="en-US" smtClean="0"/>
              <a:t>인공지능 </a:t>
            </a:r>
            <a:r>
              <a:rPr lang="en-US" altLang="ko-KR" smtClean="0"/>
              <a:t>LLM RAG </a:t>
            </a:r>
            <a:r>
              <a:rPr lang="ko-KR" altLang="en-US" smtClean="0"/>
              <a:t>개발자모임 카페</a:t>
            </a:r>
            <a:r>
              <a:rPr lang="en-US" altLang="ko-KR" smtClean="0"/>
              <a:t>: </a:t>
            </a:r>
            <a:r>
              <a:rPr lang="en-US" altLang="ko-KR" smtClean="0">
                <a:hlinkClick r:id="rId2"/>
              </a:rPr>
              <a:t>https</a:t>
            </a:r>
            <a:r>
              <a:rPr lang="en-US" altLang="ko-KR">
                <a:hlinkClick r:id="rId2"/>
              </a:rPr>
              <a:t>://</a:t>
            </a:r>
            <a:r>
              <a:rPr lang="en-US" altLang="ko-KR" smtClean="0">
                <a:hlinkClick r:id="rId2"/>
              </a:rPr>
              <a:t>cafe.naver.com/aidev</a:t>
            </a:r>
            <a:endParaRPr lang="en-US" altLang="ko-KR" smtClean="0"/>
          </a:p>
          <a:p>
            <a:pPr algn="l"/>
            <a:r>
              <a:rPr lang="en-US" altLang="ko-KR" smtClean="0"/>
              <a:t>LLM&amp;RAG </a:t>
            </a:r>
            <a:r>
              <a:rPr lang="ko-KR" altLang="en-US" smtClean="0"/>
              <a:t>통합 단톡방</a:t>
            </a:r>
            <a:r>
              <a:rPr lang="en-US" altLang="ko-KR"/>
              <a:t>: </a:t>
            </a:r>
            <a:r>
              <a:rPr lang="en-US" altLang="ko-KR">
                <a:hlinkClick r:id="rId3"/>
              </a:rPr>
              <a:t>https</a:t>
            </a:r>
            <a:r>
              <a:rPr lang="en-US" altLang="ko-KR">
                <a:hlinkClick r:id="rId3"/>
              </a:rPr>
              <a:t>://</a:t>
            </a:r>
            <a:r>
              <a:rPr lang="en-US" altLang="ko-KR" smtClean="0">
                <a:hlinkClick r:id="rId3"/>
              </a:rPr>
              <a:t>open.kakao.com/o/gqs05N6f</a:t>
            </a:r>
            <a:endParaRPr lang="en-US" altLang="ko-KR" smtClean="0"/>
          </a:p>
          <a:p>
            <a:pPr algn="l"/>
            <a:r>
              <a:rPr lang="en-US" altLang="ko-KR" smtClean="0"/>
              <a:t>LLM&amp;RAG </a:t>
            </a:r>
            <a:r>
              <a:rPr lang="ko-KR" altLang="en-US" smtClean="0"/>
              <a:t>페이스북</a:t>
            </a:r>
            <a:r>
              <a:rPr lang="en-US" altLang="ko-KR"/>
              <a:t>: https://www.facebook.com/groups/llmrag/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017532" y="3390563"/>
            <a:ext cx="5093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mtClean="0"/>
              <a:t>2024.02.24 </a:t>
            </a:r>
          </a:p>
          <a:p>
            <a:pPr algn="ctr"/>
            <a:r>
              <a:rPr lang="ko-KR" altLang="en-US" smtClean="0"/>
              <a:t>오픈체인</a:t>
            </a:r>
            <a:endParaRPr lang="en-US" altLang="ko-KR" smtClean="0"/>
          </a:p>
          <a:p>
            <a:pPr algn="ctr"/>
            <a:r>
              <a:rPr lang="en-US" altLang="ko-KR" smtClean="0"/>
              <a:t>(</a:t>
            </a:r>
            <a:r>
              <a:rPr lang="ko-KR" altLang="en-US" smtClean="0"/>
              <a:t>문의</a:t>
            </a:r>
            <a:r>
              <a:rPr lang="en-US" altLang="ko-KR" smtClean="0"/>
              <a:t>: https</a:t>
            </a:r>
            <a:r>
              <a:rPr lang="en-US" altLang="ko-KR"/>
              <a:t>://</a:t>
            </a:r>
            <a:r>
              <a:rPr lang="en-US" altLang="ko-KR" smtClean="0"/>
              <a:t>open.kakao.com/me/openchaink)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26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LLM &amp; RAG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취지</a:t>
            </a:r>
            <a:endParaRPr lang="en-US" altLang="ko-KR" smtClean="0"/>
          </a:p>
          <a:p>
            <a:pPr lvl="1"/>
            <a:r>
              <a:rPr lang="ko-KR" altLang="en-US"/>
              <a:t>거대언어모델기반 응용 개발</a:t>
            </a:r>
            <a:r>
              <a:rPr lang="en-US" altLang="ko-KR"/>
              <a:t>(LLM+RAG+Lanchain)</a:t>
            </a:r>
            <a:r>
              <a:rPr lang="ko-KR" altLang="en-US"/>
              <a:t>에 대해 </a:t>
            </a:r>
            <a:r>
              <a:rPr lang="ko-KR" altLang="en-US" smtClean="0"/>
              <a:t>중점</a:t>
            </a:r>
            <a:endParaRPr lang="en-US" altLang="ko-KR"/>
          </a:p>
          <a:p>
            <a:pPr lvl="1"/>
            <a:r>
              <a:rPr lang="ko-KR" altLang="en-US" smtClean="0"/>
              <a:t>최근 </a:t>
            </a:r>
            <a:r>
              <a:rPr lang="en-US" altLang="ko-KR" smtClean="0"/>
              <a:t>chatGPT</a:t>
            </a:r>
            <a:r>
              <a:rPr lang="ko-KR" altLang="en-US" smtClean="0"/>
              <a:t>의 </a:t>
            </a:r>
            <a:r>
              <a:rPr lang="ko-KR" altLang="en-US"/>
              <a:t>출현으로 알파고 이후로 </a:t>
            </a:r>
            <a:r>
              <a:rPr lang="en-US" altLang="ko-KR"/>
              <a:t>LLM</a:t>
            </a:r>
            <a:r>
              <a:rPr lang="ko-KR" altLang="en-US"/>
              <a:t>이 트랜드를 </a:t>
            </a:r>
            <a:r>
              <a:rPr lang="ko-KR" altLang="en-US" smtClean="0"/>
              <a:t>리드</a:t>
            </a:r>
            <a:endParaRPr lang="en-US" altLang="ko-KR"/>
          </a:p>
          <a:p>
            <a:pPr lvl="1"/>
            <a:r>
              <a:rPr lang="en-US" altLang="ko-KR"/>
              <a:t>LLM</a:t>
            </a:r>
            <a:r>
              <a:rPr lang="ko-KR" altLang="en-US"/>
              <a:t>과 주고받는 데이터 양을 줄이고</a:t>
            </a:r>
            <a:r>
              <a:rPr lang="en-US" altLang="ko-KR"/>
              <a:t>, LLM</a:t>
            </a:r>
            <a:r>
              <a:rPr lang="ko-KR" altLang="en-US"/>
              <a:t>의 </a:t>
            </a:r>
            <a:r>
              <a:rPr lang="en-US" altLang="ko-KR"/>
              <a:t>Halluciation(</a:t>
            </a:r>
            <a:r>
              <a:rPr lang="ko-KR" altLang="en-US"/>
              <a:t>환각</a:t>
            </a:r>
            <a:r>
              <a:rPr lang="en-US" altLang="ko-KR"/>
              <a:t>) </a:t>
            </a:r>
            <a:r>
              <a:rPr lang="ko-KR" altLang="en-US"/>
              <a:t>증상을 개선하기 위해 </a:t>
            </a:r>
            <a:r>
              <a:rPr lang="en-US" altLang="ko-KR"/>
              <a:t>RAG(</a:t>
            </a:r>
            <a:r>
              <a:rPr lang="ko-KR" altLang="en-US"/>
              <a:t>검색증각생성</a:t>
            </a:r>
            <a:r>
              <a:rPr lang="en-US" altLang="ko-KR"/>
              <a:t>, </a:t>
            </a:r>
            <a:r>
              <a:rPr lang="ko-KR" altLang="en-US"/>
              <a:t>벡터</a:t>
            </a:r>
            <a:r>
              <a:rPr lang="en-US" altLang="ko-KR"/>
              <a:t>DB)</a:t>
            </a:r>
            <a:r>
              <a:rPr lang="ko-KR" altLang="en-US"/>
              <a:t>를 활용하고</a:t>
            </a:r>
            <a:r>
              <a:rPr lang="en-US" altLang="ko-KR"/>
              <a:t>, </a:t>
            </a:r>
          </a:p>
          <a:p>
            <a:pPr lvl="1"/>
            <a:r>
              <a:rPr lang="ko-KR" altLang="en-US"/>
              <a:t>여러 </a:t>
            </a:r>
            <a:r>
              <a:rPr lang="en-US" altLang="ko-KR"/>
              <a:t>LLM</a:t>
            </a:r>
            <a:r>
              <a:rPr lang="ko-KR" altLang="en-US"/>
              <a:t>을 상황에 맞게 용이하기 쓸수있는 도구로 </a:t>
            </a:r>
            <a:r>
              <a:rPr lang="en-US" altLang="ko-KR" smtClean="0"/>
              <a:t>Lanchain </a:t>
            </a:r>
            <a:r>
              <a:rPr lang="ko-KR" altLang="en-US" smtClean="0"/>
              <a:t>활용</a:t>
            </a:r>
            <a:endParaRPr lang="ko-KR" altLang="en-US"/>
          </a:p>
          <a:p>
            <a:r>
              <a:rPr lang="ko-KR" altLang="en-US" smtClean="0"/>
              <a:t>비전</a:t>
            </a:r>
            <a:endParaRPr lang="en-US" altLang="ko-KR" smtClean="0"/>
          </a:p>
          <a:p>
            <a:pPr lvl="1"/>
            <a:r>
              <a:rPr lang="ko-KR" altLang="en-US" smtClean="0"/>
              <a:t>전체 </a:t>
            </a:r>
            <a:r>
              <a:rPr lang="en-US" altLang="ko-KR" smtClean="0"/>
              <a:t>MVP </a:t>
            </a:r>
            <a:r>
              <a:rPr lang="ko-KR" altLang="en-US" smtClean="0"/>
              <a:t>프로젝트 공유 </a:t>
            </a:r>
            <a:r>
              <a:rPr lang="en-US" altLang="ko-KR" smtClean="0"/>
              <a:t>– </a:t>
            </a:r>
            <a:r>
              <a:rPr lang="ko-KR" altLang="en-US" smtClean="0"/>
              <a:t>개인별 목표 설정 </a:t>
            </a:r>
            <a:r>
              <a:rPr lang="en-US" altLang="ko-KR" smtClean="0"/>
              <a:t>/ </a:t>
            </a:r>
            <a:r>
              <a:rPr lang="ko-KR" altLang="en-US" smtClean="0"/>
              <a:t>달성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프로젝트 방법</a:t>
            </a:r>
            <a:endParaRPr lang="en-US" altLang="ko-KR" smtClean="0"/>
          </a:p>
          <a:p>
            <a:pPr marL="685800" lvl="2">
              <a:spcBef>
                <a:spcPts val="1000"/>
              </a:spcBef>
            </a:pPr>
            <a:r>
              <a:rPr lang="ko-KR" altLang="en-US" smtClean="0"/>
              <a:t>개인에 따라 전체 </a:t>
            </a:r>
            <a:r>
              <a:rPr lang="ko-KR" altLang="en-US"/>
              <a:t>또는 선택과 집중</a:t>
            </a:r>
            <a:endParaRPr lang="en-US" altLang="ko-KR"/>
          </a:p>
          <a:p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19387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개선 포인트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mtClean="0"/>
              <a:t>- </a:t>
            </a:r>
            <a:r>
              <a:rPr lang="ko-KR" altLang="en-US" smtClean="0"/>
              <a:t>개선 목표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z="2600" smtClean="0"/>
              <a:t>   . </a:t>
            </a:r>
            <a:r>
              <a:rPr lang="ko-KR" altLang="en-US" sz="2600" smtClean="0"/>
              <a:t>프로그램 모듈화 </a:t>
            </a:r>
            <a:endParaRPr lang="en-US" altLang="ko-KR" sz="2600" smtClean="0"/>
          </a:p>
          <a:p>
            <a:pPr marL="0" indent="0">
              <a:buNone/>
            </a:pPr>
            <a:r>
              <a:rPr lang="en-US" altLang="ko-KR" sz="2600" smtClean="0"/>
              <a:t>   . </a:t>
            </a:r>
            <a:r>
              <a:rPr lang="ko-KR" altLang="en-US" sz="2600" smtClean="0"/>
              <a:t>세션관리 </a:t>
            </a:r>
            <a:r>
              <a:rPr lang="en-US" altLang="ko-KR" sz="2600" smtClean="0"/>
              <a:t>– </a:t>
            </a:r>
            <a:r>
              <a:rPr lang="en-US" altLang="ko-KR" sz="2400" smtClean="0"/>
              <a:t>SQLAlchemy </a:t>
            </a:r>
            <a:r>
              <a:rPr lang="ko-KR" altLang="en-US" sz="2400" smtClean="0"/>
              <a:t>세션</a:t>
            </a:r>
            <a:r>
              <a:rPr lang="en-US" altLang="ko-KR" sz="2400" smtClean="0"/>
              <a:t>, </a:t>
            </a:r>
            <a:r>
              <a:rPr lang="ko-KR" altLang="en-US" sz="2400" smtClean="0"/>
              <a:t>클라이언트 세션 관리 </a:t>
            </a:r>
            <a:endParaRPr lang="en-US" altLang="ko-KR" sz="2600"/>
          </a:p>
          <a:p>
            <a:pPr marL="0" indent="0">
              <a:buNone/>
            </a:pPr>
            <a:r>
              <a:rPr lang="en-US" altLang="ko-KR" sz="2600" smtClean="0"/>
              <a:t>   . </a:t>
            </a:r>
            <a:r>
              <a:rPr lang="en-US" altLang="ko-KR" sz="2600"/>
              <a:t>RAG</a:t>
            </a:r>
            <a:r>
              <a:rPr lang="ko-KR" altLang="en-US" sz="2600"/>
              <a:t>문서 관리를 자유롭게 저장 및 제외 </a:t>
            </a:r>
          </a:p>
          <a:p>
            <a:pPr marL="0" indent="0">
              <a:buNone/>
            </a:pPr>
            <a:r>
              <a:rPr lang="ko-KR" altLang="en-US" sz="2600"/>
              <a:t>   </a:t>
            </a:r>
            <a:r>
              <a:rPr lang="en-US" altLang="ko-KR" sz="2600"/>
              <a:t>. </a:t>
            </a:r>
            <a:r>
              <a:rPr lang="ko-KR" altLang="en-US" sz="2600"/>
              <a:t>멀티 </a:t>
            </a:r>
            <a:r>
              <a:rPr lang="en-US" altLang="ko-KR" sz="2600"/>
              <a:t>LLM(</a:t>
            </a:r>
            <a:r>
              <a:rPr lang="ko-KR" altLang="en-US" sz="2600"/>
              <a:t>클라우드 기반 </a:t>
            </a:r>
            <a:r>
              <a:rPr lang="en-US" altLang="ko-KR" sz="2600"/>
              <a:t>2</a:t>
            </a:r>
            <a:r>
              <a:rPr lang="ko-KR" altLang="en-US" sz="2600"/>
              <a:t>개</a:t>
            </a:r>
            <a:r>
              <a:rPr lang="en-US" altLang="ko-KR" sz="2600"/>
              <a:t>(chatGPT, palm2), </a:t>
            </a:r>
            <a:r>
              <a:rPr lang="en-US" altLang="ko-KR" sz="2600" smtClean="0"/>
              <a:t> sLLM </a:t>
            </a:r>
            <a:r>
              <a:rPr lang="ko-KR" altLang="en-US" sz="2600" smtClean="0"/>
              <a:t>선정 필요</a:t>
            </a:r>
            <a:endParaRPr lang="ko-KR" altLang="en-US" sz="2600"/>
          </a:p>
          <a:p>
            <a:pPr marL="0" indent="0">
              <a:buNone/>
            </a:pPr>
            <a:r>
              <a:rPr lang="ko-KR" altLang="en-US" sz="2600"/>
              <a:t>   </a:t>
            </a:r>
            <a:r>
              <a:rPr lang="en-US" altLang="ko-KR" sz="2600"/>
              <a:t>. LLM </a:t>
            </a:r>
            <a:r>
              <a:rPr lang="ko-KR" altLang="en-US" sz="2600"/>
              <a:t>성능 비교</a:t>
            </a:r>
          </a:p>
          <a:p>
            <a:pPr marL="0" indent="0">
              <a:buNone/>
            </a:pPr>
            <a:r>
              <a:rPr lang="ko-KR" altLang="en-US" sz="2600"/>
              <a:t>   </a:t>
            </a:r>
            <a:r>
              <a:rPr lang="en-US" altLang="ko-KR" sz="2600"/>
              <a:t>. </a:t>
            </a:r>
            <a:r>
              <a:rPr lang="ko-KR" altLang="en-US" sz="2600"/>
              <a:t>임베딩 업그레이드</a:t>
            </a:r>
          </a:p>
          <a:p>
            <a:pPr marL="0" indent="0">
              <a:buNone/>
            </a:pPr>
            <a:r>
              <a:rPr lang="ko-KR" altLang="en-US" sz="2600"/>
              <a:t>   </a:t>
            </a:r>
            <a:r>
              <a:rPr lang="en-US" altLang="ko-KR" sz="2600"/>
              <a:t>. </a:t>
            </a:r>
            <a:r>
              <a:rPr lang="ko-KR" altLang="en-US" sz="2600"/>
              <a:t>프럼프트 튜닝 </a:t>
            </a:r>
          </a:p>
          <a:p>
            <a:pPr marL="0" indent="0">
              <a:buNone/>
            </a:pPr>
            <a:r>
              <a:rPr lang="ko-KR" altLang="en-US" sz="2600"/>
              <a:t>   </a:t>
            </a:r>
            <a:r>
              <a:rPr lang="en-US" altLang="ko-KR" sz="2600"/>
              <a:t>. </a:t>
            </a:r>
            <a:r>
              <a:rPr lang="ko-KR" altLang="en-US" sz="2600"/>
              <a:t>다양한 형태의 문서에 대해 </a:t>
            </a:r>
            <a:r>
              <a:rPr lang="en-US" altLang="ko-KR" sz="2600"/>
              <a:t>QA</a:t>
            </a:r>
            <a:r>
              <a:rPr lang="ko-KR" altLang="en-US" sz="2600"/>
              <a:t>처리 </a:t>
            </a:r>
            <a:r>
              <a:rPr lang="en-US" altLang="ko-KR" sz="2600"/>
              <a:t>(PPT, text, word, pdf, excel </a:t>
            </a:r>
            <a:r>
              <a:rPr lang="ko-KR" altLang="en-US" sz="2600"/>
              <a:t>등</a:t>
            </a:r>
            <a:r>
              <a:rPr lang="en-US" altLang="ko-KR" sz="2600"/>
              <a:t>) </a:t>
            </a:r>
          </a:p>
          <a:p>
            <a:pPr marL="0" indent="0">
              <a:buNone/>
            </a:pPr>
            <a:r>
              <a:rPr lang="en-US" altLang="ko-KR" sz="2600"/>
              <a:t>   . sLLM </a:t>
            </a:r>
            <a:r>
              <a:rPr lang="ko-KR" altLang="en-US" sz="2600"/>
              <a:t>경량화 </a:t>
            </a:r>
            <a:r>
              <a:rPr lang="en-US" altLang="ko-KR" sz="2600" smtClean="0"/>
              <a:t>- </a:t>
            </a:r>
            <a:r>
              <a:rPr lang="ko-KR" altLang="en-US" sz="2400"/>
              <a:t>LORA</a:t>
            </a:r>
            <a:endParaRPr lang="ko-KR" altLang="en-US" sz="2600"/>
          </a:p>
          <a:p>
            <a:pPr marL="0" indent="0">
              <a:buNone/>
            </a:pPr>
            <a:r>
              <a:rPr lang="ko-KR" altLang="en-US" sz="2600"/>
              <a:t>   </a:t>
            </a:r>
            <a:r>
              <a:rPr lang="en-US" altLang="ko-KR" sz="2600"/>
              <a:t>. sLLM </a:t>
            </a:r>
            <a:r>
              <a:rPr lang="ko-KR" altLang="en-US" sz="2600"/>
              <a:t>파인튜닝 </a:t>
            </a:r>
            <a:endParaRPr lang="en-US" altLang="ko-KR" sz="2600" smtClean="0"/>
          </a:p>
          <a:p>
            <a:pPr marL="0" indent="0">
              <a:buNone/>
            </a:pPr>
            <a:endParaRPr lang="ko-KR" altLang="en-US" sz="260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프로젝트 및 기술스택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/>
              <a:t>o </a:t>
            </a:r>
            <a:r>
              <a:rPr lang="ko-KR" altLang="en-US" smtClean="0"/>
              <a:t>프로젝트명</a:t>
            </a:r>
            <a:r>
              <a:rPr lang="en-US" altLang="ko-KR"/>
              <a:t>: </a:t>
            </a:r>
            <a:r>
              <a:rPr lang="ko-KR" altLang="en-US"/>
              <a:t>업무 질의 </a:t>
            </a:r>
            <a:r>
              <a:rPr lang="en-US" altLang="ko-KR"/>
              <a:t>Q&amp;A</a:t>
            </a:r>
            <a:r>
              <a:rPr lang="ko-KR" altLang="en-US"/>
              <a:t>봇</a:t>
            </a:r>
          </a:p>
          <a:p>
            <a:pPr marL="0" indent="0">
              <a:buNone/>
            </a:pPr>
            <a:r>
              <a:rPr lang="en-US" altLang="ko-KR"/>
              <a:t>- 1</a:t>
            </a:r>
            <a:r>
              <a:rPr lang="ko-KR" altLang="en-US"/>
              <a:t>차 프로젝트 기간</a:t>
            </a:r>
            <a:r>
              <a:rPr lang="en-US" altLang="ko-KR"/>
              <a:t>: 2</a:t>
            </a:r>
            <a:r>
              <a:rPr lang="ko-KR" altLang="en-US"/>
              <a:t>월 중순 </a:t>
            </a:r>
            <a:r>
              <a:rPr lang="en-US" altLang="ko-KR"/>
              <a:t>~ 5</a:t>
            </a:r>
            <a:r>
              <a:rPr lang="ko-KR" altLang="en-US"/>
              <a:t>월 말</a:t>
            </a:r>
          </a:p>
          <a:p>
            <a:pPr marL="0" indent="0">
              <a:buNone/>
            </a:pPr>
            <a:r>
              <a:rPr lang="en-US" altLang="ko-KR"/>
              <a:t>o  </a:t>
            </a:r>
            <a:r>
              <a:rPr lang="ko-KR" altLang="en-US"/>
              <a:t>기술 스택</a:t>
            </a:r>
          </a:p>
          <a:p>
            <a:pPr marL="0" indent="0">
              <a:buNone/>
            </a:pPr>
            <a:r>
              <a:rPr lang="en-US" altLang="ko-KR"/>
              <a:t>- LLM (</a:t>
            </a:r>
            <a:r>
              <a:rPr lang="ko-KR" altLang="en-US"/>
              <a:t>클라우드 기반</a:t>
            </a:r>
            <a:r>
              <a:rPr lang="en-US" altLang="ko-KR"/>
              <a:t>: ChatGPT, Palm2, </a:t>
            </a:r>
            <a:r>
              <a:rPr lang="ko-KR" altLang="en-US"/>
              <a:t>선택 중인 </a:t>
            </a:r>
            <a:r>
              <a:rPr lang="en-US" altLang="ko-KR"/>
              <a:t>sLLM)</a:t>
            </a:r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파이썬</a:t>
            </a:r>
          </a:p>
          <a:p>
            <a:pPr marL="0" indent="0">
              <a:buNone/>
            </a:pPr>
            <a:r>
              <a:rPr lang="en-US" altLang="ko-KR"/>
              <a:t>- RAG (ChromaDB)</a:t>
            </a:r>
          </a:p>
          <a:p>
            <a:pPr marL="0" indent="0">
              <a:buNone/>
            </a:pPr>
            <a:r>
              <a:rPr lang="en-US" altLang="ko-KR"/>
              <a:t>- Langchain</a:t>
            </a:r>
          </a:p>
          <a:p>
            <a:pPr marL="0" indent="0">
              <a:buNone/>
            </a:pPr>
            <a:r>
              <a:rPr lang="en-US" altLang="ko-KR"/>
              <a:t>- FastAPI</a:t>
            </a:r>
          </a:p>
          <a:p>
            <a:pPr marL="0" indent="0">
              <a:buNone/>
            </a:pPr>
            <a:r>
              <a:rPr lang="en-US" altLang="ko-KR"/>
              <a:t>- SQLAlchemy</a:t>
            </a:r>
          </a:p>
          <a:p>
            <a:pPr marL="0" indent="0">
              <a:buNone/>
            </a:pPr>
            <a:r>
              <a:rPr lang="en-US" altLang="ko-KR"/>
              <a:t>- MySQL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6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임베딩 </a:t>
            </a:r>
            <a:r>
              <a:rPr lang="en-US" altLang="ko-KR" smtClean="0"/>
              <a:t>– </a:t>
            </a:r>
            <a:r>
              <a:rPr lang="ko-KR" altLang="en-US" smtClean="0"/>
              <a:t>비용들지 않는 임베딩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024"/>
            <a:ext cx="6200984" cy="343408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97376"/>
            <a:ext cx="6006155" cy="107632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745" y="1690688"/>
            <a:ext cx="5418880" cy="166797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995" y="3542915"/>
            <a:ext cx="6240852" cy="68022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836289" y="173593"/>
            <a:ext cx="3891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https://yongeekd01.tistory.com/100</a:t>
            </a:r>
          </a:p>
        </p:txBody>
      </p:sp>
    </p:spTree>
    <p:extLst>
      <p:ext uri="{BB962C8B-B14F-4D97-AF65-F5344CB8AC3E}">
        <p14:creationId xmlns:p14="http://schemas.microsoft.com/office/powerpoint/2010/main" val="21819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mtClean="0"/>
              <a:t>RAG </a:t>
            </a:r>
            <a:r>
              <a:rPr lang="ko-KR" altLang="en-US" smtClean="0"/>
              <a:t>예제</a:t>
            </a:r>
            <a:r>
              <a:rPr lang="en-US" altLang="ko-KR" smtClean="0"/>
              <a:t>: </a:t>
            </a:r>
            <a:r>
              <a:rPr lang="ko-KR" altLang="en-US" smtClean="0"/>
              <a:t>여러 문서 </a:t>
            </a:r>
            <a:r>
              <a:rPr lang="en-US" altLang="ko-KR" smtClean="0"/>
              <a:t>RAG</a:t>
            </a:r>
            <a:r>
              <a:rPr lang="ko-KR" altLang="en-US" smtClean="0"/>
              <a:t>저장 및 </a:t>
            </a:r>
            <a:r>
              <a:rPr lang="en-US" altLang="ko-KR" smtClean="0"/>
              <a:t>Q&amp;A</a:t>
            </a:r>
            <a:r>
              <a:rPr lang="ko-KR" altLang="en-US" smtClean="0"/>
              <a:t>봇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300" smtClean="0"/>
              <a:t/>
            </a:r>
            <a:br>
              <a:rPr lang="en-US" altLang="ko-KR" sz="1300" smtClean="0"/>
            </a:br>
            <a:endParaRPr lang="ko-KR" altLang="en-US" sz="1300"/>
          </a:p>
        </p:txBody>
      </p:sp>
      <p:sp>
        <p:nvSpPr>
          <p:cNvPr id="4" name="직사각형 3"/>
          <p:cNvSpPr/>
          <p:nvPr/>
        </p:nvSpPr>
        <p:spPr>
          <a:xfrm>
            <a:off x="5359235" y="142701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smtClean="0">
                <a:latin typeface="IBM Plex Mono"/>
              </a:rPr>
              <a:t># </a:t>
            </a:r>
            <a:r>
              <a:rPr lang="ko-KR" altLang="en-US" sz="1400" smtClean="0">
                <a:latin typeface="IBM Plex Mono"/>
              </a:rPr>
              <a:t>읽기 </a:t>
            </a:r>
            <a:r>
              <a:rPr lang="en-US" altLang="ko-KR" sz="1400" smtClean="0">
                <a:latin typeface="IBM Plex Mono"/>
              </a:rPr>
              <a:t>/ </a:t>
            </a:r>
            <a:r>
              <a:rPr lang="ko-KR" altLang="en-US" sz="1400" smtClean="0">
                <a:latin typeface="IBM Plex Mono"/>
              </a:rPr>
              <a:t>예측 파트 </a:t>
            </a:r>
            <a:r>
              <a:rPr lang="en-US" altLang="ko-KR" sz="1400" smtClean="0">
                <a:latin typeface="IBM Plex Mono"/>
              </a:rPr>
              <a:t> </a:t>
            </a:r>
            <a:endParaRPr lang="ko-KR" altLang="en-US" sz="1400"/>
          </a:p>
        </p:txBody>
      </p:sp>
      <p:sp>
        <p:nvSpPr>
          <p:cNvPr id="5" name="직사각형 4"/>
          <p:cNvSpPr/>
          <p:nvPr/>
        </p:nvSpPr>
        <p:spPr>
          <a:xfrm>
            <a:off x="323850" y="1771025"/>
            <a:ext cx="455295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# </a:t>
            </a:r>
            <a:r>
              <a:rPr lang="ko-KR" altLang="en-US" smtClean="0"/>
              <a:t>저장 파트</a:t>
            </a:r>
            <a:endParaRPr lang="en-US" altLang="ko-KR" smtClean="0"/>
          </a:p>
          <a:p>
            <a:r>
              <a:rPr lang="en-US" altLang="ko-KR" sz="1200" smtClean="0"/>
              <a:t>loader </a:t>
            </a:r>
            <a:r>
              <a:rPr lang="en-US" altLang="ko-KR" sz="1200"/>
              <a:t>= DirectoryLoader('./articles', glob="*.txt", loader_cls=TextLoader)</a:t>
            </a:r>
          </a:p>
          <a:p>
            <a:r>
              <a:rPr lang="en-US" altLang="ko-KR" sz="1200"/>
              <a:t/>
            </a:r>
            <a:br>
              <a:rPr lang="en-US" altLang="ko-KR" sz="1200"/>
            </a:br>
            <a:r>
              <a:rPr lang="en-US" altLang="ko-KR" sz="1200"/>
              <a:t>documents = loader.load</a:t>
            </a:r>
            <a:r>
              <a:rPr lang="en-US" altLang="ko-KR" sz="1200" smtClean="0"/>
              <a:t>()</a:t>
            </a:r>
          </a:p>
          <a:p>
            <a:endParaRPr lang="en-US" altLang="ko-KR" sz="1200"/>
          </a:p>
          <a:p>
            <a:r>
              <a:rPr lang="en-US" altLang="ko-KR" sz="1200"/>
              <a:t>text_splitter = RecursiveCharacterTextSplitter(chunk_size=1000, chunk_overlap=200)</a:t>
            </a:r>
          </a:p>
          <a:p>
            <a:r>
              <a:rPr lang="en-US" altLang="ko-KR" sz="1200"/>
              <a:t>texts = text_splitter.split_documents(documents)</a:t>
            </a:r>
          </a:p>
          <a:p>
            <a:endParaRPr lang="en-US" altLang="ko-KR" sz="1200" smtClean="0"/>
          </a:p>
          <a:p>
            <a:r>
              <a:rPr lang="en-US" altLang="ko-KR" sz="1200"/>
              <a:t>persist_directory = 'db'</a:t>
            </a:r>
          </a:p>
          <a:p>
            <a:endParaRPr lang="en-US" altLang="ko-KR" sz="1200"/>
          </a:p>
          <a:p>
            <a:r>
              <a:rPr lang="en-US" altLang="ko-KR" sz="1200"/>
              <a:t>embedding = OpenAIEmbeddings()</a:t>
            </a:r>
          </a:p>
          <a:p>
            <a:endParaRPr lang="en-US" altLang="ko-KR" sz="1200"/>
          </a:p>
          <a:p>
            <a:r>
              <a:rPr lang="en-US" altLang="ko-KR" sz="1200"/>
              <a:t>vectordb = Chroma.from_documents(</a:t>
            </a:r>
          </a:p>
          <a:p>
            <a:r>
              <a:rPr lang="en-US" altLang="ko-KR" sz="1200"/>
              <a:t>    documents=texts, </a:t>
            </a:r>
          </a:p>
          <a:p>
            <a:r>
              <a:rPr lang="en-US" altLang="ko-KR" sz="1200"/>
              <a:t>    embedding=embedding,</a:t>
            </a:r>
          </a:p>
          <a:p>
            <a:r>
              <a:rPr lang="en-US" altLang="ko-KR" sz="1200"/>
              <a:t>    persist_directory=persist_directory)</a:t>
            </a:r>
          </a:p>
          <a:p>
            <a:endParaRPr lang="en-US" altLang="ko-KR" sz="1200"/>
          </a:p>
          <a:p>
            <a:r>
              <a:rPr lang="en-US" altLang="ko-KR" sz="1200"/>
              <a:t>vectordb.persist()</a:t>
            </a:r>
          </a:p>
          <a:p>
            <a:r>
              <a:rPr lang="en-US" altLang="ko-KR" sz="1200"/>
              <a:t>vectordb = None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122160" y="84732"/>
            <a:ext cx="51213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smtClean="0"/>
              <a:t>참조</a:t>
            </a:r>
            <a:r>
              <a:rPr lang="en-US" altLang="ko-KR" sz="1000" smtClean="0"/>
              <a:t>: </a:t>
            </a:r>
            <a:r>
              <a:rPr lang="ko-KR" altLang="en-US" sz="1000" smtClean="0"/>
              <a:t>https</a:t>
            </a:r>
            <a:r>
              <a:rPr lang="ko-KR" altLang="en-US" sz="1000"/>
              <a:t>://docs.trychroma.com/api-reference#methods-related-to-collections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2175" y="1734789"/>
            <a:ext cx="5590120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docs = retriever.get_relevant_documents("What is Generative AI?")</a:t>
            </a:r>
          </a:p>
          <a:p>
            <a:endParaRPr lang="en-US" altLang="ko-KR" sz="1400"/>
          </a:p>
          <a:p>
            <a:r>
              <a:rPr lang="en-US" altLang="ko-KR" sz="1400"/>
              <a:t>for doc in docs:</a:t>
            </a:r>
          </a:p>
          <a:p>
            <a:r>
              <a:rPr lang="en-US" altLang="ko-KR" sz="1400"/>
              <a:t>    print(doc.metadata["source"])</a:t>
            </a:r>
          </a:p>
          <a:p>
            <a:endParaRPr lang="en-US" altLang="ko-KR" sz="1400"/>
          </a:p>
          <a:p>
            <a:r>
              <a:rPr lang="en-US" altLang="ko-KR" sz="1400"/>
              <a:t>qa_chain = RetrievalQA.from_chain_type(</a:t>
            </a:r>
          </a:p>
          <a:p>
            <a:r>
              <a:rPr lang="en-US" altLang="ko-KR" sz="1400"/>
              <a:t>    llm=OpenAI(), </a:t>
            </a:r>
          </a:p>
          <a:p>
            <a:r>
              <a:rPr lang="en-US" altLang="ko-KR" sz="1400"/>
              <a:t>    chain_type="stuff", </a:t>
            </a:r>
          </a:p>
          <a:p>
            <a:r>
              <a:rPr lang="en-US" altLang="ko-KR" sz="1400"/>
              <a:t>    retriever=retriever, </a:t>
            </a:r>
          </a:p>
          <a:p>
            <a:r>
              <a:rPr lang="en-US" altLang="ko-KR" sz="1400"/>
              <a:t>    return_source_documents=True)</a:t>
            </a:r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def process_llm_response(llm_response):</a:t>
            </a:r>
          </a:p>
          <a:p>
            <a:r>
              <a:rPr lang="en-US" altLang="ko-KR" sz="1400"/>
              <a:t>    print(llm_response['result'])</a:t>
            </a:r>
          </a:p>
          <a:p>
            <a:r>
              <a:rPr lang="en-US" altLang="ko-KR" sz="1400"/>
              <a:t>    print('\n\nSources:')</a:t>
            </a:r>
          </a:p>
          <a:p>
            <a:r>
              <a:rPr lang="en-US" altLang="ko-KR" sz="1400"/>
              <a:t>    for source in llm_response["source_documents"]:</a:t>
            </a:r>
          </a:p>
          <a:p>
            <a:r>
              <a:rPr lang="en-US" altLang="ko-KR" sz="1400"/>
              <a:t>        print(source.metadata['source'])</a:t>
            </a:r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query = "How much money did Pando raise?"</a:t>
            </a:r>
          </a:p>
          <a:p>
            <a:r>
              <a:rPr lang="en-US" altLang="ko-KR" sz="1400"/>
              <a:t>llm_response = qa_chain(query)</a:t>
            </a:r>
          </a:p>
          <a:p>
            <a:r>
              <a:rPr lang="en-US" altLang="ko-KR" sz="1400"/>
              <a:t>process_llm_response(llm_response)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5567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RAG </a:t>
            </a:r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 smtClean="0"/>
              <a:t>크로마</a:t>
            </a:r>
            <a:r>
              <a:rPr lang="en-US" altLang="ko-KR" smtClean="0"/>
              <a:t>DB</a:t>
            </a:r>
            <a:r>
              <a:rPr lang="ko-KR" altLang="en-US" smtClean="0"/>
              <a:t> 컬렉션 추가 </a:t>
            </a:r>
            <a:r>
              <a:rPr lang="en-US" altLang="ko-KR" smtClean="0"/>
              <a:t>/ </a:t>
            </a:r>
            <a:r>
              <a:rPr lang="ko-KR" altLang="en-US" smtClean="0"/>
              <a:t>삭제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300" smtClean="0"/>
              <a:t/>
            </a:r>
            <a:br>
              <a:rPr lang="en-US" altLang="ko-KR" sz="1300" smtClean="0"/>
            </a:br>
            <a:r>
              <a:rPr lang="en-US" altLang="ko-KR" sz="1300" smtClean="0"/>
              <a:t> - Langchain </a:t>
            </a:r>
            <a:r>
              <a:rPr lang="ko-KR" altLang="en-US" sz="1300" smtClean="0"/>
              <a:t>기능</a:t>
            </a:r>
            <a:r>
              <a:rPr lang="en-US" altLang="ko-KR" sz="1300" smtClean="0"/>
              <a:t>??</a:t>
            </a:r>
            <a:endParaRPr lang="ko-KR" altLang="en-US" sz="1300"/>
          </a:p>
        </p:txBody>
      </p:sp>
      <p:sp>
        <p:nvSpPr>
          <p:cNvPr id="4" name="직사각형 3"/>
          <p:cNvSpPr/>
          <p:nvPr/>
        </p:nvSpPr>
        <p:spPr>
          <a:xfrm>
            <a:off x="5359235" y="1437172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update items in a collection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collection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update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upsert items. new items will be added, existing items will be updated.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collection.upsert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ids=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"id1"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"id2"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"id3"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...],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embeddings=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1.1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2.3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3.2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4.5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6.9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4.4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1.1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2.3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3.2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...],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metadatas=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"chapter"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"3"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"verse"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"16"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"chapter"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"3"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"verse"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"5"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"chapter"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"29"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"verse"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"11"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...],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documents=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"doc1"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"doc2"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"doc3"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...],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get items from a collection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collection.get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convenience, get first 5 items from a collection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collection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peek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do nearest neighbor search to find similar embeddings or documents, supports filtering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collection.query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query_embeddings=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1.1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2.3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3.2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5.1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4.3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2.2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n_results=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where=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delete items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collection.delete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()</a:t>
            </a:r>
            <a:endParaRPr lang="ko-KR" altLang="en-US" sz="1200"/>
          </a:p>
        </p:txBody>
      </p:sp>
      <p:sp>
        <p:nvSpPr>
          <p:cNvPr id="5" name="직사각형 4"/>
          <p:cNvSpPr/>
          <p:nvPr/>
        </p:nvSpPr>
        <p:spPr>
          <a:xfrm>
            <a:off x="323850" y="1771025"/>
            <a:ext cx="455295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change the name or metadata on a collection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collection.modify(name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=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"testname2"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get the number of items in a collection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collection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count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add new items to a collection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either one at a time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collection.add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embeddings=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1.5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2.9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3.4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metadatas=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"uri"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"img9.png"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documents=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"doc1000101"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ids=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"uri9"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8000"/>
                </a:solidFill>
                <a:latin typeface="IBM Plex Mono"/>
              </a:rPr>
              <a:t># or many, up to 100k+!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FF0000"/>
                </a:solidFill>
                <a:latin typeface="IBM Plex Mono"/>
              </a:rPr>
              <a:t>collection.add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embeddings=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1.5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2.9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3.4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9.8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2.3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98658"/>
                </a:solidFill>
                <a:latin typeface="IBM Plex Mono"/>
              </a:rPr>
              <a:t>2.9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metadatas=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ids=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"uri9"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"uri10"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)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collection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.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add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(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documents=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"doc1000101"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"doc288822"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metadatas=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"style1"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{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: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"style2"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}],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ids=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[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"uri9"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,</a:t>
            </a:r>
            <a:r>
              <a:rPr lang="en-US" altLang="ko-KR" sz="1200">
                <a:solidFill>
                  <a:srgbClr val="000000"/>
                </a:solidFill>
                <a:latin typeface="IBM Plex Mono"/>
              </a:rPr>
              <a:t> </a:t>
            </a:r>
            <a:r>
              <a:rPr lang="en-US" altLang="ko-KR" sz="1200">
                <a:solidFill>
                  <a:srgbClr val="A31515"/>
                </a:solidFill>
                <a:latin typeface="IBM Plex Mono"/>
              </a:rPr>
              <a:t>"uri10"</a:t>
            </a: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],</a:t>
            </a:r>
            <a:r>
              <a:rPr lang="en-US" altLang="ko-KR" sz="1200">
                <a:solidFill>
                  <a:srgbClr val="000000"/>
                </a:solidFill>
                <a:latin typeface="SFMono-Regular"/>
              </a:rPr>
              <a:t/>
            </a:r>
            <a:br>
              <a:rPr lang="en-US" altLang="ko-KR" sz="1200">
                <a:solidFill>
                  <a:srgbClr val="000000"/>
                </a:solidFill>
                <a:latin typeface="SFMono-Regular"/>
              </a:rPr>
            </a:br>
            <a:r>
              <a:rPr lang="en-US" altLang="ko-KR" sz="1200">
                <a:solidFill>
                  <a:srgbClr val="0451A5"/>
                </a:solidFill>
                <a:latin typeface="IBM Plex Mono"/>
              </a:rPr>
              <a:t>)</a:t>
            </a:r>
            <a:endParaRPr lang="ko-KR" altLang="en-US" sz="1200"/>
          </a:p>
        </p:txBody>
      </p:sp>
      <p:sp>
        <p:nvSpPr>
          <p:cNvPr id="6" name="직사각형 5"/>
          <p:cNvSpPr/>
          <p:nvPr/>
        </p:nvSpPr>
        <p:spPr>
          <a:xfrm>
            <a:off x="7574478" y="84733"/>
            <a:ext cx="46689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smtClean="0"/>
              <a:t>참조</a:t>
            </a:r>
            <a:r>
              <a:rPr lang="en-US" altLang="ko-KR" sz="1000" smtClean="0"/>
              <a:t>: </a:t>
            </a:r>
            <a:r>
              <a:rPr lang="ko-KR" altLang="en-US" sz="1000" smtClean="0"/>
              <a:t>https</a:t>
            </a:r>
            <a:r>
              <a:rPr lang="ko-KR" altLang="en-US" sz="1000"/>
              <a:t>://docs.trychroma.com/api-reference#methods-related-to-collections</a:t>
            </a:r>
          </a:p>
        </p:txBody>
      </p:sp>
    </p:spTree>
    <p:extLst>
      <p:ext uri="{BB962C8B-B14F-4D97-AF65-F5344CB8AC3E}">
        <p14:creationId xmlns:p14="http://schemas.microsoft.com/office/powerpoint/2010/main" val="268181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</a:t>
            </a:r>
            <a:r>
              <a:rPr lang="en-US" altLang="ko-KR" smtClean="0"/>
              <a:t>astAPI   1) </a:t>
            </a:r>
            <a:r>
              <a:rPr lang="ko-KR" altLang="en-US" smtClean="0"/>
              <a:t>특징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6050"/>
            <a:ext cx="11144250" cy="4351338"/>
          </a:xfrm>
        </p:spPr>
        <p:txBody>
          <a:bodyPr>
            <a:noAutofit/>
          </a:bodyPr>
          <a:lstStyle/>
          <a:p>
            <a:r>
              <a:rPr lang="en-US" altLang="ko-KR" sz="1600" smtClean="0"/>
              <a:t>Starlette </a:t>
            </a:r>
            <a:r>
              <a:rPr lang="ko-KR" altLang="en-US" sz="1600" smtClean="0"/>
              <a:t>프레임워크 기반으로 비동기 </a:t>
            </a:r>
            <a:r>
              <a:rPr lang="en-US" altLang="ko-KR" sz="1600" smtClean="0"/>
              <a:t>API</a:t>
            </a:r>
            <a:r>
              <a:rPr lang="ko-KR" altLang="en-US" sz="1600" smtClean="0"/>
              <a:t>서버 지원</a:t>
            </a:r>
            <a:endParaRPr lang="en-US" altLang="ko-KR" sz="1600" smtClean="0"/>
          </a:p>
          <a:p>
            <a:endParaRPr lang="en-US" altLang="ko-KR" sz="1600" smtClean="0"/>
          </a:p>
          <a:p>
            <a:r>
              <a:rPr lang="en-US" altLang="ko-KR" sz="1600" smtClean="0"/>
              <a:t>Pydantic </a:t>
            </a:r>
            <a:r>
              <a:rPr lang="ko-KR" altLang="en-US" sz="1600" smtClean="0"/>
              <a:t>라이브러리와의 호환으로 데이터 검증 지원</a:t>
            </a:r>
            <a:endParaRPr lang="en-US" altLang="ko-KR" sz="1600" smtClean="0"/>
          </a:p>
          <a:p>
            <a:endParaRPr lang="en-US" altLang="ko-KR" sz="1600" smtClean="0"/>
          </a:p>
          <a:p>
            <a:r>
              <a:rPr lang="en-US" altLang="ko-KR" sz="1600" smtClean="0"/>
              <a:t>openAPI</a:t>
            </a:r>
            <a:r>
              <a:rPr lang="ko-KR" altLang="en-US" sz="1600" smtClean="0"/>
              <a:t>지원을 통해 자동 </a:t>
            </a:r>
            <a:r>
              <a:rPr lang="en-US" altLang="ko-KR" sz="1600" smtClean="0"/>
              <a:t>Swegger</a:t>
            </a:r>
            <a:r>
              <a:rPr lang="ko-KR" altLang="en-US" sz="1600" smtClean="0"/>
              <a:t> 생성 </a:t>
            </a:r>
            <a:r>
              <a:rPr lang="en-US" altLang="ko-KR" sz="1600" smtClean="0"/>
              <a:t>– API</a:t>
            </a:r>
            <a:r>
              <a:rPr lang="ko-KR" altLang="en-US" sz="1600" smtClean="0"/>
              <a:t>정의서 자동 문서화 </a:t>
            </a:r>
            <a:endParaRPr lang="en-US" altLang="ko-KR" sz="1600" smtClean="0"/>
          </a:p>
          <a:p>
            <a:pPr lvl="1"/>
            <a:r>
              <a:rPr lang="en-US" altLang="ko-KR" sz="1600" smtClean="0"/>
              <a:t>Flask</a:t>
            </a:r>
            <a:r>
              <a:rPr lang="ko-KR" altLang="en-US" sz="1600" smtClean="0"/>
              <a:t>는 </a:t>
            </a:r>
            <a:r>
              <a:rPr lang="en-US" altLang="ko-KR" sz="1600" smtClean="0"/>
              <a:t>OpenAPI </a:t>
            </a:r>
            <a:r>
              <a:rPr lang="ko-KR" altLang="en-US" sz="1600" smtClean="0"/>
              <a:t>지원 않기에 별도 </a:t>
            </a:r>
            <a:r>
              <a:rPr lang="en-US" altLang="ko-KR" sz="1600" smtClean="0"/>
              <a:t>flasgger</a:t>
            </a:r>
            <a:r>
              <a:rPr lang="ko-KR" altLang="en-US" sz="1600" smtClean="0"/>
              <a:t>라는 라이브러리 사용 </a:t>
            </a:r>
            <a:r>
              <a:rPr lang="en-US" altLang="ko-KR" sz="1600" smtClean="0"/>
              <a:t>– </a:t>
            </a:r>
            <a:r>
              <a:rPr lang="ko-KR" altLang="en-US" sz="1600" smtClean="0"/>
              <a:t>업데이트 불편</a:t>
            </a:r>
            <a:endParaRPr lang="en-US" altLang="ko-KR" sz="1600" smtClean="0"/>
          </a:p>
          <a:p>
            <a:endParaRPr lang="en-US" altLang="ko-KR" sz="1600" smtClean="0"/>
          </a:p>
          <a:p>
            <a:r>
              <a:rPr lang="ko-KR" altLang="en-US" sz="1600" smtClean="0"/>
              <a:t>강력한 비동기 라이브러리 제공</a:t>
            </a:r>
            <a:endParaRPr lang="en-US" altLang="ko-KR" sz="1600" smtClean="0"/>
          </a:p>
          <a:p>
            <a:pPr lvl="1"/>
            <a:r>
              <a:rPr lang="en-US" altLang="ko-KR" sz="1600" smtClean="0"/>
              <a:t>Flask</a:t>
            </a:r>
            <a:r>
              <a:rPr lang="ko-KR" altLang="en-US" sz="1600" smtClean="0"/>
              <a:t>는 기본적으로 비동기 지원 않하여 </a:t>
            </a:r>
            <a:r>
              <a:rPr lang="en-US" altLang="ko-KR" sz="1600" smtClean="0"/>
              <a:t>Gevent </a:t>
            </a:r>
            <a:r>
              <a:rPr lang="ko-KR" altLang="en-US" sz="1600" smtClean="0"/>
              <a:t>이용</a:t>
            </a:r>
            <a:r>
              <a:rPr lang="en-US" altLang="ko-KR" sz="1600" smtClean="0"/>
              <a:t>, </a:t>
            </a:r>
            <a:r>
              <a:rPr lang="ko-KR" altLang="en-US" sz="1600" smtClean="0"/>
              <a:t>오버라이드 문제</a:t>
            </a:r>
            <a:r>
              <a:rPr lang="en-US" altLang="ko-KR" sz="1600" smtClean="0"/>
              <a:t>, </a:t>
            </a:r>
            <a:r>
              <a:rPr lang="ko-KR" altLang="en-US" sz="1600" smtClean="0"/>
              <a:t>부작용 발생</a:t>
            </a:r>
            <a:endParaRPr lang="en-US" altLang="ko-KR" sz="1600" smtClean="0"/>
          </a:p>
          <a:p>
            <a:pPr lvl="1"/>
            <a:r>
              <a:rPr lang="en-US" altLang="ko-KR" sz="1600" smtClean="0"/>
              <a:t>uvicon</a:t>
            </a:r>
            <a:r>
              <a:rPr lang="ko-KR" altLang="en-US" sz="1600" smtClean="0"/>
              <a:t>에 </a:t>
            </a:r>
            <a:r>
              <a:rPr lang="en-US" altLang="ko-KR" sz="1600" smtClean="0"/>
              <a:t>uvloop</a:t>
            </a:r>
            <a:r>
              <a:rPr lang="ko-KR" altLang="en-US" sz="1600" smtClean="0"/>
              <a:t>사용시 </a:t>
            </a:r>
            <a:r>
              <a:rPr lang="en-US" altLang="ko-KR" sz="1600" smtClean="0"/>
              <a:t>gevent</a:t>
            </a:r>
            <a:r>
              <a:rPr lang="ko-KR" altLang="en-US" sz="1600" smtClean="0"/>
              <a:t>보다 훨등히 빨름</a:t>
            </a:r>
            <a:endParaRPr lang="en-US" altLang="ko-KR" sz="1600" smtClean="0"/>
          </a:p>
          <a:p>
            <a:endParaRPr lang="en-US" altLang="ko-KR" sz="1600" smtClean="0"/>
          </a:p>
          <a:p>
            <a:r>
              <a:rPr lang="ko-KR" altLang="en-US" sz="1600" smtClean="0"/>
              <a:t>서버를 여러 모듈로 나누고 여러 엔트포인트 묶어서 관리 </a:t>
            </a:r>
            <a:endParaRPr lang="en-US" altLang="ko-KR" sz="1600" smtClean="0"/>
          </a:p>
          <a:p>
            <a:pPr lvl="1"/>
            <a:r>
              <a:rPr lang="en-US" altLang="ko-KR" sz="1600" smtClean="0"/>
              <a:t>Flask</a:t>
            </a:r>
            <a:r>
              <a:rPr lang="ko-KR" altLang="en-US" sz="1600" smtClean="0"/>
              <a:t>의 </a:t>
            </a:r>
            <a:r>
              <a:rPr lang="en-US" altLang="ko-KR" sz="1600" smtClean="0"/>
              <a:t>Blueprint</a:t>
            </a:r>
            <a:r>
              <a:rPr lang="ko-KR" altLang="en-US" sz="1600" smtClean="0"/>
              <a:t>에 해당되는 </a:t>
            </a:r>
            <a:r>
              <a:rPr lang="en-US" altLang="ko-KR" sz="1600" smtClean="0"/>
              <a:t>APIRouter </a:t>
            </a:r>
            <a:r>
              <a:rPr lang="ko-KR" altLang="en-US" sz="1600" smtClean="0"/>
              <a:t>제공</a:t>
            </a:r>
            <a:endParaRPr lang="en-US" altLang="ko-KR" sz="1600" smtClean="0"/>
          </a:p>
          <a:p>
            <a:endParaRPr lang="en-US" altLang="ko-KR" sz="1000" smtClean="0"/>
          </a:p>
        </p:txBody>
      </p:sp>
      <p:sp>
        <p:nvSpPr>
          <p:cNvPr id="4" name="직사각형 3"/>
          <p:cNvSpPr/>
          <p:nvPr/>
        </p:nvSpPr>
        <p:spPr>
          <a:xfrm>
            <a:off x="7898351" y="6094452"/>
            <a:ext cx="41793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1: https</a:t>
            </a:r>
            <a:r>
              <a:rPr lang="en-US" altLang="ko-KR" sz="1000" b="1">
                <a:solidFill>
                  <a:srgbClr val="1C1E21"/>
                </a:solidFill>
                <a:latin typeface="system-ui"/>
              </a:rPr>
              <a:t>://tech.madup.com/FastAPI/?utm_source=oneoneone</a:t>
            </a:r>
          </a:p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2: 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  <a:hlinkClick r:id="rId2"/>
              </a:rPr>
              <a:t>https</a:t>
            </a:r>
            <a:r>
              <a:rPr lang="en-US" altLang="ko-KR" sz="1000" b="1">
                <a:solidFill>
                  <a:srgbClr val="1C1E21"/>
                </a:solidFill>
                <a:latin typeface="system-ui"/>
                <a:hlinkClick r:id="rId2"/>
              </a:rPr>
              <a:t>://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  <a:hlinkClick r:id="rId2"/>
              </a:rPr>
              <a:t>blog.hops.pub/flask-to-fast-api</a:t>
            </a:r>
            <a:endParaRPr lang="en-US" altLang="ko-KR" sz="1000" b="1" smtClean="0">
              <a:solidFill>
                <a:srgbClr val="1C1E21"/>
              </a:solidFill>
              <a:latin typeface="system-ui"/>
            </a:endParaRPr>
          </a:p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3: DI</a:t>
            </a:r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중심 설계 </a:t>
            </a:r>
            <a:r>
              <a:rPr lang="en-US" altLang="ko-KR" sz="1000" b="1">
                <a:solidFill>
                  <a:srgbClr val="1C1E21"/>
                </a:solidFill>
                <a:latin typeface="system-ui"/>
              </a:rPr>
              <a:t>: https://planb.hashnode.dev/fastapi-flask</a:t>
            </a:r>
            <a:endParaRPr lang="ko-KR" altLang="en-US" sz="1000" b="1">
              <a:solidFill>
                <a:srgbClr val="1C1E21"/>
              </a:solidFill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945336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</a:t>
            </a:r>
            <a:r>
              <a:rPr lang="en-US" altLang="ko-KR" smtClean="0"/>
              <a:t>astAPI   1) </a:t>
            </a:r>
            <a:r>
              <a:rPr lang="ko-KR" altLang="en-US" smtClean="0"/>
              <a:t>특징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6050"/>
            <a:ext cx="11144250" cy="4351338"/>
          </a:xfrm>
        </p:spPr>
        <p:txBody>
          <a:bodyPr>
            <a:noAutofit/>
          </a:bodyPr>
          <a:lstStyle/>
          <a:p>
            <a:r>
              <a:rPr lang="ko-KR" altLang="en-US" sz="1800" smtClean="0"/>
              <a:t>경로 파라미터와 </a:t>
            </a:r>
            <a:r>
              <a:rPr lang="en-US" altLang="ko-KR" sz="1800" smtClean="0"/>
              <a:t>URL</a:t>
            </a:r>
            <a:r>
              <a:rPr lang="ko-KR" altLang="en-US" sz="1800" smtClean="0"/>
              <a:t>파라미터 제공</a:t>
            </a:r>
            <a:endParaRPr lang="en-US" altLang="ko-KR" sz="1800" smtClean="0"/>
          </a:p>
          <a:p>
            <a:pPr lvl="1"/>
            <a:r>
              <a:rPr lang="en-US" altLang="ko-KR" sz="1800" smtClean="0"/>
              <a:t>URL</a:t>
            </a:r>
            <a:r>
              <a:rPr lang="ko-KR" altLang="en-US" sz="1800" smtClean="0"/>
              <a:t>파라미터의 타입을 타입힌트로 지정하여</a:t>
            </a:r>
            <a:r>
              <a:rPr lang="en-US" altLang="ko-KR" sz="1800" smtClean="0"/>
              <a:t>, </a:t>
            </a:r>
            <a:r>
              <a:rPr lang="ko-KR" altLang="en-US" sz="1800" smtClean="0"/>
              <a:t>타입 검사 실패시 에러 발생해줌</a:t>
            </a:r>
            <a:endParaRPr lang="en-US" altLang="ko-KR" sz="1800" smtClean="0"/>
          </a:p>
          <a:p>
            <a:endParaRPr lang="en-US" altLang="ko-KR" sz="1800" smtClean="0"/>
          </a:p>
          <a:p>
            <a:r>
              <a:rPr lang="en-US" altLang="ko-KR" sz="1800" smtClean="0"/>
              <a:t>DI(Dependency Injection</a:t>
            </a:r>
            <a:r>
              <a:rPr lang="ko-KR" altLang="en-US" sz="1800" smtClean="0"/>
              <a:t>패턴</a:t>
            </a:r>
            <a:r>
              <a:rPr lang="en-US" altLang="ko-KR" sz="1800" smtClean="0"/>
              <a:t>)</a:t>
            </a:r>
            <a:r>
              <a:rPr lang="ko-KR" altLang="en-US" sz="1800" smtClean="0"/>
              <a:t>중심 설계로 재사용성과 확장성 증가</a:t>
            </a:r>
            <a:endParaRPr lang="en-US" altLang="ko-KR" sz="1800" smtClean="0"/>
          </a:p>
          <a:p>
            <a:pPr lvl="1"/>
            <a:r>
              <a:rPr lang="en-US" altLang="ko-KR" sz="1800"/>
              <a:t> ex) Flask : title = payload["title</a:t>
            </a:r>
            <a:r>
              <a:rPr lang="en-US" altLang="ko-KR" sz="1800" smtClean="0"/>
              <a:t>"]   </a:t>
            </a:r>
            <a:r>
              <a:rPr lang="en-US" altLang="ko-KR" sz="1800" smtClean="0">
                <a:sym typeface="Wingdings" panose="05000000000000000000" pitchFamily="2" charset="2"/>
              </a:rPr>
              <a:t> </a:t>
            </a:r>
            <a:r>
              <a:rPr lang="ko-KR" altLang="en-US" sz="1800" smtClean="0">
                <a:sym typeface="Wingdings" panose="05000000000000000000" pitchFamily="2" charset="2"/>
              </a:rPr>
              <a:t>전역변수 사용 </a:t>
            </a:r>
            <a:r>
              <a:rPr lang="en-US" altLang="ko-KR" sz="1800">
                <a:sym typeface="Wingdings" panose="05000000000000000000" pitchFamily="2" charset="2"/>
              </a:rPr>
              <a:t>payload = request.json  # &lt;--</a:t>
            </a:r>
            <a:endParaRPr lang="en-US" altLang="ko-KR" sz="1800" smtClean="0"/>
          </a:p>
          <a:p>
            <a:pPr lvl="1"/>
            <a:r>
              <a:rPr lang="en-US" altLang="ko-KR" sz="1800" smtClean="0"/>
              <a:t>ex) FastAPI :  </a:t>
            </a:r>
          </a:p>
          <a:p>
            <a:pPr marL="457200" lvl="1" indent="0">
              <a:buNone/>
            </a:pPr>
            <a:r>
              <a:rPr lang="en-US" altLang="ko-KR" sz="1800" smtClean="0"/>
              <a:t>         def </a:t>
            </a:r>
            <a:r>
              <a:rPr lang="en-US" altLang="ko-KR" sz="1800"/>
              <a:t>create_post(post: Post):  # &lt;--</a:t>
            </a:r>
          </a:p>
          <a:p>
            <a:pPr marL="457200" lvl="1" indent="0">
              <a:buNone/>
            </a:pPr>
            <a:r>
              <a:rPr lang="en-US" altLang="ko-KR" sz="1800"/>
              <a:t>   </a:t>
            </a:r>
            <a:r>
              <a:rPr lang="en-US" altLang="ko-KR" sz="1800" smtClean="0"/>
              <a:t>            title </a:t>
            </a:r>
            <a:r>
              <a:rPr lang="en-US" altLang="ko-KR" sz="1800"/>
              <a:t>= post.title</a:t>
            </a:r>
          </a:p>
          <a:p>
            <a:pPr marL="457200" lvl="1" indent="0">
              <a:buNone/>
            </a:pPr>
            <a:r>
              <a:rPr lang="en-US" altLang="ko-KR" sz="1800"/>
              <a:t>    </a:t>
            </a:r>
            <a:r>
              <a:rPr lang="en-US" altLang="ko-KR" sz="1800" smtClean="0"/>
              <a:t>           content </a:t>
            </a:r>
            <a:r>
              <a:rPr lang="en-US" altLang="ko-KR" sz="1800"/>
              <a:t>= post.content</a:t>
            </a:r>
            <a:endParaRPr lang="ko-KR" altLang="en-US" sz="3200"/>
          </a:p>
        </p:txBody>
      </p:sp>
      <p:sp>
        <p:nvSpPr>
          <p:cNvPr id="4" name="직사각형 3"/>
          <p:cNvSpPr/>
          <p:nvPr/>
        </p:nvSpPr>
        <p:spPr>
          <a:xfrm>
            <a:off x="7898351" y="6094452"/>
            <a:ext cx="41793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1: https</a:t>
            </a:r>
            <a:r>
              <a:rPr lang="en-US" altLang="ko-KR" sz="1000" b="1">
                <a:solidFill>
                  <a:srgbClr val="1C1E21"/>
                </a:solidFill>
                <a:latin typeface="system-ui"/>
              </a:rPr>
              <a:t>://tech.madup.com/FastAPI/?utm_source=oneoneone</a:t>
            </a:r>
          </a:p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2: 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  <a:hlinkClick r:id="rId2"/>
              </a:rPr>
              <a:t>https</a:t>
            </a:r>
            <a:r>
              <a:rPr lang="en-US" altLang="ko-KR" sz="1000" b="1">
                <a:solidFill>
                  <a:srgbClr val="1C1E21"/>
                </a:solidFill>
                <a:latin typeface="system-ui"/>
                <a:hlinkClick r:id="rId2"/>
              </a:rPr>
              <a:t>://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  <a:hlinkClick r:id="rId2"/>
              </a:rPr>
              <a:t>blog.hops.pub/flask-to-fast-api</a:t>
            </a:r>
            <a:endParaRPr lang="en-US" altLang="ko-KR" sz="1000" b="1" smtClean="0">
              <a:solidFill>
                <a:srgbClr val="1C1E21"/>
              </a:solidFill>
              <a:latin typeface="system-ui"/>
            </a:endParaRPr>
          </a:p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3: DI</a:t>
            </a:r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중심 설계 </a:t>
            </a:r>
            <a:r>
              <a:rPr lang="en-US" altLang="ko-KR" sz="1000" b="1">
                <a:solidFill>
                  <a:srgbClr val="1C1E21"/>
                </a:solidFill>
                <a:latin typeface="system-ui"/>
              </a:rPr>
              <a:t>: https://planb.hashnode.dev/fastapi-flask</a:t>
            </a:r>
            <a:endParaRPr lang="ko-KR" altLang="en-US" sz="1000" b="1">
              <a:solidFill>
                <a:srgbClr val="1C1E21"/>
              </a:solidFill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49156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fastAPI   2) Flask</a:t>
            </a:r>
            <a:r>
              <a:rPr lang="ko-KR" altLang="en-US" smtClean="0"/>
              <a:t>와 비교 </a:t>
            </a:r>
            <a:r>
              <a:rPr lang="en-US" altLang="ko-KR" smtClean="0"/>
              <a:t>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6050"/>
            <a:ext cx="11144250" cy="4351338"/>
          </a:xfrm>
        </p:spPr>
        <p:txBody>
          <a:bodyPr>
            <a:noAutofit/>
          </a:bodyPr>
          <a:lstStyle/>
          <a:p>
            <a:r>
              <a:rPr lang="en-US" altLang="ko-KR" sz="1400" smtClean="0"/>
              <a:t>Flask: </a:t>
            </a:r>
            <a:r>
              <a:rPr lang="ko-KR" altLang="en-US" sz="1400" smtClean="0"/>
              <a:t>설정이나 </a:t>
            </a:r>
            <a:r>
              <a:rPr lang="en-US" altLang="ko-KR" sz="1400" smtClean="0"/>
              <a:t>SQLAlchemy </a:t>
            </a:r>
            <a:r>
              <a:rPr lang="ko-KR" altLang="en-US" sz="1400" smtClean="0"/>
              <a:t>연결 등을 글로벌 컨텍스트로 만들어서 엔드포인트에서 가져다 쓸수 있도록 구현</a:t>
            </a:r>
            <a:endParaRPr lang="en-US" altLang="ko-KR" sz="1400" smtClean="0"/>
          </a:p>
          <a:p>
            <a:r>
              <a:rPr lang="en-US" altLang="ko-KR" sz="1400" smtClean="0"/>
              <a:t>FastAPI</a:t>
            </a:r>
            <a:r>
              <a:rPr lang="ko-KR" altLang="en-US" sz="1400" smtClean="0"/>
              <a:t>에서는 디펜던시 인젝션 개념으ㅡㄹ 사용하여</a:t>
            </a:r>
            <a:r>
              <a:rPr lang="en-US" altLang="ko-KR" sz="1400" smtClean="0"/>
              <a:t>, </a:t>
            </a:r>
            <a:r>
              <a:rPr lang="ko-KR" altLang="en-US" sz="1400" smtClean="0"/>
              <a:t>함수 파라미터로 받아 처리</a:t>
            </a:r>
            <a:endParaRPr lang="en-US" altLang="ko-KR" sz="1400" smtClean="0"/>
          </a:p>
          <a:p>
            <a:endParaRPr lang="en-US" altLang="ko-KR" sz="1400"/>
          </a:p>
          <a:p>
            <a:endParaRPr lang="en-US" altLang="ko-KR" sz="1400" smtClean="0"/>
          </a:p>
          <a:p>
            <a:endParaRPr lang="en-US" altLang="ko-KR" sz="1400"/>
          </a:p>
          <a:p>
            <a:endParaRPr lang="en-US" altLang="ko-KR" sz="1400" smtClean="0"/>
          </a:p>
          <a:p>
            <a:endParaRPr lang="en-US" altLang="ko-KR" sz="1400"/>
          </a:p>
          <a:p>
            <a:endParaRPr lang="en-US" altLang="ko-KR" sz="1400" smtClean="0"/>
          </a:p>
          <a:p>
            <a:endParaRPr lang="en-US" altLang="ko-KR" sz="1400"/>
          </a:p>
          <a:p>
            <a:endParaRPr lang="en-US" altLang="ko-KR" sz="1400" smtClean="0"/>
          </a:p>
          <a:p>
            <a:endParaRPr lang="en-US" altLang="ko-KR" sz="1400" smtClean="0"/>
          </a:p>
          <a:p>
            <a:endParaRPr lang="en-US" altLang="ko-KR" sz="1100" smtClean="0"/>
          </a:p>
          <a:p>
            <a:pPr lvl="1"/>
            <a:r>
              <a:rPr lang="ko-KR" altLang="en-US" sz="1200" smtClean="0"/>
              <a:t>파일 업로드 예</a:t>
            </a:r>
            <a:r>
              <a:rPr lang="en-US" altLang="ko-KR" sz="1200" smtClean="0"/>
              <a:t>)</a:t>
            </a:r>
          </a:p>
          <a:p>
            <a:pPr marL="457200" lvl="1" indent="0">
              <a:buNone/>
            </a:pPr>
            <a:r>
              <a:rPr lang="en-US" altLang="ko-KR" sz="1200" smtClean="0"/>
              <a:t>   @</a:t>
            </a:r>
            <a:r>
              <a:rPr lang="en-US" altLang="ko-KR" sz="1200"/>
              <a:t>router.post('/projectRagDoc/uploadFiles')</a:t>
            </a:r>
          </a:p>
          <a:p>
            <a:pPr marL="457200" lvl="1" indent="0">
              <a:buNone/>
            </a:pPr>
            <a:r>
              <a:rPr lang="en-US" altLang="ko-KR" sz="1200" smtClean="0"/>
              <a:t>   async </a:t>
            </a:r>
            <a:r>
              <a:rPr lang="en-US" altLang="ko-KR" sz="1200"/>
              <a:t>def projectRagDocUploadFiles(param1: projectRagDoc_schema.ProjectRagDoc_form = </a:t>
            </a:r>
            <a:r>
              <a:rPr lang="en-US" altLang="ko-KR" sz="1200" smtClean="0"/>
              <a:t>    </a:t>
            </a:r>
          </a:p>
          <a:p>
            <a:pPr marL="457200" lvl="1" indent="0">
              <a:buNone/>
            </a:pPr>
            <a:r>
              <a:rPr lang="en-US" altLang="ko-KR" sz="1200">
                <a:solidFill>
                  <a:srgbClr val="FF0000"/>
                </a:solidFill>
              </a:rPr>
              <a:t> </a:t>
            </a:r>
            <a:r>
              <a:rPr lang="en-US" altLang="ko-KR" sz="1200" smtClean="0">
                <a:solidFill>
                  <a:srgbClr val="FF0000"/>
                </a:solidFill>
              </a:rPr>
              <a:t>  Depends</a:t>
            </a:r>
            <a:r>
              <a:rPr lang="en-US" altLang="ko-KR" sz="1200" smtClean="0"/>
              <a:t>(projectRagDoc_schema.ProjectRagDoc_form.</a:t>
            </a:r>
            <a:r>
              <a:rPr lang="en-US" altLang="ko-KR" sz="1200" smtClean="0">
                <a:solidFill>
                  <a:srgbClr val="FF0000"/>
                </a:solidFill>
              </a:rPr>
              <a:t>as_form</a:t>
            </a:r>
            <a:r>
              <a:rPr lang="en-US" altLang="ko-KR" sz="1200"/>
              <a:t>) , in_files: List[</a:t>
            </a:r>
            <a:r>
              <a:rPr lang="en-US" altLang="ko-KR" sz="1200">
                <a:solidFill>
                  <a:srgbClr val="FF0000"/>
                </a:solidFill>
              </a:rPr>
              <a:t>UploadFile</a:t>
            </a:r>
            <a:r>
              <a:rPr lang="en-US" altLang="ko-KR" sz="1200"/>
              <a:t>] = </a:t>
            </a:r>
            <a:r>
              <a:rPr lang="en-US" altLang="ko-KR" sz="1200">
                <a:solidFill>
                  <a:srgbClr val="FF0000"/>
                </a:solidFill>
              </a:rPr>
              <a:t>File</a:t>
            </a:r>
            <a:r>
              <a:rPr lang="en-US" altLang="ko-KR" sz="1200"/>
              <a:t>(...)):</a:t>
            </a:r>
          </a:p>
          <a:p>
            <a:pPr marL="457200" lvl="1" indent="0">
              <a:buNone/>
            </a:pPr>
            <a:r>
              <a:rPr lang="en-US" altLang="ko-KR" sz="1200"/>
              <a:t>   </a:t>
            </a:r>
            <a:r>
              <a:rPr lang="en-US" altLang="ko-KR" sz="1200" smtClean="0"/>
              <a:t>    </a:t>
            </a:r>
            <a:r>
              <a:rPr lang="en-US" altLang="ko-KR" sz="1200"/>
              <a:t>file_urls=[]</a:t>
            </a:r>
          </a:p>
          <a:p>
            <a:pPr marL="457200" lvl="1" indent="0">
              <a:buNone/>
            </a:pPr>
            <a:r>
              <a:rPr lang="en-US" altLang="ko-KR" sz="1200"/>
              <a:t>    </a:t>
            </a:r>
            <a:r>
              <a:rPr lang="en-US" altLang="ko-KR" sz="1200" smtClean="0"/>
              <a:t>   for </a:t>
            </a:r>
            <a:r>
              <a:rPr lang="en-US" altLang="ko-KR" sz="1200"/>
              <a:t>file in in_files:</a:t>
            </a:r>
            <a:endParaRPr lang="ko-KR" altLang="en-US" sz="1100"/>
          </a:p>
        </p:txBody>
      </p:sp>
      <p:sp>
        <p:nvSpPr>
          <p:cNvPr id="4" name="직사각형 3"/>
          <p:cNvSpPr/>
          <p:nvPr/>
        </p:nvSpPr>
        <p:spPr>
          <a:xfrm>
            <a:off x="7888826" y="6264315"/>
            <a:ext cx="41793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1: https</a:t>
            </a:r>
            <a:r>
              <a:rPr lang="en-US" altLang="ko-KR" sz="1000" b="1">
                <a:solidFill>
                  <a:srgbClr val="1C1E21"/>
                </a:solidFill>
                <a:latin typeface="system-ui"/>
              </a:rPr>
              <a:t>://tech.madup.com/FastAPI/?utm_source=oneoneone</a:t>
            </a:r>
          </a:p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2: 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  <a:hlinkClick r:id="rId2"/>
              </a:rPr>
              <a:t>https</a:t>
            </a:r>
            <a:r>
              <a:rPr lang="en-US" altLang="ko-KR" sz="1000" b="1">
                <a:solidFill>
                  <a:srgbClr val="1C1E21"/>
                </a:solidFill>
                <a:latin typeface="system-ui"/>
                <a:hlinkClick r:id="rId2"/>
              </a:rPr>
              <a:t>://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  <a:hlinkClick r:id="rId2"/>
              </a:rPr>
              <a:t>blog.hops.pub/flask-to-fast-api</a:t>
            </a:r>
            <a:endParaRPr lang="en-US" altLang="ko-KR" sz="1000" b="1" smtClean="0">
              <a:solidFill>
                <a:srgbClr val="1C1E21"/>
              </a:solidFill>
              <a:latin typeface="system-ui"/>
            </a:endParaRPr>
          </a:p>
          <a:p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참조</a:t>
            </a:r>
            <a:r>
              <a:rPr lang="en-US" altLang="ko-KR" sz="1000" b="1" smtClean="0">
                <a:solidFill>
                  <a:srgbClr val="1C1E21"/>
                </a:solidFill>
                <a:latin typeface="system-ui"/>
              </a:rPr>
              <a:t>3: DI</a:t>
            </a:r>
            <a:r>
              <a:rPr lang="ko-KR" altLang="en-US" sz="1000" b="1" smtClean="0">
                <a:solidFill>
                  <a:srgbClr val="1C1E21"/>
                </a:solidFill>
                <a:latin typeface="system-ui"/>
              </a:rPr>
              <a:t>중심 설계 </a:t>
            </a:r>
            <a:r>
              <a:rPr lang="en-US" altLang="ko-KR" sz="1000" b="1">
                <a:solidFill>
                  <a:srgbClr val="1C1E21"/>
                </a:solidFill>
                <a:latin typeface="system-ui"/>
              </a:rPr>
              <a:t>: https://planb.hashnode.dev/fastapi-flask</a:t>
            </a:r>
            <a:endParaRPr lang="ko-KR" altLang="en-US" sz="1000" b="1">
              <a:solidFill>
                <a:srgbClr val="1C1E21"/>
              </a:solidFill>
              <a:latin typeface="system-ui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010569"/>
            <a:ext cx="4356299" cy="30567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325" y="2038350"/>
            <a:ext cx="42481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41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FastAPI </a:t>
            </a:r>
            <a:r>
              <a:rPr lang="ko-KR" altLang="en-US" smtClean="0"/>
              <a:t>커뮤니티 설명 자료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181600" y="6176963"/>
            <a:ext cx="6772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/>
              <a:t>https://www.oss.kr/storage/app/public/oss/ed/f6/[FastAPI]Solution%20Guide.pdf</a:t>
            </a:r>
          </a:p>
          <a:p>
            <a:r>
              <a:rPr lang="ko-KR" altLang="en-US" sz="1400" smtClean="0"/>
              <a:t>https</a:t>
            </a:r>
            <a:r>
              <a:rPr lang="ko-KR" altLang="en-US" sz="1400"/>
              <a:t>://app.gitter.im/#/room/#fast_api_community:gitter.im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452562"/>
            <a:ext cx="849630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76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FastAPI </a:t>
            </a:r>
            <a:r>
              <a:rPr lang="ko-KR" altLang="en-US" smtClean="0"/>
              <a:t>이용 </a:t>
            </a:r>
            <a:r>
              <a:rPr lang="en-US" altLang="ko-KR" smtClean="0"/>
              <a:t>restapi </a:t>
            </a:r>
            <a:r>
              <a:rPr lang="ko-KR" altLang="en-US" smtClean="0"/>
              <a:t>구현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87088" y="1395413"/>
            <a:ext cx="607204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api</a:t>
            </a:r>
            <a:r>
              <a:rPr lang="ko-KR" altLang="en-US" smtClean="0"/>
              <a:t>서버 구동 방법</a:t>
            </a:r>
            <a:endParaRPr lang="en-US" altLang="ko-KR" smtClean="0"/>
          </a:p>
          <a:p>
            <a:pPr marL="342900" indent="-342900">
              <a:buAutoNum type="arabicPeriod"/>
            </a:pPr>
            <a:r>
              <a:rPr lang="ko-KR" altLang="en-US" smtClean="0"/>
              <a:t>컴맨드 창에서 </a:t>
            </a:r>
            <a:r>
              <a:rPr lang="en-US" altLang="ko-KR" smtClean="0"/>
              <a:t>uvicorn </a:t>
            </a:r>
            <a:r>
              <a:rPr lang="ko-KR" altLang="en-US" smtClean="0"/>
              <a:t>실행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   - </a:t>
            </a:r>
            <a:r>
              <a:rPr lang="ko-KR" altLang="en-US" smtClean="0"/>
              <a:t>실행</a:t>
            </a:r>
            <a:r>
              <a:rPr lang="en-US" altLang="ko-KR" smtClean="0"/>
              <a:t>: $uvicorn mngQnA_app:app –reoload</a:t>
            </a:r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2. main</a:t>
            </a:r>
            <a:r>
              <a:rPr lang="ko-KR" altLang="en-US" smtClean="0"/>
              <a:t>에 </a:t>
            </a:r>
            <a:r>
              <a:rPr lang="en-US" altLang="ko-KR" smtClean="0"/>
              <a:t>uvicorn.run </a:t>
            </a:r>
            <a:r>
              <a:rPr lang="ko-KR" altLang="en-US" smtClean="0"/>
              <a:t>명시하여 파이썬 실행시 자동 실행</a:t>
            </a:r>
            <a:endParaRPr lang="en-US" altLang="ko-KR" smtClean="0"/>
          </a:p>
          <a:p>
            <a:r>
              <a:rPr lang="en-US" altLang="ko-KR"/>
              <a:t> </a:t>
            </a:r>
            <a:r>
              <a:rPr lang="en-US" altLang="ko-KR" smtClean="0"/>
              <a:t>- python mngQnA_app.py</a:t>
            </a:r>
          </a:p>
          <a:p>
            <a:r>
              <a:rPr lang="en-US" altLang="ko-KR" smtClean="0"/>
              <a:t>if </a:t>
            </a:r>
            <a:r>
              <a:rPr lang="en-US" altLang="ko-KR"/>
              <a:t>__name__ == '__main__':</a:t>
            </a:r>
          </a:p>
          <a:p>
            <a:r>
              <a:rPr lang="en-US" altLang="ko-KR"/>
              <a:t>    app.include_router(router)</a:t>
            </a:r>
          </a:p>
          <a:p>
            <a:r>
              <a:rPr lang="en-US" altLang="ko-KR"/>
              <a:t>    uvicorn.run(app, host="0.0.0.0", port=8000)  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415331"/>
            <a:ext cx="5035496" cy="26765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664" y="2324100"/>
            <a:ext cx="3863745" cy="434975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23950"/>
            <a:ext cx="2905125" cy="11334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2170669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. mngQnA_app.py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02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SQLAchemy – 1) </a:t>
            </a:r>
            <a:r>
              <a:rPr lang="ko-KR" altLang="en-US" smtClean="0"/>
              <a:t>예제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ko-KR" altLang="en-US" sz="1800" smtClean="0"/>
              <a:t>파이썬용 </a:t>
            </a:r>
            <a:r>
              <a:rPr lang="en-US" altLang="ko-KR" sz="1800" smtClean="0"/>
              <a:t>Object Relational Mapper </a:t>
            </a:r>
            <a:r>
              <a:rPr lang="ko-KR" altLang="en-US" sz="1800" smtClean="0"/>
              <a:t>주 개념이지만</a:t>
            </a:r>
            <a:r>
              <a:rPr lang="en-US" altLang="ko-KR" sz="1800" smtClean="0"/>
              <a:t>, </a:t>
            </a:r>
            <a:r>
              <a:rPr lang="ko-KR" altLang="en-US" sz="1800" smtClean="0"/>
              <a:t>쿼리 통한 </a:t>
            </a:r>
            <a:r>
              <a:rPr lang="en-US" altLang="ko-KR" sz="1800" smtClean="0"/>
              <a:t>CRUD</a:t>
            </a:r>
            <a:r>
              <a:rPr lang="ko-KR" altLang="en-US" sz="1800" smtClean="0"/>
              <a:t>처리도 가능</a:t>
            </a:r>
            <a:endParaRPr lang="en-US" altLang="ko-KR" sz="1800" smtClean="0"/>
          </a:p>
          <a:p>
            <a:pPr>
              <a:buFontTx/>
              <a:buChar char="-"/>
            </a:pPr>
            <a:r>
              <a:rPr lang="en-US" altLang="ko-KR" sz="1800" smtClean="0"/>
              <a:t>ORM</a:t>
            </a:r>
            <a:r>
              <a:rPr lang="ko-KR" altLang="en-US" sz="1800" smtClean="0"/>
              <a:t>은 객체와 </a:t>
            </a:r>
            <a:r>
              <a:rPr lang="en-US" altLang="ko-KR" sz="1800" smtClean="0"/>
              <a:t>RDBMS </a:t>
            </a:r>
            <a:r>
              <a:rPr lang="ko-KR" altLang="en-US" sz="1800" smtClean="0"/>
              <a:t>데이터 타입 연결</a:t>
            </a:r>
            <a:endParaRPr lang="en-US" altLang="ko-KR" sz="1800" smtClean="0"/>
          </a:p>
          <a:p>
            <a:pPr lvl="1"/>
            <a:r>
              <a:rPr lang="ko-KR" altLang="en-US" sz="1400"/>
              <a:t>ORM을 이용, Python class로부터 table과 column을 정의하고자 함</a:t>
            </a:r>
          </a:p>
          <a:p>
            <a:pPr lvl="1"/>
            <a:r>
              <a:rPr lang="ko-KR" altLang="en-US" sz="1400"/>
              <a:t>가장 흔한 방식은, SQLAlchemy에서 declarative mapping을 통해 활성화된 후, 모든 DB model class를 이 base class로부터 상속되도록 하는 방법</a:t>
            </a:r>
          </a:p>
          <a:p>
            <a:pPr lvl="1"/>
            <a:r>
              <a:rPr lang="ko-KR" altLang="en-US" sz="1400" smtClean="0"/>
              <a:t> </a:t>
            </a:r>
            <a:r>
              <a:rPr lang="ko-KR" altLang="en-US" sz="1400"/>
              <a:t>Declarative Mapping?</a:t>
            </a:r>
          </a:p>
          <a:p>
            <a:pPr lvl="1"/>
            <a:r>
              <a:rPr lang="ko-KR" altLang="en-US" sz="1400" smtClean="0"/>
              <a:t>base </a:t>
            </a:r>
            <a:r>
              <a:rPr lang="ko-KR" altLang="en-US" sz="1400"/>
              <a:t>class를 생성함으로서 활성화(declarative_base)</a:t>
            </a:r>
          </a:p>
          <a:p>
            <a:pPr lvl="1"/>
            <a:r>
              <a:rPr lang="ko-KR" altLang="en-US" sz="1400"/>
              <a:t>모든 DB class들이 이 base class로부터 상속되도록 함</a:t>
            </a:r>
          </a:p>
          <a:p>
            <a:pPr>
              <a:buFontTx/>
              <a:buChar char="-"/>
            </a:pPr>
            <a:endParaRPr lang="en-US" altLang="ko-KR" sz="1800" smtClean="0"/>
          </a:p>
          <a:p>
            <a:pPr marL="0" indent="0">
              <a:buNone/>
            </a:pPr>
            <a:r>
              <a:rPr lang="en-US" altLang="ko-KR" sz="1800" smtClean="0"/>
              <a:t>- </a:t>
            </a:r>
            <a:r>
              <a:rPr lang="ko-KR" altLang="en-US" sz="1800" smtClean="0"/>
              <a:t>예제</a:t>
            </a:r>
            <a:endParaRPr lang="en-US" altLang="ko-KR" sz="1800"/>
          </a:p>
          <a:p>
            <a:pPr marL="0" indent="0">
              <a:buNone/>
            </a:pPr>
            <a:r>
              <a:rPr lang="en-US" altLang="ko-KR" sz="1800" smtClean="0"/>
              <a:t>   </a:t>
            </a:r>
            <a:r>
              <a:rPr lang="en-US" altLang="ko-KR" sz="1400" smtClean="0"/>
              <a:t>session </a:t>
            </a:r>
            <a:r>
              <a:rPr lang="en-US" altLang="ko-KR" sz="1400"/>
              <a:t> = engine.sessionmaker()</a:t>
            </a:r>
          </a:p>
          <a:p>
            <a:pPr marL="0" indent="0">
              <a:buNone/>
            </a:pPr>
            <a:r>
              <a:rPr lang="en-US" altLang="ko-KR" sz="1400"/>
              <a:t>    total_cnt = session.query(Project).count()</a:t>
            </a:r>
          </a:p>
          <a:p>
            <a:pPr marL="0" indent="0">
              <a:buNone/>
            </a:pPr>
            <a:r>
              <a:rPr lang="en-US" altLang="ko-KR" sz="1400"/>
              <a:t>    project_list = session.query(Project)</a:t>
            </a:r>
          </a:p>
          <a:p>
            <a:pPr marL="0" indent="0">
              <a:buNone/>
            </a:pPr>
            <a:r>
              <a:rPr lang="en-US" altLang="ko-KR" sz="1400"/>
              <a:t>    project_list_for_totalCnt = session.query(Project) \</a:t>
            </a:r>
          </a:p>
          <a:p>
            <a:pPr marL="0" indent="0">
              <a:buNone/>
            </a:pPr>
            <a:r>
              <a:rPr lang="en-US" altLang="ko-KR" sz="1400"/>
              <a:t>        .filter(</a:t>
            </a:r>
          </a:p>
          <a:p>
            <a:pPr marL="0" indent="0">
              <a:buNone/>
            </a:pPr>
            <a:r>
              <a:rPr lang="en-US" altLang="ko-KR" sz="1400"/>
              <a:t>                Project.company_id == </a:t>
            </a:r>
            <a:r>
              <a:rPr lang="en-US" altLang="ko-KR" sz="1400" i="1"/>
              <a:t>param</a:t>
            </a:r>
            <a:r>
              <a:rPr lang="en-US" altLang="ko-KR" sz="1400"/>
              <a:t>.company_id</a:t>
            </a:r>
          </a:p>
          <a:p>
            <a:pPr marL="0" indent="0">
              <a:buNone/>
            </a:pPr>
            <a:r>
              <a:rPr lang="en-US" altLang="ko-KR" sz="1400"/>
              <a:t>                ).all()  </a:t>
            </a:r>
          </a:p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048661" y="6311900"/>
            <a:ext cx="4099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참조</a:t>
            </a:r>
            <a:r>
              <a:rPr lang="en-US" altLang="ko-KR" smtClean="0"/>
              <a:t>: </a:t>
            </a:r>
            <a:r>
              <a:rPr lang="ko-KR" altLang="en-US" smtClean="0"/>
              <a:t>https</a:t>
            </a:r>
            <a:r>
              <a:rPr lang="ko-KR" altLang="en-US"/>
              <a:t>://phsun102.tistory.com/63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814626" y="159157"/>
            <a:ext cx="433387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https://miintto.github.io/docs/python-sqlalchemy-session</a:t>
            </a:r>
          </a:p>
        </p:txBody>
      </p:sp>
    </p:spTree>
    <p:extLst>
      <p:ext uri="{BB962C8B-B14F-4D97-AF65-F5344CB8AC3E}">
        <p14:creationId xmlns:p14="http://schemas.microsoft.com/office/powerpoint/2010/main" val="2157436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/>
              <a:t>SQLAchemy – </a:t>
            </a:r>
            <a:r>
              <a:rPr lang="en-US" altLang="ko-KR" sz="4000" smtClean="0"/>
              <a:t>2) </a:t>
            </a:r>
            <a:r>
              <a:rPr lang="en-US" altLang="ko-KR" sz="3200" smtClean="0"/>
              <a:t>ORM </a:t>
            </a:r>
            <a:r>
              <a:rPr lang="ko-KR" altLang="en-US" sz="3200"/>
              <a:t>방식으로 데이터 </a:t>
            </a:r>
            <a:r>
              <a:rPr lang="ko-KR" altLang="en-US" sz="3200" smtClean="0"/>
              <a:t>조작하기</a:t>
            </a:r>
            <a:r>
              <a:rPr lang="en-US" altLang="ko-KR" sz="3200" smtClean="0"/>
              <a:t/>
            </a:r>
            <a:br>
              <a:rPr lang="en-US" altLang="ko-KR" sz="3200" smtClean="0"/>
            </a:br>
            <a:r>
              <a:rPr lang="en-US" altLang="ko-KR" sz="3200" smtClean="0"/>
              <a:t>- ORM </a:t>
            </a:r>
            <a:r>
              <a:rPr lang="ko-KR" altLang="en-US" sz="3200" smtClean="0"/>
              <a:t>객체 </a:t>
            </a:r>
            <a:r>
              <a:rPr lang="en-US" altLang="ko-KR" sz="3200" smtClean="0"/>
              <a:t>Update</a:t>
            </a:r>
            <a:r>
              <a:rPr lang="ko-KR" altLang="en-US" sz="3200" smtClean="0"/>
              <a:t>하기</a:t>
            </a:r>
            <a:endParaRPr lang="ko-KR" altLang="en-US" sz="3200"/>
          </a:p>
        </p:txBody>
      </p:sp>
      <p:sp>
        <p:nvSpPr>
          <p:cNvPr id="4" name="직사각형 3"/>
          <p:cNvSpPr/>
          <p:nvPr/>
        </p:nvSpPr>
        <p:spPr>
          <a:xfrm>
            <a:off x="6096000" y="627322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/>
              <a:t>https://soogoonsoogoonpythonists.github.io/sqlalchemy-for-pythonist/tutorial/6.%20ORM%20%EB%B0%A9%EC%8B%9D%EC%9C%BC%EB%A1%9C%20%EB%8D%B0%EC%9D%B4%ED%84%B0%20%EC%A1%B0%EC%9E%91%ED%95%98%EA%B8%B0.html#session-%E1%84%8C%E1%85%A9%E1%86%BC%E1%84%85%E1%85%AD%E1%84%92%E1%85%A1%E1%84%80%E1%85%B5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800"/>
              <a:t>    </a:t>
            </a:r>
            <a:r>
              <a:rPr lang="en-US" altLang="ko-KR" sz="1800" smtClean="0"/>
              <a:t>- </a:t>
            </a:r>
            <a:r>
              <a:rPr lang="ko-KR" altLang="en-US" sz="1800" smtClean="0"/>
              <a:t>변경사항 자동으로 업데이트 하기</a:t>
            </a:r>
            <a:r>
              <a:rPr lang="en-US" altLang="ko-KR" sz="1800"/>
              <a:t> </a:t>
            </a:r>
          </a:p>
          <a:p>
            <a:pPr marL="457200" lvl="1" indent="0">
              <a:buNone/>
            </a:pPr>
            <a:r>
              <a:rPr lang="en-US" altLang="ko-KR" sz="1400"/>
              <a:t>&gt;&gt;&gt; sandy = session.execute(select(User).filter_by(name="sandy")).scalar_one()</a:t>
            </a:r>
          </a:p>
          <a:p>
            <a:pPr marL="457200" lvl="1" indent="0">
              <a:buNone/>
            </a:pPr>
            <a:r>
              <a:rPr lang="en-US" altLang="ko-KR" sz="1400"/>
              <a:t>"""</a:t>
            </a:r>
          </a:p>
          <a:p>
            <a:pPr marL="457200" lvl="1" indent="0">
              <a:buNone/>
            </a:pPr>
            <a:r>
              <a:rPr lang="en-US" altLang="ko-KR" sz="1400"/>
              <a:t>SELECT user_account.id, user_account.name, user_account.fullname</a:t>
            </a:r>
          </a:p>
          <a:p>
            <a:pPr marL="457200" lvl="1" indent="0">
              <a:buNone/>
            </a:pPr>
            <a:r>
              <a:rPr lang="en-US" altLang="ko-KR" sz="1400"/>
              <a:t>FROM user_account</a:t>
            </a:r>
          </a:p>
          <a:p>
            <a:pPr marL="457200" lvl="1" indent="0">
              <a:buNone/>
            </a:pPr>
            <a:r>
              <a:rPr lang="en-US" altLang="ko-KR" sz="1400"/>
              <a:t>WHERE user_account.name = ?</a:t>
            </a:r>
          </a:p>
          <a:p>
            <a:pPr marL="457200" lvl="1" indent="0">
              <a:buNone/>
            </a:pPr>
            <a:r>
              <a:rPr lang="en-US" altLang="ko-KR" sz="1400"/>
              <a:t>[...] ('sandy',)</a:t>
            </a:r>
          </a:p>
          <a:p>
            <a:pPr marL="457200" lvl="1" indent="0">
              <a:buNone/>
            </a:pPr>
            <a:r>
              <a:rPr lang="en-US" altLang="ko-KR" sz="1400" smtClean="0"/>
              <a:t>""“</a:t>
            </a:r>
          </a:p>
          <a:p>
            <a:pPr marL="457200" lvl="1" indent="0">
              <a:buNone/>
            </a:pPr>
            <a:endParaRPr lang="en-US" altLang="ko-KR" sz="1400" smtClean="0"/>
          </a:p>
          <a:p>
            <a:pPr lvl="1">
              <a:buFontTx/>
              <a:buChar char="-"/>
            </a:pPr>
            <a:r>
              <a:rPr lang="en-US" altLang="ko-KR" sz="1800" smtClean="0"/>
              <a:t>ORM </a:t>
            </a:r>
            <a:r>
              <a:rPr lang="ko-KR" altLang="en-US" sz="1800" smtClean="0"/>
              <a:t>사용 업데이트 </a:t>
            </a:r>
            <a:endParaRPr lang="en-US" altLang="ko-KR" sz="1800" smtClean="0"/>
          </a:p>
          <a:p>
            <a:pPr marL="457200" lvl="1" indent="0">
              <a:buNone/>
            </a:pPr>
            <a:r>
              <a:rPr lang="en-US" altLang="ko-KR" sz="1200" smtClean="0"/>
              <a:t>    . ORM</a:t>
            </a:r>
            <a:r>
              <a:rPr lang="ko-KR" altLang="en-US" sz="1200"/>
              <a:t>을 통해 </a:t>
            </a:r>
            <a:r>
              <a:rPr lang="en-US" altLang="ko-KR" sz="1200"/>
              <a:t>UPDATE </a:t>
            </a:r>
            <a:r>
              <a:rPr lang="ko-KR" altLang="en-US" sz="1200"/>
              <a:t>하는 마지막 방법으로 </a:t>
            </a:r>
            <a:r>
              <a:rPr lang="en-US" altLang="ko-KR" sz="1200"/>
              <a:t>ORM </a:t>
            </a:r>
            <a:r>
              <a:rPr lang="ko-KR" altLang="en-US" sz="1200"/>
              <a:t>사용 업데이트를 명시적으로 사용하는 </a:t>
            </a:r>
            <a:r>
              <a:rPr lang="ko-KR" altLang="en-US" sz="1200" smtClean="0"/>
              <a:t>방법</a:t>
            </a:r>
            <a:endParaRPr lang="en-US" altLang="ko-KR" sz="1200" smtClean="0"/>
          </a:p>
          <a:p>
            <a:pPr marL="914400" lvl="2" indent="0">
              <a:buNone/>
            </a:pPr>
            <a:r>
              <a:rPr lang="en-US" altLang="ko-KR" sz="1400"/>
              <a:t>&gt;&gt;&gt; session.execute(</a:t>
            </a:r>
          </a:p>
          <a:p>
            <a:pPr marL="914400" lvl="2" indent="0">
              <a:buNone/>
            </a:pPr>
            <a:r>
              <a:rPr lang="en-US" altLang="ko-KR" sz="1400"/>
              <a:t>...     update(User).</a:t>
            </a:r>
          </a:p>
          <a:p>
            <a:pPr marL="914400" lvl="2" indent="0">
              <a:buNone/>
            </a:pPr>
            <a:r>
              <a:rPr lang="en-US" altLang="ko-KR" sz="1400"/>
              <a:t>...     where(User.name == "sandy").</a:t>
            </a:r>
          </a:p>
          <a:p>
            <a:pPr marL="914400" lvl="2" indent="0">
              <a:buNone/>
            </a:pPr>
            <a:r>
              <a:rPr lang="en-US" altLang="ko-KR" sz="1400"/>
              <a:t>...     values(fullname="Sandy Squirrel Extraordinaire")</a:t>
            </a:r>
          </a:p>
          <a:p>
            <a:pPr marL="914400" lvl="2" indent="0">
              <a:buNone/>
            </a:pPr>
            <a:r>
              <a:rPr lang="en-US" altLang="ko-KR" sz="1400"/>
              <a:t>... )</a:t>
            </a:r>
          </a:p>
          <a:p>
            <a:pPr marL="914400" lvl="2" indent="0">
              <a:buNone/>
            </a:pPr>
            <a:r>
              <a:rPr lang="en-US" altLang="ko-KR" sz="1400"/>
              <a:t>"""</a:t>
            </a:r>
          </a:p>
          <a:p>
            <a:pPr marL="914400" lvl="2" indent="0">
              <a:buNone/>
            </a:pPr>
            <a:r>
              <a:rPr lang="en-US" altLang="ko-KR" sz="1400"/>
              <a:t>UPDATE user_account SET fullname=? WHERE user_account.name = ?</a:t>
            </a:r>
          </a:p>
          <a:p>
            <a:pPr marL="914400" lvl="2" indent="0">
              <a:buNone/>
            </a:pPr>
            <a:r>
              <a:rPr lang="en-US" altLang="ko-KR" sz="1400"/>
              <a:t>[...] ('Sandy Squirrel Extraordinaire', 'sandy')</a:t>
            </a:r>
          </a:p>
          <a:p>
            <a:pPr marL="914400" lvl="2" indent="0">
              <a:buNone/>
            </a:pPr>
            <a:r>
              <a:rPr lang="en-US" altLang="ko-KR" sz="1400"/>
              <a:t>"""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591421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SQLAchemy – </a:t>
            </a:r>
            <a:r>
              <a:rPr lang="en-US" altLang="ko-KR" sz="3200" smtClean="0"/>
              <a:t>3) </a:t>
            </a:r>
            <a:r>
              <a:rPr lang="ko-KR" altLang="en-US" sz="3200" b="1" smtClean="0"/>
              <a:t>트랜잭션과 </a:t>
            </a:r>
            <a:r>
              <a:rPr lang="ko-KR" altLang="en-US" sz="3200" b="1"/>
              <a:t>쿼리 </a:t>
            </a:r>
            <a:r>
              <a:rPr lang="ko-KR" altLang="en-US" sz="3200" b="1" smtClean="0"/>
              <a:t>실행하기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96219"/>
            <a:ext cx="1397000" cy="309900"/>
          </a:xfrm>
        </p:spPr>
        <p:txBody>
          <a:bodyPr>
            <a:normAutofit/>
          </a:bodyPr>
          <a:lstStyle/>
          <a:p>
            <a:r>
              <a:rPr lang="ko-KR" altLang="en-US" sz="1400" smtClean="0"/>
              <a:t>연결얻기</a:t>
            </a:r>
            <a:endParaRPr lang="en-US" altLang="ko-KR" sz="1400" smtClean="0"/>
          </a:p>
        </p:txBody>
      </p:sp>
      <p:sp>
        <p:nvSpPr>
          <p:cNvPr id="4" name="직사각형 3"/>
          <p:cNvSpPr/>
          <p:nvPr/>
        </p:nvSpPr>
        <p:spPr>
          <a:xfrm>
            <a:off x="6184900" y="610811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800"/>
              <a:t>https://soogoonsoogoonpythonists.github.io/sqlalchemy-for-pythonist/tutorial/3.%20%ED%8A%B8%EB%9E%9C%EC%9E%AD%EC%85%98%EA%B3%BC%20%EC%BF%BC%EB%A6%AC%20%EC%8B%A4%ED%96%89%ED%95%98%EA%B8%B0.html#%E1%84%8B%E1%85%A7%E1%86%AB%E1%84%80%E1%85%A7%E1%86%AF-%E1%84%8B%E1%85%A5%E1%86%AE%E1%84%80%E1%85%B5</a:t>
            </a:r>
            <a:endParaRPr lang="ko-KR" altLang="en-US" sz="800"/>
          </a:p>
        </p:txBody>
      </p:sp>
      <p:sp>
        <p:nvSpPr>
          <p:cNvPr id="6" name="직사각형 5"/>
          <p:cNvSpPr/>
          <p:nvPr/>
        </p:nvSpPr>
        <p:spPr>
          <a:xfrm>
            <a:off x="1188720" y="1806119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/>
              <a:t>&gt;&gt;&gt; from sqlalchemy import text</a:t>
            </a:r>
          </a:p>
          <a:p>
            <a:endParaRPr lang="en-US" altLang="ko-KR" sz="1400"/>
          </a:p>
          <a:p>
            <a:r>
              <a:rPr lang="en-US" altLang="ko-KR" sz="1400"/>
              <a:t>&gt;&gt;&gt; with engine.connect() as conn:</a:t>
            </a:r>
          </a:p>
          <a:p>
            <a:r>
              <a:rPr lang="en-US" altLang="ko-KR" sz="1400"/>
              <a:t>...     result = conn.execute(text("select 'hello world'"))</a:t>
            </a:r>
          </a:p>
          <a:p>
            <a:r>
              <a:rPr lang="en-US" altLang="ko-KR" sz="1400"/>
              <a:t>...     print(result.all())</a:t>
            </a:r>
          </a:p>
          <a:p>
            <a:endParaRPr lang="en-US" altLang="ko-KR" sz="1400"/>
          </a:p>
          <a:p>
            <a:r>
              <a:rPr lang="en-US" altLang="ko-KR" sz="1400"/>
              <a:t>[('hello world',)]</a:t>
            </a:r>
            <a:endParaRPr lang="ko-KR" altLang="en-US" sz="140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838200" y="3589500"/>
            <a:ext cx="3520440" cy="5354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smtClean="0"/>
              <a:t>변경사항 커밋하기</a:t>
            </a:r>
            <a:endParaRPr lang="en-US" altLang="ko-KR" sz="1400" smtClean="0"/>
          </a:p>
          <a:p>
            <a:pPr marL="0" indent="0">
              <a:buNone/>
            </a:pPr>
            <a:r>
              <a:rPr lang="en-US" altLang="ko-KR" sz="1400" smtClean="0"/>
              <a:t>    - connection.commit()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188720" y="428455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/>
              <a:t>&gt;&gt;&gt; with engine.connect() as conn:</a:t>
            </a:r>
          </a:p>
          <a:p>
            <a:r>
              <a:rPr lang="ko-KR" altLang="en-US" sz="1200"/>
              <a:t>...     # 테이블을 생성합니다.</a:t>
            </a:r>
          </a:p>
          <a:p>
            <a:r>
              <a:rPr lang="ko-KR" altLang="en-US" sz="1200"/>
              <a:t>...     conn.execute(text("CREATE TABLE some_table (x int, y int)")) </a:t>
            </a:r>
          </a:p>
          <a:p>
            <a:r>
              <a:rPr lang="ko-KR" altLang="en-US" sz="1200"/>
              <a:t>...     # 데이터를 삽입합니다.</a:t>
            </a:r>
          </a:p>
          <a:p>
            <a:r>
              <a:rPr lang="ko-KR" altLang="en-US" sz="1200"/>
              <a:t>...     conn.execute(</a:t>
            </a:r>
          </a:p>
          <a:p>
            <a:r>
              <a:rPr lang="ko-KR" altLang="en-US" sz="1200"/>
              <a:t>...         text("INSERT INTO some_table (x, y) VALUES (:x, :y)"),</a:t>
            </a:r>
          </a:p>
          <a:p>
            <a:r>
              <a:rPr lang="ko-KR" altLang="en-US" sz="1200"/>
              <a:t>...         [{"x": 1, "y": 1}, {"x": 2, "y": 4}]</a:t>
            </a:r>
          </a:p>
          <a:p>
            <a:r>
              <a:rPr lang="ko-KR" altLang="en-US" sz="1200"/>
              <a:t>...     )</a:t>
            </a:r>
          </a:p>
          <a:p>
            <a:r>
              <a:rPr lang="ko-KR" altLang="en-US" sz="1200"/>
              <a:t>...     # 위 변경사항을 커밋합니다.</a:t>
            </a:r>
          </a:p>
          <a:p>
            <a:r>
              <a:rPr lang="ko-KR" altLang="en-US" sz="1200"/>
              <a:t>...     conn.commit()</a:t>
            </a: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6741160" y="2568685"/>
            <a:ext cx="4262120" cy="5354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smtClean="0"/>
              <a:t>변경사항 커밋하기</a:t>
            </a:r>
            <a:endParaRPr lang="en-US" altLang="ko-KR" sz="1400" smtClean="0"/>
          </a:p>
          <a:p>
            <a:pPr marL="0" indent="0">
              <a:buNone/>
            </a:pPr>
            <a:r>
              <a:rPr lang="en-US" altLang="ko-KR" sz="1400"/>
              <a:t>    - Engine.begin</a:t>
            </a:r>
            <a:r>
              <a:rPr lang="en-US" altLang="ko-KR" sz="1400" smtClean="0"/>
              <a:t>() – </a:t>
            </a:r>
            <a:r>
              <a:rPr lang="ko-KR" altLang="en-US" sz="1400" smtClean="0"/>
              <a:t>트랜잭션 종료시 자동 커밋</a:t>
            </a:r>
            <a:endParaRPr lang="en-US" altLang="ko-KR" sz="1400" smtClean="0"/>
          </a:p>
        </p:txBody>
      </p:sp>
      <p:sp>
        <p:nvSpPr>
          <p:cNvPr id="11" name="직사각형 10"/>
          <p:cNvSpPr/>
          <p:nvPr/>
        </p:nvSpPr>
        <p:spPr>
          <a:xfrm>
            <a:off x="7195820" y="3127885"/>
            <a:ext cx="45694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&gt;&gt;&gt; with engine.begin() as conn:</a:t>
            </a:r>
          </a:p>
          <a:p>
            <a:r>
              <a:rPr lang="ko-KR" altLang="en-US" sz="1200"/>
              <a:t>...     conn.execute(</a:t>
            </a:r>
          </a:p>
          <a:p>
            <a:r>
              <a:rPr lang="ko-KR" altLang="en-US" sz="1200"/>
              <a:t>...         text("INSERT INTO some_table (x, y) VALUES (:x, :y)"),</a:t>
            </a:r>
          </a:p>
          <a:p>
            <a:r>
              <a:rPr lang="ko-KR" altLang="en-US" sz="1200"/>
              <a:t>...         [{"x": 6, "y": 8}, {"x": 9, "y": 10}]</a:t>
            </a:r>
          </a:p>
          <a:p>
            <a:r>
              <a:rPr lang="ko-KR" altLang="en-US" sz="1200"/>
              <a:t>...     )</a:t>
            </a:r>
          </a:p>
          <a:p>
            <a:r>
              <a:rPr lang="ko-KR" altLang="en-US" sz="1200"/>
              <a:t>... # 트랜잭션 (컨텍스트 구문)이 끝나면 커밋됩니다.</a:t>
            </a:r>
          </a:p>
        </p:txBody>
      </p:sp>
    </p:spTree>
    <p:extLst>
      <p:ext uri="{BB962C8B-B14F-4D97-AF65-F5344CB8AC3E}">
        <p14:creationId xmlns:p14="http://schemas.microsoft.com/office/powerpoint/2010/main" val="54761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SQLAchemy – </a:t>
            </a:r>
            <a:r>
              <a:rPr lang="en-US" altLang="ko-KR" sz="2400" smtClean="0"/>
              <a:t>4) </a:t>
            </a:r>
            <a:r>
              <a:rPr lang="en-US" altLang="ko-KR" sz="2500" smtClean="0"/>
              <a:t>Async </a:t>
            </a:r>
            <a:r>
              <a:rPr lang="ko-KR" altLang="en-US" sz="2500"/>
              <a:t>환경에서 </a:t>
            </a:r>
            <a:r>
              <a:rPr lang="en-US" altLang="ko-KR" sz="2500"/>
              <a:t>SQLAlchemy </a:t>
            </a:r>
            <a:r>
              <a:rPr lang="ko-KR" altLang="en-US" sz="2500"/>
              <a:t>세션 </a:t>
            </a:r>
            <a:r>
              <a:rPr lang="ko-KR" altLang="en-US" sz="2500" smtClean="0"/>
              <a:t>관리 </a:t>
            </a:r>
            <a:r>
              <a:rPr lang="en-US" altLang="ko-KR" sz="2500" smtClean="0"/>
              <a:t>– 2023.3.01</a:t>
            </a:r>
            <a:endParaRPr lang="ko-KR" altLang="en-US" sz="25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9621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smtClean="0"/>
              <a:t>SQLAlchemy 2.0.4 </a:t>
            </a:r>
            <a:r>
              <a:rPr lang="ko-KR" altLang="en-US" sz="2000" smtClean="0"/>
              <a:t>기반 작성</a:t>
            </a:r>
            <a:endParaRPr lang="en-US" altLang="ko-KR" sz="2000" smtClean="0"/>
          </a:p>
          <a:p>
            <a:r>
              <a:rPr lang="ko-KR" altLang="en-US" sz="2000" smtClean="0"/>
              <a:t>비동기 환경에서</a:t>
            </a:r>
            <a:r>
              <a:rPr lang="en-US" altLang="ko-KR" sz="2000"/>
              <a:t> </a:t>
            </a:r>
            <a:r>
              <a:rPr lang="ko-KR" altLang="en-US" sz="2000" smtClean="0"/>
              <a:t>세션 사용 방법 </a:t>
            </a:r>
            <a:endParaRPr lang="en-US" altLang="ko-KR" sz="2000" smtClean="0"/>
          </a:p>
          <a:p>
            <a:r>
              <a:rPr lang="ko-KR" altLang="en-US" sz="2000" smtClean="0"/>
              <a:t>세션 구현체 </a:t>
            </a:r>
            <a:r>
              <a:rPr lang="en-US" altLang="ko-KR" sz="2000" smtClean="0"/>
              <a:t>: AsyncSession </a:t>
            </a:r>
          </a:p>
          <a:p>
            <a:pPr marL="457200" lvl="1" indent="0">
              <a:buNone/>
            </a:pPr>
            <a:r>
              <a:rPr lang="en-US" altLang="ko-KR" sz="1800" smtClean="0"/>
              <a:t>- </a:t>
            </a:r>
            <a:r>
              <a:rPr lang="ko-KR" altLang="en-US" sz="1800" smtClean="0"/>
              <a:t>엔진 연결 </a:t>
            </a:r>
            <a:r>
              <a:rPr lang="en-US" altLang="ko-KR" sz="1800" smtClean="0"/>
              <a:t>: create_async_engine</a:t>
            </a:r>
          </a:p>
          <a:p>
            <a:pPr lvl="2"/>
            <a:r>
              <a:rPr lang="en-US" altLang="ko-KR" sz="1400" smtClean="0"/>
              <a:t>create_engine</a:t>
            </a:r>
            <a:r>
              <a:rPr lang="ko-KR" altLang="en-US" sz="1400" smtClean="0"/>
              <a:t>과 동일하나</a:t>
            </a:r>
            <a:r>
              <a:rPr lang="en-US" altLang="ko-KR" sz="1400" smtClean="0"/>
              <a:t>, async </a:t>
            </a:r>
            <a:r>
              <a:rPr lang="ko-KR" altLang="en-US" sz="1400" smtClean="0"/>
              <a:t>지원되는 </a:t>
            </a:r>
            <a:r>
              <a:rPr lang="en-US" altLang="ko-KR" sz="1400" smtClean="0"/>
              <a:t>DBAPI </a:t>
            </a:r>
            <a:r>
              <a:rPr lang="ko-KR" altLang="en-US" sz="1400" smtClean="0"/>
              <a:t>드라이버만 사용 해야 함 </a:t>
            </a:r>
            <a:endParaRPr lang="en-US" altLang="ko-KR" sz="1400"/>
          </a:p>
          <a:p>
            <a:pPr lvl="2"/>
            <a:r>
              <a:rPr lang="en-US" altLang="ko-KR" sz="1400" smtClean="0"/>
              <a:t>asyncpg(PostreSQL), aiomysql(MySQL), aioodbc(MSSQL) </a:t>
            </a:r>
            <a:endParaRPr lang="ko-KR" altLang="en-US" sz="1400"/>
          </a:p>
        </p:txBody>
      </p:sp>
      <p:sp>
        <p:nvSpPr>
          <p:cNvPr id="4" name="직사각형 3"/>
          <p:cNvSpPr/>
          <p:nvPr/>
        </p:nvSpPr>
        <p:spPr>
          <a:xfrm>
            <a:off x="6286500" y="63824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/>
              <a:t>https://miintto.github.io/docs/python-sqlalchemy-session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4" y="3671888"/>
            <a:ext cx="7111321" cy="271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5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SQLAchemy – </a:t>
            </a:r>
            <a:r>
              <a:rPr lang="en-US" altLang="ko-KR" sz="4000" smtClean="0"/>
              <a:t>5)</a:t>
            </a:r>
            <a:br>
              <a:rPr lang="en-US" altLang="ko-KR" sz="4000" smtClean="0"/>
            </a:br>
            <a:r>
              <a:rPr lang="en-US" altLang="ko-KR" sz="2800" smtClean="0"/>
              <a:t>SQLAlchemy 1.x</a:t>
            </a:r>
            <a:r>
              <a:rPr lang="ko-KR" altLang="en-US" sz="2800" smtClean="0"/>
              <a:t>와 </a:t>
            </a:r>
            <a:r>
              <a:rPr lang="en-US" altLang="ko-KR" sz="2800" smtClean="0"/>
              <a:t>2.0</a:t>
            </a:r>
            <a:r>
              <a:rPr lang="ko-KR" altLang="en-US" sz="2800" smtClean="0"/>
              <a:t>의 </a:t>
            </a:r>
            <a:r>
              <a:rPr lang="en-US" altLang="ko-KR" sz="2800" smtClean="0"/>
              <a:t>Query </a:t>
            </a:r>
            <a:r>
              <a:rPr lang="ko-KR" altLang="en-US" sz="2800" smtClean="0"/>
              <a:t>스타일 비교</a:t>
            </a:r>
            <a:endParaRPr lang="ko-KR" altLang="en-US" sz="2800"/>
          </a:p>
        </p:txBody>
      </p:sp>
      <p:sp>
        <p:nvSpPr>
          <p:cNvPr id="4" name="직사각형 3"/>
          <p:cNvSpPr/>
          <p:nvPr/>
        </p:nvSpPr>
        <p:spPr>
          <a:xfrm>
            <a:off x="8158396" y="6406634"/>
            <a:ext cx="3628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https://daco2020.tistory.com/324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000499"/>
              </p:ext>
            </p:extLst>
          </p:nvPr>
        </p:nvGraphicFramePr>
        <p:xfrm>
          <a:off x="838200" y="1929883"/>
          <a:ext cx="10205720" cy="445139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791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1.x </a:t>
                      </a:r>
                      <a:r>
                        <a:rPr lang="ko-KR" alt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스타일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2.0 </a:t>
                      </a:r>
                      <a:r>
                        <a:rPr lang="ko-KR" alt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스타일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레퍼런스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2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session.query(User).get(42)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session.get(User, 42)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sng">
                          <a:solidFill>
                            <a:srgbClr val="0070D1"/>
                          </a:solidFill>
                          <a:effectLst/>
                          <a:latin typeface="-apple-system"/>
                          <a:hlinkClick r:id="rId2"/>
                        </a:rPr>
                        <a:t>ORM Query - get() method moves to Session</a:t>
                      </a:r>
                      <a:endParaRPr lang="en-US" sz="1400">
                        <a:solidFill>
                          <a:srgbClr val="333333"/>
                        </a:solidFill>
                        <a:effectLst/>
                        <a:latin typeface="-apple-system"/>
                      </a:endParaRP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7877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session.query(User).all()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session.execute(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   select(User)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).scalars().all()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# or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session.scalars(select(User)).all()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sng">
                          <a:solidFill>
                            <a:srgbClr val="0070D1"/>
                          </a:solidFill>
                          <a:effectLst/>
                          <a:latin typeface="-apple-system"/>
                          <a:hlinkClick r:id="rId3"/>
                        </a:rPr>
                        <a:t>ORM Query Unified with Core Select</a:t>
                      </a: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/>
                      </a:r>
                      <a:b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400" u="sng">
                          <a:solidFill>
                            <a:srgbClr val="990000"/>
                          </a:solidFill>
                          <a:effectLst/>
                          <a:latin typeface="-apple-system"/>
                          <a:hlinkClick r:id="rId4"/>
                        </a:rPr>
                        <a:t>Session.scalars()</a:t>
                      </a: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</a:t>
                      </a:r>
                      <a:r>
                        <a:rPr lang="en-US" sz="1400" u="sng">
                          <a:solidFill>
                            <a:srgbClr val="990000"/>
                          </a:solidFill>
                          <a:effectLst/>
                          <a:latin typeface="-apple-system"/>
                          <a:hlinkClick r:id="rId5"/>
                        </a:rPr>
                        <a:t>Result.scalars()</a:t>
                      </a:r>
                      <a:endParaRPr lang="en-US" sz="1400">
                        <a:solidFill>
                          <a:srgbClr val="333333"/>
                        </a:solidFill>
                        <a:effectLst/>
                        <a:latin typeface="-apple-system"/>
                      </a:endParaRP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858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session.query(User).\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filter_by(name='some user').one()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session.execute(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   select(User).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   filter_by(name="some user")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).scalar_one()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sng">
                          <a:solidFill>
                            <a:srgbClr val="0070D1"/>
                          </a:solidFill>
                          <a:effectLst/>
                          <a:latin typeface="-apple-system"/>
                          <a:hlinkClick r:id="rId3"/>
                        </a:rPr>
                        <a:t>ORM Query Unified with Core Select</a:t>
                      </a: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/>
                      </a:r>
                      <a:b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400" u="sng">
                          <a:solidFill>
                            <a:srgbClr val="990000"/>
                          </a:solidFill>
                          <a:effectLst/>
                          <a:latin typeface="-apple-system"/>
                          <a:hlinkClick r:id="rId6"/>
                        </a:rPr>
                        <a:t>Result.scalar_one()</a:t>
                      </a:r>
                      <a:endParaRPr lang="en-US" sz="1400">
                        <a:solidFill>
                          <a:srgbClr val="333333"/>
                        </a:solidFill>
                        <a:effectLst/>
                        <a:latin typeface="-apple-system"/>
                      </a:endParaRP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8867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session.query(User).\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filter_by(name='some user').first()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session.scalars(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 select(User).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 filter_by(name="some user").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  limit(1)</a:t>
                      </a:r>
                      <a:b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3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>).first()</a:t>
                      </a: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sng">
                          <a:solidFill>
                            <a:srgbClr val="0070D1"/>
                          </a:solidFill>
                          <a:effectLst/>
                          <a:latin typeface="-apple-system"/>
                          <a:hlinkClick r:id="rId3"/>
                        </a:rPr>
                        <a:t>ORM Query Unified with Core Select</a:t>
                      </a:r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  <a:t/>
                      </a:r>
                      <a:br>
                        <a:rPr lang="en-US" sz="1400">
                          <a:solidFill>
                            <a:srgbClr val="333333"/>
                          </a:solidFill>
                          <a:effectLst/>
                          <a:latin typeface="-apple-system"/>
                        </a:rPr>
                      </a:br>
                      <a:r>
                        <a:rPr lang="en-US" sz="1400" u="sng">
                          <a:solidFill>
                            <a:srgbClr val="990000"/>
                          </a:solidFill>
                          <a:effectLst/>
                          <a:latin typeface="-apple-system"/>
                          <a:hlinkClick r:id="rId7"/>
                        </a:rPr>
                        <a:t>Result.first()</a:t>
                      </a:r>
                      <a:endParaRPr lang="en-US" sz="1400">
                        <a:solidFill>
                          <a:srgbClr val="333333"/>
                        </a:solidFill>
                        <a:effectLst/>
                        <a:latin typeface="-apple-system"/>
                      </a:endParaRPr>
                    </a:p>
                  </a:txBody>
                  <a:tcPr marL="23804" marR="23804" marT="23804" marB="23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889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SQLAchemy – </a:t>
            </a:r>
            <a:r>
              <a:rPr lang="en-US" altLang="ko-KR" smtClean="0"/>
              <a:t>6) </a:t>
            </a:r>
            <a:r>
              <a:rPr lang="ko-KR" altLang="en-US" sz="3200" smtClean="0"/>
              <a:t>쿼리 대신 데이터처리 명령</a:t>
            </a:r>
            <a:endParaRPr lang="ko-KR" altLang="en-US" sz="3200"/>
          </a:p>
        </p:txBody>
      </p:sp>
      <p:sp>
        <p:nvSpPr>
          <p:cNvPr id="5" name="직사각형 4"/>
          <p:cNvSpPr/>
          <p:nvPr/>
        </p:nvSpPr>
        <p:spPr>
          <a:xfrm>
            <a:off x="7648575" y="1506022"/>
            <a:ext cx="4129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https://engineer-mole.tistory.com/327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23" y="2152650"/>
            <a:ext cx="774288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ㅇ </a:t>
            </a:r>
            <a:r>
              <a:rPr lang="en-US" altLang="ko-KR" smtClean="0"/>
              <a:t>AND</a:t>
            </a:r>
          </a:p>
          <a:p>
            <a:r>
              <a:rPr lang="en-US" altLang="ko-KR" smtClean="0"/>
              <a:t>OR</a:t>
            </a:r>
          </a:p>
          <a:p>
            <a:r>
              <a:rPr lang="en-US" altLang="ko-KR" smtClean="0"/>
              <a:t>IN</a:t>
            </a:r>
            <a:r>
              <a:rPr lang="ko-KR" altLang="en-US" smtClean="0"/>
              <a:t>조건</a:t>
            </a:r>
            <a:endParaRPr lang="en-US" altLang="ko-KR" smtClean="0"/>
          </a:p>
          <a:p>
            <a:r>
              <a:rPr lang="en-US" altLang="ko-KR" smtClean="0"/>
              <a:t>NOT IN</a:t>
            </a:r>
          </a:p>
          <a:p>
            <a:r>
              <a:rPr lang="ko-KR" altLang="en-US" smtClean="0"/>
              <a:t>부등호 사용한 조건</a:t>
            </a:r>
            <a:endParaRPr lang="en-US" altLang="ko-KR" smtClean="0"/>
          </a:p>
          <a:p>
            <a:r>
              <a:rPr lang="en-US" altLang="ko-KR" smtClean="0"/>
              <a:t>BETWEEN</a:t>
            </a:r>
            <a:r>
              <a:rPr lang="ko-KR" altLang="en-US" smtClean="0"/>
              <a:t>구문</a:t>
            </a:r>
            <a:endParaRPr lang="en-US" altLang="ko-KR" smtClean="0"/>
          </a:p>
          <a:p>
            <a:r>
              <a:rPr lang="en-US" altLang="ko-KR" smtClean="0"/>
              <a:t>LIKE</a:t>
            </a:r>
          </a:p>
          <a:p>
            <a:r>
              <a:rPr lang="en-US" altLang="ko-KR" smtClean="0"/>
              <a:t>NULL  </a:t>
            </a:r>
            <a:r>
              <a:rPr lang="ko-KR" altLang="en-US" smtClean="0"/>
              <a:t>검색 </a:t>
            </a:r>
            <a:r>
              <a:rPr lang="en-US" altLang="ko-KR" smtClean="0"/>
              <a:t>/ </a:t>
            </a:r>
            <a:r>
              <a:rPr lang="ko-KR" altLang="en-US" smtClean="0"/>
              <a:t>제외</a:t>
            </a:r>
            <a:endParaRPr lang="en-US" altLang="ko-KR" smtClean="0"/>
          </a:p>
          <a:p>
            <a:r>
              <a:rPr lang="en-US" altLang="ko-KR" smtClean="0"/>
              <a:t>order_by</a:t>
            </a:r>
          </a:p>
          <a:p>
            <a:r>
              <a:rPr lang="en-US" altLang="ko-KR" smtClean="0"/>
              <a:t>count</a:t>
            </a:r>
          </a:p>
          <a:p>
            <a:r>
              <a:rPr lang="en-US" altLang="ko-KR" smtClean="0"/>
              <a:t>exists</a:t>
            </a:r>
          </a:p>
          <a:p>
            <a:r>
              <a:rPr lang="en-US" altLang="ko-KR" smtClean="0"/>
              <a:t>limit, offset</a:t>
            </a:r>
          </a:p>
          <a:p>
            <a:r>
              <a:rPr lang="en-US" altLang="ko-KR" smtClean="0"/>
              <a:t>firs : </a:t>
            </a:r>
            <a:r>
              <a:rPr lang="ko-KR" altLang="en-US" smtClean="0"/>
              <a:t>처음데이터 개만 반환 </a:t>
            </a:r>
            <a:endParaRPr lang="en-US" altLang="ko-KR" smtClean="0"/>
          </a:p>
          <a:p>
            <a:r>
              <a:rPr lang="en-US" altLang="ko-KR"/>
              <a:t>employee = db_session.query(Employee).filter(Employee.year &gt; 3).first() </a:t>
            </a:r>
            <a:endParaRPr lang="en-US" altLang="ko-KR" smtClean="0"/>
          </a:p>
          <a:p>
            <a:r>
              <a:rPr lang="en-US" altLang="ko-KR" smtClean="0"/>
              <a:t>print(f</a:t>
            </a:r>
            <a:r>
              <a:rPr lang="en-US" altLang="ko-KR"/>
              <a:t>'{employee.name}</a:t>
            </a:r>
            <a:r>
              <a:rPr lang="ko-KR" altLang="en-US"/>
              <a:t>씨 근속연수</a:t>
            </a:r>
            <a:r>
              <a:rPr lang="en-US" altLang="ko-KR"/>
              <a:t>{employee.year}</a:t>
            </a:r>
            <a:r>
              <a:rPr lang="ko-KR" altLang="en-US"/>
              <a:t>년</a:t>
            </a:r>
            <a:r>
              <a:rPr lang="en-US" altLang="ko-KR"/>
              <a:t>')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694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sLLM - 1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1525" y="2292350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smtClean="0"/>
              <a:t>Llma2 </a:t>
            </a:r>
            <a:r>
              <a:rPr lang="ko-KR" altLang="en-US" smtClean="0"/>
              <a:t>계열</a:t>
            </a:r>
            <a:endParaRPr lang="en-US" altLang="ko-KR" smtClean="0"/>
          </a:p>
          <a:p>
            <a:r>
              <a:rPr lang="en-US" altLang="ko-KR"/>
              <a:t>### llama </a:t>
            </a:r>
            <a:r>
              <a:rPr lang="ko-KR" altLang="en-US"/>
              <a:t>활용 개발 예제 </a:t>
            </a:r>
            <a:r>
              <a:rPr lang="en-US" altLang="ko-KR"/>
              <a:t>####</a:t>
            </a:r>
          </a:p>
          <a:p>
            <a:r>
              <a:rPr lang="en-US" altLang="ko-KR"/>
              <a:t>1) GPU</a:t>
            </a:r>
            <a:r>
              <a:rPr lang="ko-KR" altLang="en-US"/>
              <a:t>에서 동작하는 </a:t>
            </a:r>
            <a:r>
              <a:rPr lang="en-US" altLang="ko-KR"/>
              <a:t>Llama2 </a:t>
            </a:r>
            <a:r>
              <a:rPr lang="ko-KR" altLang="en-US"/>
              <a:t>챗봇 구현 샘플  </a:t>
            </a:r>
            <a:r>
              <a:rPr lang="en-US" altLang="ko-KR"/>
              <a:t>https://junia3.github.io/blog/chatbotgpu</a:t>
            </a:r>
          </a:p>
          <a:p>
            <a:r>
              <a:rPr lang="en-US" altLang="ko-KR"/>
              <a:t>Langchain</a:t>
            </a:r>
            <a:r>
              <a:rPr lang="ko-KR" altLang="en-US"/>
              <a:t>으로 </a:t>
            </a:r>
            <a:r>
              <a:rPr lang="en-US" altLang="ko-KR"/>
              <a:t>LLaMA2 cpp </a:t>
            </a:r>
            <a:r>
              <a:rPr lang="ko-KR" altLang="en-US"/>
              <a:t>버전 사용하기</a:t>
            </a:r>
          </a:p>
          <a:p>
            <a:r>
              <a:rPr lang="en-US" altLang="ko-KR"/>
              <a:t>https://knowslog.tistory.com/entry/Langchain</a:t>
            </a:r>
            <a:r>
              <a:rPr lang="ko-KR" altLang="en-US"/>
              <a:t>으로</a:t>
            </a:r>
            <a:r>
              <a:rPr lang="en-US" altLang="ko-KR"/>
              <a:t>-LLaMA2-cpp-</a:t>
            </a:r>
            <a:r>
              <a:rPr lang="ko-KR" altLang="en-US"/>
              <a:t>버전</a:t>
            </a:r>
            <a:r>
              <a:rPr lang="en-US" altLang="ko-KR"/>
              <a:t>-</a:t>
            </a:r>
            <a:r>
              <a:rPr lang="ko-KR" altLang="en-US"/>
              <a:t>사용하기</a:t>
            </a:r>
          </a:p>
          <a:p>
            <a:r>
              <a:rPr lang="ko-KR" altLang="en-US"/>
              <a:t>로컬 환경에 </a:t>
            </a:r>
            <a:r>
              <a:rPr lang="en-US" altLang="ko-KR"/>
              <a:t>ollama</a:t>
            </a:r>
            <a:r>
              <a:rPr lang="ko-KR" altLang="en-US"/>
              <a:t>로 </a:t>
            </a:r>
            <a:r>
              <a:rPr lang="en-US" altLang="ko-KR"/>
              <a:t>Llama 2 </a:t>
            </a:r>
            <a:r>
              <a:rPr lang="ko-KR" altLang="en-US"/>
              <a:t>실행 및 </a:t>
            </a:r>
            <a:r>
              <a:rPr lang="en-US" altLang="ko-KR"/>
              <a:t>LangChain</a:t>
            </a:r>
            <a:r>
              <a:rPr lang="ko-KR" altLang="en-US"/>
              <a:t>으로 애플리케이션 개발</a:t>
            </a:r>
          </a:p>
          <a:p>
            <a:r>
              <a:rPr lang="en-US" altLang="ko-KR"/>
              <a:t>https://suwani.tistory.com/163</a:t>
            </a:r>
          </a:p>
          <a:p>
            <a:endParaRPr lang="en-US" altLang="ko-KR"/>
          </a:p>
          <a:p>
            <a:r>
              <a:rPr lang="en-US" altLang="ko-KR"/>
              <a:t>##### cpu </a:t>
            </a:r>
            <a:r>
              <a:rPr lang="ko-KR" altLang="en-US"/>
              <a:t>또는 저사양 동작 가능한 </a:t>
            </a:r>
            <a:r>
              <a:rPr lang="en-US" altLang="ko-KR"/>
              <a:t>llm </a:t>
            </a:r>
            <a:r>
              <a:rPr lang="ko-KR" altLang="en-US"/>
              <a:t>관련 참고한 사이트입니다</a:t>
            </a:r>
            <a:r>
              <a:rPr lang="en-US" altLang="ko-KR"/>
              <a:t>. </a:t>
            </a:r>
          </a:p>
          <a:p>
            <a:r>
              <a:rPr lang="ko-KR" altLang="en-US"/>
              <a:t>최대 </a:t>
            </a:r>
            <a:r>
              <a:rPr lang="en-US" altLang="ko-KR"/>
              <a:t>24</a:t>
            </a:r>
            <a:r>
              <a:rPr lang="ko-KR" altLang="en-US"/>
              <a:t>배 빠른 </a:t>
            </a:r>
            <a:r>
              <a:rPr lang="en-US" altLang="ko-KR"/>
              <a:t>vLLM</a:t>
            </a:r>
            <a:r>
              <a:rPr lang="ko-KR" altLang="en-US"/>
              <a:t>의 비밀 파헤치기</a:t>
            </a:r>
          </a:p>
          <a:p>
            <a:r>
              <a:rPr lang="ko-KR" altLang="en-US"/>
              <a:t> </a:t>
            </a:r>
            <a:r>
              <a:rPr lang="en-US" altLang="ko-KR"/>
              <a:t>: https://tech.scatterlab.co.kr/vllm-implementation-details</a:t>
            </a:r>
            <a:r>
              <a:rPr lang="en-US" altLang="ko-KR" smtClean="0"/>
              <a:t>/</a:t>
            </a:r>
            <a:endParaRPr lang="en-US" altLang="ko-KR"/>
          </a:p>
        </p:txBody>
      </p:sp>
      <p:sp>
        <p:nvSpPr>
          <p:cNvPr id="4" name="직사각형 3"/>
          <p:cNvSpPr/>
          <p:nvPr/>
        </p:nvSpPr>
        <p:spPr>
          <a:xfrm>
            <a:off x="1090774" y="1321356"/>
            <a:ext cx="72939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/>
              <a:t>Langchain</a:t>
            </a:r>
            <a:r>
              <a:rPr lang="ko-KR" altLang="en-US" sz="2400"/>
              <a:t>과 모듈화를 통해 파라미터 </a:t>
            </a:r>
            <a:r>
              <a:rPr lang="en-US" altLang="ko-KR" sz="2400"/>
              <a:t>/ </a:t>
            </a:r>
            <a:r>
              <a:rPr lang="ko-KR" altLang="en-US" sz="2400"/>
              <a:t>결과 구조화</a:t>
            </a:r>
            <a:endParaRPr lang="en-US" altLang="ko-KR" sz="2400"/>
          </a:p>
        </p:txBody>
      </p:sp>
    </p:spTree>
    <p:extLst>
      <p:ext uri="{BB962C8B-B14F-4D97-AF65-F5344CB8AC3E}">
        <p14:creationId xmlns:p14="http://schemas.microsoft.com/office/powerpoint/2010/main" val="1654853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sLLM - 2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altLang="ko-KR"/>
          </a:p>
          <a:p>
            <a:r>
              <a:rPr lang="en-US" altLang="ko-KR"/>
              <a:t>Llama2 13B </a:t>
            </a:r>
            <a:r>
              <a:rPr lang="ko-KR" altLang="en-US"/>
              <a:t>이용 </a:t>
            </a:r>
            <a:r>
              <a:rPr lang="en-US" altLang="ko-KR"/>
              <a:t>text-generation-webui : https://github.com/oobabooga/text-generation-webui</a:t>
            </a:r>
          </a:p>
          <a:p>
            <a:endParaRPr lang="en-US" altLang="ko-KR"/>
          </a:p>
          <a:p>
            <a:r>
              <a:rPr lang="en-US" altLang="ko-KR"/>
              <a:t>vLLM vs llama.cpp   https://www.reddit.com/r/LocalLLaMA/comments/18g21af/vllm_vs_llamacpp/</a:t>
            </a:r>
          </a:p>
          <a:p>
            <a:endParaRPr lang="en-US" altLang="ko-KR" smtClean="0"/>
          </a:p>
          <a:p>
            <a:r>
              <a:rPr lang="ko-KR" altLang="en-US" smtClean="0"/>
              <a:t>저사양 서버로 </a:t>
            </a:r>
            <a:r>
              <a:rPr lang="en-US" altLang="ko-KR" smtClean="0"/>
              <a:t>LLM </a:t>
            </a:r>
            <a:r>
              <a:rPr lang="ko-KR" altLang="en-US" smtClean="0"/>
              <a:t>실행 기술 </a:t>
            </a:r>
            <a:r>
              <a:rPr lang="en-US" altLang="ko-KR" smtClean="0"/>
              <a:t>- vLLM: https://doooob.tistory.com/1118</a:t>
            </a:r>
          </a:p>
          <a:p>
            <a:endParaRPr lang="en-US" altLang="ko-KR" smtClean="0"/>
          </a:p>
          <a:p>
            <a:r>
              <a:rPr lang="en-US" altLang="ko-KR" smtClean="0"/>
              <a:t>QLoRA  4090 1</a:t>
            </a:r>
            <a:r>
              <a:rPr lang="ko-KR" altLang="en-US" smtClean="0"/>
              <a:t>개로도 </a:t>
            </a:r>
            <a:r>
              <a:rPr lang="en-US" altLang="ko-KR" smtClean="0"/>
              <a:t>lama2 7B </a:t>
            </a:r>
            <a:r>
              <a:rPr lang="ko-KR" altLang="en-US" smtClean="0"/>
              <a:t>파인튜닝 가능</a:t>
            </a:r>
            <a:r>
              <a:rPr lang="en-US" altLang="ko-KR" smtClean="0"/>
              <a:t>??</a:t>
            </a:r>
          </a:p>
          <a:p>
            <a:r>
              <a:rPr lang="en-US" altLang="ko-KR" smtClean="0"/>
              <a:t>https://github.com/vllm-project/vllm</a:t>
            </a:r>
          </a:p>
          <a:p>
            <a:endParaRPr lang="en-US" altLang="ko-KR" smtClean="0"/>
          </a:p>
          <a:p>
            <a:r>
              <a:rPr lang="en-US" altLang="ko-KR" smtClean="0"/>
              <a:t> CPU</a:t>
            </a:r>
            <a:r>
              <a:rPr lang="ko-KR" altLang="en-US" smtClean="0"/>
              <a:t>에서</a:t>
            </a:r>
            <a:r>
              <a:rPr lang="en-US" altLang="ko-KR" smtClean="0"/>
              <a:t>llama2 cpp </a:t>
            </a:r>
            <a:r>
              <a:rPr lang="ko-KR" altLang="en-US" smtClean="0"/>
              <a:t>설치 </a:t>
            </a:r>
          </a:p>
          <a:p>
            <a:r>
              <a:rPr lang="en-US" altLang="ko-KR" smtClean="0"/>
              <a:t>https://huggingface.co/TheBloke/Llama-2-7B-Chat-GGUF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9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1382</Words>
  <Application>Microsoft Office PowerPoint</Application>
  <PresentationFormat>와이드스크린</PresentationFormat>
  <Paragraphs>305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-apple-system</vt:lpstr>
      <vt:lpstr>IBM Plex Mono</vt:lpstr>
      <vt:lpstr>SFMono-Regular</vt:lpstr>
      <vt:lpstr>system-ui</vt:lpstr>
      <vt:lpstr>맑은 고딕</vt:lpstr>
      <vt:lpstr>Arial</vt:lpstr>
      <vt:lpstr>Wingdings</vt:lpstr>
      <vt:lpstr>Office 테마</vt:lpstr>
      <vt:lpstr>LLM &amp; RAG 프로젝트 소개 - 개선사항, 기술스택</vt:lpstr>
      <vt:lpstr>LLM &amp; RAG</vt:lpstr>
      <vt:lpstr>개선 포인트</vt:lpstr>
      <vt:lpstr>프로젝트 및 기술스택</vt:lpstr>
      <vt:lpstr>임베딩 – 비용들지 않는 임베딩</vt:lpstr>
      <vt:lpstr>RAG 예제: 여러 문서 RAG저장 및 Q&amp;A봇  </vt:lpstr>
      <vt:lpstr>RAG 예제: 크로마DB 컬렉션 추가 / 삭제   - Langchain 기능??</vt:lpstr>
      <vt:lpstr>FastAPI   1) 특징</vt:lpstr>
      <vt:lpstr>FastAPI   1) 특징</vt:lpstr>
      <vt:lpstr>fastAPI   2) Flask와 비교  </vt:lpstr>
      <vt:lpstr>FastAPI 커뮤니티 설명 자료</vt:lpstr>
      <vt:lpstr>FastAPI 이용 restapi 구현</vt:lpstr>
      <vt:lpstr>SQLAchemy – 1) 예제</vt:lpstr>
      <vt:lpstr>SQLAchemy – 2) ORM 방식으로 데이터 조작하기 - ORM 객체 Update하기</vt:lpstr>
      <vt:lpstr>SQLAchemy – 3) 트랜잭션과 쿼리 실행하기</vt:lpstr>
      <vt:lpstr>SQLAchemy – 4) Async 환경에서 SQLAlchemy 세션 관리 – 2023.3.01</vt:lpstr>
      <vt:lpstr>SQLAchemy – 5) SQLAlchemy 1.x와 2.0의 Query 스타일 비교</vt:lpstr>
      <vt:lpstr>SQLAchemy – 6) 쿼리 대신 데이터처리 명령</vt:lpstr>
      <vt:lpstr>sLLM - 1</vt:lpstr>
      <vt:lpstr>sLLM - 2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</dc:creator>
  <cp:lastModifiedBy>LG</cp:lastModifiedBy>
  <cp:revision>80</cp:revision>
  <dcterms:created xsi:type="dcterms:W3CDTF">2024-02-09T16:04:55Z</dcterms:created>
  <dcterms:modified xsi:type="dcterms:W3CDTF">2024-02-23T15:21:01Z</dcterms:modified>
</cp:coreProperties>
</file>