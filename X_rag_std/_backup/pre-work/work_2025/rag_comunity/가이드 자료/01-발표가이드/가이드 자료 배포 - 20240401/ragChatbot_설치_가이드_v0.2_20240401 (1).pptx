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97" r:id="rId2"/>
    <p:sldId id="2595" r:id="rId3"/>
    <p:sldId id="2596" r:id="rId4"/>
    <p:sldId id="2599" r:id="rId5"/>
    <p:sldId id="2587" r:id="rId6"/>
    <p:sldId id="2588" r:id="rId7"/>
    <p:sldId id="2590" r:id="rId8"/>
    <p:sldId id="2591" r:id="rId9"/>
    <p:sldId id="2592" r:id="rId10"/>
    <p:sldId id="2594" r:id="rId11"/>
    <p:sldId id="259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F76"/>
    <a:srgbClr val="42509E"/>
    <a:srgbClr val="F9184F"/>
    <a:srgbClr val="FFFFFF"/>
    <a:srgbClr val="F1975A"/>
    <a:srgbClr val="169EF2"/>
    <a:srgbClr val="2ECBDA"/>
    <a:srgbClr val="F9FDFF"/>
    <a:srgbClr val="E8E9EB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56"/>
      </p:cViewPr>
      <p:guideLst>
        <p:guide orient="horz" pos="8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176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1F260-32CA-41B4-A733-496D529D4740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6F8FD-4449-42DA-9A8A-E0E5719C93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063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7E0FDD19-4017-4B76-A812-93629D63E246}" type="datetimeFigureOut">
              <a:rPr lang="ko-KR" altLang="en-US" smtClean="0"/>
              <a:pPr/>
              <a:t>2024-04-04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37675A1A-250A-472F-8E7E-7344F46CE81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973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B5C081C-0225-4033-BE8D-240089830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AA629F3D-2A7D-45DF-ABB6-66C122C06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69310088-4269-439C-A43B-7803A25F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01FD29E-2510-4574-BD20-3846FAC8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A019438-DAA4-4432-A610-FF0E4B86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06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825F111-25E5-44D4-8E6F-AD1B37D0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ECAD6EA4-D624-465E-B0DC-6B11A4C6B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ADFFC33-5751-4B5E-B402-888155A1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125F5FDD-C8C4-45A1-BE02-07B53A28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C05CCBA-ABC1-4FE6-BEBD-53AB4D47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93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61DD8E8-5AF2-4F42-ACBE-EFE38864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17AB6B25-9814-4D89-9F5F-ACCE58B2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BBFEFBB0-CFB6-4114-8546-6D3950A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4D888CC2-E073-442B-A357-892CF92C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F1A129A0-1A15-4A23-AF06-33669514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18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6AB2591-3631-49A8-BC7C-C03A198A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9C4245E0-9C36-49CE-A5B3-B961520EE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1358270-5833-481D-838E-E2CAC9034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D77D0C-9E33-4497-B7A4-D01E249E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A51C26B-AB35-4DE8-B654-0063C911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EA67C4B-DC62-415C-9C92-70A97F65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906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8BF841F-42DB-4BB1-BF08-ECA0450B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4F28ED5-EC90-42B8-A00B-5FAAF39AB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1D2FA54C-4A3F-4677-88A5-8746F7619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9C0E51AB-3C6B-49CA-B1E2-70543D681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9A8F0528-71C9-4947-BBA7-443FE13BC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05CB37C4-2FAE-4BFA-96CB-D8EFC95B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C1E671E0-2671-4C33-BB0D-7E83C85A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309B7117-549B-442F-9E87-07755B220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39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581C4F7-CB97-444A-83B3-478BAFE03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F5EFAB5B-731A-4345-8F7A-B8C821AC5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97AC6905-1D1F-4C97-8540-A881416A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5296442-D259-43E1-B490-BAD6F8E1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70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96868928-D140-467B-A9ED-C308ED6B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8E2C1105-9A16-43EB-8A0E-1FECA319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C2598145-54D8-4F19-BD64-B012C17C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280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F6B30D6-74BD-4357-A234-6DD955CED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52B10199-114E-4F70-A51F-A77DB0D2F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5A2CE97-BF85-4CF4-A64A-3B428374E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80CCA711-5286-4D71-9911-403D04AF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4388C05F-5FD7-4B07-9198-F5353262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7675022A-D81D-44B1-942E-CAE06C56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09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B74DF49-C287-4C8C-A952-C031AEC46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C83C60C7-5A7A-4552-89EC-9222B73F5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33D33E10-3A50-4793-803E-47899ACDA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8073EE4C-A28B-4AA0-9F70-473DCF5C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1B5653AE-0398-4F2B-B563-9CD622FD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22114AB5-BAAD-4177-ABF2-1EEDCF15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65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6A437-89D0-49F2-8787-46FC012A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EA1D093D-49E1-4C8E-854D-7E98ABC16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2B80BB7-4519-4F30-B7DA-7979FB21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48334E80-2887-44F3-B375-AF1AED4E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C1395012-8E0E-497E-A43D-02D35E69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56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8DA67B11-638E-4425-B00B-66844A849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3E976878-824A-4C8B-B634-FEE862E3B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D76A6B9-BAE4-47F4-B897-DA88F075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8BD76DB-C81A-4992-8C51-DAC60D89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C5E66F00-668D-4CC4-9E23-6BA6F668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083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524000" y="697279"/>
            <a:ext cx="9144000" cy="436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MY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21B3B8DA-BFB2-4224-99D4-72D676F8C673}"/>
              </a:ext>
            </a:extLst>
          </p:cNvPr>
          <p:cNvSpPr/>
          <p:nvPr userDrawn="1"/>
        </p:nvSpPr>
        <p:spPr>
          <a:xfrm>
            <a:off x="0" y="-4817"/>
            <a:ext cx="12192000" cy="7020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pPr algn="ctr" defTabSz="957816"/>
            <a:endParaRPr lang="ko-KR" altLang="en-US" sz="1900" dirty="0"/>
          </a:p>
        </p:txBody>
      </p:sp>
      <p:pic>
        <p:nvPicPr>
          <p:cNvPr id="6" name="Picture 2" descr="C:\Users\KT\Desktop\제주지방경찰청\패턴b.png">
            <a:extLst>
              <a:ext uri="{FF2B5EF4-FFF2-40B4-BE49-F238E27FC236}">
                <a16:creationId xmlns="" xmlns:a16="http://schemas.microsoft.com/office/drawing/2014/main" id="{14F6063E-65F2-44DC-8863-2C4C40A1352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1" b="90000" l="10000" r="9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-30783"/>
          <a:stretch/>
        </p:blipFill>
        <p:spPr bwMode="auto">
          <a:xfrm>
            <a:off x="2" y="-4817"/>
            <a:ext cx="4600449" cy="65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-4816"/>
            <a:ext cx="10515600" cy="471646"/>
          </a:xfrm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3951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42AC7BF2-CF02-47D0-AA1C-6AE74D80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28B44EBA-0B68-4292-B10D-7947E08BA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B5AEF4FE-3F42-42A1-BFB8-8F8F495B5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AA426D10-B61C-4D41-BF47-F13EBCAF00B6}" type="datetimeFigureOut">
              <a:rPr lang="ko-KR" altLang="en-US" smtClean="0"/>
              <a:pPr/>
              <a:t>2024-04-04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17252682-BF41-4B85-A6F8-96E39B488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16CFF57-D196-4EC6-814F-0488D7E76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F2390EE4-5187-411C-925E-401CDEC94A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93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afe.naver.com/aidev/486" TargetMode="External"/><Relationship Id="rId2" Type="http://schemas.openxmlformats.org/officeDocument/2006/relationships/hyperlink" Target="http://210.114.91.91:26869/wc/v1/project/list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210.114.91.91:26869/wc/v1/project/list" TargetMode="External"/><Relationship Id="rId2" Type="http://schemas.openxmlformats.org/officeDocument/2006/relationships/hyperlink" Target="https://cafe.naver.com/aidev/486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fegoesonme.tistory.com/549" TargetMode="External"/><Relationship Id="rId2" Type="http://schemas.openxmlformats.org/officeDocument/2006/relationships/hyperlink" Target="https://www.delftstack.com/ko/howto/python/python-create-requirements.txt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konlpy.org/_/downloads/ko/v0.6.0/pdf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hoiseokwon.tistory.com/291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afe.naver.com/aidev/465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어플리케이션 개요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1308847"/>
            <a:ext cx="85359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smtClean="0"/>
              <a:t>APP</a:t>
            </a:r>
            <a:r>
              <a:rPr lang="ko-KR" altLang="en-US" sz="1400" smtClean="0"/>
              <a:t>은 총 </a:t>
            </a:r>
            <a:r>
              <a:rPr lang="en-US" altLang="ko-KR" sz="1400" smtClean="0"/>
              <a:t>4</a:t>
            </a:r>
            <a:r>
              <a:rPr lang="ko-KR" altLang="en-US" sz="1400" smtClean="0"/>
              <a:t>개로 구성 </a:t>
            </a:r>
            <a:r>
              <a:rPr lang="en-US" altLang="ko-KR" sz="1400" smtClean="0"/>
              <a:t>: </a:t>
            </a:r>
            <a:r>
              <a:rPr lang="ko-KR" altLang="en-US" sz="1400" smtClean="0"/>
              <a:t>챗봇</a:t>
            </a:r>
            <a:r>
              <a:rPr lang="en-US" altLang="ko-KR" sz="1400" smtClean="0"/>
              <a:t>, </a:t>
            </a:r>
            <a:r>
              <a:rPr lang="ko-KR" altLang="en-US" sz="1400" smtClean="0"/>
              <a:t>챗봇관리</a:t>
            </a:r>
            <a:r>
              <a:rPr lang="en-US" altLang="ko-KR" sz="1400" smtClean="0"/>
              <a:t>, </a:t>
            </a:r>
            <a:r>
              <a:rPr lang="ko-KR" altLang="en-US" sz="1400" smtClean="0"/>
              <a:t>요약</a:t>
            </a:r>
            <a:r>
              <a:rPr lang="en-US" altLang="ko-KR" sz="1400" smtClean="0"/>
              <a:t>, </a:t>
            </a:r>
            <a:r>
              <a:rPr lang="ko-KR" altLang="en-US" sz="1400" smtClean="0"/>
              <a:t>시스템 어드민관리</a:t>
            </a:r>
            <a:endParaRPr lang="en-US" altLang="ko-KR" sz="1400" smtClean="0"/>
          </a:p>
          <a:p>
            <a:pPr marL="285750" indent="-285750">
              <a:buFontTx/>
              <a:buChar char="-"/>
            </a:pPr>
            <a:r>
              <a:rPr lang="en-US" altLang="ko-KR" sz="1400" smtClean="0"/>
              <a:t>LLM &amp; RAG </a:t>
            </a:r>
            <a:r>
              <a:rPr lang="ko-KR" altLang="en-US" sz="1400" smtClean="0"/>
              <a:t>기반 </a:t>
            </a:r>
            <a:r>
              <a:rPr lang="en-US" altLang="ko-KR" sz="1400" smtClean="0"/>
              <a:t>Q&amp;A</a:t>
            </a:r>
            <a:r>
              <a:rPr lang="ko-KR" altLang="en-US" sz="1400" smtClean="0"/>
              <a:t>봇</a:t>
            </a:r>
            <a:endParaRPr lang="en-US" altLang="ko-KR" sz="1400" smtClean="0"/>
          </a:p>
          <a:p>
            <a:pPr marL="285750" indent="-285750">
              <a:buFontTx/>
              <a:buChar char="-"/>
            </a:pPr>
            <a:r>
              <a:rPr lang="en-US" altLang="ko-KR" sz="1400" smtClean="0"/>
              <a:t>2</a:t>
            </a:r>
            <a:r>
              <a:rPr lang="ko-KR" altLang="en-US" sz="1400" smtClean="0"/>
              <a:t>가지 모드 구성 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  . RAG</a:t>
            </a:r>
            <a:r>
              <a:rPr lang="ko-KR" altLang="en-US" sz="1400" smtClean="0"/>
              <a:t>기본모드 </a:t>
            </a:r>
            <a:r>
              <a:rPr lang="en-US" altLang="ko-KR" sz="1400" smtClean="0"/>
              <a:t>: </a:t>
            </a:r>
            <a:r>
              <a:rPr lang="ko-KR" altLang="en-US" sz="1400" smtClean="0"/>
              <a:t>프로젝트 </a:t>
            </a:r>
            <a:r>
              <a:rPr lang="en-US" altLang="ko-KR" sz="1400" smtClean="0"/>
              <a:t>+ RAG</a:t>
            </a:r>
            <a:r>
              <a:rPr lang="ko-KR" altLang="en-US" sz="1400" smtClean="0"/>
              <a:t>문서 등록 후 </a:t>
            </a:r>
            <a:r>
              <a:rPr lang="en-US" altLang="ko-KR" sz="1400" smtClean="0"/>
              <a:t>RAG+LLM </a:t>
            </a:r>
            <a:r>
              <a:rPr lang="ko-KR" altLang="en-US" sz="1400" smtClean="0"/>
              <a:t>조회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  . RAG</a:t>
            </a:r>
            <a:r>
              <a:rPr lang="ko-KR" altLang="en-US" sz="1400" smtClean="0"/>
              <a:t>보완모드 </a:t>
            </a:r>
            <a:r>
              <a:rPr lang="en-US" altLang="ko-KR" sz="1400"/>
              <a:t>: RAG+LLM </a:t>
            </a:r>
            <a:r>
              <a:rPr lang="ko-KR" altLang="en-US" sz="1400" smtClean="0"/>
              <a:t>통해 조회 안되는 경우 인텐트</a:t>
            </a:r>
            <a:r>
              <a:rPr lang="en-US" altLang="ko-KR" sz="1400" smtClean="0"/>
              <a:t>(</a:t>
            </a:r>
            <a:r>
              <a:rPr lang="ko-KR" altLang="en-US" sz="1400" smtClean="0"/>
              <a:t>시나리오</a:t>
            </a:r>
            <a:r>
              <a:rPr lang="en-US" altLang="ko-KR" sz="1400" smtClean="0"/>
              <a:t>)</a:t>
            </a:r>
            <a:r>
              <a:rPr lang="ko-KR" altLang="en-US" sz="1400" smtClean="0"/>
              <a:t>에 질문</a:t>
            </a:r>
            <a:r>
              <a:rPr lang="en-US" altLang="ko-KR" sz="1400" smtClean="0"/>
              <a:t>/</a:t>
            </a:r>
            <a:r>
              <a:rPr lang="ko-KR" altLang="en-US" sz="1400" smtClean="0"/>
              <a:t>답변 등록하여 답변 처리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    * </a:t>
            </a:r>
            <a:r>
              <a:rPr lang="ko-KR" altLang="en-US" sz="1400" smtClean="0"/>
              <a:t>봇별로 기본 </a:t>
            </a:r>
            <a:r>
              <a:rPr lang="en-US" altLang="ko-KR" sz="1400" smtClean="0"/>
              <a:t>/ </a:t>
            </a:r>
            <a:r>
              <a:rPr lang="ko-KR" altLang="en-US" sz="1400" smtClean="0"/>
              <a:t>보완 모드 선택 필요</a:t>
            </a:r>
            <a:endParaRPr lang="en-US" altLang="ko-KR" sz="1400" smtClean="0"/>
          </a:p>
          <a:p>
            <a:pPr marL="285750" indent="-285750">
              <a:buFontTx/>
              <a:buChar char="-"/>
            </a:pPr>
            <a:r>
              <a:rPr lang="ko-KR" altLang="en-US" sz="1400" smtClean="0"/>
              <a:t>챗봇 동작 위해 사전에 챗봇관리에서 관련 정보 등록 필요 </a:t>
            </a:r>
            <a:endParaRPr lang="en-US" altLang="ko-KR" sz="1400" smtClean="0"/>
          </a:p>
          <a:p>
            <a:r>
              <a:rPr lang="ko-KR" altLang="en-US" sz="1400" smtClean="0"/>
              <a:t>     </a:t>
            </a:r>
            <a:r>
              <a:rPr lang="en-US" altLang="ko-KR" sz="1400" smtClean="0"/>
              <a:t>. </a:t>
            </a:r>
            <a:r>
              <a:rPr lang="ko-KR" altLang="en-US" sz="1400" smtClean="0"/>
              <a:t>챗봇관리에서 </a:t>
            </a:r>
            <a:r>
              <a:rPr lang="en-US" altLang="ko-KR" sz="1400"/>
              <a:t>SaaS</a:t>
            </a:r>
            <a:r>
              <a:rPr lang="ko-KR" altLang="en-US" sz="1400"/>
              <a:t> 형태 서비스 가능 구조</a:t>
            </a:r>
            <a:endParaRPr lang="en-US" altLang="ko-KR" sz="1400" smtClean="0"/>
          </a:p>
          <a:p>
            <a:r>
              <a:rPr lang="ko-KR" altLang="en-US" sz="1400" smtClean="0"/>
              <a:t>     </a:t>
            </a:r>
            <a:r>
              <a:rPr lang="en-US" altLang="ko-KR" sz="1400" smtClean="0"/>
              <a:t>. </a:t>
            </a:r>
            <a:r>
              <a:rPr lang="ko-KR" altLang="en-US" sz="1400" smtClean="0"/>
              <a:t>여러 </a:t>
            </a:r>
            <a:r>
              <a:rPr lang="ko-KR" altLang="en-US" sz="1400"/>
              <a:t>업체 입점하여 챗봇 이용 구조</a:t>
            </a:r>
            <a:endParaRPr lang="en-US" altLang="ko-KR" sz="1400"/>
          </a:p>
          <a:p>
            <a:pPr marL="285750" indent="-285750">
              <a:buFontTx/>
              <a:buChar char="-"/>
            </a:pPr>
            <a:endParaRPr lang="en-US" altLang="ko-KR" sz="1400" smtClean="0"/>
          </a:p>
          <a:p>
            <a:pPr marL="285750" indent="-285750">
              <a:buFontTx/>
              <a:buChar char="-"/>
            </a:pPr>
            <a:r>
              <a:rPr lang="en-US" altLang="ko-KR" sz="1400" smtClean="0"/>
              <a:t>. </a:t>
            </a:r>
            <a:r>
              <a:rPr lang="ko-KR" altLang="en-US" sz="1400" smtClean="0"/>
              <a:t>메뉴는 </a:t>
            </a:r>
            <a:r>
              <a:rPr lang="en-US" altLang="ko-KR" sz="1400"/>
              <a:t>4</a:t>
            </a:r>
            <a:r>
              <a:rPr lang="en-US" altLang="ko-KR" sz="1400" smtClean="0"/>
              <a:t>, </a:t>
            </a:r>
            <a:r>
              <a:rPr lang="ko-KR" altLang="en-US" sz="1400" smtClean="0"/>
              <a:t>프로젝트</a:t>
            </a:r>
            <a:r>
              <a:rPr lang="en-US" altLang="ko-KR" sz="1400" smtClean="0"/>
              <a:t>(</a:t>
            </a:r>
            <a:r>
              <a:rPr lang="ko-KR" altLang="en-US" sz="1400" smtClean="0"/>
              <a:t>봇</a:t>
            </a:r>
            <a:r>
              <a:rPr lang="en-US" altLang="ko-KR" sz="1400" smtClean="0"/>
              <a:t>),</a:t>
            </a:r>
            <a:r>
              <a:rPr lang="ko-KR" altLang="en-US" sz="1400" smtClean="0"/>
              <a:t> </a:t>
            </a:r>
            <a:r>
              <a:rPr lang="en-US" altLang="ko-KR" sz="1400" smtClean="0"/>
              <a:t> RAG</a:t>
            </a:r>
            <a:r>
              <a:rPr lang="ko-KR" altLang="en-US" sz="1400" smtClean="0"/>
              <a:t>문서 등록</a:t>
            </a:r>
            <a:r>
              <a:rPr lang="en-US" altLang="ko-KR" sz="1400" smtClean="0"/>
              <a:t>, </a:t>
            </a:r>
            <a:r>
              <a:rPr lang="ko-KR" altLang="en-US" sz="1400" smtClean="0"/>
              <a:t>카테고리</a:t>
            </a:r>
            <a:r>
              <a:rPr lang="en-US" altLang="ko-KR" sz="1400" smtClean="0"/>
              <a:t>, </a:t>
            </a:r>
            <a:r>
              <a:rPr lang="ko-KR" altLang="en-US" sz="1400" smtClean="0"/>
              <a:t>인텐트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  . RAG</a:t>
            </a:r>
            <a:r>
              <a:rPr lang="ko-KR" altLang="en-US" sz="1400" smtClean="0"/>
              <a:t>기본모드 </a:t>
            </a:r>
            <a:r>
              <a:rPr lang="en-US" altLang="ko-KR" sz="1400" smtClean="0"/>
              <a:t>/ </a:t>
            </a:r>
            <a:r>
              <a:rPr lang="ko-KR" altLang="en-US" sz="1400" smtClean="0"/>
              <a:t>보완모드 </a:t>
            </a:r>
            <a:r>
              <a:rPr lang="en-US" altLang="ko-KR" sz="1400" smtClean="0"/>
              <a:t>/ </a:t>
            </a:r>
            <a:r>
              <a:rPr lang="ko-KR" altLang="en-US" sz="1400" smtClean="0"/>
              <a:t>순수 </a:t>
            </a:r>
            <a:r>
              <a:rPr lang="en-US" altLang="ko-KR" sz="1400" smtClean="0"/>
              <a:t>LLM</a:t>
            </a:r>
            <a:r>
              <a:rPr lang="ko-KR" altLang="en-US" sz="1400" smtClean="0"/>
              <a:t>모드</a:t>
            </a:r>
            <a:r>
              <a:rPr lang="en-US" altLang="ko-KR" sz="1400" smtClean="0"/>
              <a:t>(</a:t>
            </a:r>
            <a:r>
              <a:rPr lang="ko-KR" altLang="en-US" sz="1400" smtClean="0"/>
              <a:t>추가</a:t>
            </a:r>
            <a:r>
              <a:rPr lang="en-US" altLang="ko-KR" sz="1400" smtClean="0"/>
              <a:t>) </a:t>
            </a:r>
          </a:p>
          <a:p>
            <a:r>
              <a:rPr lang="en-US" altLang="ko-KR" sz="1400"/>
              <a:t> </a:t>
            </a:r>
            <a:r>
              <a:rPr lang="en-US" altLang="ko-KR" sz="1400" smtClean="0"/>
              <a:t>   . RAG</a:t>
            </a:r>
            <a:r>
              <a:rPr lang="ko-KR" altLang="en-US" sz="1400" smtClean="0"/>
              <a:t>기본모드일때는 </a:t>
            </a:r>
            <a:r>
              <a:rPr lang="ko-KR" altLang="en-US" sz="1400"/>
              <a:t>테넌트</a:t>
            </a:r>
            <a:r>
              <a:rPr lang="en-US" altLang="ko-KR" sz="1400"/>
              <a:t>, </a:t>
            </a:r>
            <a:r>
              <a:rPr lang="ko-KR" altLang="en-US" sz="1400"/>
              <a:t>프로젝트</a:t>
            </a:r>
            <a:r>
              <a:rPr lang="en-US" altLang="ko-KR" sz="1400"/>
              <a:t>(</a:t>
            </a:r>
            <a:r>
              <a:rPr lang="ko-KR" altLang="en-US" sz="1400"/>
              <a:t>봇</a:t>
            </a:r>
            <a:r>
              <a:rPr lang="en-US" altLang="ko-KR" sz="1400"/>
              <a:t>),</a:t>
            </a:r>
            <a:r>
              <a:rPr lang="ko-KR" altLang="en-US" sz="1400"/>
              <a:t> </a:t>
            </a:r>
            <a:r>
              <a:rPr lang="en-US" altLang="ko-KR" sz="1400"/>
              <a:t> RAG</a:t>
            </a:r>
            <a:r>
              <a:rPr lang="ko-KR" altLang="en-US" sz="1400"/>
              <a:t>문서 </a:t>
            </a:r>
            <a:r>
              <a:rPr lang="ko-KR" altLang="en-US" sz="1400" smtClean="0"/>
              <a:t>등록까지 사용</a:t>
            </a:r>
            <a:endParaRPr lang="en-US" altLang="ko-KR" sz="1400" smtClean="0"/>
          </a:p>
          <a:p>
            <a:pPr marL="285750" indent="-285750">
              <a:buFontTx/>
              <a:buChar char="-"/>
            </a:pPr>
            <a:r>
              <a:rPr lang="ko-KR" altLang="en-US" sz="1400" smtClean="0"/>
              <a:t>테이블 </a:t>
            </a:r>
            <a:r>
              <a:rPr lang="en-US" altLang="ko-KR" sz="1400" smtClean="0"/>
              <a:t>(wc_ ) </a:t>
            </a:r>
          </a:p>
          <a:p>
            <a:r>
              <a:rPr lang="en-US" altLang="ko-KR" sz="1400"/>
              <a:t> </a:t>
            </a:r>
            <a:r>
              <a:rPr lang="en-US" altLang="ko-KR" sz="1400" smtClean="0"/>
              <a:t>   . company : app </a:t>
            </a:r>
            <a:r>
              <a:rPr lang="ko-KR" altLang="en-US" sz="1400" smtClean="0"/>
              <a:t>입접 고객사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  . project : </a:t>
            </a:r>
            <a:r>
              <a:rPr lang="ko-KR" altLang="en-US" sz="1400" smtClean="0"/>
              <a:t>프로젝트 </a:t>
            </a:r>
            <a:r>
              <a:rPr lang="en-US" altLang="ko-KR" sz="1400" smtClean="0"/>
              <a:t>: </a:t>
            </a:r>
            <a:r>
              <a:rPr lang="ko-KR" altLang="en-US" sz="1400" smtClean="0"/>
              <a:t>봇관리 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  . project_rag_doc    : RAG</a:t>
            </a:r>
            <a:r>
              <a:rPr lang="ko-KR" altLang="en-US" sz="1400" smtClean="0"/>
              <a:t>문서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  . wc_category        : </a:t>
            </a:r>
            <a:r>
              <a:rPr lang="ko-KR" altLang="en-US" sz="1400" smtClean="0"/>
              <a:t>카테고리</a:t>
            </a:r>
            <a:r>
              <a:rPr lang="en-US" altLang="ko-KR" sz="1400" smtClean="0"/>
              <a:t>(</a:t>
            </a:r>
            <a:r>
              <a:rPr lang="ko-KR" altLang="en-US" sz="1400" smtClean="0"/>
              <a:t>정보성</a:t>
            </a:r>
            <a:r>
              <a:rPr lang="en-US" altLang="ko-KR" sz="1400" smtClean="0"/>
              <a:t>)</a:t>
            </a:r>
            <a:r>
              <a:rPr lang="ko-KR" altLang="en-US" sz="1400" smtClean="0"/>
              <a:t> </a:t>
            </a:r>
            <a:r>
              <a:rPr lang="en-US" altLang="ko-KR" sz="1400" smtClean="0"/>
              <a:t>: </a:t>
            </a:r>
            <a:r>
              <a:rPr lang="ko-KR" altLang="en-US" sz="1400" smtClean="0"/>
              <a:t>인텐트 분류용 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  . intent                : </a:t>
            </a:r>
            <a:r>
              <a:rPr lang="ko-KR" altLang="en-US" sz="1400" smtClean="0"/>
              <a:t>인텐트 </a:t>
            </a:r>
            <a:r>
              <a:rPr lang="en-US" altLang="ko-KR" sz="1400" smtClean="0"/>
              <a:t>(</a:t>
            </a:r>
            <a:r>
              <a:rPr lang="ko-KR" altLang="en-US" sz="1400" smtClean="0"/>
              <a:t>챗봇에서 질문</a:t>
            </a:r>
            <a:r>
              <a:rPr lang="en-US" altLang="ko-KR" sz="1400" smtClean="0"/>
              <a:t>/</a:t>
            </a:r>
            <a:r>
              <a:rPr lang="ko-KR" altLang="en-US" sz="1400" smtClean="0"/>
              <a:t>답변 시나리오 등록 테이블 </a:t>
            </a:r>
            <a:r>
              <a:rPr lang="en-US" altLang="ko-KR" sz="1400" smtClean="0"/>
              <a:t>) </a:t>
            </a:r>
          </a:p>
          <a:p>
            <a:r>
              <a:rPr lang="en-US" altLang="ko-KR" sz="1400"/>
              <a:t> </a:t>
            </a:r>
            <a:r>
              <a:rPr lang="en-US" altLang="ko-KR" sz="1400" smtClean="0"/>
              <a:t>   . dialog_history (</a:t>
            </a:r>
            <a:r>
              <a:rPr lang="ko-KR" altLang="en-US" sz="1400" smtClean="0"/>
              <a:t>생성예정</a:t>
            </a:r>
            <a:r>
              <a:rPr lang="en-US" altLang="ko-KR" sz="1400" smtClean="0"/>
              <a:t>)   : </a:t>
            </a:r>
            <a:r>
              <a:rPr lang="ko-KR" altLang="en-US" sz="1400" smtClean="0"/>
              <a:t>챗봇 대화 이력 저장 </a:t>
            </a:r>
            <a:r>
              <a:rPr lang="en-US" altLang="ko-KR" sz="1400" smtClean="0"/>
              <a:t>: </a:t>
            </a:r>
            <a:r>
              <a:rPr lang="ko-KR" altLang="en-US" sz="1400" smtClean="0"/>
              <a:t>추후 인텐트 등록 이나 오류신고</a:t>
            </a:r>
            <a:r>
              <a:rPr lang="en-US" altLang="ko-KR" sz="1400" smtClean="0"/>
              <a:t>/</a:t>
            </a:r>
            <a:r>
              <a:rPr lang="ko-KR" altLang="en-US" sz="1400" smtClean="0"/>
              <a:t>처리 활용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95576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/>
          <p:cNvSpPr/>
          <p:nvPr/>
        </p:nvSpPr>
        <p:spPr>
          <a:xfrm>
            <a:off x="10586192" y="1524000"/>
            <a:ext cx="1338828" cy="7799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유사도</a:t>
            </a:r>
            <a:endParaRPr lang="ko-KR" altLang="en-US"/>
          </a:p>
        </p:txBody>
      </p:sp>
      <p:sp>
        <p:nvSpPr>
          <p:cNvPr id="146" name="Title 1">
            <a:extLst>
              <a:ext uri="{FF2B5EF4-FFF2-40B4-BE49-F238E27FC236}">
                <a16:creationId xmlns="" xmlns:a16="http://schemas.microsoft.com/office/drawing/2014/main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어플리케이션 구성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모서리가 둥근 직사각형 5">
            <a:extLst>
              <a:ext uri="{FF2B5EF4-FFF2-40B4-BE49-F238E27FC236}">
                <a16:creationId xmlns="" xmlns:a16="http://schemas.microsoft.com/office/drawing/2014/main" id="{1C3E5C10-7764-84E1-61E2-6BAE490C1CDF}"/>
              </a:ext>
            </a:extLst>
          </p:cNvPr>
          <p:cNvSpPr/>
          <p:nvPr/>
        </p:nvSpPr>
        <p:spPr>
          <a:xfrm>
            <a:off x="7082118" y="1258468"/>
            <a:ext cx="3227294" cy="914947"/>
          </a:xfrm>
          <a:prstGeom prst="roundRect">
            <a:avLst>
              <a:gd name="adj" fmla="val 46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mtClean="0">
                <a:solidFill>
                  <a:srgbClr val="FF0000"/>
                </a:solidFill>
              </a:rPr>
              <a:t>wc</a:t>
            </a:r>
            <a:r>
              <a:rPr lang="en-US" altLang="ko-KR" smtClean="0">
                <a:solidFill>
                  <a:schemeClr val="tx1"/>
                </a:solidFill>
              </a:rPr>
              <a:t>Chat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">
            <a:extLst>
              <a:ext uri="{FF2B5EF4-FFF2-40B4-BE49-F238E27FC236}">
                <a16:creationId xmlns="" xmlns:a16="http://schemas.microsoft.com/office/drawing/2014/main" id="{D56C4002-C288-A606-F172-D577E818BCDC}"/>
              </a:ext>
            </a:extLst>
          </p:cNvPr>
          <p:cNvSpPr/>
          <p:nvPr/>
        </p:nvSpPr>
        <p:spPr>
          <a:xfrm>
            <a:off x="986780" y="1250196"/>
            <a:ext cx="3306189" cy="902714"/>
          </a:xfrm>
          <a:prstGeom prst="roundRect">
            <a:avLst>
              <a:gd name="adj" fmla="val 503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mngChatBot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5">
            <a:extLst>
              <a:ext uri="{FF2B5EF4-FFF2-40B4-BE49-F238E27FC236}">
                <a16:creationId xmlns="" xmlns:a16="http://schemas.microsoft.com/office/drawing/2014/main" id="{1C3E5C10-7764-84E1-61E2-6BAE490C1CDF}"/>
              </a:ext>
            </a:extLst>
          </p:cNvPr>
          <p:cNvSpPr/>
          <p:nvPr/>
        </p:nvSpPr>
        <p:spPr>
          <a:xfrm>
            <a:off x="7093315" y="3389661"/>
            <a:ext cx="3776382" cy="662385"/>
          </a:xfrm>
          <a:prstGeom prst="roundRect">
            <a:avLst>
              <a:gd name="adj" fmla="val 46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wcSummary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모서리가 둥근 직사각형 4">
            <a:extLst>
              <a:ext uri="{FF2B5EF4-FFF2-40B4-BE49-F238E27FC236}">
                <a16:creationId xmlns="" xmlns:a16="http://schemas.microsoft.com/office/drawing/2014/main" id="{D56C4002-C288-A606-F172-D577E818BCDC}"/>
              </a:ext>
            </a:extLst>
          </p:cNvPr>
          <p:cNvSpPr/>
          <p:nvPr/>
        </p:nvSpPr>
        <p:spPr>
          <a:xfrm>
            <a:off x="997977" y="3273811"/>
            <a:ext cx="3306189" cy="778236"/>
          </a:xfrm>
          <a:prstGeom prst="roundRect">
            <a:avLst>
              <a:gd name="adj" fmla="val 503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sysWcAdmin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97977" y="848431"/>
            <a:ext cx="2697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챗봇관리  </a:t>
            </a:r>
            <a:r>
              <a:rPr lang="en-US" altLang="ko-KR" smtClean="0"/>
              <a:t>: port : </a:t>
            </a:r>
            <a:r>
              <a:rPr lang="ko-KR" altLang="en-US"/>
              <a:t>26869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2118" y="875308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챗봇 </a:t>
            </a:r>
            <a:r>
              <a:rPr lang="en-US" altLang="ko-KR" smtClean="0"/>
              <a:t>: </a:t>
            </a:r>
            <a:r>
              <a:rPr lang="ko-KR" altLang="en-US"/>
              <a:t>26870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780" y="290447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시스템관리</a:t>
            </a: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093315" y="305107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요약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104891" y="1776660"/>
            <a:ext cx="636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RAG</a:t>
            </a: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772326" y="17766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시나리오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04891" y="2235176"/>
            <a:ext cx="8563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mtClean="0"/>
              <a:t>- </a:t>
            </a:r>
            <a:r>
              <a:rPr lang="ko-KR" altLang="en-US" sz="1100" smtClean="0"/>
              <a:t>프로젝트</a:t>
            </a:r>
            <a:endParaRPr lang="en-US" altLang="ko-KR" sz="1100" smtClean="0"/>
          </a:p>
          <a:p>
            <a:r>
              <a:rPr lang="en-US" altLang="ko-KR" sz="1100" smtClean="0"/>
              <a:t>- RAG</a:t>
            </a:r>
            <a:r>
              <a:rPr lang="ko-KR" altLang="en-US" sz="1100" smtClean="0"/>
              <a:t>문서</a:t>
            </a:r>
            <a:endParaRPr lang="ko-KR" altLang="en-US" sz="1100"/>
          </a:p>
        </p:txBody>
      </p:sp>
      <p:sp>
        <p:nvSpPr>
          <p:cNvPr id="25" name="TextBox 24"/>
          <p:cNvSpPr txBox="1"/>
          <p:nvPr/>
        </p:nvSpPr>
        <p:spPr>
          <a:xfrm>
            <a:off x="2803825" y="2173415"/>
            <a:ext cx="14157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mtClean="0"/>
              <a:t>- </a:t>
            </a:r>
            <a:r>
              <a:rPr lang="ko-KR" altLang="en-US" sz="1100" smtClean="0"/>
              <a:t>인텐트</a:t>
            </a:r>
            <a:endParaRPr lang="en-US" altLang="ko-KR" sz="1100" smtClean="0"/>
          </a:p>
          <a:p>
            <a:r>
              <a:rPr lang="en-US" altLang="ko-KR" sz="1100" smtClean="0"/>
              <a:t>-</a:t>
            </a:r>
            <a:r>
              <a:rPr lang="ko-KR" altLang="en-US" sz="1100" smtClean="0"/>
              <a:t> 카테고리 </a:t>
            </a:r>
            <a:r>
              <a:rPr lang="en-US" altLang="ko-KR" sz="1100" smtClean="0"/>
              <a:t>(</a:t>
            </a:r>
            <a:r>
              <a:rPr lang="ko-KR" altLang="en-US" sz="1100" smtClean="0"/>
              <a:t>정보성</a:t>
            </a:r>
            <a:r>
              <a:rPr lang="en-US" altLang="ko-KR" sz="1100" smtClean="0"/>
              <a:t>)</a:t>
            </a:r>
            <a:endParaRPr lang="ko-KR" altLang="en-US" sz="1100"/>
          </a:p>
        </p:txBody>
      </p:sp>
      <p:sp>
        <p:nvSpPr>
          <p:cNvPr id="27" name="TextBox 26"/>
          <p:cNvSpPr txBox="1"/>
          <p:nvPr/>
        </p:nvSpPr>
        <p:spPr>
          <a:xfrm>
            <a:off x="986780" y="4129968"/>
            <a:ext cx="2834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- </a:t>
            </a:r>
            <a:r>
              <a:rPr lang="ko-KR" altLang="en-US" sz="1200" smtClean="0"/>
              <a:t>회사관리 </a:t>
            </a:r>
            <a:r>
              <a:rPr lang="en-US" altLang="ko-KR" sz="1200" smtClean="0"/>
              <a:t>(</a:t>
            </a:r>
            <a:r>
              <a:rPr lang="ko-KR" altLang="en-US" sz="1200" smtClean="0"/>
              <a:t>챗봇</a:t>
            </a:r>
            <a:r>
              <a:rPr lang="en-US" altLang="ko-KR" sz="1200" smtClean="0"/>
              <a:t>, </a:t>
            </a:r>
            <a:r>
              <a:rPr lang="ko-KR" altLang="en-US" sz="1200" smtClean="0"/>
              <a:t>요약</a:t>
            </a:r>
            <a:r>
              <a:rPr lang="en-US" altLang="ko-KR" sz="1200" smtClean="0"/>
              <a:t>, </a:t>
            </a:r>
            <a:r>
              <a:rPr lang="ko-KR" altLang="en-US" sz="1200" smtClean="0">
                <a:solidFill>
                  <a:schemeClr val="bg1">
                    <a:lumMod val="65000"/>
                  </a:schemeClr>
                </a:solidFill>
              </a:rPr>
              <a:t>콜봇</a:t>
            </a:r>
            <a:r>
              <a:rPr lang="ko-KR" altLang="en-US" sz="1200" smtClean="0"/>
              <a:t> 계약여부</a:t>
            </a:r>
            <a:r>
              <a:rPr lang="en-US" altLang="ko-KR" sz="1200" smtClean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200" smtClean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ko-KR" altLang="en-US" sz="1200" smtClean="0">
                <a:solidFill>
                  <a:schemeClr val="bg1">
                    <a:lumMod val="75000"/>
                  </a:schemeClr>
                </a:solidFill>
              </a:rPr>
              <a:t>조직관리</a:t>
            </a:r>
            <a:r>
              <a:rPr lang="en-US" altLang="ko-KR" sz="1200" smtClean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200" smtClean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ko-KR" altLang="en-US" sz="1200" smtClean="0">
                <a:solidFill>
                  <a:schemeClr val="bg1">
                    <a:lumMod val="75000"/>
                  </a:schemeClr>
                </a:solidFill>
              </a:rPr>
              <a:t>사용자관리</a:t>
            </a:r>
            <a:r>
              <a:rPr lang="en-US" altLang="ko-KR" sz="1200" smtClean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75221" y="2241973"/>
            <a:ext cx="840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- </a:t>
            </a:r>
            <a:r>
              <a:rPr lang="ko-KR" altLang="en-US" sz="1200" smtClean="0"/>
              <a:t>채팅</a:t>
            </a:r>
            <a:r>
              <a:rPr lang="en-US" altLang="ko-KR" sz="1200" smtClean="0"/>
              <a:t>API</a:t>
            </a:r>
            <a:endParaRPr lang="ko-KR" altLang="en-US" sz="1200"/>
          </a:p>
        </p:txBody>
      </p:sp>
      <p:sp>
        <p:nvSpPr>
          <p:cNvPr id="6" name="TextBox 5"/>
          <p:cNvSpPr txBox="1"/>
          <p:nvPr/>
        </p:nvSpPr>
        <p:spPr>
          <a:xfrm>
            <a:off x="9409209" y="2226073"/>
            <a:ext cx="20249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로직 선택 순서</a:t>
            </a:r>
            <a:endParaRPr lang="en-US" altLang="ko-KR" sz="1200" smtClean="0"/>
          </a:p>
          <a:p>
            <a:r>
              <a:rPr lang="en-US" altLang="ko-KR" sz="1200" smtClean="0"/>
              <a:t>1) </a:t>
            </a:r>
            <a:r>
              <a:rPr lang="ko-KR" altLang="en-US" sz="1200" smtClean="0"/>
              <a:t>시나리오 검색</a:t>
            </a:r>
            <a:endParaRPr lang="en-US" altLang="ko-KR" sz="1200" smtClean="0"/>
          </a:p>
          <a:p>
            <a:r>
              <a:rPr lang="en-US" altLang="ko-KR" sz="1200" smtClean="0"/>
              <a:t>2) 4</a:t>
            </a:r>
            <a:r>
              <a:rPr lang="ko-KR" altLang="en-US" sz="1200" smtClean="0"/>
              <a:t>가지 </a:t>
            </a:r>
            <a:r>
              <a:rPr lang="en-US" altLang="ko-KR" sz="1200" smtClean="0"/>
              <a:t>LLM </a:t>
            </a:r>
            <a:r>
              <a:rPr lang="ko-KR" altLang="en-US" sz="1200" smtClean="0"/>
              <a:t>분기</a:t>
            </a:r>
            <a:endParaRPr lang="en-US" altLang="ko-KR" sz="1200" smtClean="0"/>
          </a:p>
          <a:p>
            <a:r>
              <a:rPr lang="en-US" altLang="ko-KR" sz="1200" smtClean="0"/>
              <a:t>3) </a:t>
            </a:r>
            <a:r>
              <a:rPr lang="ko-KR" altLang="en-US" sz="1200" smtClean="0"/>
              <a:t>회사</a:t>
            </a:r>
            <a:r>
              <a:rPr lang="en-US" altLang="ko-KR" sz="1200" smtClean="0"/>
              <a:t>/</a:t>
            </a:r>
            <a:r>
              <a:rPr lang="ko-KR" altLang="en-US" sz="1200" smtClean="0"/>
              <a:t>프로젝트별 필터링</a:t>
            </a:r>
            <a:endParaRPr lang="en-US" altLang="ko-KR" sz="1200" smtClean="0"/>
          </a:p>
          <a:p>
            <a:endParaRPr lang="en-US" altLang="ko-KR" sz="1200" smtClean="0"/>
          </a:p>
          <a:p>
            <a:endParaRPr lang="ko-KR" altLang="en-US" sz="1200"/>
          </a:p>
        </p:txBody>
      </p:sp>
      <p:sp>
        <p:nvSpPr>
          <p:cNvPr id="8" name="TextBox 7"/>
          <p:cNvSpPr txBox="1"/>
          <p:nvPr/>
        </p:nvSpPr>
        <p:spPr>
          <a:xfrm>
            <a:off x="7082118" y="4169500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n</a:t>
            </a:r>
            <a:r>
              <a:rPr lang="ko-KR" altLang="en-US" sz="1200" smtClean="0"/>
              <a:t>줄 요약 </a:t>
            </a:r>
            <a:endParaRPr lang="ko-KR" altLang="en-US" sz="1200"/>
          </a:p>
        </p:txBody>
      </p:sp>
      <p:sp>
        <p:nvSpPr>
          <p:cNvPr id="9" name="TextBox 8"/>
          <p:cNvSpPr txBox="1"/>
          <p:nvPr/>
        </p:nvSpPr>
        <p:spPr>
          <a:xfrm>
            <a:off x="8338049" y="4190376"/>
            <a:ext cx="1941557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다건 요약 결과 일괄 리턴</a:t>
            </a:r>
            <a:endParaRPr lang="en-US" altLang="ko-KR" sz="1200" smtClean="0"/>
          </a:p>
          <a:p>
            <a:r>
              <a:rPr lang="en-US" altLang="ko-KR" sz="1050" smtClean="0"/>
              <a:t>(</a:t>
            </a:r>
            <a:r>
              <a:rPr lang="ko-KR" altLang="en-US" sz="1050" smtClean="0"/>
              <a:t>현재 단건 </a:t>
            </a:r>
            <a:r>
              <a:rPr lang="en-US" altLang="ko-KR" sz="1050" smtClean="0"/>
              <a:t>-&gt; </a:t>
            </a:r>
            <a:r>
              <a:rPr lang="ko-KR" altLang="en-US" sz="1050" smtClean="0"/>
              <a:t>단건 수정중</a:t>
            </a:r>
            <a:r>
              <a:rPr lang="en-US" altLang="ko-KR" sz="1050" smtClean="0"/>
              <a:t>)</a:t>
            </a:r>
            <a:endParaRPr lang="ko-KR" altLang="en-US" sz="1050"/>
          </a:p>
        </p:txBody>
      </p:sp>
      <p:sp>
        <p:nvSpPr>
          <p:cNvPr id="34" name="타원 33"/>
          <p:cNvSpPr/>
          <p:nvPr/>
        </p:nvSpPr>
        <p:spPr>
          <a:xfrm>
            <a:off x="5114757" y="2214281"/>
            <a:ext cx="1338828" cy="7799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mySQL</a:t>
            </a: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195922" y="2946096"/>
            <a:ext cx="14775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/>
              <a:t>port : </a:t>
            </a:r>
            <a:r>
              <a:rPr lang="ko-KR" altLang="en-US" smtClean="0"/>
              <a:t>26868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48783" y="5267578"/>
            <a:ext cx="300595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O </a:t>
            </a:r>
            <a:r>
              <a:rPr lang="ko-KR" altLang="en-US" sz="1000" smtClean="0"/>
              <a:t>기본 모드</a:t>
            </a:r>
            <a:endParaRPr lang="en-US" altLang="ko-KR" sz="1000" smtClean="0"/>
          </a:p>
          <a:p>
            <a:r>
              <a:rPr lang="ko-KR" altLang="en-US" sz="1000" smtClean="0"/>
              <a:t>컴퍼니 추가 </a:t>
            </a:r>
            <a:r>
              <a:rPr lang="en-US" altLang="ko-KR" sz="1000" smtClean="0"/>
              <a:t>-&gt; </a:t>
            </a:r>
            <a:r>
              <a:rPr lang="ko-KR" altLang="en-US" sz="1000" smtClean="0"/>
              <a:t>프로젝트 추가 </a:t>
            </a:r>
            <a:r>
              <a:rPr lang="en-US" altLang="ko-KR" sz="1000" smtClean="0"/>
              <a:t>-&gt; RAG</a:t>
            </a:r>
            <a:r>
              <a:rPr lang="ko-KR" altLang="en-US" sz="1000" smtClean="0"/>
              <a:t>문서 추가 </a:t>
            </a:r>
            <a:endParaRPr lang="en-US" altLang="ko-KR" sz="1000" smtClean="0"/>
          </a:p>
          <a:p>
            <a:r>
              <a:rPr lang="en-US" altLang="ko-KR" sz="1000" smtClean="0"/>
              <a:t>O </a:t>
            </a:r>
            <a:r>
              <a:rPr lang="ko-KR" altLang="en-US" sz="1000" smtClean="0"/>
              <a:t>보완모드</a:t>
            </a:r>
            <a:endParaRPr lang="en-US" altLang="ko-KR" sz="1000" smtClean="0"/>
          </a:p>
          <a:p>
            <a:r>
              <a:rPr lang="en-US" altLang="ko-KR" sz="1000"/>
              <a:t> </a:t>
            </a:r>
            <a:r>
              <a:rPr lang="en-US" altLang="ko-KR" sz="1000" smtClean="0"/>
              <a:t>- </a:t>
            </a:r>
            <a:r>
              <a:rPr lang="ko-KR" altLang="en-US" sz="1000" smtClean="0"/>
              <a:t>기본모드 </a:t>
            </a:r>
            <a:r>
              <a:rPr lang="en-US" altLang="ko-KR" sz="1000" smtClean="0"/>
              <a:t>+ </a:t>
            </a:r>
            <a:r>
              <a:rPr lang="ko-KR" altLang="en-US" sz="1000" smtClean="0"/>
              <a:t>카테고리 </a:t>
            </a:r>
            <a:r>
              <a:rPr lang="en-US" altLang="ko-KR" sz="1000" smtClean="0"/>
              <a:t>+ </a:t>
            </a:r>
            <a:r>
              <a:rPr lang="ko-KR" altLang="en-US" sz="1000" smtClean="0"/>
              <a:t>인텐트</a:t>
            </a:r>
            <a:r>
              <a:rPr lang="en-US" altLang="ko-KR" sz="1000" smtClean="0"/>
              <a:t>(</a:t>
            </a:r>
            <a:r>
              <a:rPr lang="ko-KR" altLang="en-US" sz="1000" smtClean="0"/>
              <a:t>시나리오</a:t>
            </a:r>
            <a:r>
              <a:rPr lang="en-US" altLang="ko-KR" sz="1000" smtClean="0"/>
              <a:t>)</a:t>
            </a:r>
          </a:p>
          <a:p>
            <a:endParaRPr lang="en-US" altLang="ko-KR" sz="100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ko-KR" altLang="en-US" sz="1000" smtClean="0"/>
              <a:t>챗봇관리에서 정보 등록 후 챗봇대화 가능</a:t>
            </a:r>
            <a:endParaRPr lang="en-US" altLang="ko-KR" sz="1000" smtClean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ko-KR" altLang="en-US" sz="1000" smtClean="0"/>
              <a:t>챗봇에서 대화할때 가장 먼저 </a:t>
            </a:r>
            <a:endParaRPr lang="ko-KR" altLang="en-US" sz="1000"/>
          </a:p>
        </p:txBody>
      </p:sp>
      <p:sp>
        <p:nvSpPr>
          <p:cNvPr id="11" name="TextBox 10"/>
          <p:cNvSpPr txBox="1"/>
          <p:nvPr/>
        </p:nvSpPr>
        <p:spPr>
          <a:xfrm>
            <a:off x="4388201" y="185820"/>
            <a:ext cx="4791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# APP</a:t>
            </a:r>
            <a:r>
              <a:rPr lang="ko-KR" altLang="en-US" smtClean="0"/>
              <a:t>별로 </a:t>
            </a:r>
            <a:r>
              <a:rPr lang="en-US" altLang="ko-KR" smtClean="0"/>
              <a:t>API </a:t>
            </a:r>
            <a:r>
              <a:rPr lang="ko-KR" altLang="en-US" smtClean="0"/>
              <a:t>호출 시스템이 다를 수 있음</a:t>
            </a:r>
            <a:r>
              <a:rPr lang="en-US" altLang="ko-KR" smtClean="0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91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프로그램 구조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1489682"/>
            <a:ext cx="5679760" cy="44012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smtClean="0"/>
              <a:t>/wc/chat/chatMain.py </a:t>
            </a:r>
            <a:r>
              <a:rPr lang="en-US" altLang="ko-KR" sz="1400"/>
              <a:t># </a:t>
            </a:r>
            <a:r>
              <a:rPr lang="ko-KR" altLang="en-US" sz="1400" smtClean="0"/>
              <a:t>챗봇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- chatLlm_101 (chatGPT)</a:t>
            </a:r>
          </a:p>
          <a:p>
            <a:r>
              <a:rPr lang="en-US" altLang="ko-KR" sz="1400" smtClean="0"/>
              <a:t>    ./chatSubLlmPredict101_biz.py  </a:t>
            </a:r>
          </a:p>
          <a:p>
            <a:r>
              <a:rPr lang="en-US" altLang="ko-KR" sz="1400" smtClean="0"/>
              <a:t>  </a:t>
            </a:r>
            <a:r>
              <a:rPr lang="en-US" altLang="ko-KR" sz="1400"/>
              <a:t>- chatLlm_102 </a:t>
            </a:r>
            <a:r>
              <a:rPr lang="en-US" altLang="ko-KR" sz="1400" smtClean="0"/>
              <a:t>(palm2)</a:t>
            </a:r>
            <a:endParaRPr lang="en-US" altLang="ko-KR" sz="1400"/>
          </a:p>
          <a:p>
            <a:r>
              <a:rPr lang="en-US" altLang="ko-KR" sz="1400" smtClean="0"/>
              <a:t>  - chatLlm_201 (sLLM-1)</a:t>
            </a:r>
          </a:p>
          <a:p>
            <a:r>
              <a:rPr lang="en-US" altLang="ko-KR" sz="1400" smtClean="0"/>
              <a:t>  </a:t>
            </a:r>
            <a:r>
              <a:rPr lang="en-US" altLang="ko-KR" sz="1400"/>
              <a:t>- </a:t>
            </a:r>
            <a:r>
              <a:rPr lang="en-US" altLang="ko-KR" sz="1400" smtClean="0"/>
              <a:t>chatLlm_202 </a:t>
            </a:r>
            <a:r>
              <a:rPr lang="en-US" altLang="ko-KR" sz="1400"/>
              <a:t>(</a:t>
            </a:r>
            <a:r>
              <a:rPr lang="en-US" altLang="ko-KR" sz="1400" smtClean="0"/>
              <a:t>sLLM-2)</a:t>
            </a:r>
          </a:p>
          <a:p>
            <a:r>
              <a:rPr lang="en-US" altLang="ko-KR" sz="1400" smtClean="0"/>
              <a:t>/wc/mngChatBot/mngAc_app.py  </a:t>
            </a:r>
            <a:r>
              <a:rPr lang="en-US" altLang="ko-KR" sz="1400"/>
              <a:t># </a:t>
            </a:r>
            <a:r>
              <a:rPr lang="ko-KR" altLang="en-US" sz="1400" smtClean="0"/>
              <a:t>챗봇관리</a:t>
            </a:r>
            <a:endParaRPr lang="en-US" altLang="ko-KR" sz="1400" smtClean="0"/>
          </a:p>
          <a:p>
            <a:r>
              <a:rPr lang="en-US" altLang="ko-KR" sz="1400" smtClean="0"/>
              <a:t>  - </a:t>
            </a:r>
            <a:r>
              <a:rPr lang="en-US" altLang="ko-KR" sz="1400"/>
              <a:t>chatLlmMng101 (chatGPT</a:t>
            </a:r>
            <a:r>
              <a:rPr lang="en-US" altLang="ko-KR" sz="1400" smtClean="0"/>
              <a:t>)</a:t>
            </a:r>
          </a:p>
          <a:p>
            <a:r>
              <a:rPr lang="en-US" altLang="ko-KR" sz="1400" smtClean="0"/>
              <a:t>   ./chatSubLlmMng101_biz.py </a:t>
            </a:r>
          </a:p>
          <a:p>
            <a:r>
              <a:rPr lang="en-US" altLang="ko-KR" sz="1400"/>
              <a:t> </a:t>
            </a:r>
            <a:r>
              <a:rPr lang="en-US" altLang="ko-KR" sz="1400" smtClean="0"/>
              <a:t> - </a:t>
            </a:r>
            <a:r>
              <a:rPr lang="en-US" altLang="ko-KR" sz="1400"/>
              <a:t>chatLlmMng102 (palm2)</a:t>
            </a:r>
          </a:p>
          <a:p>
            <a:r>
              <a:rPr lang="en-US" altLang="ko-KR" sz="1400" smtClean="0"/>
              <a:t>  - </a:t>
            </a:r>
            <a:r>
              <a:rPr lang="en-US" altLang="ko-KR" sz="1400"/>
              <a:t>chatLlmMng201(sLLM-1</a:t>
            </a:r>
            <a:r>
              <a:rPr lang="en-US" altLang="ko-KR" sz="1400" smtClean="0"/>
              <a:t>)</a:t>
            </a:r>
          </a:p>
          <a:p>
            <a:r>
              <a:rPr lang="en-US" altLang="ko-KR" sz="1400" smtClean="0"/>
              <a:t>  </a:t>
            </a:r>
            <a:r>
              <a:rPr lang="en-US" altLang="ko-KR" sz="1400"/>
              <a:t>- </a:t>
            </a:r>
            <a:r>
              <a:rPr lang="en-US" altLang="ko-KR" sz="1400" smtClean="0"/>
              <a:t>chatLlmMng202(sLLM-2)</a:t>
            </a:r>
            <a:endParaRPr lang="en-US" altLang="ko-KR" sz="1400"/>
          </a:p>
          <a:p>
            <a:r>
              <a:rPr lang="en-US" altLang="ko-KR" sz="1400" smtClean="0"/>
              <a:t>/data/</a:t>
            </a:r>
            <a:r>
              <a:rPr lang="en-US" altLang="ko-KR" sz="1400" smtClean="0">
                <a:solidFill>
                  <a:srgbClr val="FF0000"/>
                </a:solidFill>
              </a:rPr>
              <a:t>{company_id}</a:t>
            </a:r>
            <a:r>
              <a:rPr lang="en-US" altLang="ko-KR" sz="1400" smtClean="0"/>
              <a:t>      # RAG</a:t>
            </a:r>
            <a:r>
              <a:rPr lang="ko-KR" altLang="en-US" sz="1400" smtClean="0"/>
              <a:t>데이터 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- 000001   # RAG </a:t>
            </a:r>
            <a:r>
              <a:rPr lang="ko-KR" altLang="en-US" sz="1400" smtClean="0"/>
              <a:t>저장 경로 </a:t>
            </a:r>
            <a:r>
              <a:rPr lang="en-US" altLang="ko-KR" sz="1400" smtClean="0"/>
              <a:t>(</a:t>
            </a:r>
            <a:r>
              <a:rPr lang="ko-KR" altLang="en-US" sz="1400" smtClean="0"/>
              <a:t>프로젝트코드</a:t>
            </a:r>
            <a:r>
              <a:rPr lang="en-US" altLang="ko-KR" sz="1400" smtClean="0"/>
              <a:t>)</a:t>
            </a:r>
          </a:p>
          <a:p>
            <a:r>
              <a:rPr lang="en-US" altLang="ko-KR" sz="1400" smtClean="0"/>
              <a:t>/</a:t>
            </a:r>
            <a:r>
              <a:rPr lang="en-US" altLang="ko-KR" sz="1400"/>
              <a:t>model       </a:t>
            </a:r>
            <a:r>
              <a:rPr lang="en-US" altLang="ko-KR" sz="1400" smtClean="0"/>
              <a:t>   # sLLM </a:t>
            </a:r>
            <a:r>
              <a:rPr lang="ko-KR" altLang="en-US" sz="1400"/>
              <a:t>모델 경로</a:t>
            </a:r>
            <a:endParaRPr lang="en-US" altLang="ko-KR" sz="1400"/>
          </a:p>
          <a:p>
            <a:r>
              <a:rPr lang="en-US" altLang="ko-KR" sz="1400" smtClean="0"/>
              <a:t>/files             # </a:t>
            </a:r>
            <a:r>
              <a:rPr lang="ko-KR" altLang="en-US" sz="1400" smtClean="0"/>
              <a:t>업로드 파일 경로</a:t>
            </a:r>
            <a:endParaRPr lang="en-US" altLang="ko-KR" sz="1400" smtClean="0"/>
          </a:p>
          <a:p>
            <a:endParaRPr lang="en-US" altLang="ko-KR" sz="1400" smtClean="0"/>
          </a:p>
          <a:p>
            <a:r>
              <a:rPr lang="en-US" altLang="ko-KR" sz="1400" smtClean="0"/>
              <a:t>/shell               # </a:t>
            </a:r>
            <a:r>
              <a:rPr lang="ko-KR" altLang="en-US" sz="1400" smtClean="0"/>
              <a:t>데몬 구동 쉘</a:t>
            </a:r>
            <a:endParaRPr lang="en-US" altLang="ko-KR" sz="1400" smtClean="0"/>
          </a:p>
          <a:p>
            <a:r>
              <a:rPr lang="en-US" altLang="ko-KR" sz="1400" smtClean="0"/>
              <a:t>/summary         # </a:t>
            </a:r>
            <a:r>
              <a:rPr lang="ko-KR" altLang="en-US" sz="1400" smtClean="0"/>
              <a:t>문장 요약</a:t>
            </a:r>
            <a:endParaRPr lang="en-US" altLang="ko-KR" sz="1400" smtClean="0"/>
          </a:p>
          <a:p>
            <a:r>
              <a:rPr lang="en-US" altLang="ko-KR" sz="1400" smtClean="0"/>
              <a:t>/sysAcAdmin     # </a:t>
            </a:r>
            <a:r>
              <a:rPr lang="ko-KR" altLang="en-US" sz="1400" smtClean="0"/>
              <a:t>시스템관리 </a:t>
            </a:r>
            <a:r>
              <a:rPr lang="en-US" altLang="ko-KR" sz="1400" smtClean="0"/>
              <a:t>– </a:t>
            </a:r>
            <a:r>
              <a:rPr lang="ko-KR" altLang="en-US" sz="1400" smtClean="0"/>
              <a:t>컴퍼니 추가</a:t>
            </a:r>
            <a:r>
              <a:rPr lang="en-US" altLang="ko-KR" sz="1400" smtClean="0"/>
              <a:t>, </a:t>
            </a:r>
            <a:r>
              <a:rPr lang="ko-KR" altLang="en-US" sz="1400" smtClean="0"/>
              <a:t>조직추가</a:t>
            </a:r>
            <a:r>
              <a:rPr lang="en-US" altLang="ko-KR" sz="1400" smtClean="0"/>
              <a:t>, </a:t>
            </a:r>
            <a:r>
              <a:rPr lang="ko-KR" altLang="en-US" sz="1400" smtClean="0"/>
              <a:t>사용자 추가</a:t>
            </a:r>
            <a:endParaRPr lang="ko-KR" altLang="en-US" sz="1400"/>
          </a:p>
        </p:txBody>
      </p:sp>
      <p:sp>
        <p:nvSpPr>
          <p:cNvPr id="5" name="TextBox 4"/>
          <p:cNvSpPr txBox="1"/>
          <p:nvPr/>
        </p:nvSpPr>
        <p:spPr>
          <a:xfrm>
            <a:off x="7011019" y="1008444"/>
            <a:ext cx="46789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smtClean="0"/>
              <a:t>쉘 공통 </a:t>
            </a:r>
            <a:r>
              <a:rPr lang="en-US" altLang="ko-KR" sz="1200" smtClean="0"/>
              <a:t>: </a:t>
            </a:r>
          </a:p>
          <a:p>
            <a:r>
              <a:rPr lang="en-US" altLang="ko-KR" sz="1200"/>
              <a:t> - </a:t>
            </a:r>
            <a:r>
              <a:rPr lang="en-US" altLang="ko-KR" sz="1200" smtClean="0"/>
              <a:t>shell/profile.sh: </a:t>
            </a:r>
            <a:endParaRPr lang="en-US" altLang="ko-KR" sz="1200" smtClean="0"/>
          </a:p>
          <a:p>
            <a:r>
              <a:rPr lang="en-US" altLang="ko-KR" sz="1200"/>
              <a:t> </a:t>
            </a:r>
            <a:r>
              <a:rPr lang="en-US" altLang="ko-KR" sz="1200" smtClean="0"/>
              <a:t>          </a:t>
            </a:r>
            <a:r>
              <a:rPr lang="en-US" altLang="ko-KR" sz="1200" smtClean="0"/>
              <a:t>OPENAI_API_KEY</a:t>
            </a:r>
            <a:endParaRPr lang="en-US" altLang="ko-KR" sz="1200" smtClean="0"/>
          </a:p>
          <a:p>
            <a:r>
              <a:rPr lang="en-US" altLang="ko-KR" sz="1200"/>
              <a:t> </a:t>
            </a:r>
            <a:r>
              <a:rPr lang="en-US" altLang="ko-KR" sz="1200" smtClean="0"/>
              <a:t>          </a:t>
            </a:r>
            <a:r>
              <a:rPr lang="en-US" altLang="ko-KR" sz="1200" smtClean="0"/>
              <a:t>WC_ENV</a:t>
            </a:r>
            <a:r>
              <a:rPr lang="en-US" altLang="ko-KR" sz="1200" smtClean="0"/>
              <a:t>=“dev” (</a:t>
            </a:r>
            <a:r>
              <a:rPr lang="ko-KR" altLang="en-US" sz="1200" smtClean="0"/>
              <a:t>개발</a:t>
            </a:r>
            <a:r>
              <a:rPr lang="en-US" altLang="ko-KR" sz="1200" smtClean="0"/>
              <a:t>/</a:t>
            </a:r>
            <a:r>
              <a:rPr lang="ko-KR" altLang="en-US" sz="1200" smtClean="0"/>
              <a:t>운영 모드 선택</a:t>
            </a:r>
            <a:r>
              <a:rPr lang="en-US" altLang="ko-KR" sz="1200" smtClean="0"/>
              <a:t>)</a:t>
            </a:r>
          </a:p>
          <a:p>
            <a:r>
              <a:rPr lang="en-US" altLang="ko-KR" sz="1200"/>
              <a:t> </a:t>
            </a:r>
            <a:r>
              <a:rPr lang="en-US" altLang="ko-KR" sz="1200" smtClean="0"/>
              <a:t>- setenv_dev.sh  : 4</a:t>
            </a:r>
            <a:r>
              <a:rPr lang="ko-KR" altLang="en-US" sz="1200" smtClean="0"/>
              <a:t>개 어플리케이션별 파이썬 </a:t>
            </a:r>
            <a:r>
              <a:rPr lang="en-US" altLang="ko-KR" sz="1200" smtClean="0"/>
              <a:t>APP </a:t>
            </a:r>
            <a:r>
              <a:rPr lang="ko-KR" altLang="en-US" sz="1200" smtClean="0"/>
              <a:t>경로 </a:t>
            </a:r>
            <a:r>
              <a:rPr lang="en-US" altLang="ko-KR" sz="1200" smtClean="0"/>
              <a:t>/ APP</a:t>
            </a:r>
            <a:r>
              <a:rPr lang="ko-KR" altLang="en-US" sz="1200" smtClean="0"/>
              <a:t>명</a:t>
            </a:r>
            <a:endParaRPr lang="en-US" altLang="ko-KR" sz="1200" smtClean="0"/>
          </a:p>
          <a:p>
            <a:r>
              <a:rPr lang="en-US" altLang="ko-KR" sz="1200">
                <a:solidFill>
                  <a:srgbClr val="FF0000"/>
                </a:solidFill>
              </a:rPr>
              <a:t> </a:t>
            </a:r>
            <a:r>
              <a:rPr lang="en-US" altLang="ko-KR" sz="1200" smtClean="0">
                <a:solidFill>
                  <a:srgbClr val="FF0000"/>
                </a:solidFill>
              </a:rPr>
              <a:t>               source </a:t>
            </a:r>
            <a:r>
              <a:rPr lang="en-US" altLang="ko-KR" sz="1200">
                <a:solidFill>
                  <a:srgbClr val="FF0000"/>
                </a:solidFill>
              </a:rPr>
              <a:t>/app/miniconda3/bin/activate</a:t>
            </a:r>
          </a:p>
          <a:p>
            <a:r>
              <a:rPr lang="en-US" altLang="ko-KR" sz="1200" smtClean="0">
                <a:solidFill>
                  <a:srgbClr val="FF0000"/>
                </a:solidFill>
              </a:rPr>
              <a:t>                conda </a:t>
            </a:r>
            <a:r>
              <a:rPr lang="en-US" altLang="ko-KR" sz="1200">
                <a:solidFill>
                  <a:srgbClr val="FF0000"/>
                </a:solidFill>
              </a:rPr>
              <a:t>activate wc</a:t>
            </a:r>
          </a:p>
          <a:p>
            <a:endParaRPr lang="ko-KR" altLang="en-US" sz="1200"/>
          </a:p>
        </p:txBody>
      </p:sp>
      <p:sp>
        <p:nvSpPr>
          <p:cNvPr id="2" name="TextBox 1"/>
          <p:cNvSpPr txBox="1"/>
          <p:nvPr/>
        </p:nvSpPr>
        <p:spPr>
          <a:xfrm>
            <a:off x="7100047" y="2578104"/>
            <a:ext cx="47154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smtClean="0"/>
              <a:t>o </a:t>
            </a:r>
            <a:r>
              <a:rPr lang="ko-KR" altLang="en-US" sz="1400" smtClean="0"/>
              <a:t>프로그램 기동 구조</a:t>
            </a:r>
            <a:endParaRPr lang="en-US" altLang="ko-KR" sz="1400" smtClean="0"/>
          </a:p>
          <a:p>
            <a:r>
              <a:rPr lang="ko-KR" altLang="en-US" sz="1400" smtClean="0"/>
              <a:t> </a:t>
            </a:r>
            <a:r>
              <a:rPr lang="en-US" altLang="ko-KR" sz="1400" smtClean="0"/>
              <a:t>- </a:t>
            </a:r>
            <a:r>
              <a:rPr lang="ko-KR" altLang="en-US" sz="1400" smtClean="0"/>
              <a:t>챗봇 </a:t>
            </a:r>
            <a:r>
              <a:rPr lang="en-US" altLang="ko-KR" sz="1400" smtClean="0"/>
              <a:t>: /shell/start_wc_wcChat.sh</a:t>
            </a:r>
          </a:p>
          <a:p>
            <a:r>
              <a:rPr lang="en-US" altLang="ko-KR" sz="1200"/>
              <a:t> </a:t>
            </a:r>
            <a:r>
              <a:rPr lang="en-US" altLang="ko-KR" sz="1200" smtClean="0"/>
              <a:t> 1) profile.sh</a:t>
            </a:r>
          </a:p>
          <a:p>
            <a:r>
              <a:rPr lang="en-US" altLang="ko-KR" sz="1200"/>
              <a:t> </a:t>
            </a:r>
            <a:r>
              <a:rPr lang="en-US" altLang="ko-KR" sz="1200" smtClean="0"/>
              <a:t> 2) </a:t>
            </a:r>
            <a:r>
              <a:rPr lang="en-US" altLang="ko-KR" sz="1200"/>
              <a:t>setenv</a:t>
            </a:r>
            <a:r>
              <a:rPr lang="en-US" altLang="ko-KR" sz="1200" smtClean="0"/>
              <a:t>_＂$WC_ENV＂.sh</a:t>
            </a:r>
          </a:p>
          <a:p>
            <a:r>
              <a:rPr lang="en-US" altLang="ko-KR" sz="1200" smtClean="0"/>
              <a:t>  3) nohup </a:t>
            </a:r>
            <a:r>
              <a:rPr lang="en-US" altLang="ko-KR" sz="1200"/>
              <a:t>python </a:t>
            </a:r>
            <a:r>
              <a:rPr lang="en-US" altLang="ko-KR" sz="1200" smtClean="0"/>
              <a:t>＂$</a:t>
            </a:r>
            <a:r>
              <a:rPr lang="en-US" altLang="ko-KR" sz="1200"/>
              <a:t>APP_PATH_wcChat</a:t>
            </a:r>
            <a:r>
              <a:rPr lang="en-US" altLang="ko-KR" sz="1200"/>
              <a:t>/$</a:t>
            </a:r>
            <a:r>
              <a:rPr lang="en-US" altLang="ko-KR" sz="1200" smtClean="0"/>
              <a:t>PROC_NAME_wcChat＂ </a:t>
            </a:r>
            <a:r>
              <a:rPr lang="en-US" altLang="ko-KR" sz="1200"/>
              <a:t>&gt;&gt; wc_wcChat.out &amp;</a:t>
            </a:r>
          </a:p>
          <a:p>
            <a:r>
              <a:rPr lang="en-US" altLang="ko-KR" sz="1400"/>
              <a:t> </a:t>
            </a:r>
            <a:r>
              <a:rPr lang="en-US" altLang="ko-KR" sz="1400" smtClean="0"/>
              <a:t>- </a:t>
            </a:r>
            <a:r>
              <a:rPr lang="ko-KR" altLang="en-US" sz="1400" smtClean="0"/>
              <a:t>챗봇관리</a:t>
            </a:r>
            <a:r>
              <a:rPr lang="en-US" altLang="ko-KR" sz="1400"/>
              <a:t>: </a:t>
            </a:r>
            <a:r>
              <a:rPr lang="en-US" altLang="ko-KR" sz="1400" smtClean="0"/>
              <a:t>/shell/start_wc_mngChatBot.sh</a:t>
            </a:r>
          </a:p>
          <a:p>
            <a:r>
              <a:rPr lang="en-US" altLang="ko-KR" sz="1400"/>
              <a:t> </a:t>
            </a:r>
            <a:r>
              <a:rPr lang="en-US" altLang="ko-KR" sz="1400" smtClean="0"/>
              <a:t> ...</a:t>
            </a:r>
            <a:endParaRPr lang="en-US" altLang="ko-KR" sz="1400"/>
          </a:p>
          <a:p>
            <a:r>
              <a:rPr lang="en-US" altLang="ko-KR" sz="1200" smtClean="0"/>
              <a:t>  3) </a:t>
            </a:r>
            <a:r>
              <a:rPr lang="en-US" altLang="ko-KR" sz="1200"/>
              <a:t>nohup python "$APP_PATH_mngChatBot/$PROC_NAME_mngChatBot" &gt;&gt; wc_mngChatBot.out &amp;</a:t>
            </a:r>
          </a:p>
          <a:p>
            <a:endParaRPr lang="en-US" altLang="ko-KR" sz="1400" smtClean="0"/>
          </a:p>
          <a:p>
            <a:r>
              <a:rPr lang="en-US" altLang="ko-KR" sz="1400"/>
              <a:t>o </a:t>
            </a:r>
            <a:r>
              <a:rPr lang="ko-KR" altLang="en-US" sz="1400"/>
              <a:t>프로그램 </a:t>
            </a:r>
            <a:r>
              <a:rPr lang="ko-KR" altLang="en-US" sz="1400"/>
              <a:t>호출 </a:t>
            </a:r>
            <a:r>
              <a:rPr lang="ko-KR" altLang="en-US" sz="1400" smtClean="0"/>
              <a:t>구조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 </a:t>
            </a:r>
            <a:r>
              <a:rPr lang="en-US" altLang="ko-KR" sz="1400" u="sng">
                <a:hlinkClick r:id="rId2"/>
              </a:rPr>
              <a:t>http</a:t>
            </a:r>
            <a:r>
              <a:rPr lang="en-US" altLang="ko-KR" sz="1400" u="sng">
                <a:hlinkClick r:id="rId2"/>
              </a:rPr>
              <a:t>://</a:t>
            </a:r>
            <a:r>
              <a:rPr lang="en-US" altLang="ko-KR" sz="1400" u="sng" smtClean="0">
                <a:hlinkClick r:id="rId2"/>
              </a:rPr>
              <a:t>210.114.91.91:26869/wc/v1/project/list</a:t>
            </a:r>
            <a:endParaRPr lang="en-US" altLang="ko-KR" sz="1400"/>
          </a:p>
          <a:p>
            <a:r>
              <a:rPr lang="en-US" altLang="ko-KR" sz="1400"/>
              <a:t> </a:t>
            </a:r>
            <a:r>
              <a:rPr lang="en-US" altLang="ko-KR" sz="1400"/>
              <a:t>  </a:t>
            </a:r>
            <a:r>
              <a:rPr lang="en-US" altLang="ko-KR" sz="1400" smtClean="0"/>
              <a:t>1) mngChatBot/mngWc_app.py</a:t>
            </a:r>
            <a:endParaRPr lang="en-US" altLang="ko-KR" sz="1400"/>
          </a:p>
          <a:p>
            <a:r>
              <a:rPr lang="en-US" altLang="ko-KR" sz="1400" smtClean="0"/>
              <a:t>   2) </a:t>
            </a:r>
          </a:p>
          <a:p>
            <a:endParaRPr lang="en-US" altLang="ko-KR" sz="1400"/>
          </a:p>
          <a:p>
            <a:r>
              <a:rPr lang="en-US" altLang="ko-KR" sz="1400"/>
              <a:t># </a:t>
            </a:r>
            <a:r>
              <a:rPr lang="ko-KR" altLang="en-US" sz="1400"/>
              <a:t>포스트맨 등을 통해 </a:t>
            </a:r>
            <a:r>
              <a:rPr lang="en-US" altLang="ko-KR" sz="1400"/>
              <a:t>API </a:t>
            </a:r>
            <a:r>
              <a:rPr lang="ko-KR" altLang="en-US" sz="1400"/>
              <a:t>호출 안내 </a:t>
            </a:r>
            <a:r>
              <a:rPr lang="en-US" altLang="ko-KR" sz="1400"/>
              <a:t>: </a:t>
            </a:r>
            <a:r>
              <a:rPr lang="en-US" altLang="ko-KR" sz="1400" u="sng">
                <a:hlinkClick r:id="rId3"/>
              </a:rPr>
              <a:t>https</a:t>
            </a:r>
            <a:r>
              <a:rPr lang="en-US" altLang="ko-KR" sz="1400" u="sng">
                <a:hlinkClick r:id="rId3"/>
              </a:rPr>
              <a:t>://</a:t>
            </a:r>
            <a:r>
              <a:rPr lang="en-US" altLang="ko-KR" sz="1400" u="sng" smtClean="0">
                <a:hlinkClick r:id="rId3"/>
              </a:rPr>
              <a:t>cafe.naver.com/aidev/486</a:t>
            </a:r>
            <a:endParaRPr lang="en-US" altLang="ko-KR" sz="1400" u="sng" smtClean="0"/>
          </a:p>
          <a:p>
            <a:endParaRPr lang="en-US" altLang="ko-KR" sz="1400" u="sng" smtClean="0"/>
          </a:p>
          <a:p>
            <a:r>
              <a:rPr lang="en-US" altLang="ko-KR" sz="1400" u="sng" smtClean="0"/>
              <a:t>swagger UI : </a:t>
            </a:r>
            <a:r>
              <a:rPr lang="en-US" altLang="ko-KR" sz="1400" smtClean="0"/>
              <a:t>http</a:t>
            </a:r>
            <a:r>
              <a:rPr lang="en-US" altLang="ko-KR" sz="1400"/>
              <a:t>://210.114.91.91:26869/docs</a:t>
            </a:r>
          </a:p>
        </p:txBody>
      </p:sp>
    </p:spTree>
    <p:extLst>
      <p:ext uri="{BB962C8B-B14F-4D97-AF65-F5344CB8AC3E}">
        <p14:creationId xmlns:p14="http://schemas.microsoft.com/office/powerpoint/2010/main" val="252510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프로그램 구조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011019" y="1008444"/>
            <a:ext cx="46789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smtClean="0"/>
              <a:t>쉘 공통 </a:t>
            </a:r>
            <a:r>
              <a:rPr lang="en-US" altLang="ko-KR" sz="1200" smtClean="0"/>
              <a:t>: </a:t>
            </a:r>
          </a:p>
          <a:p>
            <a:r>
              <a:rPr lang="en-US" altLang="ko-KR" sz="1200"/>
              <a:t> - </a:t>
            </a:r>
            <a:r>
              <a:rPr lang="en-US" altLang="ko-KR" sz="1200" smtClean="0"/>
              <a:t>shell/profile.sh: </a:t>
            </a:r>
            <a:endParaRPr lang="en-US" altLang="ko-KR" sz="1200" smtClean="0"/>
          </a:p>
          <a:p>
            <a:r>
              <a:rPr lang="en-US" altLang="ko-KR" sz="1200"/>
              <a:t> </a:t>
            </a:r>
            <a:r>
              <a:rPr lang="en-US" altLang="ko-KR" sz="1200" smtClean="0"/>
              <a:t>          </a:t>
            </a:r>
            <a:r>
              <a:rPr lang="en-US" altLang="ko-KR" sz="1200" smtClean="0"/>
              <a:t>OPENAI_API_KEY</a:t>
            </a:r>
            <a:endParaRPr lang="en-US" altLang="ko-KR" sz="1200" smtClean="0"/>
          </a:p>
          <a:p>
            <a:r>
              <a:rPr lang="en-US" altLang="ko-KR" sz="1200"/>
              <a:t> </a:t>
            </a:r>
            <a:r>
              <a:rPr lang="en-US" altLang="ko-KR" sz="1200" smtClean="0"/>
              <a:t>          </a:t>
            </a:r>
            <a:r>
              <a:rPr lang="en-US" altLang="ko-KR" sz="1200" smtClean="0"/>
              <a:t>WC_ENV</a:t>
            </a:r>
            <a:r>
              <a:rPr lang="en-US" altLang="ko-KR" sz="1200" smtClean="0"/>
              <a:t>=“dev” (</a:t>
            </a:r>
            <a:r>
              <a:rPr lang="ko-KR" altLang="en-US" sz="1200" smtClean="0"/>
              <a:t>개발</a:t>
            </a:r>
            <a:r>
              <a:rPr lang="en-US" altLang="ko-KR" sz="1200" smtClean="0"/>
              <a:t>/</a:t>
            </a:r>
            <a:r>
              <a:rPr lang="ko-KR" altLang="en-US" sz="1200" smtClean="0"/>
              <a:t>운영 모드 선택</a:t>
            </a:r>
            <a:r>
              <a:rPr lang="en-US" altLang="ko-KR" sz="1200" smtClean="0"/>
              <a:t>)</a:t>
            </a:r>
          </a:p>
          <a:p>
            <a:r>
              <a:rPr lang="en-US" altLang="ko-KR" sz="1200"/>
              <a:t> </a:t>
            </a:r>
            <a:r>
              <a:rPr lang="en-US" altLang="ko-KR" sz="1200" smtClean="0"/>
              <a:t>- setenv_dev.sh  : 4</a:t>
            </a:r>
            <a:r>
              <a:rPr lang="ko-KR" altLang="en-US" sz="1200" smtClean="0"/>
              <a:t>개 어플리케이션별 파이썬 </a:t>
            </a:r>
            <a:r>
              <a:rPr lang="en-US" altLang="ko-KR" sz="1200" smtClean="0"/>
              <a:t>APP </a:t>
            </a:r>
            <a:r>
              <a:rPr lang="ko-KR" altLang="en-US" sz="1200" smtClean="0"/>
              <a:t>경로 </a:t>
            </a:r>
            <a:r>
              <a:rPr lang="en-US" altLang="ko-KR" sz="1200" smtClean="0"/>
              <a:t>/ APP</a:t>
            </a:r>
            <a:r>
              <a:rPr lang="ko-KR" altLang="en-US" sz="1200" smtClean="0"/>
              <a:t>명</a:t>
            </a:r>
            <a:endParaRPr lang="en-US" altLang="ko-KR" sz="1200" smtClean="0"/>
          </a:p>
          <a:p>
            <a:r>
              <a:rPr lang="en-US" altLang="ko-KR" sz="1200">
                <a:solidFill>
                  <a:srgbClr val="FF0000"/>
                </a:solidFill>
              </a:rPr>
              <a:t> </a:t>
            </a:r>
            <a:r>
              <a:rPr lang="en-US" altLang="ko-KR" sz="1200" smtClean="0">
                <a:solidFill>
                  <a:srgbClr val="FF0000"/>
                </a:solidFill>
              </a:rPr>
              <a:t>               source </a:t>
            </a:r>
            <a:r>
              <a:rPr lang="en-US" altLang="ko-KR" sz="1200">
                <a:solidFill>
                  <a:srgbClr val="FF0000"/>
                </a:solidFill>
              </a:rPr>
              <a:t>/app/miniconda3/bin/activate</a:t>
            </a:r>
          </a:p>
          <a:p>
            <a:r>
              <a:rPr lang="en-US" altLang="ko-KR" sz="1200" smtClean="0">
                <a:solidFill>
                  <a:srgbClr val="FF0000"/>
                </a:solidFill>
              </a:rPr>
              <a:t>                conda </a:t>
            </a:r>
            <a:r>
              <a:rPr lang="en-US" altLang="ko-KR" sz="1200">
                <a:solidFill>
                  <a:srgbClr val="FF0000"/>
                </a:solidFill>
              </a:rPr>
              <a:t>activate wc</a:t>
            </a:r>
          </a:p>
          <a:p>
            <a:endParaRPr lang="ko-KR" altLang="en-US" sz="1200"/>
          </a:p>
        </p:txBody>
      </p:sp>
      <p:sp>
        <p:nvSpPr>
          <p:cNvPr id="2" name="TextBox 1"/>
          <p:cNvSpPr txBox="1"/>
          <p:nvPr/>
        </p:nvSpPr>
        <p:spPr>
          <a:xfrm>
            <a:off x="7100047" y="2578104"/>
            <a:ext cx="47154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smtClean="0"/>
              <a:t>o </a:t>
            </a:r>
            <a:r>
              <a:rPr lang="ko-KR" altLang="en-US" sz="1400" smtClean="0"/>
              <a:t>프로그램 기동 구조</a:t>
            </a:r>
            <a:endParaRPr lang="en-US" altLang="ko-KR" sz="1400" smtClean="0"/>
          </a:p>
          <a:p>
            <a:r>
              <a:rPr lang="ko-KR" altLang="en-US" sz="1400" smtClean="0"/>
              <a:t> </a:t>
            </a:r>
            <a:r>
              <a:rPr lang="en-US" altLang="ko-KR" sz="1400" smtClean="0"/>
              <a:t>- </a:t>
            </a:r>
            <a:r>
              <a:rPr lang="ko-KR" altLang="en-US" sz="1400" smtClean="0"/>
              <a:t>챗봇 </a:t>
            </a:r>
            <a:r>
              <a:rPr lang="en-US" altLang="ko-KR" sz="1400" smtClean="0"/>
              <a:t>: /shell/start_wc_wcChat.sh</a:t>
            </a:r>
          </a:p>
          <a:p>
            <a:r>
              <a:rPr lang="en-US" altLang="ko-KR" sz="1200"/>
              <a:t> </a:t>
            </a:r>
            <a:r>
              <a:rPr lang="en-US" altLang="ko-KR" sz="1200" smtClean="0"/>
              <a:t> 1) profile.sh</a:t>
            </a:r>
          </a:p>
          <a:p>
            <a:r>
              <a:rPr lang="en-US" altLang="ko-KR" sz="1200"/>
              <a:t> </a:t>
            </a:r>
            <a:r>
              <a:rPr lang="en-US" altLang="ko-KR" sz="1200" smtClean="0"/>
              <a:t> 2) </a:t>
            </a:r>
            <a:r>
              <a:rPr lang="en-US" altLang="ko-KR" sz="1200"/>
              <a:t>setenv</a:t>
            </a:r>
            <a:r>
              <a:rPr lang="en-US" altLang="ko-KR" sz="1200" smtClean="0"/>
              <a:t>_＂$WC_ENV＂.sh</a:t>
            </a:r>
          </a:p>
          <a:p>
            <a:r>
              <a:rPr lang="en-US" altLang="ko-KR" sz="1200" smtClean="0"/>
              <a:t>  3) nohup </a:t>
            </a:r>
            <a:r>
              <a:rPr lang="en-US" altLang="ko-KR" sz="1200"/>
              <a:t>python </a:t>
            </a:r>
            <a:r>
              <a:rPr lang="en-US" altLang="ko-KR" sz="1200" smtClean="0"/>
              <a:t>＂$</a:t>
            </a:r>
            <a:r>
              <a:rPr lang="en-US" altLang="ko-KR" sz="1200"/>
              <a:t>APP_PATH_wcChat</a:t>
            </a:r>
            <a:r>
              <a:rPr lang="en-US" altLang="ko-KR" sz="1200"/>
              <a:t>/$</a:t>
            </a:r>
            <a:r>
              <a:rPr lang="en-US" altLang="ko-KR" sz="1200" smtClean="0"/>
              <a:t>PROC_NAME_wcChat＂ </a:t>
            </a:r>
            <a:r>
              <a:rPr lang="en-US" altLang="ko-KR" sz="1200"/>
              <a:t>&gt;&gt; wc_wcChat.out &amp;</a:t>
            </a:r>
          </a:p>
          <a:p>
            <a:r>
              <a:rPr lang="en-US" altLang="ko-KR" sz="1400"/>
              <a:t> </a:t>
            </a:r>
            <a:r>
              <a:rPr lang="en-US" altLang="ko-KR" sz="1400" smtClean="0"/>
              <a:t>- </a:t>
            </a:r>
            <a:r>
              <a:rPr lang="ko-KR" altLang="en-US" sz="1400" smtClean="0"/>
              <a:t>챗봇관리</a:t>
            </a:r>
            <a:r>
              <a:rPr lang="en-US" altLang="ko-KR" sz="1400"/>
              <a:t>: </a:t>
            </a:r>
            <a:r>
              <a:rPr lang="en-US" altLang="ko-KR" sz="1400" smtClean="0"/>
              <a:t>/shell/start_wc_mngChatBot.sh</a:t>
            </a:r>
          </a:p>
          <a:p>
            <a:r>
              <a:rPr lang="en-US" altLang="ko-KR" sz="1400"/>
              <a:t> </a:t>
            </a:r>
            <a:r>
              <a:rPr lang="en-US" altLang="ko-KR" sz="1400" smtClean="0"/>
              <a:t> ...</a:t>
            </a:r>
            <a:endParaRPr lang="en-US" altLang="ko-KR" sz="1400"/>
          </a:p>
          <a:p>
            <a:r>
              <a:rPr lang="en-US" altLang="ko-KR" sz="1200" smtClean="0"/>
              <a:t>  3) </a:t>
            </a:r>
            <a:r>
              <a:rPr lang="en-US" altLang="ko-KR" sz="1200"/>
              <a:t>nohup python "$APP_PATH_mngChatBot/$PROC_NAME_mngChatBot" &gt;&gt; wc_mngChatBot.out &amp;</a:t>
            </a:r>
          </a:p>
          <a:p>
            <a:endParaRPr lang="en-US" altLang="ko-KR" sz="1400" smtClean="0"/>
          </a:p>
          <a:p>
            <a:endParaRPr lang="en-US" altLang="ko-KR" sz="1400"/>
          </a:p>
          <a:p>
            <a:r>
              <a:rPr lang="en-US" altLang="ko-KR" sz="1400"/>
              <a:t># </a:t>
            </a:r>
            <a:r>
              <a:rPr lang="ko-KR" altLang="en-US" sz="1400"/>
              <a:t>포스트맨 등을 통해 </a:t>
            </a:r>
            <a:r>
              <a:rPr lang="en-US" altLang="ko-KR" sz="1400"/>
              <a:t>API </a:t>
            </a:r>
            <a:r>
              <a:rPr lang="ko-KR" altLang="en-US" sz="1400"/>
              <a:t>호출 안내 </a:t>
            </a:r>
            <a:r>
              <a:rPr lang="en-US" altLang="ko-KR" sz="1400"/>
              <a:t>: </a:t>
            </a:r>
            <a:r>
              <a:rPr lang="en-US" altLang="ko-KR" sz="1400" u="sng">
                <a:hlinkClick r:id="rId2"/>
              </a:rPr>
              <a:t>https</a:t>
            </a:r>
            <a:r>
              <a:rPr lang="en-US" altLang="ko-KR" sz="1400" u="sng">
                <a:hlinkClick r:id="rId2"/>
              </a:rPr>
              <a:t>://</a:t>
            </a:r>
            <a:r>
              <a:rPr lang="en-US" altLang="ko-KR" sz="1400" u="sng" smtClean="0">
                <a:hlinkClick r:id="rId2"/>
              </a:rPr>
              <a:t>cafe.naver.com/aidev/486</a:t>
            </a:r>
            <a:endParaRPr lang="en-US" altLang="ko-KR" sz="1400" u="sng" smtClean="0"/>
          </a:p>
          <a:p>
            <a:endParaRPr lang="en-US" altLang="ko-KR" sz="1400" u="sng" smtClean="0"/>
          </a:p>
          <a:p>
            <a:r>
              <a:rPr lang="en-US" altLang="ko-KR" sz="1400" u="sng" smtClean="0"/>
              <a:t>swagger UI : </a:t>
            </a:r>
            <a:r>
              <a:rPr lang="en-US" altLang="ko-KR" sz="1400" smtClean="0"/>
              <a:t>http</a:t>
            </a:r>
            <a:r>
              <a:rPr lang="en-US" altLang="ko-KR" sz="1400"/>
              <a:t>://210.114.91.91:26869/docs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708211" y="1116577"/>
            <a:ext cx="78082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/>
              <a:t>o </a:t>
            </a:r>
            <a:r>
              <a:rPr lang="ko-KR" altLang="en-US" sz="1200"/>
              <a:t>프로그램 호출 구조</a:t>
            </a:r>
            <a:endParaRPr lang="en-US" altLang="ko-KR" sz="1200"/>
          </a:p>
          <a:p>
            <a:r>
              <a:rPr lang="en-US" altLang="ko-KR" sz="1200"/>
              <a:t>   </a:t>
            </a:r>
            <a:r>
              <a:rPr lang="en-US" altLang="ko-KR" sz="1200" u="sng">
                <a:hlinkClick r:id="rId3"/>
              </a:rPr>
              <a:t>http://210.114.91.91:26869/wc/v1/project/list</a:t>
            </a:r>
            <a:endParaRPr lang="en-US" altLang="ko-KR" sz="1200"/>
          </a:p>
          <a:p>
            <a:r>
              <a:rPr lang="en-US" altLang="ko-KR" sz="1200"/>
              <a:t>   1) mngChatBot/mngWc_app.py</a:t>
            </a:r>
          </a:p>
          <a:p>
            <a:r>
              <a:rPr lang="en-US" altLang="ko-KR" sz="1200" smtClean="0"/>
              <a:t>	@</a:t>
            </a:r>
            <a:r>
              <a:rPr lang="en-US" altLang="ko-KR" sz="1200"/>
              <a:t>router.post("/project/list" , </a:t>
            </a:r>
            <a:r>
              <a:rPr lang="en-US" altLang="ko-KR" sz="1200" i="1"/>
              <a:t>response_model</a:t>
            </a:r>
            <a:r>
              <a:rPr lang="en-US" altLang="ko-KR" sz="1200"/>
              <a:t>=project_schema.ProjectList)</a:t>
            </a:r>
          </a:p>
          <a:p>
            <a:r>
              <a:rPr lang="en-US" altLang="ko-KR" sz="1200" smtClean="0"/>
              <a:t>	def </a:t>
            </a:r>
            <a:r>
              <a:rPr lang="en-US" altLang="ko-KR" sz="1200" b="1"/>
              <a:t>project_list</a:t>
            </a:r>
            <a:r>
              <a:rPr lang="en-US" altLang="ko-KR" sz="1200"/>
              <a:t>(</a:t>
            </a:r>
            <a:r>
              <a:rPr lang="en-US" altLang="ko-KR" sz="1200" i="1"/>
              <a:t>param</a:t>
            </a:r>
            <a:r>
              <a:rPr lang="en-US" altLang="ko-KR" sz="1200"/>
              <a:t> : project_schema.ProjectSearchParam):</a:t>
            </a:r>
          </a:p>
          <a:p>
            <a:r>
              <a:rPr lang="en-US" altLang="ko-KR" sz="1200" smtClean="0"/>
              <a:t>   </a:t>
            </a:r>
            <a:endParaRPr lang="en-US" altLang="ko-KR" sz="1200"/>
          </a:p>
          <a:p>
            <a:r>
              <a:rPr lang="en-US" altLang="ko-KR" sz="1200" smtClean="0"/>
              <a:t>   2) BIZ </a:t>
            </a:r>
            <a:r>
              <a:rPr lang="ko-KR" altLang="en-US" sz="1200" smtClean="0"/>
              <a:t>호출 </a:t>
            </a:r>
            <a:endParaRPr lang="en-US" altLang="ko-KR" sz="1200" smtClean="0"/>
          </a:p>
          <a:p>
            <a:r>
              <a:rPr lang="en-US" altLang="ko-KR" sz="1200" smtClean="0"/>
              <a:t>          total_cnt</a:t>
            </a:r>
            <a:r>
              <a:rPr lang="en-US" altLang="ko-KR" sz="1200"/>
              <a:t>, _project_list = project_biz.get_project_list(</a:t>
            </a:r>
            <a:r>
              <a:rPr lang="en-US" altLang="ko-KR" sz="1200" i="1"/>
              <a:t>param</a:t>
            </a:r>
            <a:r>
              <a:rPr lang="en-US" altLang="ko-KR" sz="1200"/>
              <a:t>) </a:t>
            </a:r>
            <a:endParaRPr lang="en-US" altLang="ko-KR" sz="1200" smtClean="0"/>
          </a:p>
          <a:p>
            <a:endParaRPr lang="en-US" altLang="ko-KR" sz="1200"/>
          </a:p>
          <a:p>
            <a:r>
              <a:rPr lang="en-US" altLang="ko-KR" sz="1200"/>
              <a:t>   3</a:t>
            </a:r>
            <a:r>
              <a:rPr lang="en-US" altLang="ko-KR" sz="1200"/>
              <a:t>) </a:t>
            </a:r>
            <a:r>
              <a:rPr lang="en-US" altLang="ko-KR" sz="1200" smtClean="0"/>
              <a:t>mngChatBot/project_biz.py</a:t>
            </a:r>
          </a:p>
          <a:p>
            <a:r>
              <a:rPr lang="en-US" altLang="ko-KR" sz="1200" smtClean="0"/>
              <a:t>        </a:t>
            </a:r>
            <a:r>
              <a:rPr lang="en-US" altLang="ko-KR" sz="1200"/>
              <a:t>def </a:t>
            </a:r>
            <a:r>
              <a:rPr lang="en-US" altLang="ko-KR" sz="1200" b="1"/>
              <a:t>get_project_list</a:t>
            </a:r>
            <a:r>
              <a:rPr lang="en-US" altLang="ko-KR" sz="1200"/>
              <a:t>(</a:t>
            </a:r>
            <a:r>
              <a:rPr lang="en-US" altLang="ko-KR" sz="1200" i="1"/>
              <a:t>param</a:t>
            </a:r>
            <a:r>
              <a:rPr lang="en-US" altLang="ko-KR" sz="1200"/>
              <a:t> : ProjectSearchParam):</a:t>
            </a:r>
          </a:p>
          <a:p>
            <a:r>
              <a:rPr lang="en-US" altLang="ko-KR" sz="1200" smtClean="0"/>
              <a:t>    </a:t>
            </a:r>
            <a:r>
              <a:rPr lang="en-US" altLang="ko-KR" sz="1200"/>
              <a:t>    total_cnt = session.query(Project).count()</a:t>
            </a:r>
          </a:p>
          <a:p>
            <a:endParaRPr lang="en-US" altLang="ko-KR" sz="1200" smtClean="0"/>
          </a:p>
          <a:p>
            <a:endParaRPr lang="en-US" altLang="ko-KR" sz="1200"/>
          </a:p>
          <a:p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08947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="" xmlns:a16="http://schemas.microsoft.com/office/drawing/2014/main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서버 구동 </a:t>
            </a:r>
            <a:r>
              <a: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Application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2" name="Group 264">
            <a:extLst>
              <a:ext uri="{FF2B5EF4-FFF2-40B4-BE49-F238E27FC236}">
                <a16:creationId xmlns="" xmlns:a16="http://schemas.microsoft.com/office/drawing/2014/main" id="{8716F23E-CB36-99DD-0CB4-1C37A2377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865551"/>
              </p:ext>
            </p:extLst>
          </p:nvPr>
        </p:nvGraphicFramePr>
        <p:xfrm>
          <a:off x="356754" y="1408529"/>
          <a:ext cx="9369952" cy="310220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1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871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83921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18247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930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기동여부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명령어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61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챗봇관리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./stop_wc_mngChatBot.sh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./start_wc_mngChatBot.sh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ps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–ef | grep </a:t>
                      </a:r>
                      <a:r>
                        <a:rPr lang="en-US" altLang="ko-KR" sz="12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mngWc_app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52276441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$ tail –</a:t>
                      </a:r>
                      <a:r>
                        <a:rPr kumimoji="0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f </a:t>
                      </a:r>
                      <a:r>
                        <a:rPr kumimoji="0" lang="en-US" altLang="ko-KR" sz="12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/home/ai/src/ragChatbot/shell/wc_mngChatBot.out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01233865"/>
                  </a:ext>
                </a:extLst>
              </a:tr>
              <a:tr h="1930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챗봇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./stop_wc_mngChatBot.sh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./start_wc_mngChatBot.sh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ps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-ef | grep </a:t>
                      </a:r>
                      <a:r>
                        <a:rPr lang="en-US" altLang="ko-KR" sz="12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wcChat_app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23652854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tail –f 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log/ta/dashboard/</a:t>
                      </a:r>
                      <a:r>
                        <a:rPr lang="en-US" altLang="ko-KR" sz="12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mngWc_app.out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37857366"/>
                  </a:ext>
                </a:extLst>
              </a:tr>
              <a:tr h="1930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endParaRPr kumimoji="0" lang="en-US" altLang="ko-KR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어드민관리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./stop_wc_mngChatBot.sh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./start_wc_mngChatBot.sh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ps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–ef | grep </a:t>
                      </a:r>
                      <a:r>
                        <a:rPr lang="en-US" altLang="ko-KR" sz="12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sysWcAdmin_app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tail –f /log/ca/scheduler/scheduler.log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30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요약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./stop_wc_mngChatBot.sh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./start_wc_mngChatBot.sh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–</a:t>
                      </a:r>
                      <a:r>
                        <a:rPr kumimoji="0" lang="en-US" altLang="ko-KR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ef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| grep </a:t>
                      </a:r>
                      <a:r>
                        <a:rPr lang="en-US" altLang="ko-KR" sz="12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wcSummary_app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tail –f /log/ta/inference/inference.log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49624" y="986118"/>
            <a:ext cx="518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mtClean="0"/>
              <a:t>#</a:t>
            </a:r>
            <a:r>
              <a:rPr lang="ko-KR" altLang="en-US" smtClean="0"/>
              <a:t>쉘 위치 </a:t>
            </a:r>
            <a:r>
              <a:rPr lang="en-US" altLang="ko-KR" smtClean="0"/>
              <a:t>: </a:t>
            </a:r>
            <a:r>
              <a:rPr lang="en-US" altLang="ko-KR" smtClean="0">
                <a:solidFill>
                  <a:srgbClr val="000000"/>
                </a:solidFill>
                <a:latin typeface="맑은 고딕" panose="020B0503020000020004" pitchFamily="50" charset="-127"/>
              </a:rPr>
              <a:t>$cd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</a:rPr>
              <a:t>/home/ai/src/ragChatbot/shell</a:t>
            </a:r>
            <a:r>
              <a:rPr lang="en-US" altLang="ko-KR" smtClean="0">
                <a:solidFill>
                  <a:srgbClr val="000000"/>
                </a:solidFill>
                <a:latin typeface="맑은 고딕" panose="020B0503020000020004" pitchFamily="50" charset="-127"/>
              </a:rPr>
              <a:t>/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41294" y="4903694"/>
            <a:ext cx="6920549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mtClean="0"/>
              <a:t>쉘 공통 </a:t>
            </a:r>
            <a:r>
              <a:rPr lang="en-US" altLang="ko-KR" smtClean="0"/>
              <a:t>: </a:t>
            </a:r>
          </a:p>
          <a:p>
            <a:r>
              <a:rPr lang="en-US" altLang="ko-KR"/>
              <a:t> - </a:t>
            </a:r>
            <a:r>
              <a:rPr lang="en-US" altLang="ko-KR" smtClean="0"/>
              <a:t>shell/profile.sh: OPENAI_API_KEY</a:t>
            </a:r>
          </a:p>
          <a:p>
            <a:r>
              <a:rPr lang="en-US" altLang="ko-KR"/>
              <a:t> </a:t>
            </a:r>
            <a:r>
              <a:rPr lang="en-US" altLang="ko-KR" smtClean="0"/>
              <a:t>                      WC_ENV=“dev” (</a:t>
            </a:r>
            <a:r>
              <a:rPr lang="ko-KR" altLang="en-US" smtClean="0"/>
              <a:t>개발</a:t>
            </a:r>
            <a:r>
              <a:rPr lang="en-US" altLang="ko-KR" smtClean="0"/>
              <a:t>/</a:t>
            </a:r>
            <a:r>
              <a:rPr lang="ko-KR" altLang="en-US" smtClean="0"/>
              <a:t>운영 모드 선택</a:t>
            </a:r>
            <a:r>
              <a:rPr lang="en-US" altLang="ko-KR" smtClean="0"/>
              <a:t>)</a:t>
            </a:r>
          </a:p>
          <a:p>
            <a:r>
              <a:rPr lang="en-US" altLang="ko-KR"/>
              <a:t> </a:t>
            </a:r>
            <a:r>
              <a:rPr lang="en-US" altLang="ko-KR" smtClean="0"/>
              <a:t>- setenv_dev.sh  : 4</a:t>
            </a:r>
            <a:r>
              <a:rPr lang="ko-KR" altLang="en-US" smtClean="0"/>
              <a:t>개 어플리케이션별 파이썬 </a:t>
            </a:r>
            <a:r>
              <a:rPr lang="en-US" altLang="ko-KR" smtClean="0"/>
              <a:t>APP </a:t>
            </a:r>
            <a:r>
              <a:rPr lang="ko-KR" altLang="en-US" smtClean="0"/>
              <a:t>경로 </a:t>
            </a:r>
            <a:r>
              <a:rPr lang="en-US" altLang="ko-KR" smtClean="0"/>
              <a:t>/ APP</a:t>
            </a:r>
            <a:r>
              <a:rPr lang="ko-KR" altLang="en-US" smtClean="0"/>
              <a:t>명</a:t>
            </a:r>
            <a:endParaRPr lang="en-US" altLang="ko-KR" smtClean="0"/>
          </a:p>
          <a:p>
            <a:r>
              <a:rPr lang="en-US" altLang="ko-KR" sz="1600">
                <a:solidFill>
                  <a:srgbClr val="FF0000"/>
                </a:solidFill>
              </a:rPr>
              <a:t> </a:t>
            </a:r>
            <a:r>
              <a:rPr lang="en-US" altLang="ko-KR" sz="1600" smtClean="0">
                <a:solidFill>
                  <a:srgbClr val="FF0000"/>
                </a:solidFill>
              </a:rPr>
              <a:t>               source </a:t>
            </a:r>
            <a:r>
              <a:rPr lang="en-US" altLang="ko-KR" sz="1600">
                <a:solidFill>
                  <a:srgbClr val="FF0000"/>
                </a:solidFill>
              </a:rPr>
              <a:t>/app/miniconda3/bin/activate</a:t>
            </a:r>
          </a:p>
          <a:p>
            <a:r>
              <a:rPr lang="en-US" altLang="ko-KR" sz="1600" smtClean="0">
                <a:solidFill>
                  <a:srgbClr val="FF0000"/>
                </a:solidFill>
              </a:rPr>
              <a:t>                conda </a:t>
            </a:r>
            <a:r>
              <a:rPr lang="en-US" altLang="ko-KR" sz="1600">
                <a:solidFill>
                  <a:srgbClr val="FF0000"/>
                </a:solidFill>
              </a:rPr>
              <a:t>activate wc</a:t>
            </a:r>
          </a:p>
          <a:p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069365" y="6293223"/>
            <a:ext cx="179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(</a:t>
            </a:r>
            <a:r>
              <a:rPr lang="ko-KR" altLang="en-US" smtClean="0"/>
              <a:t>가상환경 구동</a:t>
            </a:r>
            <a:r>
              <a:rPr lang="en-US" altLang="ko-KR" smtClean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55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="" xmlns:a16="http://schemas.microsoft.com/office/drawing/2014/main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Git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내려받기 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&amp; pip install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9624" y="986118"/>
            <a:ext cx="713830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2800" b="1" smtClean="0"/>
              <a:t>#ragChatbot </a:t>
            </a:r>
            <a:r>
              <a:rPr lang="ko-KR" altLang="en-US" sz="2800" b="1" smtClean="0"/>
              <a:t>접근 위한 팀 초대 신청</a:t>
            </a:r>
            <a:endParaRPr lang="en-US" altLang="ko-KR" sz="2800" b="1" smtClean="0"/>
          </a:p>
          <a:p>
            <a:pPr fontAlgn="base"/>
            <a:r>
              <a:rPr lang="en-US" altLang="ko-KR" sz="1400" smtClean="0"/>
              <a:t>- llmRagApp </a:t>
            </a:r>
            <a:r>
              <a:rPr lang="ko-KR" altLang="en-US" sz="1400" smtClean="0"/>
              <a:t>조직내에 </a:t>
            </a:r>
            <a:r>
              <a:rPr lang="en-US" altLang="ko-KR" sz="1400" smtClean="0"/>
              <a:t>admin</a:t>
            </a:r>
            <a:r>
              <a:rPr lang="ko-KR" altLang="en-US" sz="1400" smtClean="0"/>
              <a:t>팀 또는 </a:t>
            </a:r>
            <a:r>
              <a:rPr lang="en-US" altLang="ko-KR" sz="1400" smtClean="0"/>
              <a:t>committer</a:t>
            </a:r>
            <a:r>
              <a:rPr lang="ko-KR" altLang="en-US" sz="1400" smtClean="0"/>
              <a:t>팀에 초대 신청</a:t>
            </a:r>
            <a:endParaRPr lang="en-US" altLang="ko-KR" sz="1400" smtClean="0"/>
          </a:p>
          <a:p>
            <a:pPr fontAlgn="base"/>
            <a:r>
              <a:rPr lang="en-US" altLang="ko-KR" sz="1400" smtClean="0"/>
              <a:t> =&gt; </a:t>
            </a:r>
            <a:r>
              <a:rPr lang="ko-KR" altLang="en-US" sz="1400" smtClean="0"/>
              <a:t>안내</a:t>
            </a:r>
            <a:r>
              <a:rPr lang="en-US" altLang="ko-KR" sz="1400"/>
              <a:t>: https://cafe.naver.com/aidev/495</a:t>
            </a:r>
          </a:p>
          <a:p>
            <a:pPr fontAlgn="base"/>
            <a:endParaRPr lang="ko-KR" altLang="en-US" sz="1400"/>
          </a:p>
          <a:p>
            <a:pPr fontAlgn="base"/>
            <a:r>
              <a:rPr lang="en-US" altLang="ko-KR" sz="1400" smtClean="0"/>
              <a:t># </a:t>
            </a:r>
            <a:r>
              <a:rPr lang="ko-KR" altLang="en-US" sz="1400" smtClean="0"/>
              <a:t>초대 </a:t>
            </a:r>
            <a:r>
              <a:rPr lang="ko-KR" altLang="en-US" sz="1400"/>
              <a:t>완료된 이후에 </a:t>
            </a:r>
            <a:r>
              <a:rPr lang="en-US" altLang="ko-KR" sz="1400"/>
              <a:t>git clone </a:t>
            </a:r>
            <a:r>
              <a:rPr lang="ko-KR" altLang="en-US" sz="1400"/>
              <a:t>진행</a:t>
            </a:r>
          </a:p>
          <a:p>
            <a:pPr fontAlgn="base"/>
            <a:r>
              <a:rPr lang="en-US" altLang="ko-KR" sz="1400" smtClean="0"/>
              <a:t>$ </a:t>
            </a:r>
            <a:r>
              <a:rPr lang="ko-KR" altLang="en-US" sz="1400" smtClean="0"/>
              <a:t>sudo </a:t>
            </a:r>
            <a:r>
              <a:rPr lang="ko-KR" altLang="en-US" sz="1400"/>
              <a:t>yum install curl git</a:t>
            </a:r>
            <a:endParaRPr lang="en-US" altLang="ko-KR" sz="1400"/>
          </a:p>
          <a:p>
            <a:pPr fontAlgn="base"/>
            <a:r>
              <a:rPr lang="en-US" altLang="ko-KR" sz="1400" smtClean="0"/>
              <a:t>$ cd </a:t>
            </a:r>
            <a:r>
              <a:rPr lang="en-US" altLang="ko-KR" sz="1400"/>
              <a:t>/home/ai/src</a:t>
            </a:r>
            <a:r>
              <a:rPr lang="en-US" altLang="ko-KR" sz="1400" smtClean="0"/>
              <a:t>/</a:t>
            </a:r>
            <a:endParaRPr lang="en-US" altLang="ko-KR" sz="1400"/>
          </a:p>
          <a:p>
            <a:pPr fontAlgn="base"/>
            <a:r>
              <a:rPr lang="en-US" altLang="ko-KR" sz="1400" smtClean="0"/>
              <a:t>$ git </a:t>
            </a:r>
            <a:r>
              <a:rPr lang="en-US" altLang="ko-KR" sz="1400"/>
              <a:t>clone https://</a:t>
            </a:r>
            <a:r>
              <a:rPr lang="en-US" altLang="ko-KR" sz="1400" smtClean="0"/>
              <a:t>github.com/llmRagApp/ragChatbot</a:t>
            </a:r>
            <a:endParaRPr lang="en-US" altLang="ko-KR" sz="1400"/>
          </a:p>
          <a:p>
            <a:pPr fontAlgn="base"/>
            <a:r>
              <a:rPr lang="en-US" altLang="ko-KR" sz="1400" smtClean="0"/>
              <a:t>  Cloning </a:t>
            </a:r>
            <a:r>
              <a:rPr lang="en-US" altLang="ko-KR" sz="1400"/>
              <a:t>into 'ragChatbot</a:t>
            </a:r>
            <a:r>
              <a:rPr lang="en-US" altLang="ko-KR" sz="1400" smtClean="0"/>
              <a:t>'...</a:t>
            </a:r>
            <a:endParaRPr lang="en-US" altLang="ko-KR" sz="1400"/>
          </a:p>
          <a:p>
            <a:pPr fontAlgn="base"/>
            <a:r>
              <a:rPr lang="en-US" altLang="ko-KR" sz="1400" smtClean="0"/>
              <a:t>  Username </a:t>
            </a:r>
            <a:r>
              <a:rPr lang="en-US" altLang="ko-KR" sz="1400"/>
              <a:t>for 'https://github.com': </a:t>
            </a:r>
            <a:r>
              <a:rPr lang="ko-KR" altLang="en-US" sz="1400"/>
              <a:t>이메일 </a:t>
            </a:r>
            <a:r>
              <a:rPr lang="ko-KR" altLang="en-US" sz="1400" smtClean="0"/>
              <a:t>주소입력</a:t>
            </a:r>
            <a:endParaRPr lang="ko-KR" altLang="en-US" sz="1400"/>
          </a:p>
          <a:p>
            <a:pPr fontAlgn="base"/>
            <a:r>
              <a:rPr lang="en-US" altLang="ko-KR" sz="1400" smtClean="0"/>
              <a:t>  Password </a:t>
            </a:r>
            <a:r>
              <a:rPr lang="en-US" altLang="ko-KR" sz="1400"/>
              <a:t>for 'https://cnam9@naver.com@github.com': access</a:t>
            </a:r>
            <a:r>
              <a:rPr lang="ko-KR" altLang="en-US" sz="1400"/>
              <a:t>키 입력</a:t>
            </a:r>
          </a:p>
          <a:p>
            <a:pPr fontAlgn="base"/>
            <a:endParaRPr lang="ko-KR" altLang="en-US" sz="1400"/>
          </a:p>
          <a:p>
            <a:pPr fontAlgn="base"/>
            <a:r>
              <a:rPr lang="en-US" altLang="ko-KR" sz="1400"/>
              <a:t>access</a:t>
            </a:r>
            <a:r>
              <a:rPr lang="ko-KR" altLang="en-US" sz="1400"/>
              <a:t>키 등록 방법 </a:t>
            </a:r>
            <a:r>
              <a:rPr lang="en-US" altLang="ko-KR" sz="1400"/>
              <a:t>: </a:t>
            </a:r>
            <a:r>
              <a:rPr lang="ko-KR" altLang="en-US" sz="1400"/>
              <a:t>토큰의 권한정보 모두 선택 참조 </a:t>
            </a:r>
            <a:r>
              <a:rPr lang="en-US" altLang="ko-KR" sz="1400"/>
              <a:t>: https://hbase.tistory.com/355  </a:t>
            </a:r>
            <a:endParaRPr lang="en-US" altLang="ko-KR" sz="1400" smtClean="0"/>
          </a:p>
          <a:p>
            <a:pPr fontAlgn="base"/>
            <a:endParaRPr lang="en-US" altLang="ko-KR" sz="1400"/>
          </a:p>
          <a:p>
            <a:pPr fontAlgn="base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8459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="" xmlns:a16="http://schemas.microsoft.com/office/drawing/2014/main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환경 준비 가상환경 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–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파이썬 명령어로 직접 실행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0424" y="4188358"/>
            <a:ext cx="49231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400"/>
              <a:t># </a:t>
            </a:r>
            <a:r>
              <a:rPr lang="ko-KR" altLang="en-US" sz="1400"/>
              <a:t>가상환경 </a:t>
            </a:r>
            <a:r>
              <a:rPr lang="ko-KR" altLang="en-US" sz="1400" smtClean="0"/>
              <a:t>실행 </a:t>
            </a:r>
            <a:r>
              <a:rPr lang="en-US" altLang="ko-KR" sz="1400" smtClean="0"/>
              <a:t>(</a:t>
            </a:r>
            <a:r>
              <a:rPr lang="ko-KR" altLang="en-US" sz="1400" smtClean="0"/>
              <a:t>가상환경과 소스 폴더 위치 관련 없음  </a:t>
            </a:r>
            <a:r>
              <a:rPr lang="en-US" altLang="ko-KR" sz="1400" smtClean="0"/>
              <a:t>) </a:t>
            </a:r>
            <a:r>
              <a:rPr lang="ko-KR" altLang="en-US" sz="1400" smtClean="0"/>
              <a:t> </a:t>
            </a:r>
            <a:endParaRPr lang="ko-KR" altLang="en-US" sz="1400"/>
          </a:p>
          <a:p>
            <a:pPr fontAlgn="base"/>
            <a:r>
              <a:rPr lang="en-US" altLang="ko-KR" sz="1400"/>
              <a:t>source /app/miniconda3/bin/activate</a:t>
            </a:r>
          </a:p>
          <a:p>
            <a:pPr fontAlgn="base"/>
            <a:r>
              <a:rPr lang="en-US" altLang="ko-KR" sz="1400"/>
              <a:t>conda activate wc</a:t>
            </a:r>
          </a:p>
          <a:p>
            <a:pPr fontAlgn="base"/>
            <a:r>
              <a:rPr lang="en-US" altLang="ko-KR" sz="1400" smtClean="0"/>
              <a:t>cd /home/ai/src/ragChatbot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400424" y="5473005"/>
            <a:ext cx="4090351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400" b="1"/>
              <a:t># </a:t>
            </a:r>
            <a:r>
              <a:rPr lang="ko-KR" altLang="en-US" sz="1400" b="1" smtClean="0"/>
              <a:t>가상환경에 라이브러리 설치</a:t>
            </a:r>
            <a:endParaRPr lang="en-US" altLang="ko-KR" sz="1400" b="1" smtClean="0"/>
          </a:p>
          <a:p>
            <a:pPr fontAlgn="base"/>
            <a:r>
              <a:rPr lang="en-US" altLang="ko-KR" sz="1400"/>
              <a:t>cd /home/ai/src/ragChatbot</a:t>
            </a:r>
            <a:endParaRPr lang="ko-KR" altLang="en-US" sz="1400"/>
          </a:p>
          <a:p>
            <a:pPr fontAlgn="base"/>
            <a:r>
              <a:rPr lang="en-US" altLang="ko-KR" sz="1400"/>
              <a:t>pip install -r ac_sed_conda_pip_requirements.txt</a:t>
            </a:r>
            <a:endParaRPr lang="ko-KR" altLang="en-US" sz="1400"/>
          </a:p>
          <a:p>
            <a:pPr fontAlgn="base"/>
            <a:r>
              <a:rPr lang="en-US" altLang="ko-KR" sz="1400" smtClean="0"/>
              <a:t> (</a:t>
            </a:r>
            <a:r>
              <a:rPr lang="ko-KR" altLang="en-US" sz="1400" smtClean="0"/>
              <a:t>또는 </a:t>
            </a:r>
            <a:r>
              <a:rPr lang="en-US" altLang="ko-KR" sz="1400" smtClean="0"/>
              <a:t>pip install –r requirements.txt)</a:t>
            </a:r>
          </a:p>
          <a:p>
            <a:pPr fontAlgn="base"/>
            <a:endParaRPr lang="en-US" altLang="ko-KR" sz="1400"/>
          </a:p>
          <a:p>
            <a:pPr fontAlgn="base"/>
            <a:endParaRPr lang="en-US" altLang="ko-KR" sz="1400"/>
          </a:p>
        </p:txBody>
      </p:sp>
      <p:sp>
        <p:nvSpPr>
          <p:cNvPr id="4" name="직사각형 3"/>
          <p:cNvSpPr/>
          <p:nvPr/>
        </p:nvSpPr>
        <p:spPr>
          <a:xfrm>
            <a:off x="400424" y="296545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ko-KR" sz="1400"/>
              <a:t># </a:t>
            </a:r>
            <a:r>
              <a:rPr lang="ko-KR" altLang="en-US" sz="1400"/>
              <a:t>가상환경 생성 </a:t>
            </a:r>
            <a:endParaRPr lang="en-US" altLang="ko-KR" sz="1400"/>
          </a:p>
          <a:p>
            <a:pPr algn="just">
              <a:spcAft>
                <a:spcPts val="0"/>
              </a:spcAft>
            </a:pPr>
            <a:r>
              <a:rPr lang="en-US" altLang="ko-KR" sz="1400"/>
              <a:t>conda create –n </a:t>
            </a:r>
            <a:r>
              <a:rPr lang="en-US" altLang="ko-KR" sz="1400" smtClean="0"/>
              <a:t>w</a:t>
            </a:r>
            <a:r>
              <a:rPr lang="en-US" altLang="ko-KR" sz="1400" b="1" smtClean="0">
                <a:solidFill>
                  <a:srgbClr val="FF0000"/>
                </a:solidFill>
              </a:rPr>
              <a:t>c</a:t>
            </a:r>
            <a:r>
              <a:rPr lang="en-US" altLang="ko-KR" sz="1400" smtClean="0"/>
              <a:t> </a:t>
            </a:r>
            <a:r>
              <a:rPr lang="en-US" altLang="ko-KR" sz="1400"/>
              <a:t>python=3.8  #</a:t>
            </a:r>
            <a:r>
              <a:rPr lang="ko-KR" altLang="en-US" sz="1400"/>
              <a:t>가상환경 </a:t>
            </a:r>
            <a:r>
              <a:rPr lang="en-US" altLang="ko-KR" sz="1400" smtClean="0"/>
              <a:t>wc</a:t>
            </a:r>
            <a:r>
              <a:rPr lang="ko-KR" altLang="en-US" sz="1400"/>
              <a:t>만들기 </a:t>
            </a:r>
            <a:endParaRPr lang="en-US" altLang="ko-KR" sz="1400"/>
          </a:p>
          <a:p>
            <a:pPr algn="just">
              <a:spcAft>
                <a:spcPts val="0"/>
              </a:spcAft>
            </a:pPr>
            <a:r>
              <a:rPr lang="en-US" altLang="ko-KR" sz="1400"/>
              <a:t>conda activate w</a:t>
            </a:r>
            <a:r>
              <a:rPr lang="en-US" altLang="ko-KR" sz="1400" smtClean="0"/>
              <a:t>c</a:t>
            </a:r>
          </a:p>
          <a:p>
            <a:pPr algn="just">
              <a:spcAft>
                <a:spcPts val="0"/>
              </a:spcAft>
            </a:pPr>
            <a:r>
              <a:rPr lang="en-US" altLang="ko-KR" sz="1400" smtClean="0"/>
              <a:t>conda env list</a:t>
            </a:r>
            <a:endParaRPr lang="en-US" altLang="ko-KR" sz="1400"/>
          </a:p>
        </p:txBody>
      </p:sp>
      <p:sp>
        <p:nvSpPr>
          <p:cNvPr id="5" name="TextBox 4"/>
          <p:cNvSpPr txBox="1"/>
          <p:nvPr/>
        </p:nvSpPr>
        <p:spPr>
          <a:xfrm>
            <a:off x="5755341" y="2242605"/>
            <a:ext cx="6104965" cy="4154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smtClean="0"/>
              <a:t># </a:t>
            </a:r>
            <a:r>
              <a:rPr lang="ko-KR" altLang="en-US" sz="1400" smtClean="0"/>
              <a:t>참고</a:t>
            </a:r>
            <a:r>
              <a:rPr lang="en-US" altLang="ko-KR" sz="1400" smtClean="0"/>
              <a:t>: </a:t>
            </a:r>
            <a:r>
              <a:rPr lang="ko-KR" altLang="en-US" sz="1400" smtClean="0"/>
              <a:t>내환경 라이브러리 이동하기 </a:t>
            </a:r>
            <a:r>
              <a:rPr lang="en-US" altLang="ko-KR" sz="1400" smtClean="0"/>
              <a:t>(2</a:t>
            </a:r>
            <a:r>
              <a:rPr lang="ko-KR" altLang="en-US" sz="1400" smtClean="0"/>
              <a:t>가지 방법 중 선택</a:t>
            </a:r>
            <a:r>
              <a:rPr lang="en-US" altLang="ko-KR" sz="1400" smtClean="0"/>
              <a:t>)</a:t>
            </a:r>
          </a:p>
          <a:p>
            <a:pPr marL="342900" indent="-342900">
              <a:buAutoNum type="arabicPeriod"/>
            </a:pPr>
            <a:r>
              <a:rPr lang="en-US" altLang="ko-KR" sz="1400" smtClean="0"/>
              <a:t>conda </a:t>
            </a:r>
            <a:r>
              <a:rPr lang="en-US" altLang="ko-KR" sz="1400"/>
              <a:t>list</a:t>
            </a:r>
            <a:r>
              <a:rPr lang="ko-KR" altLang="en-US" sz="1400"/>
              <a:t>로 내리고 파일 취환 후 </a:t>
            </a:r>
            <a:r>
              <a:rPr lang="en-US" altLang="ko-KR" sz="1400"/>
              <a:t>pip</a:t>
            </a:r>
            <a:r>
              <a:rPr lang="ko-KR" altLang="en-US" sz="1400"/>
              <a:t>로 </a:t>
            </a:r>
            <a:r>
              <a:rPr lang="ko-KR" altLang="en-US" sz="1400" smtClean="0"/>
              <a:t>설치</a:t>
            </a:r>
            <a:endParaRPr lang="en-US" altLang="ko-KR" sz="1400" smtClean="0"/>
          </a:p>
          <a:p>
            <a:r>
              <a:rPr lang="en-US" altLang="ko-KR" sz="1000" smtClean="0"/>
              <a:t>    (</a:t>
            </a:r>
            <a:r>
              <a:rPr lang="ko-KR" altLang="en-US" sz="1000" smtClean="0"/>
              <a:t>참고</a:t>
            </a:r>
            <a:r>
              <a:rPr lang="en-US" altLang="ko-KR" sz="1000"/>
              <a:t>: </a:t>
            </a:r>
            <a:r>
              <a:rPr lang="en-US" altLang="ko-KR" sz="1000">
                <a:hlinkClick r:id="rId2"/>
              </a:rPr>
              <a:t>https://www.delftstack.com/ko/howto/python/python-create-requirements.txt</a:t>
            </a:r>
            <a:r>
              <a:rPr lang="en-US" altLang="ko-KR" sz="1000" smtClean="0">
                <a:hlinkClick r:id="rId2"/>
              </a:rPr>
              <a:t>/</a:t>
            </a:r>
            <a:r>
              <a:rPr lang="en-US" altLang="ko-KR" sz="1000" smtClean="0"/>
              <a:t> ) </a:t>
            </a:r>
            <a:endParaRPr lang="en-US" altLang="ko-KR" sz="1000"/>
          </a:p>
          <a:p>
            <a:endParaRPr lang="en-US" altLang="ko-KR" sz="1400" smtClean="0"/>
          </a:p>
          <a:p>
            <a:r>
              <a:rPr lang="en-US" altLang="ko-KR" sz="1100" smtClean="0"/>
              <a:t>1.1 </a:t>
            </a:r>
            <a:r>
              <a:rPr lang="ko-KR" altLang="en-US" sz="1100" smtClean="0"/>
              <a:t>기존 서버 </a:t>
            </a:r>
            <a:endParaRPr lang="en-US" altLang="ko-KR" sz="1100" smtClean="0"/>
          </a:p>
          <a:p>
            <a:r>
              <a:rPr lang="ko-KR" altLang="en-US" sz="1100" smtClean="0"/>
              <a:t>conda </a:t>
            </a:r>
            <a:r>
              <a:rPr lang="ko-KR" altLang="en-US" sz="1100"/>
              <a:t>list -e &gt; ac_requirement</a:t>
            </a:r>
            <a:r>
              <a:rPr lang="en-US" altLang="ko-KR" sz="1100"/>
              <a:t>s</a:t>
            </a:r>
            <a:r>
              <a:rPr lang="ko-KR" altLang="en-US" sz="1100"/>
              <a:t>.txt</a:t>
            </a:r>
            <a:endParaRPr lang="en-US" altLang="ko-KR" sz="1100"/>
          </a:p>
          <a:p>
            <a:r>
              <a:rPr lang="en-US" altLang="ko-KR" sz="1100" smtClean="0"/>
              <a:t>sed </a:t>
            </a:r>
            <a:r>
              <a:rPr lang="en-US" altLang="ko-KR" sz="1100"/>
              <a:t>-En 's/^([a-zA-Z0-9\-]+)=([0-9\.]+)=.*/\1==\2/p' ac_origin_conda_requirements.txt &gt; ac_sed_conda_pip_requirements.txt  </a:t>
            </a:r>
          </a:p>
          <a:p>
            <a:endParaRPr lang="en-US" altLang="ko-KR" sz="1100" smtClean="0"/>
          </a:p>
          <a:p>
            <a:r>
              <a:rPr lang="en-US" altLang="ko-KR" sz="1100" smtClean="0"/>
              <a:t>2.2 </a:t>
            </a:r>
            <a:r>
              <a:rPr lang="ko-KR" altLang="en-US" sz="1100" smtClean="0"/>
              <a:t>설치할 서버 </a:t>
            </a:r>
            <a:endParaRPr lang="en-US" altLang="ko-KR" sz="1100"/>
          </a:p>
          <a:p>
            <a:r>
              <a:rPr lang="en-US" altLang="ko-KR" sz="1100"/>
              <a:t>pip install -r ac_sed_conda_pip_requirements.txt</a:t>
            </a:r>
          </a:p>
          <a:p>
            <a:endParaRPr lang="en-US" altLang="ko-KR" sz="1100" smtClean="0"/>
          </a:p>
          <a:p>
            <a:r>
              <a:rPr lang="en-US" altLang="ko-KR" sz="1100" smtClean="0"/>
              <a:t> * </a:t>
            </a:r>
            <a:r>
              <a:rPr lang="ko-KR" altLang="en-US" sz="1100"/>
              <a:t>라이브러리 설치시 에러나는 경우 주석처리하고 다시 설치 진행 </a:t>
            </a:r>
            <a:r>
              <a:rPr lang="en-US" altLang="ko-KR" sz="1100"/>
              <a:t>: </a:t>
            </a:r>
          </a:p>
          <a:p>
            <a:r>
              <a:rPr lang="en-US" altLang="ko-KR" sz="1100"/>
              <a:t>   . </a:t>
            </a:r>
            <a:r>
              <a:rPr lang="ko-KR" altLang="en-US" sz="1100"/>
              <a:t>참조</a:t>
            </a:r>
            <a:r>
              <a:rPr lang="en-US" altLang="ko-KR" sz="1100"/>
              <a:t>: /</a:t>
            </a:r>
            <a:r>
              <a:rPr lang="en-US" altLang="ko-KR" sz="1100" smtClean="0"/>
              <a:t>home/ai/src/ragChatbot/ac_sed_conda_pip_requirements.txt</a:t>
            </a:r>
            <a:endParaRPr lang="ko-KR" altLang="en-US" sz="1100"/>
          </a:p>
          <a:p>
            <a:pPr marL="342900" indent="-342900">
              <a:buAutoNum type="arabicPeriod"/>
            </a:pPr>
            <a:endParaRPr lang="en-US" altLang="ko-KR" sz="1100" smtClean="0"/>
          </a:p>
          <a:p>
            <a:r>
              <a:rPr lang="en-US" altLang="ko-KR" sz="1100" smtClean="0"/>
              <a:t>2. </a:t>
            </a:r>
            <a:r>
              <a:rPr lang="en-US" altLang="ko-KR" sz="1100"/>
              <a:t>pip </a:t>
            </a:r>
            <a:r>
              <a:rPr lang="ko-KR" altLang="en-US" sz="1100"/>
              <a:t>명령으로 내리고 </a:t>
            </a:r>
            <a:r>
              <a:rPr lang="en-US" altLang="ko-KR" sz="1100"/>
              <a:t>pip</a:t>
            </a:r>
            <a:r>
              <a:rPr lang="ko-KR" altLang="en-US" sz="1100"/>
              <a:t>로 </a:t>
            </a:r>
            <a:r>
              <a:rPr lang="ko-KR" altLang="en-US" sz="1100" smtClean="0"/>
              <a:t>설치</a:t>
            </a:r>
            <a:endParaRPr lang="en-US" altLang="ko-KR" sz="1100" smtClean="0"/>
          </a:p>
          <a:p>
            <a:r>
              <a:rPr lang="en-US" altLang="ko-KR" sz="1100" smtClean="0"/>
              <a:t>  </a:t>
            </a:r>
            <a:r>
              <a:rPr lang="ko-KR" altLang="en-US" sz="1100" smtClean="0"/>
              <a:t>참고</a:t>
            </a:r>
            <a:r>
              <a:rPr lang="en-US" altLang="ko-KR" sz="1100" smtClean="0"/>
              <a:t>: </a:t>
            </a:r>
            <a:r>
              <a:rPr lang="en-US" altLang="ko-KR" sz="1100" smtClean="0">
                <a:hlinkClick r:id="rId3"/>
              </a:rPr>
              <a:t>https</a:t>
            </a:r>
            <a:r>
              <a:rPr lang="en-US" altLang="ko-KR" sz="1100">
                <a:hlinkClick r:id="rId3"/>
              </a:rPr>
              <a:t>://</a:t>
            </a:r>
            <a:r>
              <a:rPr lang="en-US" altLang="ko-KR" sz="1100" smtClean="0">
                <a:hlinkClick r:id="rId3"/>
              </a:rPr>
              <a:t>lifegoesonme.tistory.com/549</a:t>
            </a:r>
            <a:endParaRPr lang="en-US" altLang="ko-KR" sz="1100" smtClean="0"/>
          </a:p>
          <a:p>
            <a:r>
              <a:rPr lang="en-US" altLang="ko-KR" sz="1100" smtClean="0"/>
              <a:t>2.1 </a:t>
            </a:r>
            <a:r>
              <a:rPr lang="ko-KR" altLang="en-US" sz="1100" smtClean="0"/>
              <a:t>기존 서버</a:t>
            </a:r>
            <a:endParaRPr lang="en-US" altLang="ko-KR" sz="1100" smtClean="0"/>
          </a:p>
          <a:p>
            <a:r>
              <a:rPr lang="en-US" altLang="ko-KR" sz="1100" smtClean="0"/>
              <a:t>pip </a:t>
            </a:r>
            <a:r>
              <a:rPr lang="en-US" altLang="ko-KR" sz="1100"/>
              <a:t>freeze &gt; </a:t>
            </a:r>
            <a:r>
              <a:rPr lang="en-US" altLang="ko-KR" sz="1100" smtClean="0"/>
              <a:t>requirements.txt</a:t>
            </a:r>
          </a:p>
          <a:p>
            <a:endParaRPr lang="en-US" altLang="ko-KR" sz="1100"/>
          </a:p>
          <a:p>
            <a:r>
              <a:rPr lang="en-US" altLang="ko-KR" sz="1100" smtClean="0"/>
              <a:t>2.2 </a:t>
            </a:r>
            <a:r>
              <a:rPr lang="ko-KR" altLang="en-US" sz="1100" smtClean="0"/>
              <a:t>설치할 서버</a:t>
            </a:r>
            <a:endParaRPr lang="en-US" altLang="ko-KR" sz="1100" smtClean="0"/>
          </a:p>
          <a:p>
            <a:r>
              <a:rPr lang="en-US" altLang="ko-KR" sz="1100" smtClean="0"/>
              <a:t>pip install –r </a:t>
            </a:r>
            <a:r>
              <a:rPr lang="en-US" altLang="ko-KR" sz="1100"/>
              <a:t>requirements.txt</a:t>
            </a:r>
          </a:p>
          <a:p>
            <a:endParaRPr lang="ko-KR" altLang="en-US" sz="1400"/>
          </a:p>
        </p:txBody>
      </p:sp>
      <p:sp>
        <p:nvSpPr>
          <p:cNvPr id="6" name="직사각형 5"/>
          <p:cNvSpPr/>
          <p:nvPr/>
        </p:nvSpPr>
        <p:spPr>
          <a:xfrm>
            <a:off x="6075933" y="832831"/>
            <a:ext cx="3643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설치 에러시 다음페이지 참조</a:t>
            </a: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00424" y="1045862"/>
            <a:ext cx="77885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# </a:t>
            </a:r>
            <a:r>
              <a:rPr lang="ko-KR" altLang="en-US" sz="1200" smtClean="0">
                <a:solidFill>
                  <a:srgbClr val="FF0000"/>
                </a:solidFill>
              </a:rPr>
              <a:t>라이브러리 설치전 작업 </a:t>
            </a:r>
            <a:r>
              <a:rPr lang="en-US" altLang="ko-KR" sz="1200" smtClean="0">
                <a:solidFill>
                  <a:srgbClr val="FF0000"/>
                </a:solidFill>
              </a:rPr>
              <a:t>: Konlpy</a:t>
            </a:r>
            <a:r>
              <a:rPr lang="ko-KR" altLang="en-US" sz="1200">
                <a:solidFill>
                  <a:srgbClr val="FF0000"/>
                </a:solidFill>
              </a:rPr>
              <a:t>설치 </a:t>
            </a:r>
            <a:endParaRPr lang="en-US" altLang="ko-KR" sz="1200" smtClean="0">
              <a:solidFill>
                <a:srgbClr val="FF0000"/>
              </a:solidFill>
            </a:endParaRPr>
          </a:p>
          <a:p>
            <a:r>
              <a:rPr lang="ko-KR" altLang="en-US" sz="1200" smtClean="0"/>
              <a:t>참고</a:t>
            </a:r>
            <a:r>
              <a:rPr lang="en-US" altLang="ko-KR" sz="1200" smtClean="0"/>
              <a:t>: </a:t>
            </a:r>
            <a:r>
              <a:rPr lang="en-US" altLang="ko-KR" sz="1200" smtClean="0">
                <a:hlinkClick r:id="rId4"/>
              </a:rPr>
              <a:t>https://konlpy.org/_/downloads/ko/v0.6.0/pdf/</a:t>
            </a:r>
            <a:endParaRPr lang="ko-KR" altLang="en-US" sz="1200"/>
          </a:p>
          <a:p>
            <a:r>
              <a:rPr lang="ko-KR" altLang="en-US" sz="1200" smtClean="0"/>
              <a:t>1</a:t>
            </a:r>
            <a:r>
              <a:rPr lang="ko-KR" altLang="en-US" sz="1200"/>
              <a:t>. Install dependencies</a:t>
            </a:r>
          </a:p>
          <a:p>
            <a:r>
              <a:rPr lang="ko-KR" altLang="en-US" sz="1200">
                <a:solidFill>
                  <a:srgbClr val="FF0000"/>
                </a:solidFill>
              </a:rPr>
              <a:t>$ sudo yum install gcc-c++ java-1.8.0-openjdk-devel python3 python3-</a:t>
            </a:r>
            <a:r>
              <a:rPr lang="en-US" altLang="ko-KR" sz="1200">
                <a:solidFill>
                  <a:srgbClr val="FF0000"/>
                </a:solidFill>
              </a:rPr>
              <a:t>d</a:t>
            </a:r>
            <a:r>
              <a:rPr lang="ko-KR" altLang="en-US" sz="1200">
                <a:solidFill>
                  <a:srgbClr val="FF0000"/>
                </a:solidFill>
              </a:rPr>
              <a:t>evel python3-pip make </a:t>
            </a:r>
            <a:r>
              <a:rPr lang="ko-KR" altLang="en-US" sz="1200" smtClean="0">
                <a:solidFill>
                  <a:srgbClr val="FF0000"/>
                </a:solidFill>
              </a:rPr>
              <a:t>diffutils</a:t>
            </a:r>
            <a:endParaRPr lang="en-US" altLang="ko-KR" sz="1200" smtClean="0">
              <a:solidFill>
                <a:srgbClr val="FF0000"/>
              </a:solidFill>
            </a:endParaRPr>
          </a:p>
          <a:p>
            <a:r>
              <a:rPr lang="ko-KR" altLang="en-US" sz="1200"/>
              <a:t>2. Install KoNLPy</a:t>
            </a:r>
          </a:p>
          <a:p>
            <a:r>
              <a:rPr lang="ko-KR" altLang="en-US" sz="1200"/>
              <a:t>$ python3 -m pip install --upgrade pip</a:t>
            </a:r>
          </a:p>
          <a:p>
            <a:r>
              <a:rPr lang="ko-KR" altLang="en-US" sz="1200"/>
              <a:t>$ python3 -m pip install konlpy # Python 3.x</a:t>
            </a:r>
          </a:p>
          <a:p>
            <a:endParaRPr lang="ko-KR" alt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75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="" xmlns:a16="http://schemas.microsoft.com/office/drawing/2014/main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#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별첨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라이브러리 설치  </a:t>
            </a:r>
            <a:r>
              <a:rPr lang="en-US" altLang="ko-KR" sz="1600" smtClean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(requirement.txt</a:t>
            </a:r>
            <a:r>
              <a:rPr lang="ko-KR" altLang="en-US" sz="1600" smtClean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설치하다 에러나면 참조</a:t>
            </a:r>
            <a:r>
              <a:rPr lang="en-US" altLang="ko-KR" sz="1600" smtClean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en-MY" sz="1600" dirty="0">
              <a:solidFill>
                <a:srgbClr val="FF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46377" y="1057835"/>
            <a:ext cx="5396752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라이브러리 설치</a:t>
            </a:r>
            <a:endParaRPr lang="en-US" altLang="ko-KR" sz="1000"/>
          </a:p>
          <a:p>
            <a:r>
              <a:rPr lang="en-US" altLang="ko-KR" sz="1000"/>
              <a:t> pip install python-dotenv</a:t>
            </a:r>
          </a:p>
          <a:p>
            <a:r>
              <a:rPr lang="en-US" altLang="ko-KR" sz="1000"/>
              <a:t> pip install -U langchain</a:t>
            </a:r>
          </a:p>
          <a:p>
            <a:r>
              <a:rPr lang="en-US" altLang="ko-KR" sz="1000"/>
              <a:t> pip install openai</a:t>
            </a:r>
          </a:p>
          <a:p>
            <a:r>
              <a:rPr lang="en-US" altLang="ko-KR" sz="1000"/>
              <a:t>pip install fastapi</a:t>
            </a:r>
          </a:p>
          <a:p>
            <a:r>
              <a:rPr lang="en-US" altLang="ko-KR" sz="1000"/>
              <a:t>pip install "uvicorn[standard]“</a:t>
            </a:r>
          </a:p>
          <a:p>
            <a:r>
              <a:rPr lang="en-US" altLang="ko-KR" sz="1000">
                <a:solidFill>
                  <a:srgbClr val="FF0000"/>
                </a:solidFill>
              </a:rPr>
              <a:t>conda install scikit-learn</a:t>
            </a:r>
          </a:p>
          <a:p>
            <a:r>
              <a:rPr lang="en-US" altLang="ko-KR" sz="1000" b="1"/>
              <a:t>python3 -m pip install konlpy</a:t>
            </a:r>
          </a:p>
          <a:p>
            <a:r>
              <a:rPr lang="en-US" altLang="ko-KR" sz="1000"/>
              <a:t>pip3 install chardet</a:t>
            </a:r>
          </a:p>
          <a:p>
            <a:r>
              <a:rPr lang="en-US" altLang="ko-KR" sz="1000"/>
              <a:t>pip install cchardet</a:t>
            </a:r>
          </a:p>
          <a:p>
            <a:r>
              <a:rPr lang="en-US" altLang="ko-KR" sz="1000" b="1"/>
              <a:t>pip install beautifulsoup4</a:t>
            </a:r>
          </a:p>
          <a:p>
            <a:r>
              <a:rPr lang="en-US" altLang="ko-KR" sz="1000" b="1"/>
              <a:t>pip install chromadb</a:t>
            </a:r>
          </a:p>
          <a:p>
            <a:r>
              <a:rPr lang="en-US" altLang="ko-KR" sz="1000" b="1"/>
              <a:t>pip install tiktoken</a:t>
            </a:r>
          </a:p>
          <a:p>
            <a:r>
              <a:rPr lang="en-US" altLang="ko-KR" sz="1000"/>
              <a:t>pip install flask</a:t>
            </a:r>
          </a:p>
          <a:p>
            <a:r>
              <a:rPr lang="en-US" altLang="ko-KR" sz="1000"/>
              <a:t>pip install mysql =&gt; </a:t>
            </a:r>
            <a:r>
              <a:rPr lang="en-US" altLang="ko-KR" sz="1000">
                <a:solidFill>
                  <a:srgbClr val="FF0000"/>
                </a:solidFill>
              </a:rPr>
              <a:t>conda install mysql  </a:t>
            </a:r>
            <a:r>
              <a:rPr lang="en-US" altLang="ko-KR" sz="1000"/>
              <a:t>(</a:t>
            </a:r>
            <a:r>
              <a:rPr lang="ko-KR" altLang="en-US" sz="1000"/>
              <a:t>에러나서 </a:t>
            </a:r>
            <a:r>
              <a:rPr lang="en-US" altLang="ko-KR" sz="1000"/>
              <a:t>) </a:t>
            </a:r>
          </a:p>
          <a:p>
            <a:r>
              <a:rPr lang="en-US" altLang="ko-KR" sz="1000">
                <a:solidFill>
                  <a:srgbClr val="FF0000"/>
                </a:solidFill>
              </a:rPr>
              <a:t> =&gt;  conda install mysqlclient</a:t>
            </a:r>
          </a:p>
          <a:p>
            <a:r>
              <a:rPr lang="en-US" altLang="ko-KR" sz="1000"/>
              <a:t>pip install mysql-connector-python   </a:t>
            </a:r>
            <a:endParaRPr lang="en-US" altLang="ko-KR" sz="1000" smtClean="0"/>
          </a:p>
          <a:p>
            <a:r>
              <a:rPr lang="en-US" altLang="ko-KR" sz="1000" smtClean="0"/>
              <a:t>#   </a:t>
            </a:r>
            <a:r>
              <a:rPr lang="ko-KR" altLang="en-US" sz="1000"/>
              <a:t>제작자가 업데이트 않해서 </a:t>
            </a:r>
            <a:r>
              <a:rPr lang="en-US" altLang="ko-KR" sz="1000"/>
              <a:t>oracle</a:t>
            </a:r>
            <a:r>
              <a:rPr lang="ko-KR" altLang="en-US" sz="1000"/>
              <a:t>에서 </a:t>
            </a:r>
            <a:endParaRPr lang="en-US" altLang="ko-KR" sz="1000" smtClean="0"/>
          </a:p>
          <a:p>
            <a:r>
              <a:rPr lang="en-US" altLang="ko-KR" sz="1000" smtClean="0"/>
              <a:t>#    </a:t>
            </a:r>
            <a:r>
              <a:rPr lang="ko-KR" altLang="en-US" sz="1000" smtClean="0"/>
              <a:t>제작한 </a:t>
            </a:r>
            <a:r>
              <a:rPr lang="ko-KR" altLang="en-US" sz="1000"/>
              <a:t>버전</a:t>
            </a:r>
            <a:r>
              <a:rPr lang="en-US" altLang="ko-KR" sz="1000"/>
              <a:t>(</a:t>
            </a:r>
            <a:r>
              <a:rPr lang="ko-KR" altLang="en-US" sz="1000"/>
              <a:t>참고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>
                <a:hlinkClick r:id="rId2"/>
              </a:rPr>
              <a:t>https://choiseokwon.tistory.com/291</a:t>
            </a:r>
            <a:r>
              <a:rPr lang="en-US" altLang="ko-KR" sz="1000"/>
              <a:t> )  </a:t>
            </a:r>
            <a:endParaRPr lang="en-US" altLang="ko-KR" sz="1000" smtClean="0"/>
          </a:p>
          <a:p>
            <a:r>
              <a:rPr lang="en-US" altLang="ko-KR" sz="1000" smtClean="0"/>
              <a:t># : </a:t>
            </a:r>
            <a:r>
              <a:rPr lang="ko-KR" altLang="en-US" sz="1000"/>
              <a:t>import mysql.connector</a:t>
            </a:r>
          </a:p>
          <a:p>
            <a:endParaRPr lang="en-US" altLang="ko-KR" sz="1000"/>
          </a:p>
          <a:p>
            <a:r>
              <a:rPr lang="en-US" altLang="ko-KR" sz="1000"/>
              <a:t>pip install pymysql</a:t>
            </a:r>
          </a:p>
          <a:p>
            <a:endParaRPr lang="en-US" altLang="ko-KR" sz="1000"/>
          </a:p>
          <a:p>
            <a:r>
              <a:rPr lang="en-US" altLang="ko-KR" sz="1000" strike="sngStrike"/>
              <a:t>pip install databases -&gt; conda install databases  (</a:t>
            </a:r>
            <a:r>
              <a:rPr lang="ko-KR" altLang="en-US" sz="1000" strike="sngStrike"/>
              <a:t>예약 라이브러리 아님</a:t>
            </a:r>
            <a:r>
              <a:rPr lang="en-US" altLang="ko-KR" sz="1000" strike="sngStrike"/>
              <a:t>)     </a:t>
            </a:r>
            <a:r>
              <a:rPr lang="en-US" altLang="ko-KR" sz="1000"/>
              <a:t>- </a:t>
            </a:r>
            <a:endParaRPr lang="en-US" altLang="ko-KR" sz="1000" smtClean="0"/>
          </a:p>
          <a:p>
            <a:r>
              <a:rPr lang="en-US" altLang="ko-KR" sz="1000" smtClean="0"/>
              <a:t>pip </a:t>
            </a:r>
            <a:r>
              <a:rPr lang="en-US" altLang="ko-KR" sz="1000"/>
              <a:t>uninstall databases </a:t>
            </a:r>
          </a:p>
          <a:p>
            <a:r>
              <a:rPr lang="en-US" altLang="ko-KR" sz="1000"/>
              <a:t>pip install sqlalchemy==2.0.22    -- </a:t>
            </a:r>
            <a:r>
              <a:rPr lang="ko-KR" altLang="en-US" sz="1000"/>
              <a:t>버전 낮아져서 다시 설치</a:t>
            </a:r>
          </a:p>
          <a:p>
            <a:r>
              <a:rPr lang="en-US" altLang="ko-KR" sz="1000"/>
              <a:t>pip install python-multipart</a:t>
            </a:r>
          </a:p>
          <a:p>
            <a:r>
              <a:rPr lang="en-US" altLang="ko-KR" sz="1000" smtClean="0"/>
              <a:t>pip </a:t>
            </a:r>
            <a:r>
              <a:rPr lang="en-US" altLang="ko-KR" sz="1000"/>
              <a:t>install llama-index</a:t>
            </a:r>
          </a:p>
          <a:p>
            <a:r>
              <a:rPr lang="en-US" altLang="ko-KR" sz="1000" smtClean="0"/>
              <a:t>pip </a:t>
            </a:r>
            <a:r>
              <a:rPr lang="en-US" altLang="ko-KR" sz="1000"/>
              <a:t>install python-multipart</a:t>
            </a:r>
          </a:p>
          <a:p>
            <a:r>
              <a:rPr lang="en-US" altLang="ko-KR" sz="1000" smtClean="0"/>
              <a:t>pip </a:t>
            </a:r>
            <a:r>
              <a:rPr lang="en-US" altLang="ko-KR" sz="1000"/>
              <a:t>install -U langchain-community</a:t>
            </a:r>
          </a:p>
          <a:p>
            <a:r>
              <a:rPr lang="en-US" altLang="ko-KR" sz="1000"/>
              <a:t>pip install -U langchain-openai</a:t>
            </a:r>
          </a:p>
          <a:p>
            <a:r>
              <a:rPr lang="en-US" altLang="ko-KR" sz="1000"/>
              <a:t>pip install pypdf</a:t>
            </a:r>
          </a:p>
          <a:p>
            <a:endParaRPr lang="en-US" altLang="ko-KR" sz="1000"/>
          </a:p>
          <a:p>
            <a:r>
              <a:rPr lang="en-US" altLang="ko-KR" sz="1000"/>
              <a:t>pip install chardet</a:t>
            </a:r>
          </a:p>
          <a:p>
            <a:r>
              <a:rPr lang="en-US" altLang="ko-KR" sz="1000"/>
              <a:t>pip install </a:t>
            </a:r>
            <a:r>
              <a:rPr lang="en-US" altLang="ko-KR" sz="1000" smtClean="0"/>
              <a:t>cchardet</a:t>
            </a:r>
            <a:endParaRPr lang="en-US" altLang="ko-KR" sz="1000"/>
          </a:p>
        </p:txBody>
      </p:sp>
      <p:sp>
        <p:nvSpPr>
          <p:cNvPr id="2" name="직사각형 1"/>
          <p:cNvSpPr/>
          <p:nvPr/>
        </p:nvSpPr>
        <p:spPr>
          <a:xfrm>
            <a:off x="331694" y="1057835"/>
            <a:ext cx="5056094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requirement.txt </a:t>
            </a:r>
            <a:r>
              <a:rPr lang="ko-KR" altLang="en-US" sz="1000" smtClean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설치 전 </a:t>
            </a:r>
            <a:r>
              <a:rPr lang="ko-KR" altLang="en-US" sz="1000" smtClean="0">
                <a:solidFill>
                  <a:srgbClr val="FF0000"/>
                </a:solidFill>
              </a:rPr>
              <a:t>사전설치</a:t>
            </a:r>
            <a:endParaRPr lang="en-US" altLang="ko-KR" sz="1000" smtClean="0">
              <a:solidFill>
                <a:srgbClr val="FF0000"/>
              </a:solidFill>
            </a:endParaRPr>
          </a:p>
          <a:p>
            <a:r>
              <a:rPr lang="en-US" altLang="ko-KR" sz="1000" smtClean="0"/>
              <a:t>yum </a:t>
            </a:r>
            <a:r>
              <a:rPr lang="en-US" altLang="ko-KR" sz="1000"/>
              <a:t>install </a:t>
            </a:r>
            <a:r>
              <a:rPr lang="en-US" altLang="ko-KR" sz="1000" smtClean="0"/>
              <a:t>git</a:t>
            </a:r>
          </a:p>
          <a:p>
            <a:endParaRPr lang="en-US" altLang="ko-KR" sz="1000" smtClean="0"/>
          </a:p>
          <a:p>
            <a:r>
              <a:rPr lang="en-US" altLang="ko-KR" sz="1000" smtClean="0">
                <a:solidFill>
                  <a:srgbClr val="FF0000"/>
                </a:solidFill>
              </a:rPr>
              <a:t># Konlpy</a:t>
            </a:r>
            <a:r>
              <a:rPr lang="ko-KR" altLang="en-US" sz="1000" smtClean="0">
                <a:solidFill>
                  <a:srgbClr val="FF0000"/>
                </a:solidFill>
              </a:rPr>
              <a:t>설치 </a:t>
            </a:r>
            <a:r>
              <a:rPr lang="en-US" altLang="ko-KR" sz="1000" smtClean="0">
                <a:solidFill>
                  <a:srgbClr val="FF0000"/>
                </a:solidFill>
              </a:rPr>
              <a:t>(</a:t>
            </a:r>
            <a:r>
              <a:rPr lang="ko-KR" altLang="en-US" sz="1000" smtClean="0">
                <a:solidFill>
                  <a:srgbClr val="FF0000"/>
                </a:solidFill>
              </a:rPr>
              <a:t>위에서 </a:t>
            </a:r>
            <a:r>
              <a:rPr lang="en-US" altLang="ko-KR" sz="1000" smtClean="0">
                <a:solidFill>
                  <a:srgbClr val="FF0000"/>
                </a:solidFill>
              </a:rPr>
              <a:t>jdk </a:t>
            </a:r>
            <a:r>
              <a:rPr lang="ko-KR" altLang="en-US" sz="1000" smtClean="0">
                <a:solidFill>
                  <a:srgbClr val="FF0000"/>
                </a:solidFill>
              </a:rPr>
              <a:t>설치되어 있어야 함 </a:t>
            </a:r>
            <a:r>
              <a:rPr lang="en-US" altLang="ko-KR" sz="1000" smtClean="0">
                <a:solidFill>
                  <a:srgbClr val="FF0000"/>
                </a:solidFill>
              </a:rPr>
              <a:t>) </a:t>
            </a:r>
          </a:p>
          <a:p>
            <a:r>
              <a:rPr lang="en-US" altLang="ko-KR" sz="1000" smtClean="0"/>
              <a:t>  </a:t>
            </a:r>
            <a:r>
              <a:rPr lang="ko-KR" altLang="en-US" sz="1000" smtClean="0"/>
              <a:t>참고</a:t>
            </a:r>
            <a:r>
              <a:rPr lang="en-US" altLang="ko-KR" sz="1000" smtClean="0"/>
              <a:t>: https</a:t>
            </a:r>
            <a:r>
              <a:rPr lang="en-US" altLang="ko-KR" sz="1000"/>
              <a:t>://konlpy.org/_/downloads/ko/v0.6.0/pdf/</a:t>
            </a:r>
            <a:endParaRPr lang="ko-KR" altLang="en-US" sz="1000"/>
          </a:p>
          <a:p>
            <a:r>
              <a:rPr lang="ko-KR" altLang="en-US" sz="1000"/>
              <a:t>Supported: CentOS 7, 8</a:t>
            </a:r>
          </a:p>
          <a:p>
            <a:r>
              <a:rPr lang="ko-KR" altLang="en-US" sz="1000"/>
              <a:t>1. Install dependencies</a:t>
            </a:r>
          </a:p>
          <a:p>
            <a:r>
              <a:rPr lang="ko-KR" altLang="en-US" sz="1000">
                <a:solidFill>
                  <a:srgbClr val="FF0000"/>
                </a:solidFill>
              </a:rPr>
              <a:t>$ sudo yum install gcc-c++ java-1.8.0-openjdk-devel python3 python3-</a:t>
            </a:r>
            <a:r>
              <a:rPr lang="en-US" altLang="ko-KR" sz="1000">
                <a:solidFill>
                  <a:srgbClr val="FF0000"/>
                </a:solidFill>
              </a:rPr>
              <a:t>d</a:t>
            </a:r>
            <a:r>
              <a:rPr lang="ko-KR" altLang="en-US" sz="1000">
                <a:solidFill>
                  <a:srgbClr val="FF0000"/>
                </a:solidFill>
              </a:rPr>
              <a:t>evel python3-pip make diffutils</a:t>
            </a:r>
          </a:p>
          <a:p>
            <a:r>
              <a:rPr lang="ko-KR" altLang="en-US" sz="1000"/>
              <a:t>2. Install KoNLPy</a:t>
            </a:r>
          </a:p>
          <a:p>
            <a:r>
              <a:rPr lang="ko-KR" altLang="en-US" sz="1000"/>
              <a:t>$ python3 -m pip install --upgrade pip</a:t>
            </a:r>
          </a:p>
          <a:p>
            <a:r>
              <a:rPr lang="ko-KR" altLang="en-US" sz="1000"/>
              <a:t>$ python3 -m pip install konlpy # Python 3.x</a:t>
            </a:r>
          </a:p>
          <a:p>
            <a:r>
              <a:rPr lang="ko-KR" altLang="en-US" sz="1000"/>
              <a:t>3. MeCab 설치하기 (선택사항)</a:t>
            </a:r>
          </a:p>
          <a:p>
            <a:r>
              <a:rPr lang="ko-KR" altLang="en-US" sz="1000"/>
              <a:t>$ sudo yum install curl git</a:t>
            </a:r>
          </a:p>
          <a:p>
            <a:r>
              <a:rPr lang="ko-KR" altLang="en-US" sz="1000"/>
              <a:t>$ bash &lt;(curl -s https://raw.githubusercontent.com/konlpy/konlpy/</a:t>
            </a:r>
          </a:p>
          <a:p>
            <a:r>
              <a:rPr lang="ko-KR" altLang="en-US" sz="1000"/>
              <a:t>˓→master/scripts/mecab.sh)</a:t>
            </a:r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윈도우에서는 </a:t>
            </a:r>
            <a:r>
              <a:rPr lang="en-US" altLang="ko-KR" sz="1000"/>
              <a:t>&gt; pip install JPype1-0.5.7-cp27-none-win_amd64.whl  </a:t>
            </a:r>
            <a:r>
              <a:rPr lang="ko-KR" altLang="en-US" sz="1000"/>
              <a:t>설치 과정 있음</a:t>
            </a:r>
            <a:r>
              <a:rPr lang="en-US" altLang="ko-KR" sz="1000"/>
              <a:t>. </a:t>
            </a:r>
            <a:endParaRPr lang="en-US" altLang="ko-KR" sz="1000" smtClean="0"/>
          </a:p>
          <a:p>
            <a:endParaRPr lang="en-US" altLang="ko-KR" sz="1000"/>
          </a:p>
          <a:p>
            <a:endParaRPr lang="en-US" altLang="ko-KR" sz="1000" smtClean="0"/>
          </a:p>
          <a:p>
            <a:r>
              <a:rPr lang="en-US" altLang="ko-KR" sz="1000" smtClean="0"/>
              <a:t># </a:t>
            </a:r>
            <a:r>
              <a:rPr lang="ko-KR" altLang="en-US" sz="1000" smtClean="0"/>
              <a:t>기존소스에 </a:t>
            </a:r>
            <a:r>
              <a:rPr lang="en-US" altLang="ko-KR" sz="1000" smtClean="0"/>
              <a:t>git </a:t>
            </a:r>
            <a:r>
              <a:rPr lang="ko-KR" altLang="en-US" sz="1000" smtClean="0"/>
              <a:t>설정이 남이있는 경우 기존 원격저장소 해제 필요</a:t>
            </a:r>
            <a:endParaRPr lang="en-US" altLang="ko-KR" sz="1000" smtClean="0"/>
          </a:p>
          <a:p>
            <a:r>
              <a:rPr lang="ko-KR" altLang="en-US" sz="1000"/>
              <a:t>https://blog.naver.com/gksthf4140/222662119625</a:t>
            </a:r>
          </a:p>
          <a:p>
            <a:pPr marL="171450" indent="-171450">
              <a:buFontTx/>
              <a:buChar char="-"/>
            </a:pPr>
            <a:r>
              <a:rPr lang="en-US" altLang="ko-KR" sz="1000" smtClean="0"/>
              <a:t>error: remote origin already exists (</a:t>
            </a:r>
            <a:r>
              <a:rPr lang="ko-KR" altLang="en-US" sz="1000" smtClean="0"/>
              <a:t>에러</a:t>
            </a:r>
            <a:r>
              <a:rPr lang="en-US" altLang="ko-KR" sz="1000" smtClean="0"/>
              <a:t>)</a:t>
            </a:r>
          </a:p>
          <a:p>
            <a:endParaRPr lang="en-US" altLang="ko-KR" sz="1000" smtClean="0"/>
          </a:p>
          <a:p>
            <a:r>
              <a:rPr lang="en-US" altLang="ko-KR" sz="1000" smtClean="0"/>
              <a:t># </a:t>
            </a:r>
            <a:r>
              <a:rPr lang="ko-KR" altLang="en-US" sz="1000" smtClean="0"/>
              <a:t>기존 설정 원격저장소 조회</a:t>
            </a:r>
            <a:endParaRPr lang="en-US" altLang="ko-KR" sz="1000"/>
          </a:p>
          <a:p>
            <a:r>
              <a:rPr lang="en-US" altLang="ko-KR" sz="1000" smtClean="0"/>
              <a:t>$ git remote –v</a:t>
            </a:r>
          </a:p>
          <a:p>
            <a:endParaRPr lang="en-US" altLang="ko-KR" sz="1000"/>
          </a:p>
          <a:p>
            <a:r>
              <a:rPr lang="en-US" altLang="ko-KR" sz="1000" smtClean="0"/>
              <a:t># </a:t>
            </a:r>
            <a:r>
              <a:rPr lang="ko-KR" altLang="en-US" sz="1000" smtClean="0"/>
              <a:t>기존 저장소 해제</a:t>
            </a:r>
            <a:endParaRPr lang="en-US" altLang="ko-KR" sz="1000" smtClean="0"/>
          </a:p>
          <a:p>
            <a:r>
              <a:rPr lang="en-US" altLang="ko-KR" sz="1000" smtClean="0"/>
              <a:t>$git remote rm origin</a:t>
            </a:r>
            <a:endParaRPr lang="ko-KR" altLang="en-US" sz="1000"/>
          </a:p>
          <a:p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94329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="" xmlns:a16="http://schemas.microsoft.com/office/drawing/2014/main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깃 레파지토리 초기 소스 업로드 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커밋 방법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9624" y="986118"/>
            <a:ext cx="10689914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/>
              <a:t># </a:t>
            </a:r>
            <a:r>
              <a:rPr lang="ko-KR" altLang="en-US" smtClean="0"/>
              <a:t>초기 설정</a:t>
            </a:r>
            <a:endParaRPr lang="ko-KR" altLang="en-US"/>
          </a:p>
          <a:p>
            <a:r>
              <a:rPr lang="en-US" altLang="ko-KR" sz="1400"/>
              <a:t>cd /home/ai/src/ragChatbot</a:t>
            </a:r>
          </a:p>
          <a:p>
            <a:r>
              <a:rPr lang="en-US" altLang="ko-KR" sz="1400"/>
              <a:t>echo "# ragChatbot" &gt;&gt; README.md</a:t>
            </a:r>
          </a:p>
          <a:p>
            <a:r>
              <a:rPr lang="en-US" altLang="ko-KR" sz="1400"/>
              <a:t>git init</a:t>
            </a:r>
          </a:p>
          <a:p>
            <a:r>
              <a:rPr lang="en-US" altLang="ko-KR" sz="1400"/>
              <a:t>git add README.md</a:t>
            </a:r>
          </a:p>
          <a:p>
            <a:r>
              <a:rPr lang="en-US" altLang="ko-KR" sz="1400"/>
              <a:t>git add --all</a:t>
            </a:r>
          </a:p>
          <a:p>
            <a:r>
              <a:rPr lang="en-US" altLang="ko-KR" sz="1400"/>
              <a:t>git commit –m ‘first commit’</a:t>
            </a:r>
          </a:p>
          <a:p>
            <a:r>
              <a:rPr lang="en-US" altLang="ko-KR" sz="1400"/>
              <a:t>git branch –M main</a:t>
            </a:r>
          </a:p>
          <a:p>
            <a:r>
              <a:rPr lang="en-US" altLang="ko-KR" sz="1400">
                <a:solidFill>
                  <a:srgbClr val="FF0000"/>
                </a:solidFill>
              </a:rPr>
              <a:t>git remote add origin </a:t>
            </a:r>
            <a:r>
              <a:rPr lang="en-US" altLang="ko-KR" sz="1400"/>
              <a:t>https://github.com/llmRagApp/ragChatbot</a:t>
            </a:r>
            <a:r>
              <a:rPr lang="en-US" altLang="ko-KR" sz="1400" smtClean="0">
                <a:solidFill>
                  <a:srgbClr val="FF0000"/>
                </a:solidFill>
              </a:rPr>
              <a:t>   (</a:t>
            </a:r>
            <a:r>
              <a:rPr lang="ko-KR" altLang="en-US" sz="1400" smtClean="0">
                <a:solidFill>
                  <a:srgbClr val="FF0000"/>
                </a:solidFill>
              </a:rPr>
              <a:t>꼭 본인이 생성한 레파지토리에 원격저장소 연동하세요 </a:t>
            </a:r>
            <a:r>
              <a:rPr lang="en-US" altLang="ko-KR" sz="1400" smtClean="0">
                <a:solidFill>
                  <a:srgbClr val="FF0000"/>
                </a:solidFill>
              </a:rPr>
              <a:t>!!!!</a:t>
            </a:r>
            <a:r>
              <a:rPr lang="ko-KR" altLang="en-US" sz="1400" smtClean="0">
                <a:solidFill>
                  <a:srgbClr val="FF0000"/>
                </a:solidFill>
              </a:rPr>
              <a:t> </a:t>
            </a:r>
            <a:r>
              <a:rPr lang="en-US" altLang="ko-KR" sz="1400" smtClean="0">
                <a:solidFill>
                  <a:srgbClr val="FF0000"/>
                </a:solidFill>
              </a:rPr>
              <a:t>) </a:t>
            </a:r>
            <a:r>
              <a:rPr lang="ko-KR" altLang="en-US" sz="1400" smtClean="0">
                <a:solidFill>
                  <a:srgbClr val="FF0000"/>
                </a:solidFill>
              </a:rPr>
              <a:t> </a:t>
            </a:r>
            <a:endParaRPr lang="en-US" altLang="ko-KR" sz="1400">
              <a:solidFill>
                <a:srgbClr val="FF0000"/>
              </a:solidFill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 sz="1400"/>
              <a:t>fatal: remote origin already exists. </a:t>
            </a:r>
            <a:r>
              <a:rPr lang="ko-KR" altLang="en-US" sz="1400"/>
              <a:t>에러 나는 경우 </a:t>
            </a:r>
            <a:r>
              <a:rPr lang="en-US" altLang="ko-KR" sz="1400"/>
              <a:t>: </a:t>
            </a:r>
            <a:r>
              <a:rPr lang="ko-KR" altLang="en-US" sz="1400"/>
              <a:t>다른 소스 복사 후 이미 깃 </a:t>
            </a:r>
            <a:r>
              <a:rPr lang="en-US" altLang="ko-KR" sz="1400"/>
              <a:t>remote </a:t>
            </a:r>
            <a:r>
              <a:rPr lang="ko-KR" altLang="en-US" sz="1400"/>
              <a:t>정보 있는 경우 </a:t>
            </a:r>
            <a:endParaRPr lang="en-US" altLang="ko-KR" sz="140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 sz="1400"/>
              <a:t>git remote </a:t>
            </a:r>
            <a:r>
              <a:rPr lang="en-US" altLang="ko-KR" sz="1400" smtClean="0"/>
              <a:t>–v   (</a:t>
            </a:r>
            <a:r>
              <a:rPr lang="ko-KR" altLang="en-US" sz="1400" smtClean="0"/>
              <a:t>기존 원격저장소 연계있는지 확인 </a:t>
            </a:r>
            <a:r>
              <a:rPr lang="en-US" altLang="ko-KR" sz="1400" smtClean="0"/>
              <a:t>) </a:t>
            </a:r>
            <a:endParaRPr lang="en-US" altLang="ko-KR" sz="140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400"/>
              <a:t>git remote rm origin  (</a:t>
            </a:r>
            <a:r>
              <a:rPr lang="ko-KR" altLang="en-US" sz="1400"/>
              <a:t>연결되어 있는 저장소 정보 삭제하고 재설정 필요 </a:t>
            </a:r>
            <a:r>
              <a:rPr lang="en-US" altLang="ko-KR" sz="1400"/>
              <a:t>)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400"/>
              <a:t>git remote rm ac</a:t>
            </a:r>
          </a:p>
          <a:p>
            <a:r>
              <a:rPr lang="ko-KR" altLang="en-US" sz="1400"/>
              <a:t>다시 </a:t>
            </a:r>
            <a:r>
              <a:rPr lang="en-US" altLang="ko-KR" sz="1400"/>
              <a:t>remote </a:t>
            </a:r>
            <a:r>
              <a:rPr lang="ko-KR" altLang="en-US" sz="1400"/>
              <a:t>추가 </a:t>
            </a:r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git push -u origin </a:t>
            </a:r>
            <a:r>
              <a:rPr lang="en-US" altLang="ko-KR" sz="1400" smtClean="0"/>
              <a:t>main</a:t>
            </a:r>
          </a:p>
          <a:p>
            <a:endParaRPr lang="en-US" altLang="ko-KR" sz="1400"/>
          </a:p>
          <a:p>
            <a:endParaRPr lang="en-US" altLang="ko-KR" sz="1400" smtClean="0"/>
          </a:p>
          <a:p>
            <a:r>
              <a:rPr lang="en-US" altLang="ko-KR" sz="1600" smtClean="0"/>
              <a:t># </a:t>
            </a:r>
            <a:r>
              <a:rPr lang="ko-KR" altLang="en-US" sz="1600" smtClean="0"/>
              <a:t>이후 커밋 </a:t>
            </a:r>
            <a:endParaRPr lang="en-US" altLang="ko-KR" sz="1600" smtClean="0"/>
          </a:p>
          <a:p>
            <a:r>
              <a:rPr lang="en-US" altLang="ko-KR" sz="1400">
                <a:solidFill>
                  <a:srgbClr val="00B050"/>
                </a:solidFill>
              </a:rPr>
              <a:t>git add --all</a:t>
            </a:r>
          </a:p>
          <a:p>
            <a:r>
              <a:rPr lang="en-US" altLang="ko-KR" sz="1400">
                <a:solidFill>
                  <a:srgbClr val="00B050"/>
                </a:solidFill>
              </a:rPr>
              <a:t>git commit -m </a:t>
            </a:r>
            <a:r>
              <a:rPr lang="en-US" altLang="ko-KR" sz="1400" smtClean="0">
                <a:solidFill>
                  <a:srgbClr val="00B050"/>
                </a:solidFill>
              </a:rPr>
              <a:t>'</a:t>
            </a:r>
            <a:r>
              <a:rPr lang="ko-KR" altLang="en-US" sz="1400" smtClean="0">
                <a:solidFill>
                  <a:srgbClr val="00B050"/>
                </a:solidFill>
              </a:rPr>
              <a:t>커밋에 대한 설명</a:t>
            </a:r>
            <a:r>
              <a:rPr lang="en-US" altLang="ko-KR" sz="1400" smtClean="0">
                <a:solidFill>
                  <a:srgbClr val="00B050"/>
                </a:solidFill>
              </a:rPr>
              <a:t>’</a:t>
            </a:r>
            <a:endParaRPr lang="en-US" altLang="ko-KR" sz="1400">
              <a:solidFill>
                <a:srgbClr val="00B050"/>
              </a:solidFill>
            </a:endParaRPr>
          </a:p>
          <a:p>
            <a:r>
              <a:rPr lang="en-US" altLang="ko-KR" sz="1400">
                <a:solidFill>
                  <a:srgbClr val="00B050"/>
                </a:solidFill>
              </a:rPr>
              <a:t>git push -u origin </a:t>
            </a:r>
            <a:r>
              <a:rPr lang="en-US" altLang="ko-KR" sz="1400" smtClean="0">
                <a:solidFill>
                  <a:srgbClr val="00B050"/>
                </a:solidFill>
              </a:rPr>
              <a:t>main</a:t>
            </a:r>
            <a:endParaRPr lang="en-US" altLang="ko-KR" sz="1400">
              <a:solidFill>
                <a:srgbClr val="00B050"/>
              </a:solidFill>
            </a:endParaRPr>
          </a:p>
          <a:p>
            <a:endParaRPr lang="en-US" altLang="ko-KR"/>
          </a:p>
        </p:txBody>
      </p:sp>
      <p:sp>
        <p:nvSpPr>
          <p:cNvPr id="2" name="TextBox 1"/>
          <p:cNvSpPr txBox="1"/>
          <p:nvPr/>
        </p:nvSpPr>
        <p:spPr>
          <a:xfrm>
            <a:off x="5665694" y="4096871"/>
            <a:ext cx="442781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o </a:t>
            </a:r>
            <a:r>
              <a:rPr lang="ko-KR" altLang="en-US" sz="1400" smtClean="0"/>
              <a:t>깃허버 소스 복제 </a:t>
            </a:r>
            <a:endParaRPr lang="en-US" altLang="ko-KR" sz="1400" smtClean="0"/>
          </a:p>
          <a:p>
            <a:r>
              <a:rPr lang="en-US" altLang="ko-KR" sz="1400" smtClean="0"/>
              <a:t># </a:t>
            </a:r>
            <a:r>
              <a:rPr lang="ko-KR" altLang="en-US" sz="1400" smtClean="0"/>
              <a:t>최초 복제</a:t>
            </a:r>
            <a:endParaRPr lang="en-US" altLang="ko-KR" sz="1400" smtClean="0"/>
          </a:p>
          <a:p>
            <a:r>
              <a:rPr lang="en-US" altLang="ko-KR" sz="1400" smtClean="0"/>
              <a:t>cd </a:t>
            </a:r>
            <a:r>
              <a:rPr lang="en-US" altLang="ko-KR" sz="1400"/>
              <a:t>/</a:t>
            </a:r>
            <a:r>
              <a:rPr lang="en-US" altLang="ko-KR" sz="1400" smtClean="0"/>
              <a:t>home/ai/src/</a:t>
            </a:r>
            <a:endParaRPr lang="en-US" altLang="ko-KR" sz="1400"/>
          </a:p>
          <a:p>
            <a:r>
              <a:rPr lang="en-US" altLang="ko-KR" sz="1400"/>
              <a:t>git clone https://github.com/llmRagApp/ragChatbot</a:t>
            </a:r>
          </a:p>
          <a:p>
            <a:r>
              <a:rPr lang="en-US" altLang="ko-KR" sz="1400"/>
              <a:t>cd </a:t>
            </a:r>
            <a:r>
              <a:rPr lang="en-US" altLang="ko-KR" sz="1400" smtClean="0"/>
              <a:t>wc</a:t>
            </a:r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# </a:t>
            </a:r>
            <a:r>
              <a:rPr lang="ko-KR" altLang="en-US" sz="1400"/>
              <a:t>이후 소스 내려받기 </a:t>
            </a:r>
            <a:endParaRPr lang="en-US" altLang="ko-KR" sz="1400"/>
          </a:p>
          <a:p>
            <a:r>
              <a:rPr lang="en-US" altLang="ko-KR" sz="1400" b="1"/>
              <a:t>git pull</a:t>
            </a:r>
          </a:p>
          <a:p>
            <a:r>
              <a:rPr lang="en-US" altLang="ko-KR" sz="1400"/>
              <a:t>git pull -f</a:t>
            </a:r>
          </a:p>
          <a:p>
            <a:endParaRPr lang="ko-KR" altLang="en-US" sz="1400"/>
          </a:p>
        </p:txBody>
      </p:sp>
      <p:sp>
        <p:nvSpPr>
          <p:cNvPr id="4" name="직사각형 3"/>
          <p:cNvSpPr/>
          <p:nvPr/>
        </p:nvSpPr>
        <p:spPr>
          <a:xfrm>
            <a:off x="9066176" y="5635754"/>
            <a:ext cx="2937697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smtClean="0"/>
              <a:t># </a:t>
            </a:r>
            <a:r>
              <a:rPr lang="ko-KR" altLang="en-US" sz="1000" smtClean="0"/>
              <a:t>혼자 작업시 버전 충돌시 강제 내려받기</a:t>
            </a:r>
            <a:endParaRPr lang="en-US" altLang="ko-KR" sz="1000" smtClean="0"/>
          </a:p>
          <a:p>
            <a:r>
              <a:rPr lang="ko-KR" altLang="en-US" sz="1000" smtClean="0"/>
              <a:t>git </a:t>
            </a:r>
            <a:r>
              <a:rPr lang="ko-KR" altLang="en-US" sz="1000"/>
              <a:t>fetch --all</a:t>
            </a:r>
          </a:p>
          <a:p>
            <a:r>
              <a:rPr lang="ko-KR" altLang="en-US" sz="1000"/>
              <a:t>git reset --hard origin/master</a:t>
            </a:r>
          </a:p>
          <a:p>
            <a:r>
              <a:rPr lang="ko-KR" altLang="en-US" sz="1000"/>
              <a:t>git pull origin master</a:t>
            </a:r>
          </a:p>
        </p:txBody>
      </p:sp>
    </p:spTree>
    <p:extLst>
      <p:ext uri="{BB962C8B-B14F-4D97-AF65-F5344CB8AC3E}">
        <p14:creationId xmlns:p14="http://schemas.microsoft.com/office/powerpoint/2010/main" val="397285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="" xmlns:a16="http://schemas.microsoft.com/office/drawing/2014/main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en-MY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#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프로그램 연동 </a:t>
            </a:r>
            <a:r>
              <a:rPr lang="en-MY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DB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변경 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 DB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등록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9624" y="986118"/>
            <a:ext cx="2101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200"/>
              <a:t># </a:t>
            </a:r>
            <a:r>
              <a:rPr lang="en-US" altLang="ko-KR" sz="1200" smtClean="0"/>
              <a:t>DB</a:t>
            </a:r>
            <a:r>
              <a:rPr lang="ko-KR" altLang="en-US" sz="1200" smtClean="0"/>
              <a:t>변경</a:t>
            </a:r>
            <a:endParaRPr lang="en-US" altLang="ko-KR" sz="1200" smtClean="0"/>
          </a:p>
          <a:p>
            <a:pPr fontAlgn="base"/>
            <a:r>
              <a:rPr lang="en-US" altLang="ko-KR" sz="1200"/>
              <a:t>mngChatBot/db_proc_ac.py</a:t>
            </a:r>
            <a:endParaRPr lang="ko-KR" altLang="en-US" sz="1200"/>
          </a:p>
        </p:txBody>
      </p:sp>
      <p:sp>
        <p:nvSpPr>
          <p:cNvPr id="4" name="직사각형 3"/>
          <p:cNvSpPr/>
          <p:nvPr/>
        </p:nvSpPr>
        <p:spPr>
          <a:xfrm>
            <a:off x="609600" y="1632449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/>
              <a:t>db_ip ='127.0.0.1'</a:t>
            </a:r>
          </a:p>
          <a:p>
            <a:r>
              <a:rPr lang="ko-KR" altLang="en-US" sz="1200"/>
              <a:t>db_port = '3306'</a:t>
            </a:r>
          </a:p>
          <a:p>
            <a:r>
              <a:rPr lang="ko-KR" altLang="en-US" sz="1200"/>
              <a:t>db_id = </a:t>
            </a:r>
            <a:r>
              <a:rPr lang="ko-KR" altLang="en-US" sz="1200" smtClean="0">
                <a:solidFill>
                  <a:srgbClr val="FF0000"/>
                </a:solidFill>
              </a:rPr>
              <a:t>'wc'</a:t>
            </a:r>
            <a:endParaRPr lang="ko-KR" altLang="en-US" sz="1200">
              <a:solidFill>
                <a:srgbClr val="FF0000"/>
              </a:solidFill>
            </a:endParaRPr>
          </a:p>
          <a:p>
            <a:r>
              <a:rPr lang="ko-KR" altLang="en-US" sz="1200"/>
              <a:t>db_passwd </a:t>
            </a:r>
            <a:r>
              <a:rPr lang="ko-KR" altLang="en-US" sz="1200" smtClean="0"/>
              <a:t>=</a:t>
            </a:r>
            <a:r>
              <a:rPr lang="en-US" altLang="ko-KR" sz="1200">
                <a:solidFill>
                  <a:srgbClr val="FF0000"/>
                </a:solidFill>
              </a:rPr>
              <a:t>wc1!#</a:t>
            </a:r>
            <a:endParaRPr lang="ko-KR" altLang="en-US" sz="1200">
              <a:solidFill>
                <a:srgbClr val="FF0000"/>
              </a:solidFill>
            </a:endParaRPr>
          </a:p>
          <a:p>
            <a:r>
              <a:rPr lang="ko-KR" altLang="en-US" sz="1200"/>
              <a:t>db_name='wc'</a:t>
            </a:r>
          </a:p>
          <a:p>
            <a:r>
              <a:rPr lang="ko-KR" altLang="en-US" sz="1200"/>
              <a:t># CHARSET1='utf8' </a:t>
            </a:r>
          </a:p>
          <a:p>
            <a:r>
              <a:rPr lang="ko-KR" altLang="en-US" sz="1200"/>
              <a:t>encoding='utf-8'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624" y="3121977"/>
            <a:ext cx="4386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smtClean="0"/>
              <a:t>해당 데이터베이스 내용을 자신 </a:t>
            </a:r>
            <a:r>
              <a:rPr lang="en-US" altLang="ko-KR" sz="1200" smtClean="0"/>
              <a:t>DB</a:t>
            </a:r>
            <a:r>
              <a:rPr lang="ko-KR" altLang="en-US" sz="1200" smtClean="0"/>
              <a:t>에 넣어서 운영하거나</a:t>
            </a:r>
            <a:endParaRPr lang="en-US" altLang="ko-KR" sz="120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smtClean="0"/>
              <a:t>DB</a:t>
            </a:r>
            <a:r>
              <a:rPr lang="ko-KR" altLang="en-US" sz="1200" smtClean="0"/>
              <a:t>정보 그대로 활용 </a:t>
            </a:r>
            <a:r>
              <a:rPr lang="en-US" altLang="ko-KR" sz="1200" smtClean="0"/>
              <a:t>– </a:t>
            </a:r>
            <a:r>
              <a:rPr lang="ko-KR" altLang="en-US" sz="1200" smtClean="0"/>
              <a:t>조회 위주로 테스트</a:t>
            </a:r>
            <a:endParaRPr lang="en-US" altLang="ko-KR" sz="120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smtClean="0"/>
              <a:t>DB user </a:t>
            </a:r>
            <a:r>
              <a:rPr lang="ko-KR" altLang="en-US" sz="1200" smtClean="0"/>
              <a:t>추가 요청 </a:t>
            </a:r>
            <a:endParaRPr lang="ko-KR" altLang="en-US" sz="1200"/>
          </a:p>
        </p:txBody>
      </p:sp>
      <p:sp>
        <p:nvSpPr>
          <p:cNvPr id="2" name="직사각형 1"/>
          <p:cNvSpPr/>
          <p:nvPr/>
        </p:nvSpPr>
        <p:spPr>
          <a:xfrm>
            <a:off x="795867" y="5252428"/>
            <a:ext cx="6659452" cy="12926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/>
              <a:t>마리아</a:t>
            </a:r>
            <a:r>
              <a:rPr lang="en-US" altLang="ko-KR" smtClean="0"/>
              <a:t>DB </a:t>
            </a:r>
            <a:r>
              <a:rPr lang="ko-KR" altLang="en-US" smtClean="0"/>
              <a:t>설치 가이드 참조 </a:t>
            </a:r>
            <a:r>
              <a:rPr lang="en-US" altLang="ko-KR" smtClean="0"/>
              <a:t>: </a:t>
            </a:r>
            <a:r>
              <a:rPr lang="ko-KR" altLang="en-US" smtClean="0">
                <a:hlinkClick r:id="rId2"/>
              </a:rPr>
              <a:t>https</a:t>
            </a:r>
            <a:r>
              <a:rPr lang="ko-KR" altLang="en-US">
                <a:hlinkClick r:id="rId2"/>
              </a:rPr>
              <a:t>://</a:t>
            </a:r>
            <a:r>
              <a:rPr lang="ko-KR" altLang="en-US" smtClean="0">
                <a:hlinkClick r:id="rId2"/>
              </a:rPr>
              <a:t>cafe.naver.com/aidev/465</a:t>
            </a:r>
            <a:endParaRPr lang="en-US" altLang="ko-KR" smtClean="0"/>
          </a:p>
          <a:p>
            <a:pPr fontAlgn="base"/>
            <a:r>
              <a:rPr lang="en-US" altLang="ko-KR" sz="1200" smtClean="0"/>
              <a:t>  (</a:t>
            </a:r>
            <a:r>
              <a:rPr lang="en-US" altLang="ko-KR" sz="1200"/>
              <a:t>base) [root@localhost devuser]# mysql -u root -p</a:t>
            </a:r>
          </a:p>
          <a:p>
            <a:pPr fontAlgn="base"/>
            <a:r>
              <a:rPr lang="en-US" altLang="ko-KR" sz="1200" smtClean="0"/>
              <a:t>   Enter </a:t>
            </a:r>
            <a:r>
              <a:rPr lang="en-US" altLang="ko-KR" sz="1200"/>
              <a:t>password: ==&gt; </a:t>
            </a:r>
            <a:r>
              <a:rPr lang="en-US" altLang="ko-KR" sz="1200" smtClean="0">
                <a:solidFill>
                  <a:srgbClr val="FF0000"/>
                </a:solidFill>
              </a:rPr>
              <a:t>llmrag</a:t>
            </a:r>
          </a:p>
          <a:p>
            <a:pPr fontAlgn="base"/>
            <a:r>
              <a:rPr lang="en-US" altLang="ko-KR" sz="1200"/>
              <a:t>17-2 </a:t>
            </a:r>
            <a:r>
              <a:rPr lang="ko-KR" altLang="en-US" sz="1200"/>
              <a:t>사용자 추가 및 접속 권한 부여 </a:t>
            </a:r>
            <a:r>
              <a:rPr lang="en-US" altLang="ko-KR" sz="1200"/>
              <a:t>(%</a:t>
            </a:r>
            <a:r>
              <a:rPr lang="ko-KR" altLang="en-US" sz="1200"/>
              <a:t>대신 </a:t>
            </a:r>
            <a:r>
              <a:rPr lang="en-US" altLang="ko-KR" sz="1200"/>
              <a:t>ip</a:t>
            </a:r>
            <a:r>
              <a:rPr lang="ko-KR" altLang="en-US" sz="1200"/>
              <a:t>입력시 해당 </a:t>
            </a:r>
            <a:r>
              <a:rPr lang="en-US" altLang="ko-KR" sz="1200"/>
              <a:t>ip</a:t>
            </a:r>
            <a:r>
              <a:rPr lang="ko-KR" altLang="en-US" sz="1200"/>
              <a:t>에서만 접속가능함 </a:t>
            </a:r>
            <a:r>
              <a:rPr lang="en-US" altLang="ko-KR" sz="1200"/>
              <a:t>)</a:t>
            </a:r>
            <a:endParaRPr lang="ko-KR" altLang="en-US" sz="1200"/>
          </a:p>
          <a:p>
            <a:pPr fontAlgn="base"/>
            <a:r>
              <a:rPr lang="en-US" altLang="ko-KR" sz="1200"/>
              <a:t>mysql&gt;grant all on wc.* to </a:t>
            </a:r>
            <a:r>
              <a:rPr lang="en-US" altLang="ko-KR" sz="1200">
                <a:solidFill>
                  <a:srgbClr val="FF0000"/>
                </a:solidFill>
              </a:rPr>
              <a:t>'wc</a:t>
            </a:r>
            <a:r>
              <a:rPr lang="en-US" altLang="ko-KR" sz="1200"/>
              <a:t>'@'%' identified by '</a:t>
            </a:r>
            <a:r>
              <a:rPr lang="en-US" altLang="ko-KR" sz="1200">
                <a:solidFill>
                  <a:srgbClr val="FF0000"/>
                </a:solidFill>
              </a:rPr>
              <a:t>wc1@#</a:t>
            </a:r>
            <a:r>
              <a:rPr lang="en-US" altLang="ko-KR" sz="1200"/>
              <a:t>';</a:t>
            </a:r>
          </a:p>
          <a:p>
            <a:pPr fontAlgn="base"/>
            <a:r>
              <a:rPr lang="en-US" altLang="ko-KR" sz="1200"/>
              <a:t>mysql&gt; select user, host from mysql.user</a:t>
            </a:r>
            <a:r>
              <a:rPr lang="en-US" altLang="ko-KR" sz="1200" smtClean="0"/>
              <a:t>;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404848" y="984493"/>
            <a:ext cx="41783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000" smtClean="0"/>
              <a:t>Host </a:t>
            </a:r>
            <a:r>
              <a:rPr lang="en-US" altLang="ko-KR" sz="1000"/>
              <a:t>'192.168.1.31' is blocked because of many connection errors; unblock with 'mysqladmin flush-hosts'Host '192.168.1.31' is blocked because of many connection errors; unblock with 'mysqladmin </a:t>
            </a:r>
            <a:r>
              <a:rPr lang="en-US" altLang="ko-KR" sz="1000" smtClean="0"/>
              <a:t>flush-hosts‘  </a:t>
            </a:r>
            <a:r>
              <a:rPr lang="ko-KR" altLang="en-US" sz="1000" smtClean="0"/>
              <a:t>에러시 조치</a:t>
            </a:r>
            <a:endParaRPr lang="en-US" altLang="ko-KR" sz="1000" smtClean="0"/>
          </a:p>
          <a:p>
            <a:r>
              <a:rPr lang="ko-KR" altLang="en-US" sz="1000" smtClean="0"/>
              <a:t>참조</a:t>
            </a:r>
            <a:r>
              <a:rPr lang="en-US" altLang="ko-KR" sz="1000"/>
              <a:t>: https://m.blog.naver.com/pjt3591oo/221982752218</a:t>
            </a:r>
          </a:p>
          <a:p>
            <a:pPr marL="171450" indent="-171450">
              <a:buFontTx/>
              <a:buChar char="-"/>
            </a:pPr>
            <a:r>
              <a:rPr lang="en-US" altLang="ko-KR" sz="1000" smtClean="0"/>
              <a:t>mysql </a:t>
            </a:r>
            <a:r>
              <a:rPr lang="en-US" altLang="ko-KR" sz="1000"/>
              <a:t>-u root </a:t>
            </a:r>
            <a:r>
              <a:rPr lang="en-US" altLang="ko-KR" sz="1000" smtClean="0"/>
              <a:t>–p   </a:t>
            </a:r>
            <a:endParaRPr lang="en-US" altLang="ko-KR" sz="1000"/>
          </a:p>
          <a:p>
            <a:pPr marL="171450" indent="-171450">
              <a:buFontTx/>
              <a:buChar char="-"/>
            </a:pPr>
            <a:r>
              <a:rPr lang="en-US" altLang="ko-KR" sz="1000" smtClean="0">
                <a:solidFill>
                  <a:srgbClr val="FF0000"/>
                </a:solidFill>
              </a:rPr>
              <a:t>$select @@global.max_connect_errors ; </a:t>
            </a:r>
          </a:p>
          <a:p>
            <a:pPr marL="171450" indent="-171450">
              <a:buFontTx/>
              <a:buChar char="-"/>
            </a:pPr>
            <a:r>
              <a:rPr lang="en-US" altLang="ko-KR" sz="1000" smtClean="0">
                <a:solidFill>
                  <a:srgbClr val="FF0000"/>
                </a:solidFill>
              </a:rPr>
              <a:t>$flush hosts ; </a:t>
            </a:r>
            <a:endParaRPr lang="ko-KR" altLang="en-US" sz="1000">
              <a:solidFill>
                <a:srgbClr val="FF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307" y="2346709"/>
            <a:ext cx="5848553" cy="17108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60208" y="4864102"/>
            <a:ext cx="3023007" cy="1661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외부 </a:t>
            </a:r>
            <a:r>
              <a:rPr lang="en-US" altLang="ko-KR" smtClean="0"/>
              <a:t>DB </a:t>
            </a:r>
            <a:r>
              <a:rPr lang="ko-KR" altLang="en-US" smtClean="0"/>
              <a:t>툴 접속</a:t>
            </a:r>
            <a:endParaRPr lang="en-US" altLang="ko-KR" smtClean="0"/>
          </a:p>
          <a:p>
            <a:pPr marL="285750" indent="-285750">
              <a:buFontTx/>
              <a:buChar char="-"/>
            </a:pPr>
            <a:r>
              <a:rPr lang="en-US" altLang="ko-KR" sz="1200" smtClean="0"/>
              <a:t>server host : 210.114.91.91</a:t>
            </a:r>
          </a:p>
          <a:p>
            <a:pPr marL="285750" indent="-285750">
              <a:buFontTx/>
              <a:buChar char="-"/>
            </a:pPr>
            <a:r>
              <a:rPr lang="en-US" altLang="ko-KR" sz="1200" smtClean="0"/>
              <a:t>database : wc</a:t>
            </a:r>
          </a:p>
          <a:p>
            <a:pPr marL="285750" indent="-285750">
              <a:buFontTx/>
              <a:buChar char="-"/>
            </a:pPr>
            <a:r>
              <a:rPr lang="en-US" altLang="ko-KR" sz="1200" smtClean="0"/>
              <a:t>username: wc</a:t>
            </a:r>
          </a:p>
          <a:p>
            <a:pPr marL="285750" indent="-285750">
              <a:buFontTx/>
              <a:buChar char="-"/>
            </a:pPr>
            <a:r>
              <a:rPr lang="en-US" altLang="ko-KR" sz="1200" smtClean="0"/>
              <a:t>password: wc1!#</a:t>
            </a:r>
          </a:p>
          <a:p>
            <a:pPr marL="285750" indent="-285750">
              <a:buFontTx/>
              <a:buChar char="-"/>
            </a:pPr>
            <a:endParaRPr lang="en-US" altLang="ko-KR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smtClean="0"/>
              <a:t>보통 </a:t>
            </a:r>
            <a:r>
              <a:rPr lang="en-US" altLang="ko-KR" sz="1200" smtClean="0"/>
              <a:t>root </a:t>
            </a:r>
            <a:r>
              <a:rPr lang="ko-KR" altLang="en-US" sz="1200" smtClean="0"/>
              <a:t>접속은 외부 </a:t>
            </a:r>
            <a:r>
              <a:rPr lang="en-US" altLang="ko-KR" sz="1200" smtClean="0"/>
              <a:t>DB</a:t>
            </a:r>
            <a:r>
              <a:rPr lang="ko-KR" altLang="en-US" sz="1200" smtClean="0"/>
              <a:t>툴 허용 않함</a:t>
            </a:r>
            <a:endParaRPr lang="en-US" altLang="ko-KR" sz="1200" smtClean="0"/>
          </a:p>
          <a:p>
            <a:r>
              <a:rPr lang="en-US" altLang="ko-KR" sz="1200"/>
              <a:t> </a:t>
            </a:r>
            <a:r>
              <a:rPr lang="en-US" altLang="ko-KR" sz="1200" smtClean="0"/>
              <a:t>   root </a:t>
            </a:r>
            <a:r>
              <a:rPr lang="ko-KR" altLang="en-US" sz="1200" smtClean="0"/>
              <a:t>계정 </a:t>
            </a:r>
            <a:r>
              <a:rPr lang="en-US" altLang="ko-KR" sz="1200" smtClean="0"/>
              <a:t>:  root / llmrag</a:t>
            </a:r>
            <a:endParaRPr lang="ko-KR" altLang="en-US" sz="1200"/>
          </a:p>
        </p:txBody>
      </p:sp>
      <p:sp>
        <p:nvSpPr>
          <p:cNvPr id="9" name="직사각형 8"/>
          <p:cNvSpPr/>
          <p:nvPr/>
        </p:nvSpPr>
        <p:spPr>
          <a:xfrm>
            <a:off x="9767967" y="1711786"/>
            <a:ext cx="14237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password : llmrag</a:t>
            </a:r>
            <a:endParaRPr lang="ko-KR" alt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84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KMS </a:t>
            </a:r>
            <a:r>
              <a:rPr lang="ko-KR" altLang="en-US" smtClean="0"/>
              <a:t>연동</a:t>
            </a:r>
            <a:endParaRPr lang="ko-KR" altLang="en-US"/>
          </a:p>
        </p:txBody>
      </p:sp>
      <p:sp>
        <p:nvSpPr>
          <p:cNvPr id="4" name="모서리가 둥근 직사각형 4">
            <a:extLst>
              <a:ext uri="{FF2B5EF4-FFF2-40B4-BE49-F238E27FC236}">
                <a16:creationId xmlns="" xmlns:a16="http://schemas.microsoft.com/office/drawing/2014/main" id="{D56C4002-C288-A606-F172-D577E818BCDC}"/>
              </a:ext>
            </a:extLst>
          </p:cNvPr>
          <p:cNvSpPr/>
          <p:nvPr/>
        </p:nvSpPr>
        <p:spPr>
          <a:xfrm>
            <a:off x="1327438" y="2496290"/>
            <a:ext cx="3306189" cy="902714"/>
          </a:xfrm>
          <a:prstGeom prst="roundRect">
            <a:avLst>
              <a:gd name="adj" fmla="val 503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mngChatBot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8635" y="20945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챗봇관리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45549" y="3022754"/>
            <a:ext cx="636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RAG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112984" y="30227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시나리오</a:t>
            </a:r>
            <a:endParaRPr lang="ko-KR" altLang="en-US"/>
          </a:p>
        </p:txBody>
      </p:sp>
      <p:sp>
        <p:nvSpPr>
          <p:cNvPr id="8" name="모서리가 둥근 직사각형 4">
            <a:extLst>
              <a:ext uri="{FF2B5EF4-FFF2-40B4-BE49-F238E27FC236}">
                <a16:creationId xmlns="" xmlns:a16="http://schemas.microsoft.com/office/drawing/2014/main" id="{D56C4002-C288-A606-F172-D577E818BCDC}"/>
              </a:ext>
            </a:extLst>
          </p:cNvPr>
          <p:cNvSpPr/>
          <p:nvPr/>
        </p:nvSpPr>
        <p:spPr>
          <a:xfrm>
            <a:off x="7297932" y="2489372"/>
            <a:ext cx="3306189" cy="902714"/>
          </a:xfrm>
          <a:prstGeom prst="roundRect">
            <a:avLst>
              <a:gd name="adj" fmla="val 503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-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09129" y="2087607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응용 솔루션</a:t>
            </a: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416043" y="301583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챗봇관리화면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083478" y="3015836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KMS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387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4706</TotalTime>
  <Words>1781</Words>
  <Application>Microsoft Office PowerPoint</Application>
  <PresentationFormat>와이드스크린</PresentationFormat>
  <Paragraphs>378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KoPubWorld돋움체 Bold</vt:lpstr>
      <vt:lpstr>KoPubWorld돋움체 Medium</vt:lpstr>
      <vt:lpstr>맑은 고딕</vt:lpstr>
      <vt:lpstr>Arial</vt:lpstr>
      <vt:lpstr>Symbol</vt:lpstr>
      <vt:lpstr>Wingdings</vt:lpstr>
      <vt:lpstr>Office 테마</vt:lpstr>
      <vt:lpstr>어플리케이션 개요</vt:lpstr>
      <vt:lpstr>PowerPoint 프레젠테이션</vt:lpstr>
      <vt:lpstr>프로그램 구조</vt:lpstr>
      <vt:lpstr>프로그램 구조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KMS 연동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 소열</dc:creator>
  <cp:lastModifiedBy>Microsoft 계정</cp:lastModifiedBy>
  <cp:revision>139</cp:revision>
  <dcterms:created xsi:type="dcterms:W3CDTF">2021-12-03T01:44:44Z</dcterms:created>
  <dcterms:modified xsi:type="dcterms:W3CDTF">2024-04-04T08:56:57Z</dcterms:modified>
</cp:coreProperties>
</file>