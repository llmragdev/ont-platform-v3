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77" r:id="rId5"/>
    <p:sldId id="1743" r:id="rId6"/>
    <p:sldId id="1722" r:id="rId7"/>
    <p:sldId id="1724" r:id="rId8"/>
    <p:sldId id="1727" r:id="rId9"/>
    <p:sldId id="1729" r:id="rId10"/>
    <p:sldId id="1735" r:id="rId11"/>
    <p:sldId id="1739" r:id="rId12"/>
    <p:sldId id="1741" r:id="rId13"/>
  </p:sldIdLst>
  <p:sldSz cx="9906000" cy="6858000" type="A4"/>
  <p:notesSz cx="6735763" cy="9866313"/>
  <p:defaultTextStyle>
    <a:defPPr>
      <a:defRPr lang="ko-KR"/>
    </a:defPPr>
    <a:lvl1pPr marL="0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1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20" userDrawn="1">
          <p15:clr>
            <a:srgbClr val="A4A3A4"/>
          </p15:clr>
        </p15:guide>
        <p15:guide id="2" orient="horz" pos="4065" userDrawn="1">
          <p15:clr>
            <a:srgbClr val="A4A3A4"/>
          </p15:clr>
        </p15:guide>
        <p15:guide id="3" orient="horz" pos="1026" userDrawn="1">
          <p15:clr>
            <a:srgbClr val="A4A3A4"/>
          </p15:clr>
        </p15:guide>
        <p15:guide id="4" pos="126" userDrawn="1">
          <p15:clr>
            <a:srgbClr val="A4A3A4"/>
          </p15:clr>
        </p15:guide>
        <p15:guide id="5" pos="6114" userDrawn="1">
          <p15:clr>
            <a:srgbClr val="A4A3A4"/>
          </p15:clr>
        </p15:guide>
        <p15:guide id="6" orient="horz" pos="10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9496"/>
    <a:srgbClr val="000000"/>
    <a:srgbClr val="E5E5FA"/>
    <a:srgbClr val="325B9E"/>
    <a:srgbClr val="153569"/>
    <a:srgbClr val="0000FF"/>
    <a:srgbClr val="F7FBFC"/>
    <a:srgbClr val="92D050"/>
    <a:srgbClr val="1DB2EC"/>
    <a:srgbClr val="38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D5F1E7-5F94-FCA2-167C-87542D8CD500}" v="39" dt="2026-05-19T01:36:00.011"/>
    <p1510:client id="{A3DEAD24-D547-9A77-C9BE-7391CD538E54}" v="4" dt="2026-05-18T23:49:52.378"/>
    <p1510:client id="{A73CA679-FA43-FD13-FDFA-0F33519F1126}" v="3" dt="2026-05-19T03:38:15.605"/>
    <p1510:client id="{EBE9D531-827D-FB0C-5078-DE681054502F}" v="3" dt="2026-05-19T03:38:56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120"/>
        <p:guide orient="horz" pos="4065"/>
        <p:guide orient="horz" pos="1026"/>
        <p:guide pos="126"/>
        <p:guide pos="6114"/>
        <p:guide orient="horz" pos="109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도환" userId="S::dh.choi8362@hnix.co.kr::fcbb83f0-cb37-4f4e-9d2f-1e8890683654" providerId="AD" clId="Web-{A73CA679-FA43-FD13-FDFA-0F33519F1126}"/>
    <pc:docChg chg="modSld">
      <pc:chgData name="최도환" userId="S::dh.choi8362@hnix.co.kr::fcbb83f0-cb37-4f4e-9d2f-1e8890683654" providerId="AD" clId="Web-{A73CA679-FA43-FD13-FDFA-0F33519F1126}" dt="2026-05-19T03:38:15.605" v="2" actId="20577"/>
      <pc:docMkLst>
        <pc:docMk/>
      </pc:docMkLst>
      <pc:sldChg chg="modSp">
        <pc:chgData name="최도환" userId="S::dh.choi8362@hnix.co.kr::fcbb83f0-cb37-4f4e-9d2f-1e8890683654" providerId="AD" clId="Web-{A73CA679-FA43-FD13-FDFA-0F33519F1126}" dt="2026-05-19T03:38:15.605" v="2" actId="20577"/>
        <pc:sldMkLst>
          <pc:docMk/>
          <pc:sldMk cId="2329256195" sldId="1724"/>
        </pc:sldMkLst>
        <pc:spChg chg="mod">
          <ac:chgData name="최도환" userId="S::dh.choi8362@hnix.co.kr::fcbb83f0-cb37-4f4e-9d2f-1e8890683654" providerId="AD" clId="Web-{A73CA679-FA43-FD13-FDFA-0F33519F1126}" dt="2026-05-19T03:38:15.605" v="2" actId="20577"/>
          <ac:spMkLst>
            <pc:docMk/>
            <pc:sldMk cId="2329256195" sldId="1724"/>
            <ac:spMk id="3" creationId="{76B0F9D3-E65E-91DE-EDDC-6FBD04007F7B}"/>
          </ac:spMkLst>
        </pc:spChg>
      </pc:sldChg>
    </pc:docChg>
  </pc:docChgLst>
  <pc:docChgLst>
    <pc:chgData name="채재석" userId="S::js.chae1187@hnix.co.kr::d36de071-4a86-4a08-a82d-30a1e4dbd667" providerId="AD" clId="Web-{99D5F1E7-5F94-FCA2-167C-87542D8CD500}"/>
    <pc:docChg chg="modSld">
      <pc:chgData name="채재석" userId="S::js.chae1187@hnix.co.kr::d36de071-4a86-4a08-a82d-30a1e4dbd667" providerId="AD" clId="Web-{99D5F1E7-5F94-FCA2-167C-87542D8CD500}" dt="2026-05-19T01:36:00.011" v="38" actId="20577"/>
      <pc:docMkLst>
        <pc:docMk/>
      </pc:docMkLst>
      <pc:sldChg chg="modSp">
        <pc:chgData name="채재석" userId="S::js.chae1187@hnix.co.kr::d36de071-4a86-4a08-a82d-30a1e4dbd667" providerId="AD" clId="Web-{99D5F1E7-5F94-FCA2-167C-87542D8CD500}" dt="2026-05-19T01:36:00.011" v="38" actId="20577"/>
        <pc:sldMkLst>
          <pc:docMk/>
          <pc:sldMk cId="2329256195" sldId="1724"/>
        </pc:sldMkLst>
        <pc:spChg chg="mod">
          <ac:chgData name="채재석" userId="S::js.chae1187@hnix.co.kr::d36de071-4a86-4a08-a82d-30a1e4dbd667" providerId="AD" clId="Web-{99D5F1E7-5F94-FCA2-167C-87542D8CD500}" dt="2026-05-19T01:36:00.011" v="38" actId="20577"/>
          <ac:spMkLst>
            <pc:docMk/>
            <pc:sldMk cId="2329256195" sldId="1724"/>
            <ac:spMk id="3" creationId="{76B0F9D3-E65E-91DE-EDDC-6FBD04007F7B}"/>
          </ac:spMkLst>
        </pc:spChg>
      </pc:sldChg>
    </pc:docChg>
  </pc:docChgLst>
  <pc:docChgLst>
    <pc:chgData name="오명섭" userId="S::ms.oh1723@hnix.co.kr::ad196fd4-94e6-4341-a138-93bc8b3d8b80" providerId="AD" clId="Web-{A3DEAD24-D547-9A77-C9BE-7391CD538E54}"/>
    <pc:docChg chg="modSld">
      <pc:chgData name="오명섭" userId="S::ms.oh1723@hnix.co.kr::ad196fd4-94e6-4341-a138-93bc8b3d8b80" providerId="AD" clId="Web-{A3DEAD24-D547-9A77-C9BE-7391CD538E54}" dt="2026-05-18T23:49:52.378" v="3" actId="20577"/>
      <pc:docMkLst>
        <pc:docMk/>
      </pc:docMkLst>
      <pc:sldChg chg="modSp">
        <pc:chgData name="오명섭" userId="S::ms.oh1723@hnix.co.kr::ad196fd4-94e6-4341-a138-93bc8b3d8b80" providerId="AD" clId="Web-{A3DEAD24-D547-9A77-C9BE-7391CD538E54}" dt="2026-05-18T23:49:52.378" v="3" actId="20577"/>
        <pc:sldMkLst>
          <pc:docMk/>
          <pc:sldMk cId="1979785845" sldId="1727"/>
        </pc:sldMkLst>
        <pc:spChg chg="mod">
          <ac:chgData name="오명섭" userId="S::ms.oh1723@hnix.co.kr::ad196fd4-94e6-4341-a138-93bc8b3d8b80" providerId="AD" clId="Web-{A3DEAD24-D547-9A77-C9BE-7391CD538E54}" dt="2026-05-18T23:49:52.378" v="3" actId="20577"/>
          <ac:spMkLst>
            <pc:docMk/>
            <pc:sldMk cId="1979785845" sldId="1727"/>
            <ac:spMk id="3" creationId="{262A4E23-1C51-CA18-B0AF-961501404C45}"/>
          </ac:spMkLst>
        </pc:spChg>
      </pc:sldChg>
    </pc:docChg>
  </pc:docChgLst>
  <pc:docChgLst>
    <pc:chgData name="최도환" userId="S::dh.choi8362@hnix.co.kr::fcbb83f0-cb37-4f4e-9d2f-1e8890683654" providerId="AD" clId="Web-{EBE9D531-827D-FB0C-5078-DE681054502F}"/>
    <pc:docChg chg="modSld">
      <pc:chgData name="최도환" userId="S::dh.choi8362@hnix.co.kr::fcbb83f0-cb37-4f4e-9d2f-1e8890683654" providerId="AD" clId="Web-{EBE9D531-827D-FB0C-5078-DE681054502F}" dt="2026-05-19T03:38:56.504" v="2" actId="20577"/>
      <pc:docMkLst>
        <pc:docMk/>
      </pc:docMkLst>
      <pc:sldChg chg="modSp">
        <pc:chgData name="최도환" userId="S::dh.choi8362@hnix.co.kr::fcbb83f0-cb37-4f4e-9d2f-1e8890683654" providerId="AD" clId="Web-{EBE9D531-827D-FB0C-5078-DE681054502F}" dt="2026-05-19T03:38:56.504" v="2" actId="20577"/>
        <pc:sldMkLst>
          <pc:docMk/>
          <pc:sldMk cId="2329256195" sldId="1724"/>
        </pc:sldMkLst>
        <pc:spChg chg="mod">
          <ac:chgData name="최도환" userId="S::dh.choi8362@hnix.co.kr::fcbb83f0-cb37-4f4e-9d2f-1e8890683654" providerId="AD" clId="Web-{EBE9D531-827D-FB0C-5078-DE681054502F}" dt="2026-05-19T03:38:56.504" v="2" actId="20577"/>
          <ac:spMkLst>
            <pc:docMk/>
            <pc:sldMk cId="2329256195" sldId="1724"/>
            <ac:spMk id="3" creationId="{76B0F9D3-E65E-91DE-EDDC-6FBD04007F7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5029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4" y="1"/>
            <a:ext cx="2918831" cy="495029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fld id="{A6FE83AA-EB65-41BF-89C7-EFB2B134322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4" y="9371286"/>
            <a:ext cx="2918831" cy="495028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fld id="{D0DBD452-AEA4-4F3F-B392-F11A241CD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970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572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fld id="{0B8CD29C-7AB3-424C-A884-DCFB29C86DEB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44" tIns="45322" rIns="90644" bIns="4532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91" y="4747996"/>
            <a:ext cx="5387982" cy="3884437"/>
          </a:xfrm>
          <a:prstGeom prst="rect">
            <a:avLst/>
          </a:prstGeom>
        </p:spPr>
        <p:txBody>
          <a:bodyPr vert="horz" lIns="90644" tIns="45322" rIns="90644" bIns="45322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572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fld id="{1187BE51-4B78-4213-A6BD-B385C0EE5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71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22"/>
          <p:cNvSpPr>
            <a:spLocks noGrp="1"/>
          </p:cNvSpPr>
          <p:nvPr>
            <p:ph type="title" hasCustomPrompt="1"/>
          </p:nvPr>
        </p:nvSpPr>
        <p:spPr>
          <a:xfrm>
            <a:off x="3183053" y="2558770"/>
            <a:ext cx="5124364" cy="656111"/>
          </a:xfrm>
          <a:prstGeom prst="rect">
            <a:avLst/>
          </a:prstGeom>
        </p:spPr>
        <p:txBody>
          <a:bodyPr/>
          <a:lstStyle>
            <a:lvl1pPr>
              <a:defRPr sz="4600">
                <a:solidFill>
                  <a:srgbClr val="1F3993"/>
                </a:solidFill>
              </a:defRPr>
            </a:lvl1pPr>
          </a:lstStyle>
          <a:p>
            <a:r>
              <a:rPr lang="en-US" altLang="ko-KR"/>
              <a:t>Click to add title</a:t>
            </a:r>
            <a:endParaRPr lang="ko-KR" altLang="en-US"/>
          </a:p>
        </p:txBody>
      </p:sp>
      <p:sp>
        <p:nvSpPr>
          <p:cNvPr id="25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183052" y="3313064"/>
            <a:ext cx="5124365" cy="4298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0"/>
            </a:lvl1pPr>
            <a:lvl2pPr>
              <a:defRPr sz="2800" b="0"/>
            </a:lvl2pPr>
            <a:lvl3pPr>
              <a:defRPr sz="2800" b="0"/>
            </a:lvl3pPr>
            <a:lvl4pPr>
              <a:defRPr sz="2800" b="0"/>
            </a:lvl4pPr>
            <a:lvl5pPr>
              <a:defRPr sz="2800" b="0"/>
            </a:lvl5pPr>
          </a:lstStyle>
          <a:p>
            <a:pPr lvl="0"/>
            <a:r>
              <a:rPr lang="en-US" altLang="ko-KR"/>
              <a:t>Click to add subtitle</a:t>
            </a:r>
            <a:endParaRPr lang="ko-KR" altLang="en-US"/>
          </a:p>
        </p:txBody>
      </p:sp>
      <p:sp>
        <p:nvSpPr>
          <p:cNvPr id="31" name="텍스트 개체 틀 30"/>
          <p:cNvSpPr>
            <a:spLocks noGrp="1"/>
          </p:cNvSpPr>
          <p:nvPr>
            <p:ph type="body" sz="quarter" idx="11" hasCustomPrompt="1"/>
          </p:nvPr>
        </p:nvSpPr>
        <p:spPr>
          <a:xfrm>
            <a:off x="3183052" y="4186525"/>
            <a:ext cx="4145067" cy="12739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1600" b="1"/>
            </a:lvl1pPr>
            <a:lvl2pPr marL="503950" indent="0" algn="r">
              <a:buFontTx/>
              <a:buNone/>
              <a:defRPr sz="1600" b="0"/>
            </a:lvl2pPr>
            <a:lvl3pPr marL="1007901" indent="0" algn="r">
              <a:buFontTx/>
              <a:buNone/>
              <a:defRPr sz="1600" b="0"/>
            </a:lvl3pPr>
            <a:lvl4pPr marL="1511851" indent="0" algn="r">
              <a:buFontTx/>
              <a:buNone/>
              <a:defRPr sz="1600" b="0"/>
            </a:lvl4pPr>
            <a:lvl5pPr marL="2015802" indent="0" algn="r">
              <a:buFontTx/>
              <a:buNone/>
              <a:defRPr sz="1600" b="0"/>
            </a:lvl5pPr>
          </a:lstStyle>
          <a:p>
            <a:pPr lvl="0"/>
            <a:r>
              <a:rPr lang="en-US" altLang="ko-KR"/>
              <a:t>Date &amp; Name</a:t>
            </a:r>
            <a:endParaRPr lang="ko-KR" altLang="en-US"/>
          </a:p>
        </p:txBody>
      </p:sp>
      <p:pic>
        <p:nvPicPr>
          <p:cNvPr id="6" name="그림 5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0AEFB97-EFC2-D9BE-7FBE-8C77B352E0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550" y="6261040"/>
            <a:ext cx="1245324" cy="394716"/>
          </a:xfrm>
          <a:prstGeom prst="rect">
            <a:avLst/>
          </a:prstGeom>
        </p:spPr>
      </p:pic>
      <p:pic>
        <p:nvPicPr>
          <p:cNvPr id="3" name="그림 2" descr="곡선, 예술이(가) 표시된 사진&#10;&#10;중간 신뢰도로 자동 생성된 설명">
            <a:extLst>
              <a:ext uri="{FF2B5EF4-FFF2-40B4-BE49-F238E27FC236}">
                <a16:creationId xmlns:a16="http://schemas.microsoft.com/office/drawing/2014/main" id="{FCB58549-9089-BC29-46F1-6EA3A7D3C5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"/>
          <a:stretch/>
        </p:blipFill>
        <p:spPr>
          <a:xfrm>
            <a:off x="0" y="0"/>
            <a:ext cx="6657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024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0025" y="314336"/>
            <a:ext cx="8929849" cy="49106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/>
              <a:t>Click to add title</a:t>
            </a:r>
            <a:endParaRPr 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200025" y="1033670"/>
            <a:ext cx="9505950" cy="5367130"/>
          </a:xfrm>
          <a:prstGeom prst="rect">
            <a:avLst/>
          </a:prstGeom>
        </p:spPr>
        <p:txBody>
          <a:bodyPr/>
          <a:lstStyle>
            <a:lvl1pPr marL="179388" indent="-179388">
              <a:defRPr sz="1200"/>
            </a:lvl1pPr>
            <a:lvl2pPr marL="357188" indent="-88900">
              <a:defRPr sz="1200"/>
            </a:lvl2pPr>
            <a:lvl3pPr marL="447675" indent="-90488">
              <a:defRPr sz="1200"/>
            </a:lvl3pPr>
            <a:lvl4pPr marL="536575" indent="-88900">
              <a:defRPr sz="1200"/>
            </a:lvl4pPr>
            <a:lvl5pPr marL="625475" indent="-88900"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6830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6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6114" userDrawn="1">
          <p15:clr>
            <a:srgbClr val="FBAE40"/>
          </p15:clr>
        </p15:guide>
        <p15:guide id="4" orient="horz" pos="640" userDrawn="1">
          <p15:clr>
            <a:srgbClr val="FBAE40"/>
          </p15:clr>
        </p15:guide>
        <p15:guide id="5" orient="horz" pos="40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48915" y="2124141"/>
            <a:ext cx="5795085" cy="49106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1F3993"/>
                </a:solidFill>
                <a:latin typeface="+mj-ea"/>
                <a:ea typeface="+mj-ea"/>
              </a:defRPr>
            </a:lvl1pPr>
          </a:lstStyle>
          <a:p>
            <a:r>
              <a:rPr lang="en-US" err="1"/>
              <a:t>Contants</a:t>
            </a:r>
            <a:endParaRPr 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48915" y="2683982"/>
            <a:ext cx="5795085" cy="3309799"/>
          </a:xfrm>
          <a:prstGeom prst="rect">
            <a:avLst/>
          </a:prstGeom>
        </p:spPr>
        <p:txBody>
          <a:bodyPr/>
          <a:lstStyle>
            <a:lvl1pPr marL="357188" indent="-357188">
              <a:defRPr sz="200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Text</a:t>
            </a:r>
          </a:p>
          <a:p>
            <a:pPr lvl="0"/>
            <a:r>
              <a:rPr lang="en-US" altLang="ko-KR"/>
              <a:t>Text</a:t>
            </a:r>
            <a:endParaRPr lang="ko-KR" altLang="en-US"/>
          </a:p>
        </p:txBody>
      </p:sp>
      <p:pic>
        <p:nvPicPr>
          <p:cNvPr id="2" name="그림 1" descr="곡선, 예술이(가) 표시된 사진&#10;&#10;중간 신뢰도로 자동 생성된 설명">
            <a:extLst>
              <a:ext uri="{FF2B5EF4-FFF2-40B4-BE49-F238E27FC236}">
                <a16:creationId xmlns:a16="http://schemas.microsoft.com/office/drawing/2014/main" id="{E5D37888-0E80-0991-49A8-0D05D8DCCE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"/>
          <a:stretch/>
        </p:blipFill>
        <p:spPr>
          <a:xfrm>
            <a:off x="0" y="0"/>
            <a:ext cx="6657975" cy="6858000"/>
          </a:xfrm>
          <a:prstGeom prst="rect">
            <a:avLst/>
          </a:prstGeom>
        </p:spPr>
      </p:pic>
      <p:pic>
        <p:nvPicPr>
          <p:cNvPr id="3" name="그림 2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0D25DA63-F888-B319-9161-59013D0053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550" y="6261040"/>
            <a:ext cx="1245324" cy="39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01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214954" y="6545613"/>
            <a:ext cx="190501" cy="190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53"/>
          </a:p>
        </p:txBody>
      </p:sp>
      <p:sp>
        <p:nvSpPr>
          <p:cNvPr id="8" name="슬라이드 번호 개체 틀 4"/>
          <p:cNvSpPr txBox="1">
            <a:spLocks/>
          </p:cNvSpPr>
          <p:nvPr userDrawn="1"/>
        </p:nvSpPr>
        <p:spPr>
          <a:xfrm>
            <a:off x="152896" y="6534689"/>
            <a:ext cx="311477" cy="198704"/>
          </a:xfrm>
          <a:prstGeom prst="rect">
            <a:avLst/>
          </a:prstGeom>
        </p:spPr>
        <p:txBody>
          <a:bodyPr wrap="none" lIns="0" tIns="0" rIns="0" bIns="0" anchor="ctr" anchorCtr="0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marL="0" marR="0" lvl="0" indent="0" algn="ctr" defTabSz="914361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3A384F-552B-442D-B730-3FD4C549F213}" type="slidenum">
              <a:rPr kumimoji="1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굴림" charset="-127"/>
                <a:cs typeface="Arial" panose="020B0604020202020204" pitchFamily="34" charset="0"/>
              </a:rPr>
              <a:pPr marL="0" marR="0" lvl="0" indent="0" algn="ctr" defTabSz="914361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굴림" charset="-127"/>
              <a:cs typeface="Arial" panose="020B0604020202020204" pitchFamily="34" charset="0"/>
            </a:endParaRPr>
          </a:p>
        </p:txBody>
      </p:sp>
      <p:sp>
        <p:nvSpPr>
          <p:cNvPr id="10" name="Text Box 58"/>
          <p:cNvSpPr txBox="1">
            <a:spLocks noChangeArrowheads="1"/>
          </p:cNvSpPr>
          <p:nvPr userDrawn="1"/>
        </p:nvSpPr>
        <p:spPr bwMode="auto">
          <a:xfrm>
            <a:off x="353869" y="6534257"/>
            <a:ext cx="1942303" cy="204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5778" tIns="47889" rIns="95778" bIns="47889">
            <a:spAutoFit/>
          </a:bodyPr>
          <a:lstStyle/>
          <a:p>
            <a:pPr algn="l" defTabSz="957223">
              <a:defRPr/>
            </a:pPr>
            <a:r>
              <a:rPr lang="en-US" altLang="ko-KR" sz="7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Copyright © 2025 HNIX All Rights Reserved</a:t>
            </a:r>
            <a:endParaRPr lang="ko-KR" altLang="en-US" sz="7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6" name="그림 5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6C27A59-2B59-6AED-1DA2-5160C064540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4808" y="6516004"/>
            <a:ext cx="715066" cy="226646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66FBBE56-FA57-120E-50B3-799C78315E0C}"/>
              </a:ext>
            </a:extLst>
          </p:cNvPr>
          <p:cNvGrpSpPr/>
          <p:nvPr userDrawn="1"/>
        </p:nvGrpSpPr>
        <p:grpSpPr>
          <a:xfrm>
            <a:off x="210726" y="831930"/>
            <a:ext cx="9695274" cy="45719"/>
            <a:chOff x="-371743" y="1808480"/>
            <a:chExt cx="10293928" cy="858520"/>
          </a:xfrm>
          <a:solidFill>
            <a:srgbClr val="1B3D9E"/>
          </a:solidFill>
        </p:grpSpPr>
        <p:sp>
          <p:nvSpPr>
            <p:cNvPr id="11" name="평행 사변형 10">
              <a:extLst>
                <a:ext uri="{FF2B5EF4-FFF2-40B4-BE49-F238E27FC236}">
                  <a16:creationId xmlns:a16="http://schemas.microsoft.com/office/drawing/2014/main" id="{9ABC4A6B-FA39-0E3D-5C37-2B2683713AFC}"/>
                </a:ext>
              </a:extLst>
            </p:cNvPr>
            <p:cNvSpPr/>
            <p:nvPr/>
          </p:nvSpPr>
          <p:spPr>
            <a:xfrm>
              <a:off x="-371743" y="1808480"/>
              <a:ext cx="1503680" cy="858520"/>
            </a:xfrm>
            <a:prstGeom prst="parallelogram">
              <a:avLst>
                <a:gd name="adj" fmla="val 89106"/>
              </a:avLst>
            </a:prstGeom>
            <a:solidFill>
              <a:srgbClr val="129C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평행 사변형 13">
              <a:extLst>
                <a:ext uri="{FF2B5EF4-FFF2-40B4-BE49-F238E27FC236}">
                  <a16:creationId xmlns:a16="http://schemas.microsoft.com/office/drawing/2014/main" id="{B86D1C93-097C-E275-D15C-69A4BD97DC6D}"/>
                </a:ext>
              </a:extLst>
            </p:cNvPr>
            <p:cNvSpPr/>
            <p:nvPr/>
          </p:nvSpPr>
          <p:spPr>
            <a:xfrm>
              <a:off x="259314" y="1808480"/>
              <a:ext cx="1503680" cy="858520"/>
            </a:xfrm>
            <a:prstGeom prst="parallelogram">
              <a:avLst>
                <a:gd name="adj" fmla="val 891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18320325-BFC2-17AD-F4B8-C8F8605078BD}"/>
                </a:ext>
              </a:extLst>
            </p:cNvPr>
            <p:cNvSpPr/>
            <p:nvPr/>
          </p:nvSpPr>
          <p:spPr>
            <a:xfrm>
              <a:off x="1398481" y="1808480"/>
              <a:ext cx="8523704" cy="858520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421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7" r:id="rId4"/>
  </p:sldLayoutIdLst>
  <p:txStyles>
    <p:titleStyle>
      <a:lvl1pPr algn="l" defTabSz="1007901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514328" indent="-514328" algn="l" defTabSz="1007901" rtl="0" eaLnBrk="1" latinLnBrk="1" hangingPunct="1">
        <a:lnSpc>
          <a:spcPct val="90000"/>
        </a:lnSpc>
        <a:spcBef>
          <a:spcPts val="1102"/>
        </a:spcBef>
        <a:buFont typeface="+mj-lt"/>
        <a:buAutoNum type="arabicPeriod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55925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876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826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777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728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678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628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579" indent="-251976" algn="l" defTabSz="1007901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51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01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852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02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753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703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653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603" algn="l" defTabSz="1007901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611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41492" y="2296608"/>
            <a:ext cx="7323190" cy="656111"/>
          </a:xfrm>
        </p:spPr>
        <p:txBody>
          <a:bodyPr lIns="91440" tIns="45720" rIns="91440" bIns="45720" anchor="t"/>
          <a:lstStyle/>
          <a:p>
            <a:pPr>
              <a:lnSpc>
                <a:spcPct val="120000"/>
              </a:lnSpc>
            </a:pPr>
            <a:r>
              <a:rPr lang="en-US" altLang="ko-KR" sz="2800" kern="1000" spc="-120">
                <a:latin typeface="+mn-ea"/>
                <a:ea typeface="+mn-ea"/>
                <a:cs typeface="Arial"/>
              </a:rPr>
              <a:t>AI Lab 2</a:t>
            </a:r>
            <a:r>
              <a:rPr lang="ko-KR" altLang="en-US" sz="2800" kern="1000" spc="-120">
                <a:latin typeface="+mn-ea"/>
                <a:ea typeface="+mn-ea"/>
                <a:cs typeface="Arial"/>
              </a:rPr>
              <a:t>기 중간점검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6853336" y="4825160"/>
            <a:ext cx="2544664" cy="885044"/>
          </a:xfrm>
        </p:spPr>
        <p:txBody>
          <a:bodyPr lIns="91440" tIns="45720" rIns="91440" bIns="45720" anchor="ctr">
            <a:normAutofit/>
          </a:bodyPr>
          <a:lstStyle/>
          <a:p>
            <a:r>
              <a:rPr lang="ko-KR" altLang="en-US">
                <a:latin typeface="+mn-ea"/>
                <a:cs typeface="Arial"/>
              </a:rPr>
              <a:t>작성일</a:t>
            </a:r>
            <a:r>
              <a:rPr lang="en-US" altLang="ko-KR">
                <a:latin typeface="+mn-ea"/>
                <a:cs typeface="Arial"/>
              </a:rPr>
              <a:t>: 2026.05.19</a:t>
            </a:r>
          </a:p>
          <a:p>
            <a:r>
              <a:rPr lang="ko-KR" altLang="en-US">
                <a:latin typeface="+mn-ea"/>
                <a:cs typeface="Arial"/>
              </a:rPr>
              <a:t>중간점검일</a:t>
            </a:r>
            <a:r>
              <a:rPr lang="en-US" altLang="ko-KR">
                <a:latin typeface="+mn-ea"/>
                <a:cs typeface="Arial"/>
              </a:rPr>
              <a:t>: 2026. 05. 27</a:t>
            </a:r>
            <a:endParaRPr lang="ko-KR" altLang="en-US">
              <a:latin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8497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3BF62-EF0C-A8CB-7C43-CF047050F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FF7A3BE6-7E1D-641D-3C3C-64A2E531D561}"/>
              </a:ext>
            </a:extLst>
          </p:cNvPr>
          <p:cNvSpPr txBox="1">
            <a:spLocks/>
          </p:cNvSpPr>
          <p:nvPr/>
        </p:nvSpPr>
        <p:spPr>
          <a:xfrm>
            <a:off x="4849906" y="2587900"/>
            <a:ext cx="4317029" cy="3309799"/>
          </a:xfrm>
          <a:prstGeom prst="rect">
            <a:avLst/>
          </a:prstGeom>
        </p:spPr>
        <p:txBody>
          <a:bodyPr/>
          <a:lstStyle>
            <a:lvl1pPr marL="357188" indent="-357188" algn="l" defTabSz="1007901" rtl="0" eaLnBrk="1" latinLnBrk="1" hangingPunct="1">
              <a:lnSpc>
                <a:spcPct val="90000"/>
              </a:lnSpc>
              <a:spcBef>
                <a:spcPts val="1102"/>
              </a:spcBef>
              <a:buFont typeface="+mj-lt"/>
              <a:buAutoNum type="arabicPeriod"/>
              <a:defRPr sz="20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55925" indent="-251976" algn="l" defTabSz="1007901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876" indent="-251976" algn="l" defTabSz="1007901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826" indent="-251976" algn="l" defTabSz="1007901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777" indent="-251976" algn="l" defTabSz="1007901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728" indent="-251976" algn="l" defTabSz="1007901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678" indent="-251976" algn="l" defTabSz="1007901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628" indent="-251976" algn="l" defTabSz="1007901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579" indent="-251976" algn="l" defTabSz="1007901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266700">
              <a:buFont typeface="+mj-lt"/>
              <a:buNone/>
            </a:pPr>
            <a:endParaRPr lang="en-US" altLang="ko-KR"/>
          </a:p>
          <a:p>
            <a:pPr marL="0" indent="538163">
              <a:buFont typeface="+mj-lt"/>
              <a:buNone/>
            </a:pPr>
            <a:r>
              <a:rPr lang="ko-KR" altLang="en-US"/>
              <a:t>   </a:t>
            </a:r>
            <a:endParaRPr lang="en-US" altLang="ko-K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FDDE40-14B3-E65D-CD07-1BC91F991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52363" y="2233782"/>
            <a:ext cx="5795085" cy="49106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1F3993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목차</a:t>
            </a:r>
            <a:endParaRPr lang="en-US"/>
          </a:p>
        </p:txBody>
      </p:sp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3298D78E-20CD-BD3A-0DD3-EE2FB8B3A2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8915" y="2861784"/>
            <a:ext cx="5795085" cy="3309799"/>
          </a:xfrm>
          <a:prstGeom prst="rect">
            <a:avLst/>
          </a:prstGeom>
        </p:spPr>
        <p:txBody>
          <a:bodyPr/>
          <a:lstStyle>
            <a:lvl1pPr marL="357188" indent="-357188">
              <a:defRPr sz="2000">
                <a:latin typeface="+mn-ea"/>
                <a:ea typeface="+mn-ea"/>
              </a:defRPr>
            </a:lvl1pPr>
          </a:lstStyle>
          <a:p>
            <a:pPr lvl="0"/>
            <a:r>
              <a:rPr lang="ko-KR" altLang="en-US" sz="1800"/>
              <a:t>중간점검 개요 : 취지 및 목적</a:t>
            </a:r>
          </a:p>
          <a:p>
            <a:pPr lvl="0"/>
            <a:r>
              <a:rPr lang="ko-KR" altLang="en-US" sz="1800"/>
              <a:t>중간점검 기준 : 조별 요구사항 정의 요약</a:t>
            </a:r>
          </a:p>
          <a:p>
            <a:pPr lvl="0"/>
            <a:r>
              <a:rPr lang="ko-KR" altLang="en-US" sz="1800"/>
              <a:t>중간점검 방식 : 평가가 아닌 교류의 장</a:t>
            </a:r>
          </a:p>
          <a:p>
            <a:pPr lvl="0"/>
            <a:r>
              <a:rPr lang="ko-KR" altLang="en-US" sz="1800"/>
              <a:t>조별 발표 : 순서 및 시간 배분</a:t>
            </a:r>
          </a:p>
          <a:p>
            <a:pPr lvl="0"/>
            <a:r>
              <a:rPr lang="ko-KR" altLang="en-US" sz="1800"/>
              <a:t>공통 시나리오 기반 통합 테스트</a:t>
            </a:r>
          </a:p>
          <a:p>
            <a:pPr lvl="0"/>
            <a:r>
              <a:rPr lang="ko-KR" altLang="en-US" sz="1800"/>
              <a:t>최종 발표 : 7월 15일 및 이후 일정</a:t>
            </a:r>
          </a:p>
        </p:txBody>
      </p:sp>
    </p:spTree>
    <p:extLst>
      <p:ext uri="{BB962C8B-B14F-4D97-AF65-F5344CB8AC3E}">
        <p14:creationId xmlns:p14="http://schemas.microsoft.com/office/powerpoint/2010/main" val="279790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04F3C-5160-BA32-15A8-15CFA6A0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[중간점검 개요] 취지 및 목적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6AF732-8716-2997-6EBF-F9F16C62E3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ko-KR" altLang="en-US" sz="1600" b="1"/>
              <a:t>운영 취지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참여 조원들의 자율적 활동을 최대한 보장하고, 최소한의 가이드로 운영하는 것이 본 프로그램의 기본 방향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조가 주도적으로 주제를 탐구하고 결과물을 만들어가는 과정 자체에 가치를 두고자 함</a:t>
            </a:r>
          </a:p>
          <a:p>
            <a:pPr marL="0" indent="0" latinLnBrk="0">
              <a:buNone/>
            </a:pPr>
            <a:r>
              <a:rPr lang="ko-KR" altLang="en-US" sz="1600" b="1"/>
              <a:t>중간점검의 필요성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최종 발표까지 점검 없이 진행될 경우, 방향성 이슈나 진행상 문제를 적시에 해소하기 어려움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중간 시점에 산출물 및 시연 결과물을 함께 확인함으로써 잠재 이슈를 조기에 발견하고 보완 기회 제공</a:t>
            </a:r>
          </a:p>
          <a:p>
            <a:pPr marL="0" indent="0" latinLnBrk="0">
              <a:buNone/>
            </a:pPr>
            <a:r>
              <a:rPr lang="ko-KR" altLang="en-US" sz="1600" b="1"/>
              <a:t>중간점검 목표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조의 현재 진행 상황과 산출물, 시연 결과 점검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방향성 및 진행상 이슈를 공유하고 필요한 가이드 제공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최종 발표 시점에 각 조가 목표한 바를 달성할 수 있도록 지원</a:t>
            </a:r>
          </a:p>
        </p:txBody>
      </p:sp>
    </p:spTree>
    <p:extLst>
      <p:ext uri="{BB962C8B-B14F-4D97-AF65-F5344CB8AC3E}">
        <p14:creationId xmlns:p14="http://schemas.microsoft.com/office/powerpoint/2010/main" val="412923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C0FED-4E9B-746D-3B2A-C0974BBF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[중간점검 기준] 조별 요구사항 정의 요약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B0F9D3-E65E-91DE-EDDC-6FBD04007F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0" indent="0" latinLnBrk="0">
              <a:buNone/>
            </a:pPr>
            <a:r>
              <a:rPr lang="ko-KR" altLang="en-US" sz="1500" b="1"/>
              <a:t>1조 · 온톨로지 기반 지능형 Q&amp;A 에이전트 (조장 오명섭 과장</a:t>
            </a:r>
            <a:r>
              <a:rPr lang="en-US" altLang="ko-KR" sz="1500" b="1"/>
              <a:t>)</a:t>
            </a:r>
            <a:endParaRPr lang="ko-KR" altLang="en-US" sz="1500" b="1"/>
          </a:p>
          <a:p>
            <a:pPr marL="731520" lvl="4" indent="-285750" latinLnBrk="0">
              <a:buFont typeface="Wingdings" panose="05000000000000000000" pitchFamily="2" charset="2"/>
              <a:buChar char="§"/>
            </a:pPr>
            <a:r>
              <a:rPr lang="ko-KR" altLang="en-US" sz="1400"/>
              <a:t>지정 과제: 온톨로지 기반 Q&amp;A API </a:t>
            </a:r>
            <a:endParaRPr lang="en-US" altLang="ko-KR" sz="1400">
              <a:cs typeface="Arial"/>
            </a:endParaRPr>
          </a:p>
          <a:p>
            <a:pPr marL="445770" lvl="4" indent="0" latinLnBrk="0">
              <a:buNone/>
            </a:pPr>
            <a:r>
              <a:rPr lang="ko-KR" altLang="en-US" sz="1400" dirty="0"/>
              <a:t>      </a:t>
            </a:r>
            <a:r>
              <a:rPr lang="en-US" altLang="ko-KR" sz="1400"/>
              <a:t>- </a:t>
            </a:r>
            <a:r>
              <a:rPr lang="ko-KR" altLang="en-US" sz="1400"/>
              <a:t>사용 기술</a:t>
            </a:r>
            <a:r>
              <a:rPr lang="en-US" altLang="ko-KR" sz="1400"/>
              <a:t>(</a:t>
            </a:r>
            <a:r>
              <a:rPr lang="ko-KR" altLang="en-US" sz="1400"/>
              <a:t>선택</a:t>
            </a:r>
            <a:r>
              <a:rPr lang="en-US" altLang="ko-KR" sz="1400"/>
              <a:t>) : </a:t>
            </a:r>
            <a:r>
              <a:rPr lang="ko-KR" altLang="en-US" sz="1400" err="1"/>
              <a:t>Weaviate</a:t>
            </a:r>
            <a:r>
              <a:rPr lang="ko-KR" altLang="en-US" sz="1400"/>
              <a:t>(벡터) + Neo4j(지식그래프) 하이브리드 RAG </a:t>
            </a:r>
            <a:r>
              <a:rPr lang="ko-KR" altLang="en-US" sz="1400" err="1"/>
              <a:t>백엔드</a:t>
            </a:r>
            <a:endParaRPr lang="ko-KR" altLang="en-US" sz="1400">
              <a:cs typeface="Arial"/>
            </a:endParaRPr>
          </a:p>
          <a:p>
            <a:pPr marL="731520" lvl="4" indent="-285750" latinLnBrk="0">
              <a:buFont typeface="Wingdings" panose="05000000000000000000" pitchFamily="2" charset="2"/>
              <a:buChar char="§"/>
            </a:pPr>
            <a:r>
              <a:rPr lang="ko-KR" altLang="en-US" sz="1400"/>
              <a:t>선택 구현: n8n 오케스트레이션, </a:t>
            </a:r>
            <a:r>
              <a:rPr lang="ko-KR" altLang="en-US" sz="1400" err="1"/>
              <a:t>Antigravity</a:t>
            </a:r>
            <a:r>
              <a:rPr lang="ko-KR" altLang="en-US" sz="1400" dirty="0"/>
              <a:t> </a:t>
            </a:r>
            <a:r>
              <a:rPr lang="ko-KR" altLang="en-US" sz="1400" err="1"/>
              <a:t>챗봇</a:t>
            </a:r>
            <a:r>
              <a:rPr lang="ko-KR" altLang="en-US" sz="1400"/>
              <a:t> UI, 운영 백오피스, </a:t>
            </a:r>
            <a:r>
              <a:rPr lang="ko-KR" altLang="en-US" sz="1400" err="1"/>
              <a:t>Docker</a:t>
            </a:r>
            <a:r>
              <a:rPr lang="ko-KR" altLang="en-US" sz="1400"/>
              <a:t> 컨테이너 인프라</a:t>
            </a:r>
            <a:endParaRPr lang="ko-KR" altLang="en-US" sz="1400">
              <a:cs typeface="Arial"/>
            </a:endParaRPr>
          </a:p>
          <a:p>
            <a:pPr marL="731520" lvl="4" indent="-285750" latinLnBrk="0">
              <a:buFont typeface="Wingdings" panose="05000000000000000000" pitchFamily="2" charset="2"/>
              <a:buChar char="§"/>
            </a:pPr>
            <a:r>
              <a:rPr lang="ko-KR" altLang="en-US" sz="1400"/>
              <a:t>5/27 목표: 온톨로지 API 및 </a:t>
            </a:r>
            <a:r>
              <a:rPr lang="ko-KR" altLang="en-US" sz="1400" err="1"/>
              <a:t>챗봇</a:t>
            </a:r>
            <a:r>
              <a:rPr lang="ko-KR" altLang="en-US" sz="1400"/>
              <a:t> 인터페이스 시연, UI/UX 고도화 및 쿼리 최적화</a:t>
            </a:r>
            <a:endParaRPr lang="ko-KR" altLang="en-US" sz="1400">
              <a:cs typeface="Arial"/>
            </a:endParaRPr>
          </a:p>
          <a:p>
            <a:pPr marL="0" indent="0" latinLnBrk="0">
              <a:buNone/>
            </a:pPr>
            <a:endParaRPr lang="en-US" altLang="ko-KR" sz="1500" b="1"/>
          </a:p>
          <a:p>
            <a:pPr marL="0" indent="0" latinLnBrk="0">
              <a:buNone/>
            </a:pPr>
            <a:r>
              <a:rPr lang="ko-KR" altLang="en-US" sz="1500" b="1"/>
              <a:t>2조 · 전통 RAG Q&amp;A 및 영상 요약 (조장 김용수 부장)</a:t>
            </a:r>
          </a:p>
          <a:p>
            <a:pPr marL="731520" lvl="4" indent="-285750" latinLnBrk="0">
              <a:buFont typeface="Wingdings" panose="05000000000000000000" pitchFamily="2" charset="2"/>
              <a:buChar char="§"/>
            </a:pPr>
            <a:r>
              <a:rPr lang="ko-KR" altLang="en-US" sz="1400"/>
              <a:t>지정 스택: RAG 기반 Q&amp;A </a:t>
            </a:r>
            <a:endParaRPr lang="en-US" altLang="ko-KR" sz="1400">
              <a:cs typeface="Arial"/>
            </a:endParaRPr>
          </a:p>
          <a:p>
            <a:pPr marL="445770" lvl="4" indent="0" latinLnBrk="0">
              <a:buNone/>
            </a:pPr>
            <a:r>
              <a:rPr lang="en-US" altLang="ko-KR" sz="1400"/>
              <a:t>      - </a:t>
            </a:r>
            <a:r>
              <a:rPr lang="ko-KR" altLang="en-US" sz="1400"/>
              <a:t>사용 기술</a:t>
            </a:r>
            <a:r>
              <a:rPr lang="en-US" altLang="ko-KR" sz="1400"/>
              <a:t>(</a:t>
            </a:r>
            <a:r>
              <a:rPr lang="ko-KR" altLang="en-US" sz="1400"/>
              <a:t>선택</a:t>
            </a:r>
            <a:r>
              <a:rPr lang="en-US" altLang="ko-KR" sz="1400"/>
              <a:t>) :</a:t>
            </a:r>
            <a:r>
              <a:rPr lang="ko-KR" altLang="en-US" sz="1400"/>
              <a:t>PDF/PPT/TXT 문서 로드, </a:t>
            </a:r>
            <a:r>
              <a:rPr lang="ko-KR" altLang="en-US" sz="1400" err="1"/>
              <a:t>전처리·색인</a:t>
            </a:r>
            <a:r>
              <a:rPr lang="ko-KR" altLang="en-US" sz="1400"/>
              <a:t>, 검색 및 답변 생성</a:t>
            </a:r>
            <a:endParaRPr lang="ko-KR" altLang="en-US" sz="1400">
              <a:cs typeface="Arial"/>
            </a:endParaRPr>
          </a:p>
          <a:p>
            <a:pPr marL="731520" lvl="4" indent="-285750" latinLnBrk="0">
              <a:buFont typeface="Wingdings" panose="05000000000000000000" pitchFamily="2" charset="2"/>
              <a:buChar char="§"/>
            </a:pPr>
            <a:r>
              <a:rPr lang="ko-KR" altLang="en-US" sz="1400"/>
              <a:t>선택 구현: 유튜브 요약 영상 제작 및 썸네일 생성 에이전트</a:t>
            </a:r>
            <a:endParaRPr lang="ko-KR" altLang="en-US" sz="1400">
              <a:cs typeface="Arial"/>
            </a:endParaRPr>
          </a:p>
          <a:p>
            <a:pPr marL="731520" lvl="4" indent="-285750" latinLnBrk="0">
              <a:buFont typeface="Wingdings" panose="05000000000000000000" pitchFamily="2" charset="2"/>
              <a:buChar char="§"/>
            </a:pPr>
            <a:r>
              <a:rPr lang="ko-KR" altLang="en-US" sz="1400"/>
              <a:t>5/27 목표: RAG 전통 방식 Q&amp;A 구현, 영상 하이라이트 에이전트 기획</a:t>
            </a:r>
            <a:endParaRPr lang="ko-KR" altLang="en-US" sz="1400">
              <a:cs typeface="Arial"/>
            </a:endParaRPr>
          </a:p>
          <a:p>
            <a:pPr marL="0" indent="0" latinLnBrk="0">
              <a:buNone/>
            </a:pPr>
            <a:endParaRPr lang="en-US" altLang="ko-KR" sz="1500" b="1"/>
          </a:p>
          <a:p>
            <a:pPr marL="0" indent="0" latinLnBrk="0">
              <a:buNone/>
            </a:pPr>
            <a:r>
              <a:rPr lang="ko-KR" altLang="en-US" sz="1500" b="1"/>
              <a:t>3조 · 법률서비스 RAG (조장 이호진 과장)</a:t>
            </a:r>
          </a:p>
          <a:p>
            <a:pPr marL="731520" lvl="4" indent="-285750" latinLnBrk="0">
              <a:buFont typeface="Wingdings" panose="05000000000000000000" pitchFamily="2" charset="2"/>
              <a:buChar char="§"/>
            </a:pPr>
            <a:r>
              <a:rPr lang="ko-KR" altLang="en-US" sz="1400"/>
              <a:t>지정 스택: </a:t>
            </a:r>
            <a:r>
              <a:rPr lang="ko-KR" altLang="en-US" sz="1400" err="1"/>
              <a:t>Snowflake</a:t>
            </a:r>
            <a:r>
              <a:rPr lang="ko-KR" altLang="en-US" sz="1400"/>
              <a:t> 기반 Q&amp;A API </a:t>
            </a:r>
            <a:endParaRPr lang="en-US" altLang="ko-KR" sz="1400">
              <a:cs typeface="Arial"/>
            </a:endParaRPr>
          </a:p>
          <a:p>
            <a:pPr marL="445770" lvl="4" indent="0" latinLnBrk="0">
              <a:buNone/>
            </a:pPr>
            <a:r>
              <a:rPr lang="en-US" altLang="ko-KR" sz="1400"/>
              <a:t>    -  </a:t>
            </a:r>
            <a:r>
              <a:rPr lang="ko-KR" altLang="en-US" sz="1400"/>
              <a:t>사용 기술</a:t>
            </a:r>
            <a:r>
              <a:rPr lang="en-US" altLang="ko-KR" sz="1400"/>
              <a:t>(</a:t>
            </a:r>
            <a:r>
              <a:rPr lang="ko-KR" altLang="en-US" sz="1400"/>
              <a:t>선택</a:t>
            </a:r>
            <a:r>
              <a:rPr lang="en-US" altLang="ko-KR" sz="1400"/>
              <a:t>): </a:t>
            </a:r>
            <a:r>
              <a:rPr lang="ko-KR" altLang="en-US" sz="1400" err="1"/>
              <a:t>FastAPI</a:t>
            </a:r>
            <a:r>
              <a:rPr lang="ko-KR" altLang="en-US" sz="1400"/>
              <a:t> 연동, </a:t>
            </a:r>
            <a:r>
              <a:rPr lang="ko-KR" altLang="en-US" sz="1400" err="1"/>
              <a:t>GitHub↔Snowflake</a:t>
            </a:r>
            <a:r>
              <a:rPr lang="ko-KR" altLang="en-US" sz="1400"/>
              <a:t> 법령 파이프라인, 출처 표시</a:t>
            </a:r>
            <a:endParaRPr lang="ko-KR" altLang="en-US" sz="1400">
              <a:cs typeface="Arial"/>
            </a:endParaRPr>
          </a:p>
          <a:p>
            <a:pPr marL="731520" lvl="4" indent="-285750" latinLnBrk="0">
              <a:buFont typeface="Wingdings" panose="05000000000000000000" pitchFamily="2" charset="2"/>
              <a:buChar char="§"/>
            </a:pPr>
            <a:r>
              <a:rPr lang="ko-KR" altLang="en-US" sz="1400"/>
              <a:t>선택 구현: 실제 판례 조회 — </a:t>
            </a:r>
            <a:r>
              <a:rPr lang="ko-KR" altLang="en-US" sz="1400" err="1"/>
              <a:t>GraphRAG</a:t>
            </a:r>
            <a:r>
              <a:rPr lang="ko-KR" altLang="en-US" sz="1400"/>
              <a:t> 기반 </a:t>
            </a:r>
            <a:r>
              <a:rPr lang="ko-KR" altLang="en-US" sz="1400" err="1"/>
              <a:t>법령·판례</a:t>
            </a:r>
            <a:r>
              <a:rPr lang="ko-KR" altLang="en-US" sz="1400"/>
              <a:t> 관계 그래프</a:t>
            </a:r>
            <a:endParaRPr lang="ko-KR" altLang="en-US" sz="1400">
              <a:cs typeface="Arial"/>
            </a:endParaRPr>
          </a:p>
          <a:p>
            <a:pPr marL="731520" lvl="4" indent="-285750" latinLnBrk="0">
              <a:buFont typeface="Wingdings" panose="05000000000000000000" pitchFamily="2" charset="2"/>
              <a:buChar char="§"/>
            </a:pPr>
            <a:r>
              <a:rPr lang="ko-KR" altLang="en-US" sz="1400"/>
              <a:t>5/27 목표: Snowflake↔FastAPI, Cortex</a:t>
            </a:r>
            <a:r>
              <a:rPr lang="ko-KR" altLang="en-US" sz="1400" dirty="0"/>
              <a:t> </a:t>
            </a:r>
            <a:r>
              <a:rPr lang="ko-KR" altLang="en-US" sz="1400"/>
              <a:t>Search 구현</a:t>
            </a:r>
            <a:endParaRPr lang="ko-KR" altLang="en-US" sz="1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925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878CF-CBFB-2762-A8C5-32B35D58E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[중간점검 방식] 평가가 아닌 교류의 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2A4E23-1C51-CA18-B0AF-961501404C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0" indent="0" latinLnBrk="0">
              <a:buNone/>
            </a:pPr>
            <a:r>
              <a:rPr lang="ko-KR" altLang="en-US" sz="1600" b="1"/>
              <a:t>기본 방향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조 간 경쟁이나 우열을 가리는 평가의 장이 아닌, 서로의 개발 과정과 기술 선택을 교류하는 자리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조가 어떤 기술을 어떻게 선택하고 구현했는지 공유하며, 그 과정에서 인사이트를 얻는 기간</a:t>
            </a:r>
          </a:p>
          <a:p>
            <a:pPr marL="0" indent="0" latinLnBrk="0">
              <a:buNone/>
            </a:pPr>
            <a:endParaRPr lang="en-US" altLang="ko-KR" sz="1600" b="1"/>
          </a:p>
          <a:p>
            <a:pPr marL="0" indent="0" latinLnBrk="0">
              <a:buNone/>
            </a:pPr>
            <a:r>
              <a:rPr lang="ko-KR" altLang="en-US" sz="1600" b="1"/>
              <a:t>교류 포인트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우리 조에서 다루지 않은 기술을 사용한 조에게 → 해당 기술을 선택한 배경, 장점, 구현 과정에서의 어려움을 직접 청취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향후 유사한 기술을 구현하게 될 경우 선행 학습의 기회로 활용 (예: 1조 Neo4j, 2조 영상 처리 파이프라인, 3조 Snowflake Cortex Search)</a:t>
            </a:r>
          </a:p>
          <a:p>
            <a:pPr marL="0" indent="0" latinLnBrk="0">
              <a:buNone/>
            </a:pPr>
            <a:endParaRPr lang="en-US" altLang="ko-KR" sz="1600" b="1"/>
          </a:p>
          <a:p>
            <a:pPr marL="0" indent="0" latinLnBrk="0">
              <a:buNone/>
            </a:pPr>
            <a:r>
              <a:rPr lang="ko-KR" altLang="en-US" sz="1600" b="1"/>
              <a:t>진행 방식</a:t>
            </a:r>
          </a:p>
          <a:p>
            <a:pPr marL="731520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조장이 모든 것을 발표하는 방식에서 탈피 — 각 구성원이 본인이 맡은 부분을 직접 정리하고 발표</a:t>
            </a:r>
            <a:endParaRPr lang="ko-KR" altLang="en-US" sz="1600">
              <a:cs typeface="Arial"/>
            </a:endParaRP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발표 후 조원 간 자유로운 Q&amp;A 와 가볍게 나누는 대화 중심으로 운영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1기 멤버 동료 평가 — 단순 의견 수렴 형태로 진행하며, 등급이나 점수화는 하지 않음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형식적인 발표보다 "어떻게 해보셨어요?" 식의 편안한 대화에 중점</a:t>
            </a:r>
          </a:p>
        </p:txBody>
      </p:sp>
    </p:spTree>
    <p:extLst>
      <p:ext uri="{BB962C8B-B14F-4D97-AF65-F5344CB8AC3E}">
        <p14:creationId xmlns:p14="http://schemas.microsoft.com/office/powerpoint/2010/main" val="197978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4A031-987B-D8F7-4AA6-22AD618B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[조별 발표] 발표 순서 및 시간 배분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21F36F-3895-7091-8038-C18BC5C3B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ko-KR" altLang="en-US" sz="1600" b="1"/>
              <a:t>조별 진행 시간 (총 30분 × 3조)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조별 발표 — 20분 (구성원 분담 발표, 시연 포함)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조별 발표에 대한 질의응답 및 동료 의견 — 10분 </a:t>
            </a:r>
            <a:endParaRPr lang="en-US" altLang="ko-KR" sz="1600"/>
          </a:p>
          <a:p>
            <a:pPr marL="446087" lvl="4" indent="0" latinLnBrk="0">
              <a:buNone/>
            </a:pPr>
            <a:r>
              <a:rPr lang="en-US" altLang="ko-KR" sz="1600"/>
              <a:t>    - AI </a:t>
            </a:r>
            <a:r>
              <a:rPr lang="en-US" altLang="ko-KR" sz="1600" err="1"/>
              <a:t>Laabs</a:t>
            </a:r>
            <a:r>
              <a:rPr lang="en-US" altLang="ko-KR" sz="1600"/>
              <a:t> 1</a:t>
            </a:r>
            <a:r>
              <a:rPr lang="ko-KR" altLang="en-US" sz="1600"/>
              <a:t>기와 </a:t>
            </a:r>
            <a:r>
              <a:rPr lang="en-US" altLang="ko-KR" sz="1600"/>
              <a:t>2</a:t>
            </a:r>
            <a:r>
              <a:rPr lang="ko-KR" altLang="en-US" sz="1600"/>
              <a:t>기 멤버</a:t>
            </a:r>
            <a:r>
              <a:rPr lang="en-US" altLang="ko-KR" sz="1600"/>
              <a:t> </a:t>
            </a:r>
            <a:r>
              <a:rPr lang="ko-KR" altLang="en-US" sz="1600"/>
              <a:t>등 누구나 자유롭게 질의하고 의견 교류 환영합니다</a:t>
            </a:r>
            <a:r>
              <a:rPr lang="en-US" altLang="ko-KR" sz="1600"/>
              <a:t>. 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endParaRPr lang="ko-KR" altLang="en-US" sz="1600"/>
          </a:p>
          <a:p>
            <a:pPr marL="0" indent="0" latinLnBrk="0">
              <a:buNone/>
            </a:pPr>
            <a:endParaRPr lang="en-US" altLang="ko-KR" sz="1600" b="1"/>
          </a:p>
          <a:p>
            <a:pPr marL="0" indent="0" latinLnBrk="0">
              <a:buNone/>
            </a:pPr>
            <a:r>
              <a:rPr lang="ko-KR" altLang="en-US" sz="1600" b="1"/>
              <a:t>발표 순서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1조 → 2조 → 3조 순으로 진행</a:t>
            </a:r>
          </a:p>
        </p:txBody>
      </p:sp>
    </p:spTree>
    <p:extLst>
      <p:ext uri="{BB962C8B-B14F-4D97-AF65-F5344CB8AC3E}">
        <p14:creationId xmlns:p14="http://schemas.microsoft.com/office/powerpoint/2010/main" val="238757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B0C8C-178F-E6A3-E5AF-833CF8C9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공통 시나리오 기반 통합 테스트 </a:t>
            </a:r>
            <a:r>
              <a:rPr lang="en-US" altLang="ko-KR"/>
              <a:t>- 1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E7B53F-824A-2FD8-DD25-C88B6322E7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ko-KR" altLang="en-US" sz="1600" b="1"/>
              <a:t>취지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동일한 질문에 대해 1조(온톨로지) · 2조(RAG) · 3조(</a:t>
            </a:r>
            <a:r>
              <a:rPr lang="ko-KR" altLang="en-US" sz="1600" err="1"/>
              <a:t>Snowflake</a:t>
            </a:r>
            <a:r>
              <a:rPr lang="ko-KR" altLang="en-US" sz="1600"/>
              <a:t>)가 어떤 결과를 내는지 비교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방식이 어떤 유형의 질문에 강하고 </a:t>
            </a:r>
            <a:r>
              <a:rPr lang="ko-KR" altLang="en-US" sz="1600" err="1"/>
              <a:t>약한지</a:t>
            </a:r>
            <a:r>
              <a:rPr lang="ko-KR" altLang="en-US" sz="1600"/>
              <a:t> 점검 </a:t>
            </a: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직접 구현 </a:t>
            </a:r>
            <a:r>
              <a:rPr lang="ko-KR" altLang="en-US" sz="1600" err="1"/>
              <a:t>vs</a:t>
            </a:r>
            <a:r>
              <a:rPr lang="ko-KR" altLang="en-US" sz="1600"/>
              <a:t> 엔터프라이즈 기반의 차이를 함께 확인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결과 차이를 바탕으로 기술 종속적 한계와 개선 방향을 자유롭게 논의</a:t>
            </a:r>
          </a:p>
          <a:p>
            <a:pPr marL="0" indent="0" latinLnBrk="0">
              <a:buNone/>
            </a:pPr>
            <a:endParaRPr lang="en-US" altLang="ko-KR" sz="1600" b="1"/>
          </a:p>
          <a:p>
            <a:pPr marL="0" indent="0" latinLnBrk="0">
              <a:buNone/>
            </a:pPr>
            <a:r>
              <a:rPr lang="ko-KR" altLang="en-US" sz="1600" b="1"/>
              <a:t>진행 방식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파일 업로드 · 인덱싱 · </a:t>
            </a:r>
            <a:r>
              <a:rPr lang="ko-KR" altLang="en-US" sz="1600" err="1"/>
              <a:t>임베딩은</a:t>
            </a:r>
            <a:r>
              <a:rPr lang="ko-KR" altLang="en-US" sz="1600"/>
              <a:t> 각 조에서 사전 준비 (공통 테스트 파일: 기 전달 </a:t>
            </a:r>
            <a:r>
              <a:rPr lang="en-US" altLang="ko-KR" sz="1600"/>
              <a:t>8</a:t>
            </a:r>
            <a:r>
              <a:rPr lang="ko-KR" altLang="en-US" sz="1600"/>
              <a:t>개 대상</a:t>
            </a:r>
            <a:r>
              <a:rPr lang="en-US" altLang="ko-KR" sz="1600"/>
              <a:t>) 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조 자체 클라이언트(</a:t>
            </a:r>
            <a:r>
              <a:rPr lang="ko-KR" altLang="en-US" sz="1600" err="1"/>
              <a:t>Postman</a:t>
            </a:r>
            <a:r>
              <a:rPr lang="ko-KR" altLang="en-US" sz="1600"/>
              <a:t> 등)로 </a:t>
            </a:r>
            <a:r>
              <a:rPr lang="ko-KR" altLang="en-US" sz="1600" err="1"/>
              <a:t>리트리버</a:t>
            </a:r>
            <a:r>
              <a:rPr lang="ko-KR" altLang="en-US" sz="1600"/>
              <a:t> API 준비</a:t>
            </a: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 err="1"/>
              <a:t>Response</a:t>
            </a:r>
            <a:r>
              <a:rPr lang="ko-KR" altLang="en-US" sz="1600"/>
              <a:t> 양식은 조별 기존 포맷 유지 — 정확도 표시가 있으면 함께 공유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조 API 정의서는 운영진에 전달하여 별도 통합 테스트 진행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공통 시나리오 외에 조별로 추가로 보여주고 싶은 시연이 있으면 자유롭게 포함</a:t>
            </a: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endParaRPr lang="en-US" altLang="ko-KR" sz="1600"/>
          </a:p>
          <a:p>
            <a:pPr marL="0" indent="0" latinLnBrk="0">
              <a:buNone/>
            </a:pPr>
            <a:r>
              <a:rPr lang="ko-KR" altLang="en-US" sz="1600" b="1"/>
              <a:t>진행 시기 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en-US" altLang="ko-KR" sz="1600"/>
              <a:t>1</a:t>
            </a:r>
            <a:r>
              <a:rPr lang="ko-KR" altLang="en-US" sz="1600"/>
              <a:t>차 진행</a:t>
            </a:r>
            <a:r>
              <a:rPr lang="en-US" altLang="ko-KR" sz="1600"/>
              <a:t>: 5</a:t>
            </a:r>
            <a:r>
              <a:rPr lang="ko-KR" altLang="en-US" sz="1600"/>
              <a:t>월 중순 </a:t>
            </a:r>
            <a:r>
              <a:rPr lang="en-US" altLang="ko-KR" sz="1600"/>
              <a:t>~ 6</a:t>
            </a:r>
            <a:r>
              <a:rPr lang="ko-KR" altLang="en-US" sz="1600"/>
              <a:t>월 초</a:t>
            </a: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en-US" altLang="ko-KR" sz="1600"/>
              <a:t>2</a:t>
            </a:r>
            <a:r>
              <a:rPr lang="ko-KR" altLang="en-US" sz="1600"/>
              <a:t>차 진행</a:t>
            </a:r>
            <a:r>
              <a:rPr lang="en-US" altLang="ko-KR" sz="1600"/>
              <a:t>: 6</a:t>
            </a:r>
            <a:r>
              <a:rPr lang="ko-KR" altLang="en-US" sz="1600"/>
              <a:t>월 말 </a:t>
            </a:r>
            <a:r>
              <a:rPr lang="en-US" altLang="ko-KR" sz="1600"/>
              <a:t>~ 7</a:t>
            </a:r>
            <a:r>
              <a:rPr lang="ko-KR" altLang="en-US" sz="1600"/>
              <a:t>월 초</a:t>
            </a: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endParaRPr lang="en-US" altLang="ko-KR" sz="1600"/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2103401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EDE2D-ADC1-F503-CBA4-E3F2E0BC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공통 시나리오 기반 통합 테스트 </a:t>
            </a:r>
            <a:r>
              <a:rPr lang="en-US" altLang="ko-KR"/>
              <a:t>- 2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87F61C-5952-9D0B-C433-83BC32D87A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ko-KR" altLang="en-US" sz="1600" b="1"/>
              <a:t>1차 진행 (5월 중순 ~ 6월 초)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3개 조 공통 질문 10~20개 랜덤 호출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호출 결과를 3개 조에 공유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조별 모임에서 답변이 도출되지 않은 이유 논의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조별 분석 및 피드백 정리</a:t>
            </a:r>
          </a:p>
          <a:p>
            <a:pPr marL="0" indent="0" latinLnBrk="0">
              <a:buNone/>
            </a:pPr>
            <a:endParaRPr lang="en-US" altLang="ko-KR" sz="1600" b="1"/>
          </a:p>
          <a:p>
            <a:pPr marL="0" indent="0" latinLnBrk="0">
              <a:buNone/>
            </a:pPr>
            <a:r>
              <a:rPr lang="ko-KR" altLang="en-US" sz="1600" b="1"/>
              <a:t>2차 진행 (6월 말 ~ 7월 초)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1차 결과 반영 및 개선 사항 확인 후 평가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최종 인사이트 도출 — 방식별 강·약점, 직접 구현 vs 엔터프라이즈 차이</a:t>
            </a:r>
          </a:p>
        </p:txBody>
      </p:sp>
    </p:spTree>
    <p:extLst>
      <p:ext uri="{BB962C8B-B14F-4D97-AF65-F5344CB8AC3E}">
        <p14:creationId xmlns:p14="http://schemas.microsoft.com/office/powerpoint/2010/main" val="1552979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B7B44-FEF2-F209-8563-E4D72C01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[최종 발표] 7월 15일 및 이후 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B8B41F-5AA3-ABEC-4768-64C120CEB4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ko-KR" altLang="en-US" sz="1600" b="1"/>
              <a:t>7월 15일 — 최종 발표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완성된 제품을 선보이는 자리가 아닌, 그동안의 개발 과정과 성과를 공유하는 자리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각 조의 결과물, 기술적 인사이트, 한계와 개선 방향을 정리하여 발표</a:t>
            </a:r>
          </a:p>
          <a:p>
            <a:pPr marL="0" indent="0" latinLnBrk="0">
              <a:buNone/>
            </a:pPr>
            <a:r>
              <a:rPr lang="ko-KR" altLang="en-US" sz="1600" b="1"/>
              <a:t>이후 일정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8월 — 미흡한 부분 보완 및 개발 마무리 (개발 완료)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9월 — 개인별 포트폴리오 및 조별 테크니컬 리포트 작성 완료</a:t>
            </a:r>
          </a:p>
          <a:p>
            <a:pPr marL="731837" lvl="4" indent="-285750" latinLnBrk="0">
              <a:buFont typeface="Wingdings" panose="05000000000000000000" pitchFamily="2" charset="2"/>
              <a:buChar char="§"/>
            </a:pPr>
            <a:r>
              <a:rPr lang="ko-KR" altLang="en-US" sz="1600"/>
              <a:t>10월 (예정) — 우수 프로젝트 시연 및 공유</a:t>
            </a:r>
          </a:p>
        </p:txBody>
      </p:sp>
    </p:spTree>
    <p:extLst>
      <p:ext uri="{BB962C8B-B14F-4D97-AF65-F5344CB8AC3E}">
        <p14:creationId xmlns:p14="http://schemas.microsoft.com/office/powerpoint/2010/main" val="2937371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DBSnC_서식_가로_A" id="{F4CC474D-998A-4907-BB10-154AD1243DFF}" vid="{7848AA64-0F1B-4744-B48D-E22E7C9FAA4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85BED05-E13D-486C-A9FD-5648928965E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fba1c2c-8b49-4b20-990b-1541b128fee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cbf88f0-1f9f-4c98-9a2f-9d6f74fef448" xsi:nil="true"/>
    <lcf76f155ced4ddcb4097134ff3c332f xmlns="8ee92724-ec00-4630-8ea7-66bbe56cb2b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27555FA02088248BF404D20D07C3957" ma:contentTypeVersion="11" ma:contentTypeDescription="새 문서를 만듭니다." ma:contentTypeScope="" ma:versionID="6e53215bc1708a87d42235be94e13ef1">
  <xsd:schema xmlns:xsd="http://www.w3.org/2001/XMLSchema" xmlns:xs="http://www.w3.org/2001/XMLSchema" xmlns:p="http://schemas.microsoft.com/office/2006/metadata/properties" xmlns:ns2="8ee92724-ec00-4630-8ea7-66bbe56cb2b9" xmlns:ns3="3cbf88f0-1f9f-4c98-9a2f-9d6f74fef448" targetNamespace="http://schemas.microsoft.com/office/2006/metadata/properties" ma:root="true" ma:fieldsID="bbbd0f019d984e806f26ba8c56b4dc07" ns2:_="" ns3:_="">
    <xsd:import namespace="8ee92724-ec00-4630-8ea7-66bbe56cb2b9"/>
    <xsd:import namespace="3cbf88f0-1f9f-4c98-9a2f-9d6f74fef4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92724-ec00-4630-8ea7-66bbe56cb2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84859362-d175-45fb-9f31-e51ec485f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bf88f0-1f9f-4c98-9a2f-9d6f74fef44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2652fef-0e6f-4ec7-bbb5-d56916bf3af7}" ma:internalName="TaxCatchAll" ma:showField="CatchAllData" ma:web="3cbf88f0-1f9f-4c98-9a2f-9d6f74fef4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575EB6-FCCE-4A1E-9FC1-F918CB4941B2}">
  <ds:schemaRefs>
    <ds:schemaRef ds:uri="3cbf88f0-1f9f-4c98-9a2f-9d6f74fef448"/>
    <ds:schemaRef ds:uri="8ee92724-ec00-4630-8ea7-66bbe56cb2b9"/>
    <ds:schemaRef ds:uri="bba47fd4-727d-4a90-9d3a-efe380952a6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01FB2C6-BEC6-4A1D-8822-0A950EC6F3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4B54F6-B296-4F2B-BE11-984A369F3964}">
  <ds:schemaRefs>
    <ds:schemaRef ds:uri="3cbf88f0-1f9f-4c98-9a2f-9d6f74fef448"/>
    <ds:schemaRef ds:uri="8ee92724-ec00-4630-8ea7-66bbe56cb2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HDBSnC_서식_가로_A</Template>
  <Application>Microsoft Office PowerPoint</Application>
  <PresentationFormat>A4 용지(210x297mm)</PresentationFormat>
  <Slides>9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AI Lab 2기 중간점검</vt:lpstr>
      <vt:lpstr>목차</vt:lpstr>
      <vt:lpstr>[중간점검 개요] 취지 및 목적</vt:lpstr>
      <vt:lpstr>[중간점검 기준] 조별 요구사항 정의 요약</vt:lpstr>
      <vt:lpstr>[중간점검 방식] 평가가 아닌 교류의 장</vt:lpstr>
      <vt:lpstr>[조별 발표] 발표 순서 및 시간 배분</vt:lpstr>
      <vt:lpstr>공통 시나리오 기반 통합 테스트 - 1</vt:lpstr>
      <vt:lpstr>공통 시나리오 기반 통합 테스트 - 2</vt:lpstr>
      <vt:lpstr>[최종 발표] 7월 15일 및 이후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업무보고</dc:title>
  <dc:creator>kimsj</dc:creator>
  <cp:revision>2</cp:revision>
  <cp:lastPrinted>2025-08-20T06:21:47Z</cp:lastPrinted>
  <dcterms:created xsi:type="dcterms:W3CDTF">2014-03-03T02:17:12Z</dcterms:created>
  <dcterms:modified xsi:type="dcterms:W3CDTF">2026-05-19T03:38:56Z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0x010100D27555FA02088248BF404D20D07C3957</vt:lpwstr>
  </property>
  <property fmtid="{D5CDD505-2E9C-101B-9397-08002B2CF9AE}" pid="3" name="MediaServiceImageTags">
    <vt:lpwstr/>
  </property>
</Properties>
</file>