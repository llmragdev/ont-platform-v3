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5400" b="1">
                <a:solidFill>
                  <a:srgbClr val="003366"/>
                </a:solidFill>
              </a:defRPr>
            </a:pPr>
            <a:r>
              <a:t>운영형 온톨로지 플랫폼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조선·제조 산업용 지능형 데이터 관리 및 의사결정 시스템</a:t>
            </a:r>
          </a:p>
          <a:p/>
          <a:p>
            <a:r>
              <a:t>기술이전 설명서 | 2026년 5월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Executive Summary (30초 요약)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1600">
                <a:solidFill>
                  <a:srgbClr val="333333"/>
                </a:solidFill>
              </a:defRPr>
            </a:pPr>
            <a:r>
              <a:t>문제</a:t>
            </a:r>
          </a:p>
          <a:p>
            <a:pPr lvl="2">
              <a:defRPr sz="1800">
                <a:solidFill>
                  <a:srgbClr val="333333"/>
                </a:solidFill>
              </a:defRPr>
            </a:pPr>
            <a:r>
              <a:t>조선/제조 데이터의 복잡성 증가</a:t>
            </a:r>
          </a:p>
          <a:p>
            <a:pPr lvl="2">
              <a:defRPr sz="1800">
                <a:solidFill>
                  <a:srgbClr val="333333"/>
                </a:solidFill>
              </a:defRPr>
            </a:pPr>
            <a:r>
              <a:t>기존 솔루션 성능/비용 문제</a:t>
            </a:r>
          </a:p>
          <a:p>
            <a:pPr>
              <a:defRPr sz="1800">
                <a:solidFill>
                  <a:srgbClr val="333333"/>
                </a:solidFill>
              </a:defRPr>
            </a:pP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해결책</a:t>
            </a:r>
          </a:p>
          <a:p>
            <a:pPr lvl="2">
              <a:defRPr sz="1800">
                <a:solidFill>
                  <a:srgbClr val="333333"/>
                </a:solidFill>
              </a:defRPr>
            </a:pPr>
            <a:r>
              <a:t>PostgreSQL 기반 운영 온톨로지 저장소</a:t>
            </a:r>
          </a:p>
          <a:p>
            <a:pPr lvl="2">
              <a:defRPr sz="1800">
                <a:solidFill>
                  <a:srgbClr val="333333"/>
                </a:solidFill>
              </a:defRPr>
            </a:pPr>
            <a:r>
              <a:t>W3C SPARQL 표준 호환 쿼리 계층</a:t>
            </a:r>
          </a:p>
          <a:p>
            <a:pPr lvl="2">
              <a:defRPr sz="1800">
                <a:solidFill>
                  <a:srgbClr val="333333"/>
                </a:solidFill>
              </a:defRPr>
            </a:pPr>
            <a:r>
              <a:t>업무 액션 &amp; write-back 기능</a:t>
            </a:r>
          </a:p>
          <a:p>
            <a:pPr>
              <a:defRPr sz="1800">
                <a:solidFill>
                  <a:srgbClr val="333333"/>
                </a:solidFill>
              </a:defRPr>
            </a:pP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가치</a:t>
            </a:r>
          </a:p>
          <a:p>
            <a:pPr lvl="2">
              <a:defRPr sz="1800">
                <a:solidFill>
                  <a:srgbClr val="333333"/>
                </a:solidFill>
              </a:defRPr>
            </a:pPr>
            <a:r>
              <a:t>성능 개선: 200배 (20초 → 100ms)</a:t>
            </a:r>
          </a:p>
          <a:p>
            <a:pPr lvl="2">
              <a:defRPr sz="1800">
                <a:solidFill>
                  <a:srgbClr val="333333"/>
                </a:solidFill>
              </a:defRPr>
            </a:pPr>
            <a:r>
              <a:t>개발 기간: 4주</a:t>
            </a:r>
          </a:p>
          <a:p>
            <a:pPr lvl="2">
              <a:defRPr sz="1800">
                <a:solidFill>
                  <a:srgbClr val="333333"/>
                </a:solidFill>
              </a:defRPr>
            </a:pPr>
            <a:r>
              <a:t>인프라 비용: 무료~저비용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시장 현황 &amp; 경쟁 분석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1600">
                <a:solidFill>
                  <a:srgbClr val="333333"/>
                </a:solidFill>
              </a:defRPr>
            </a:pPr>
            <a:r>
              <a:t>Palantier Foundry</a:t>
            </a:r>
          </a:p>
          <a:p>
            <a:pPr lvl="2">
              <a:defRPr sz="1800">
                <a:solidFill>
                  <a:srgbClr val="333333"/>
                </a:solidFill>
              </a:defRPr>
            </a:pPr>
            <a:r>
              <a:t>강점: 엔터프라이즈급 성능 | 약점: 고비용($1M+), 폐쇄 시스템</a:t>
            </a:r>
          </a:p>
          <a:p>
            <a:pPr lvl="2">
              <a:defRPr sz="1800">
                <a:solidFill>
                  <a:srgbClr val="333333"/>
                </a:solidFill>
              </a:defRPr>
            </a:pPr>
            <a:r>
              <a:t>RDF 준수: X (자체 Object-Link-Action 모델)</a:t>
            </a:r>
          </a:p>
          <a:p>
            <a:pPr>
              <a:defRPr sz="1800">
                <a:solidFill>
                  <a:srgbClr val="333333"/>
                </a:solidFill>
              </a:defRPr>
            </a:pP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Neo4j + 그래프DB</a:t>
            </a:r>
          </a:p>
          <a:p>
            <a:pPr lvl="2">
              <a:defRPr sz="1800">
                <a:solidFill>
                  <a:srgbClr val="333333"/>
                </a:solidFill>
              </a:defRPr>
            </a:pPr>
            <a:r>
              <a:t>강점: 오픈소스, 그래프 성능 | 약점: Cypher 강제, SPARQL 미지원</a:t>
            </a:r>
          </a:p>
          <a:p>
            <a:pPr lvl="2">
              <a:defRPr sz="1800">
                <a:solidFill>
                  <a:srgbClr val="333333"/>
                </a:solidFill>
              </a:defRPr>
            </a:pPr>
            <a:r>
              <a:t>RDF 준수: ? (플러그인 의존)</a:t>
            </a:r>
          </a:p>
          <a:p>
            <a:pPr>
              <a:defRPr sz="1800">
                <a:solidFill>
                  <a:srgbClr val="333333"/>
                </a:solidFill>
              </a:defRPr>
            </a:pP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국내 경쟁 솔루션</a:t>
            </a:r>
          </a:p>
          <a:p>
            <a:pPr lvl="2">
              <a:defRPr sz="1800">
                <a:solidFill>
                  <a:srgbClr val="333333"/>
                </a:solidFill>
              </a:defRPr>
            </a:pPr>
            <a:r>
              <a:t>솔트룩스(온톨로지+LLM), SKAI(GraphRAG), NUBISON(산업 AX)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RDF 성능 한계 분석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1600">
                <a:solidFill>
                  <a:srgbClr val="333333"/>
                </a:solidFill>
              </a:defRPr>
            </a:pPr>
            <a:r>
              <a:t>구조적 문제 (구현 개선 불가)</a:t>
            </a:r>
          </a:p>
          <a:p>
            <a:pPr>
              <a:defRPr sz="1800">
                <a:solidFill>
                  <a:srgbClr val="333333"/>
                </a:solidFill>
              </a:defRPr>
            </a:pP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JSONL + rdflib:</a:t>
            </a:r>
          </a:p>
          <a:p>
            <a:pPr lvl="2">
              <a:defRPr sz="1800">
                <a:solidFill>
                  <a:srgbClr val="333333"/>
                </a:solidFill>
              </a:defRPr>
            </a:pPr>
            <a:r>
              <a:t>10K: O 100ms | 100K: X 20-60초 | 1M: X 분 단위</a:t>
            </a:r>
          </a:p>
          <a:p>
            <a:pPr lvl="2">
              <a:defRPr sz="1800">
                <a:solidFill>
                  <a:srgbClr val="333333"/>
                </a:solidFill>
              </a:defRPr>
            </a:pPr>
            <a:r>
              <a:t>원인: 조인 폭발, 메모리 스캔</a:t>
            </a:r>
          </a:p>
          <a:p>
            <a:pPr>
              <a:defRPr sz="1800">
                <a:solidFill>
                  <a:srgbClr val="333333"/>
                </a:solidFill>
              </a:defRPr>
            </a:pP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PostgreSQL + SQL (제안):</a:t>
            </a:r>
          </a:p>
          <a:p>
            <a:pPr lvl="2">
              <a:defRPr sz="1800">
                <a:solidFill>
                  <a:srgbClr val="333333"/>
                </a:solidFill>
              </a:defRPr>
            </a:pPr>
            <a:r>
              <a:t>10K: O 10ms | 100K: O 100ms | 1M: O &lt; 1초</a:t>
            </a:r>
          </a:p>
          <a:p>
            <a:pPr lvl="2">
              <a:defRPr sz="1800">
                <a:solidFill>
                  <a:srgbClr val="333333"/>
                </a:solidFill>
              </a:defRPr>
            </a:pPr>
            <a:r>
              <a:t>이유: 인덱스 + SQL 최적화</a:t>
            </a:r>
          </a:p>
          <a:p>
            <a:pPr>
              <a:defRPr sz="1800">
                <a:solidFill>
                  <a:srgbClr val="333333"/>
                </a:solidFill>
              </a:defRPr>
            </a:pP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해결: 저장소 계층 전환 필수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하이브리드 3계층 아키텍처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1600">
                <a:solidFill>
                  <a:srgbClr val="333333"/>
                </a:solidFill>
              </a:defRPr>
            </a:pPr>
            <a:r>
              <a:t>Layer 1: 표준 API 계층</a:t>
            </a:r>
          </a:p>
          <a:p>
            <a:pPr lvl="2">
              <a:defRPr sz="1800">
                <a:solidFill>
                  <a:srgbClr val="333333"/>
                </a:solidFill>
              </a:defRPr>
            </a:pPr>
            <a:r>
              <a:t>W3C SPARQL 1.1 (read-only), JSON-LD/Turtle/N-Triples export</a:t>
            </a:r>
          </a:p>
          <a:p>
            <a:pPr>
              <a:defRPr sz="1800">
                <a:solidFill>
                  <a:srgbClr val="333333"/>
                </a:solidFill>
              </a:defRPr>
            </a:pP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Layer 2: 번역 &amp; 엔진 계층</a:t>
            </a:r>
          </a:p>
          <a:p>
            <a:pPr lvl="2">
              <a:defRPr sz="1800">
                <a:solidFill>
                  <a:srgbClr val="333333"/>
                </a:solidFill>
              </a:defRPr>
            </a:pPr>
            <a:r>
              <a:t>SPARQL→SQL 번역기 (hot-path), rdflib fallback</a:t>
            </a:r>
          </a:p>
          <a:p>
            <a:pPr lvl="2">
              <a:defRPr sz="1800">
                <a:solidFill>
                  <a:srgbClr val="333333"/>
                </a:solidFill>
              </a:defRPr>
            </a:pPr>
            <a:r>
              <a:t>Action/Write-back 엔진</a:t>
            </a:r>
          </a:p>
          <a:p>
            <a:pPr>
              <a:defRPr sz="1800">
                <a:solidFill>
                  <a:srgbClr val="333333"/>
                </a:solidFill>
              </a:defRPr>
            </a:pP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Layer 3: 저장소 계층</a:t>
            </a:r>
          </a:p>
          <a:p>
            <a:pPr lvl="2">
              <a:defRPr sz="1800">
                <a:solidFill>
                  <a:srgbClr val="333333"/>
                </a:solidFill>
              </a:defRPr>
            </a:pPr>
            <a:r>
              <a:t>PostgreSQL: Operational Ontology Store</a:t>
            </a:r>
          </a:p>
          <a:p>
            <a:pPr lvl="2">
              <a:defRPr sz="1800">
                <a:solidFill>
                  <a:srgbClr val="333333"/>
                </a:solidFill>
              </a:defRPr>
            </a:pPr>
            <a:r>
              <a:t>Optional: Neo4j (graph acceleration)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5가지 차별화 포인트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1600">
                <a:solidFill>
                  <a:srgbClr val="333333"/>
                </a:solidFill>
              </a:defRPr>
            </a:pPr>
            <a:r>
              <a:t>1. 운영형 온톨로지 (Operational Ontology)</a:t>
            </a:r>
          </a:p>
          <a:p>
            <a:pPr lvl="2">
              <a:defRPr sz="1800">
                <a:solidFill>
                  <a:srgbClr val="333333"/>
                </a:solidFill>
              </a:defRPr>
            </a:pPr>
            <a:r>
              <a:t>읽기만 가능 X → 업무 상태 변경 가능 O</a:t>
            </a:r>
          </a:p>
          <a:p>
            <a:pPr lvl="2">
              <a:defRPr sz="1800">
                <a:solidFill>
                  <a:srgbClr val="333333"/>
                </a:solidFill>
              </a:defRPr>
            </a:pPr>
            <a:r>
              <a:t>BOM 변경, 도면 개정, 검사 결과 반영 자동화</a:t>
            </a:r>
          </a:p>
          <a:p>
            <a:pPr>
              <a:defRPr sz="1800">
                <a:solidFill>
                  <a:srgbClr val="333333"/>
                </a:solidFill>
              </a:defRPr>
            </a:pP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2. Write-back &amp; Action</a:t>
            </a:r>
          </a:p>
          <a:p>
            <a:pPr lvl="2">
              <a:defRPr sz="1800">
                <a:solidFill>
                  <a:srgbClr val="333333"/>
                </a:solidFill>
              </a:defRPr>
            </a:pPr>
            <a:r>
              <a:t>조회만 가능 X → 조회+실행+이력 추적 O</a:t>
            </a:r>
          </a:p>
          <a:p>
            <a:pPr>
              <a:defRPr sz="1800">
                <a:solidFill>
                  <a:srgbClr val="333333"/>
                </a:solidFill>
              </a:defRPr>
            </a:pP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3. 도메인 특화 스키마</a:t>
            </a:r>
          </a:p>
          <a:p>
            <a:pPr lvl="2">
              <a:defRPr sz="1800">
                <a:solidFill>
                  <a:srgbClr val="333333"/>
                </a:solidFill>
              </a:defRPr>
            </a:pPr>
            <a:r>
              <a:t>범용 RDF X → 조선/제조 네이티브 모델 O</a:t>
            </a:r>
          </a:p>
          <a:p>
            <a:pPr>
              <a:defRPr sz="1800">
                <a:solidFill>
                  <a:srgbClr val="333333"/>
                </a:solidFill>
              </a:defRPr>
            </a:pP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4. 감사 추적 &amp; 혈통</a:t>
            </a:r>
          </a:p>
          <a:p>
            <a:pPr lvl="2">
              <a:defRPr sz="1800">
                <a:solidFill>
                  <a:srgbClr val="333333"/>
                </a:solidFill>
              </a:defRPr>
            </a:pPr>
            <a:r>
              <a:t>누가, 무엇을, 왜 변경했는지 추적</a:t>
            </a:r>
          </a:p>
          <a:p>
            <a:pPr>
              <a:defRPr sz="1800">
                <a:solidFill>
                  <a:srgbClr val="333333"/>
                </a:solidFill>
              </a:defRPr>
            </a:pP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5. 표준 호환성 (선택적)</a:t>
            </a:r>
          </a:p>
          <a:p>
            <a:pPr lvl="2">
              <a:defRPr sz="1800">
                <a:solidFill>
                  <a:srgbClr val="333333"/>
                </a:solidFill>
              </a:defRPr>
            </a:pPr>
            <a:r>
              <a:t>DBpedia, Wikidata 등 외부 온톨로지 통합 가능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Hot-Path 쿼리 성능 목표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1600">
                <a:solidFill>
                  <a:srgbClr val="333333"/>
                </a:solidFill>
              </a:defRPr>
            </a:pPr>
            <a:r>
              <a:t>100K entities, 1M relationships 기준</a:t>
            </a:r>
          </a:p>
          <a:p>
            <a:pPr>
              <a:defRPr sz="1800">
                <a:solidFill>
                  <a:srgbClr val="333333"/>
                </a:solidFill>
              </a:defRPr>
            </a:pP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Simple Lookup: &lt; 50ms O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예: 선박 ID, 부품 시리얼 번호 조회</a:t>
            </a:r>
          </a:p>
          <a:p>
            <a:pPr>
              <a:defRPr sz="1800">
                <a:solidFill>
                  <a:srgbClr val="333333"/>
                </a:solidFill>
              </a:defRPr>
            </a:pP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Indexed Filter: &lt; 200ms O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예: 상태별, 타입별 엔티티 조회</a:t>
            </a:r>
          </a:p>
          <a:p>
            <a:pPr>
              <a:defRPr sz="1800">
                <a:solidFill>
                  <a:srgbClr val="333333"/>
                </a:solidFill>
              </a:defRPr>
            </a:pP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One-Hop Relation: &lt; 300ms O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예: 선박의 모든 블록, 블록의 모든 부품</a:t>
            </a:r>
          </a:p>
          <a:p>
            <a:pPr>
              <a:defRPr sz="1800">
                <a:solidFill>
                  <a:srgbClr val="333333"/>
                </a:solidFill>
              </a:defRPr>
            </a:pP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Two-Hop Relation: &lt; 1s O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예: 부품의 공급자, 공급자의 다른 부품</a:t>
            </a:r>
          </a:p>
          <a:p>
            <a:pPr>
              <a:defRPr sz="1800">
                <a:solidFill>
                  <a:srgbClr val="333333"/>
                </a:solidFill>
              </a:defRPr>
            </a:pP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복잡 쿼리: Async/Batch 처리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예: 영향 분석, RDF export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4주 구현 로드맵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1600">
                <a:solidFill>
                  <a:srgbClr val="333333"/>
                </a:solidFill>
              </a:defRPr>
            </a:pPr>
            <a:r>
              <a:t>Week 1 (05-27~31): 기초 구축</a:t>
            </a:r>
          </a:p>
          <a:p>
            <a:pPr lvl="2">
              <a:defRPr sz="1800">
                <a:solidFill>
                  <a:srgbClr val="333333"/>
                </a:solidFill>
              </a:defRPr>
            </a:pPr>
            <a:r>
              <a:t>rdflib SPARQL 통합, PostgreSQL 스키마, 개발 환경</a:t>
            </a:r>
          </a:p>
          <a:p>
            <a:pPr lvl="2">
              <a:defRPr sz="1800">
                <a:solidFill>
                  <a:srgbClr val="333333"/>
                </a:solidFill>
              </a:defRPr>
            </a:pPr>
            <a:r>
              <a:t>산출물: 30개 SPARQL 테스트, DDL, Docker</a:t>
            </a:r>
          </a:p>
          <a:p>
            <a:pPr>
              <a:defRPr sz="1800">
                <a:solidFill>
                  <a:srgbClr val="333333"/>
                </a:solidFill>
              </a:defRPr>
            </a:pP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Week 2 (06-03~07): 번역 엔진</a:t>
            </a:r>
          </a:p>
          <a:p>
            <a:pPr lvl="2">
              <a:defRPr sz="1800">
                <a:solidFill>
                  <a:srgbClr val="333333"/>
                </a:solidFill>
              </a:defRPr>
            </a:pPr>
            <a:r>
              <a:t>SPARQL→SQL 번역기 (500줄), 50개 패턴</a:t>
            </a:r>
          </a:p>
          <a:p>
            <a:pPr lvl="2">
              <a:defRPr sz="1800">
                <a:solidFill>
                  <a:srgbClr val="333333"/>
                </a:solidFill>
              </a:defRPr>
            </a:pPr>
            <a:r>
              <a:t>산출물: 500줄 코드, 50개 E2E 테스트</a:t>
            </a:r>
          </a:p>
          <a:p>
            <a:pPr>
              <a:defRPr sz="1800">
                <a:solidFill>
                  <a:srgbClr val="333333"/>
                </a:solidFill>
              </a:defRPr>
            </a:pP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Week 3 (06-10~14): API 통합</a:t>
            </a:r>
          </a:p>
          <a:p>
            <a:pPr lvl="2">
              <a:defRPr sz="1800">
                <a:solidFill>
                  <a:srgbClr val="333333"/>
                </a:solidFill>
              </a:defRPr>
            </a:pPr>
            <a:r>
              <a:t>FastAPI 엔드포인트, 트랜잭션, Changelog</a:t>
            </a:r>
          </a:p>
          <a:p>
            <a:pPr lvl="2">
              <a:defRPr sz="1800">
                <a:solidFill>
                  <a:srgbClr val="333333"/>
                </a:solidFill>
              </a:defRPr>
            </a:pPr>
            <a:r>
              <a:t>산출물: 5개 API, 10개 동시성 테스트</a:t>
            </a:r>
          </a:p>
          <a:p>
            <a:pPr>
              <a:defRPr sz="1800">
                <a:solidFill>
                  <a:srgbClr val="333333"/>
                </a:solidFill>
              </a:defRPr>
            </a:pP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Week 4 (06-17~21): 성능 검증</a:t>
            </a:r>
          </a:p>
          <a:p>
            <a:pPr lvl="2">
              <a:defRPr sz="1800">
                <a:solidFill>
                  <a:srgbClr val="333333"/>
                </a:solidFill>
              </a:defRPr>
            </a:pPr>
            <a:r>
              <a:t>100K-1M 벤치마크, 최적화, 최종 문서</a:t>
            </a:r>
          </a:p>
          <a:p>
            <a:pPr lvl="2">
              <a:defRPr sz="1800">
                <a:solidFill>
                  <a:srgbClr val="333333"/>
                </a:solidFill>
              </a:defRPr>
            </a:pPr>
            <a:r>
              <a:t>산출물: 성능 보고서, 운영 가이드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기술이전 3가지 옵션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1600">
                <a:solidFill>
                  <a:srgbClr val="333333"/>
                </a:solidFill>
              </a:defRPr>
            </a:pPr>
            <a:r>
              <a:t>Option 1: 기술 라이선싱 (기술이전)</a:t>
            </a:r>
          </a:p>
          <a:p>
            <a:pPr lvl="2">
              <a:defRPr sz="1800">
                <a:solidFill>
                  <a:srgbClr val="333333"/>
                </a:solidFill>
              </a:defRPr>
            </a:pPr>
            <a:r>
              <a:t>가격: $200K-500K | 기간: 4주 구현 + 2주 이전</a:t>
            </a:r>
          </a:p>
          <a:p>
            <a:pPr lvl="2">
              <a:defRPr sz="1800">
                <a:solidFill>
                  <a:srgbClr val="333333"/>
                </a:solidFill>
              </a:defRPr>
            </a:pPr>
            <a:r>
              <a:t>포함: 소스코드, 문서, 테스트, 컨설팅</a:t>
            </a:r>
          </a:p>
          <a:p>
            <a:pPr>
              <a:defRPr sz="1800">
                <a:solidFill>
                  <a:srgbClr val="333333"/>
                </a:solidFill>
              </a:defRPr>
            </a:pP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Option 2: 제품화 협력 (50:50 수익 배분)</a:t>
            </a:r>
          </a:p>
          <a:p>
            <a:pPr lvl="2">
              <a:defRPr sz="1800">
                <a:solidFill>
                  <a:srgbClr val="333333"/>
                </a:solidFill>
              </a:defRPr>
            </a:pPr>
            <a:r>
              <a:t>기간: 6개월 | 역할: 기술+마케팅 협력</a:t>
            </a:r>
          </a:p>
          <a:p>
            <a:pPr lvl="2">
              <a:defRPr sz="1800">
                <a:solidFill>
                  <a:srgbClr val="333333"/>
                </a:solidFill>
              </a:defRPr>
            </a:pPr>
            <a:r>
              <a:t>수익: 초기 계약금 + 라이선싱료 배분</a:t>
            </a:r>
          </a:p>
          <a:p>
            <a:pPr>
              <a:defRPr sz="1800">
                <a:solidFill>
                  <a:srgbClr val="333333"/>
                </a:solidFill>
              </a:defRPr>
            </a:pP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Option 3: SaaS 운영 (호스팅 서비스)</a:t>
            </a:r>
          </a:p>
          <a:p>
            <a:pPr lvl="2">
              <a:defRPr sz="1800">
                <a:solidFill>
                  <a:srgbClr val="333333"/>
                </a:solidFill>
              </a:defRPr>
            </a:pPr>
            <a:r>
              <a:t>가격: Base $10K/월 + 추가 $100/1M entities</a:t>
            </a:r>
          </a:p>
          <a:p>
            <a:pPr lvl="2">
              <a:defRPr sz="1800">
                <a:solidFill>
                  <a:srgbClr val="333333"/>
                </a:solidFill>
              </a:defRPr>
            </a:pPr>
            <a:r>
              <a:t>대상: 중소 조선사, 협력사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경제성 분석 (5년 기준)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1600">
                <a:solidFill>
                  <a:srgbClr val="333333"/>
                </a:solidFill>
              </a:defRPr>
            </a:pPr>
            <a:r>
              <a:t>vs Palantier Foundry</a:t>
            </a:r>
          </a:p>
          <a:p>
            <a:pPr lvl="2">
              <a:defRPr sz="1800">
                <a:solidFill>
                  <a:srgbClr val="333333"/>
                </a:solidFill>
              </a:defRPr>
            </a:pPr>
            <a:r>
              <a:t>Palantier: $7.5M+ | 제안: $1M-1.5M | 절감: 80-85% O</a:t>
            </a:r>
          </a:p>
          <a:p>
            <a:pPr>
              <a:defRPr sz="1800">
                <a:solidFill>
                  <a:srgbClr val="333333"/>
                </a:solidFill>
              </a:defRPr>
            </a:pP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vs Neo4j + SI 구축</a:t>
            </a:r>
          </a:p>
          <a:p>
            <a:pPr lvl="2">
              <a:defRPr sz="1800">
                <a:solidFill>
                  <a:srgbClr val="333333"/>
                </a:solidFill>
              </a:defRPr>
            </a:pPr>
            <a:r>
              <a:t>Neo4j+SI: $800K-1M | 제안: $550K | 절감: 30-45% O</a:t>
            </a:r>
          </a:p>
          <a:p>
            <a:pPr>
              <a:defRPr sz="1800">
                <a:solidFill>
                  <a:srgbClr val="333333"/>
                </a:solidFill>
              </a:defRPr>
            </a:pP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ROI (기술이전 회사 관점)</a:t>
            </a:r>
          </a:p>
          <a:p>
            <a:pPr lvl="2">
              <a:defRPr sz="1800">
                <a:solidFill>
                  <a:srgbClr val="333333"/>
                </a:solidFill>
              </a:defRPr>
            </a:pPr>
            <a:r>
              <a:t>개발비: $112K | 첫 고객 계약금: $300K</a:t>
            </a:r>
          </a:p>
          <a:p>
            <a:pPr lvl="2">
              <a:defRPr sz="1800">
                <a:solidFill>
                  <a:srgbClr val="333333"/>
                </a:solidFill>
              </a:defRPr>
            </a:pPr>
            <a:r>
              <a:t>회수 기간: 3개월 내 | 연간 순익: $200K+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경쟁 제품 비교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1600">
                <a:solidFill>
                  <a:srgbClr val="333333"/>
                </a:solidFill>
              </a:defRPr>
            </a:pPr>
            <a:r>
              <a:t>가격</a:t>
            </a:r>
          </a:p>
          <a:p>
            <a:pPr lvl="2">
              <a:defRPr sz="1800">
                <a:solidFill>
                  <a:srgbClr val="333333"/>
                </a:solidFill>
              </a:defRPr>
            </a:pPr>
            <a:r>
              <a:t>Palantier: $1M+ vs 제안: $300K (85% 저가)</a:t>
            </a:r>
          </a:p>
          <a:p>
            <a:pPr>
              <a:defRPr sz="1800">
                <a:solidFill>
                  <a:srgbClr val="333333"/>
                </a:solidFill>
              </a:defRPr>
            </a:pP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RDF 표준 준수</a:t>
            </a:r>
          </a:p>
          <a:p>
            <a:pPr lvl="2">
              <a:defRPr sz="1800">
                <a:solidFill>
                  <a:srgbClr val="333333"/>
                </a:solidFill>
              </a:defRPr>
            </a:pPr>
            <a:r>
              <a:t>제안만 유일하게 W3C SPARQL 호환 O</a:t>
            </a:r>
          </a:p>
          <a:p>
            <a:pPr>
              <a:defRPr sz="1800">
                <a:solidFill>
                  <a:srgbClr val="333333"/>
                </a:solidFill>
              </a:defRPr>
            </a:pP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Write-back &amp; 감사 추적</a:t>
            </a:r>
          </a:p>
          <a:p>
            <a:pPr lvl="2">
              <a:defRPr sz="1800">
                <a:solidFill>
                  <a:srgbClr val="333333"/>
                </a:solidFill>
              </a:defRPr>
            </a:pPr>
            <a:r>
              <a:t>경쟁사는 읽기 중심 | 제안은 실행+추적 O</a:t>
            </a:r>
          </a:p>
          <a:p>
            <a:pPr>
              <a:defRPr sz="1800">
                <a:solidFill>
                  <a:srgbClr val="333333"/>
                </a:solidFill>
              </a:defRPr>
            </a:pP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도메인 특화</a:t>
            </a:r>
          </a:p>
          <a:p>
            <a:pPr lvl="2">
              <a:defRPr sz="1800">
                <a:solidFill>
                  <a:srgbClr val="333333"/>
                </a:solidFill>
              </a:defRPr>
            </a:pPr>
            <a:r>
              <a:t>조선/제조 네이티브 스키마 (경쟁사 없음) O</a:t>
            </a:r>
          </a:p>
          <a:p>
            <a:pPr>
              <a:defRPr sz="1800">
                <a:solidFill>
                  <a:srgbClr val="333333"/>
                </a:solidFill>
              </a:defRPr>
            </a:pP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구현 기간</a:t>
            </a:r>
          </a:p>
          <a:p>
            <a:pPr lvl="2">
              <a:defRPr sz="1800">
                <a:solidFill>
                  <a:srgbClr val="333333"/>
                </a:solidFill>
              </a:defRPr>
            </a:pPr>
            <a:r>
              <a:t>경쟁사: 3-6개월 vs 제안: 4주 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시장 포지셔닝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1600">
                <a:solidFill>
                  <a:srgbClr val="333333"/>
                </a:solidFill>
              </a:defRPr>
            </a:pPr>
            <a:r>
              <a:t>피해야 할 경쟁지</a:t>
            </a:r>
          </a:p>
          <a:p>
            <a:pPr lvl="2">
              <a:defRPr sz="1800">
                <a:solidFill>
                  <a:srgbClr val="333333"/>
                </a:solidFill>
              </a:defRPr>
            </a:pPr>
            <a:r>
              <a:t>X 범용 온톨로지 (솔트룩스 직경쟁)</a:t>
            </a:r>
          </a:p>
          <a:p>
            <a:pPr lvl="2">
              <a:defRPr sz="1800">
                <a:solidFill>
                  <a:srgbClr val="333333"/>
                </a:solidFill>
              </a:defRPr>
            </a:pPr>
            <a:r>
              <a:t>X GraphRAG 검색 (SKAI와 경쟁)</a:t>
            </a:r>
          </a:p>
          <a:p>
            <a:pPr lvl="2">
              <a:defRPr sz="1800">
                <a:solidFill>
                  <a:srgbClr val="333333"/>
                </a:solidFill>
              </a:defRPr>
            </a:pPr>
            <a:r>
              <a:t>X Palantier 성능 모방</a:t>
            </a:r>
          </a:p>
          <a:p>
            <a:pPr>
              <a:defRPr sz="1800">
                <a:solidFill>
                  <a:srgbClr val="333333"/>
                </a:solidFill>
              </a:defRPr>
            </a:pP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승리 지점</a:t>
            </a:r>
          </a:p>
          <a:p>
            <a:pPr lvl="2">
              <a:defRPr sz="1800">
                <a:solidFill>
                  <a:srgbClr val="333333"/>
                </a:solidFill>
              </a:defRPr>
            </a:pPr>
            <a:r>
              <a:t>O 조선/제조 산업 특화 (도메인 네이티브)</a:t>
            </a:r>
          </a:p>
          <a:p>
            <a:pPr lvl="2">
              <a:defRPr sz="1800">
                <a:solidFill>
                  <a:srgbClr val="333333"/>
                </a:solidFill>
              </a:defRPr>
            </a:pPr>
            <a:r>
              <a:t>O 운영 온톨로지 + Write-back (실행 가능)</a:t>
            </a:r>
          </a:p>
          <a:p>
            <a:pPr lvl="2">
              <a:defRPr sz="1800">
                <a:solidFill>
                  <a:srgbClr val="333333"/>
                </a:solidFill>
              </a:defRPr>
            </a:pPr>
            <a:r>
              <a:t>O 감사 추적 + Lineage (컴플라이언스)</a:t>
            </a:r>
          </a:p>
          <a:p>
            <a:pPr lvl="2">
              <a:defRPr sz="1800">
                <a:solidFill>
                  <a:srgbClr val="333333"/>
                </a:solidFill>
              </a:defRPr>
            </a:pPr>
            <a:r>
              <a:t>O 표준 호환 + 경제성 (SPARQL + 저가)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고객 가치 시나리오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1600">
                <a:solidFill>
                  <a:srgbClr val="333333"/>
                </a:solidFill>
              </a:defRPr>
            </a:pPr>
            <a:r>
              <a:t>대형 조선사</a:t>
            </a:r>
          </a:p>
          <a:p>
            <a:pPr lvl="2">
              <a:defRPr sz="1800">
                <a:solidFill>
                  <a:srgbClr val="333333"/>
                </a:solidFill>
              </a:defRPr>
            </a:pPr>
            <a:r>
              <a:t>현황: 변경 영향 분석 2-3주 수동 작업</a:t>
            </a:r>
          </a:p>
          <a:p>
            <a:pPr lvl="2">
              <a:defRPr sz="1800">
                <a:solidFill>
                  <a:srgbClr val="333333"/>
                </a:solidFill>
              </a:defRPr>
            </a:pPr>
            <a:r>
              <a:t>해결: 자동 영향 분석 1시간, 감사 추적 기록</a:t>
            </a:r>
          </a:p>
          <a:p>
            <a:pPr lvl="2">
              <a:defRPr sz="1800">
                <a:solidFill>
                  <a:srgbClr val="333333"/>
                </a:solidFill>
              </a:defRPr>
            </a:pPr>
            <a:r>
              <a:t>ROI: 연 $500K (생산성 + 컴플라이언스)</a:t>
            </a:r>
          </a:p>
          <a:p>
            <a:pPr>
              <a:defRPr sz="1800">
                <a:solidFill>
                  <a:srgbClr val="333333"/>
                </a:solidFill>
              </a:defRPr>
            </a:pP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중소 협력사</a:t>
            </a:r>
          </a:p>
          <a:p>
            <a:pPr lvl="2">
              <a:defRPr sz="1800">
                <a:solidFill>
                  <a:srgbClr val="333333"/>
                </a:solidFill>
              </a:defRPr>
            </a:pPr>
            <a:r>
              <a:t>현황: Excel 기반 관리, AI 정확도 낮음</a:t>
            </a:r>
          </a:p>
          <a:p>
            <a:pPr lvl="2">
              <a:defRPr sz="1800">
                <a:solidFill>
                  <a:srgbClr val="333333"/>
                </a:solidFill>
              </a:defRPr>
            </a:pPr>
            <a:r>
              <a:t>해결: 경량 온톨로지 SaaS, 정확한 데이터 기반 AI</a:t>
            </a:r>
          </a:p>
          <a:p>
            <a:pPr lvl="2">
              <a:defRPr sz="1800">
                <a:solidFill>
                  <a:srgbClr val="333333"/>
                </a:solidFill>
              </a:defRPr>
            </a:pPr>
            <a:r>
              <a:t>비용: $10K/월 | ROI: 연 $150K+ (위험 감지)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핵심 기술 스펙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1600">
                <a:solidFill>
                  <a:srgbClr val="333333"/>
                </a:solidFill>
              </a:defRPr>
            </a:pPr>
            <a:r>
              <a:t>Language &amp; Framework</a:t>
            </a:r>
          </a:p>
          <a:p>
            <a:pPr lvl="2">
              <a:defRPr sz="1800">
                <a:solidFill>
                  <a:srgbClr val="333333"/>
                </a:solidFill>
              </a:defRPr>
            </a:pPr>
            <a:r>
              <a:t>Python 3.11+, FastAPI, SQLAlchemy, rdflib</a:t>
            </a:r>
          </a:p>
          <a:p>
            <a:pPr>
              <a:defRPr sz="1800">
                <a:solidFill>
                  <a:srgbClr val="333333"/>
                </a:solidFill>
              </a:defRPr>
            </a:pP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Database</a:t>
            </a:r>
          </a:p>
          <a:p>
            <a:pPr lvl="2">
              <a:defRPr sz="1800">
                <a:solidFill>
                  <a:srgbClr val="333333"/>
                </a:solidFill>
              </a:defRPr>
            </a:pPr>
            <a:r>
              <a:t>PostgreSQL 14+ (primary), Optional Neo4j</a:t>
            </a:r>
          </a:p>
          <a:p>
            <a:pPr>
              <a:defRPr sz="1800">
                <a:solidFill>
                  <a:srgbClr val="333333"/>
                </a:solidFill>
              </a:defRPr>
            </a:pP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Standards</a:t>
            </a:r>
          </a:p>
          <a:p>
            <a:pPr lvl="2">
              <a:defRPr sz="1800">
                <a:solidFill>
                  <a:srgbClr val="333333"/>
                </a:solidFill>
              </a:defRPr>
            </a:pPr>
            <a:r>
              <a:t>W3C SPARQL 1.1, RDF 1.1, SHACL, JSON-LD</a:t>
            </a:r>
          </a:p>
          <a:p>
            <a:pPr>
              <a:defRPr sz="1800">
                <a:solidFill>
                  <a:srgbClr val="333333"/>
                </a:solidFill>
              </a:defRPr>
            </a:pP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Scalability</a:t>
            </a:r>
          </a:p>
          <a:p>
            <a:pPr lvl="2">
              <a:defRPr sz="1800">
                <a:solidFill>
                  <a:srgbClr val="333333"/>
                </a:solidFill>
              </a:defRPr>
            </a:pPr>
            <a:r>
              <a:t>100K-10M entities, 1M-100M relationships</a:t>
            </a:r>
          </a:p>
          <a:p>
            <a:pPr lvl="2">
              <a:defRPr sz="1800">
                <a:solidFill>
                  <a:srgbClr val="333333"/>
                </a:solidFill>
              </a:defRPr>
            </a:pPr>
            <a:r>
              <a:t>100-1000 QPS, 10-100 concurrent users</a:t>
            </a:r>
          </a:p>
          <a:p>
            <a:pPr>
              <a:defRPr sz="1800">
                <a:solidFill>
                  <a:srgbClr val="333333"/>
                </a:solidFill>
              </a:defRPr>
            </a:pP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Deployment</a:t>
            </a:r>
          </a:p>
          <a:p>
            <a:pPr lvl="2">
              <a:defRPr sz="1800">
                <a:solidFill>
                  <a:srgbClr val="333333"/>
                </a:solidFill>
              </a:defRPr>
            </a:pPr>
            <a:r>
              <a:t>Docker, Kubernetes, Cloud (AWS/GCP/Azure), On-premise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기술이전 다음 단계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1600">
                <a:solidFill>
                  <a:srgbClr val="333333"/>
                </a:solidFill>
              </a:defRPr>
            </a:pPr>
            <a:r>
              <a:t>Step 1: 기술 수용 의사 확인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Step 2: 라이선싱 모델 선택 (Option 1/2/3)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Step 3: 계약 및 NDA 논의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Step 4: 파일럿 고객 확보 (2026년 8-9월)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Step 5: 구현 및 수익화</a:t>
            </a:r>
          </a:p>
          <a:p>
            <a:pPr>
              <a:defRPr sz="1800">
                <a:solidFill>
                  <a:srgbClr val="333333"/>
                </a:solidFill>
              </a:defRPr>
            </a:pP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기술이전 일정</a:t>
            </a:r>
          </a:p>
          <a:p>
            <a:pPr lvl="2">
              <a:defRPr sz="1800">
                <a:solidFill>
                  <a:srgbClr val="333333"/>
                </a:solidFill>
              </a:defRPr>
            </a:pPr>
            <a:r>
              <a:t>5월: 기술 완성 | 7월: 이전 | 8-9월: 파일럿 | 10월: 시장 진출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핵심 메시지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1600">
                <a:solidFill>
                  <a:srgbClr val="333333"/>
                </a:solidFill>
              </a:defRPr>
            </a:pPr>
            <a:r>
              <a:t>조선/제조 데이터를 안전하게 이해하고</a:t>
            </a: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실행하는 플랫폼</a:t>
            </a:r>
          </a:p>
          <a:p>
            <a:pPr>
              <a:defRPr sz="1800">
                <a:solidFill>
                  <a:srgbClr val="333333"/>
                </a:solidFill>
              </a:defRPr>
            </a:pP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O 성능: Palantier 급 (200배 개선)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O 표준: W3C SPARQL 호환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O 비용: 85% 절감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O 속도: 4주 구현</a:t>
            </a:r>
          </a:p>
          <a:p>
            <a:pPr>
              <a:defRPr sz="1800">
                <a:solidFill>
                  <a:srgbClr val="333333"/>
                </a:solidFill>
              </a:defRPr>
            </a:pP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메시지 전환</a:t>
            </a:r>
          </a:p>
          <a:p>
            <a:pPr lvl="2">
              <a:defRPr sz="1800">
                <a:solidFill>
                  <a:srgbClr val="333333"/>
                </a:solidFill>
              </a:defRPr>
            </a:pPr>
            <a:r>
              <a:t>부정확한 AI 답변 감소 (약함)</a:t>
            </a:r>
          </a:p>
          <a:p>
            <a:pPr lvl="2">
              <a:defRPr sz="1800">
                <a:solidFill>
                  <a:srgbClr val="333333"/>
                </a:solidFill>
              </a:defRPr>
            </a:pPr>
            <a:r>
              <a:t>→ 업무 상태 변경+추적 플랫폼 (강함)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기술이전 문의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1600">
                <a:solidFill>
                  <a:srgbClr val="333333"/>
                </a:solidFill>
              </a:defRPr>
            </a:pPr>
            <a:r>
              <a:t>기술 담당자</a:t>
            </a:r>
          </a:p>
          <a:p>
            <a:pPr lvl="2">
              <a:defRPr sz="1800">
                <a:solidFill>
                  <a:srgbClr val="333333"/>
                </a:solidFill>
              </a:defRPr>
            </a:pPr>
            <a:r>
              <a:t>Architecture: Claude Code</a:t>
            </a:r>
          </a:p>
          <a:p>
            <a:pPr lvl="2">
              <a:defRPr sz="1800">
                <a:solidFill>
                  <a:srgbClr val="333333"/>
                </a:solidFill>
              </a:defRPr>
            </a:pPr>
            <a:r>
              <a:t>기술 검토: Antigravity</a:t>
            </a:r>
          </a:p>
          <a:p>
            <a:pPr lvl="2">
              <a:defRPr sz="1800">
                <a:solidFill>
                  <a:srgbClr val="333333"/>
                </a:solidFill>
              </a:defRPr>
            </a:pPr>
            <a:r>
              <a:t>도메인 전문성: Kodex</a:t>
            </a:r>
          </a:p>
          <a:p>
            <a:pPr>
              <a:defRPr sz="1800">
                <a:solidFill>
                  <a:srgbClr val="333333"/>
                </a:solidFill>
              </a:defRPr>
            </a:pP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제공 자료</a:t>
            </a:r>
          </a:p>
          <a:p>
            <a:pPr lvl="2">
              <a:defRPr sz="1800">
                <a:solidFill>
                  <a:srgbClr val="333333"/>
                </a:solidFill>
              </a:defRPr>
            </a:pPr>
            <a:r>
              <a:t>문서: 5,200줄 (분석, 설계, 스펙)</a:t>
            </a:r>
          </a:p>
          <a:p>
            <a:pPr lvl="2">
              <a:defRPr sz="1800">
                <a:solidFill>
                  <a:srgbClr val="333333"/>
                </a:solidFill>
              </a:defRPr>
            </a:pPr>
            <a:r>
              <a:t>코드: 1,500줄 (Python, SQL, Bash)</a:t>
            </a:r>
          </a:p>
          <a:p>
            <a:pPr lvl="2">
              <a:defRPr sz="1800">
                <a:solidFill>
                  <a:srgbClr val="333333"/>
                </a:solidFill>
              </a:defRPr>
            </a:pPr>
            <a:r>
              <a:t>테스트: 150개+ (단위, 통합, 성능)</a:t>
            </a:r>
          </a:p>
          <a:p>
            <a:pPr>
              <a:defRPr sz="1800">
                <a:solidFill>
                  <a:srgbClr val="333333"/>
                </a:solidFill>
              </a:defRPr>
            </a:pPr>
          </a:p>
          <a:p>
            <a:pPr lvl="1">
              <a:defRPr sz="1600">
                <a:solidFill>
                  <a:srgbClr val="333333"/>
                </a:solidFill>
              </a:defRPr>
            </a:pPr>
            <a:r>
              <a:t>기술이전 일정</a:t>
            </a:r>
          </a:p>
          <a:p>
            <a:pPr lvl="2">
              <a:defRPr sz="1800">
                <a:solidFill>
                  <a:srgbClr val="333333"/>
                </a:solidFill>
              </a:defRPr>
            </a:pPr>
            <a:r>
              <a:t>[DATE] 2026년 5월 기술 완성</a:t>
            </a:r>
          </a:p>
          <a:p>
            <a:pPr lvl="2">
              <a:defRPr sz="1800">
                <a:solidFill>
                  <a:srgbClr val="333333"/>
                </a:solidFill>
              </a:defRPr>
            </a:pPr>
            <a:r>
              <a:t>[DATE] 2026년 7월 이전 &amp; 교육</a:t>
            </a:r>
          </a:p>
          <a:p>
            <a:pPr lvl="2">
              <a:defRPr sz="1800">
                <a:solidFill>
                  <a:srgbClr val="333333"/>
                </a:solidFill>
              </a:defRPr>
            </a:pPr>
            <a:r>
              <a:t>[DATE] 2026년 8-9월 파일럿 고객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