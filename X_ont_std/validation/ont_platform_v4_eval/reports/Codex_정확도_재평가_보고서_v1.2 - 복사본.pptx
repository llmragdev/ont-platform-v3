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기존 3팀 평가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58.54</c:v>
                </c:pt>
                <c:pt idx="1">
                  <c:v>69.17</c:v>
                </c:pt>
                <c:pt idx="2">
                  <c:v>64.17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v1.2 재평가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 (%)</c:v>
                </c:pt>
              </c:strCache>
            </c:strRef>
          </c:tx>
          <c:dPt>
            <c:idx val="0"/>
            <c:spPr>
              <a:solidFill>
                <a:srgbClr val="F59E0B"/>
              </a:solidFill>
            </c:spPr>
          </c:dPt>
          <c:dPt>
            <c:idx val="1"/>
            <c:spPr>
              <a:solidFill>
                <a:srgbClr val="14B8A6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14B8A6"/>
              </a:solidFill>
            </c:spPr>
          </c:dPt>
          <c:cat>
            <c:strRef>
              <c:f>Sheet1!$A$2:$A$5</c:f>
              <c:strCache>
                <c:ptCount val="4"/>
                <c:pt idx="0">
                  <c:v>Team0</c:v>
                </c:pt>
                <c:pt idx="1">
                  <c:v>Team1</c:v>
                </c:pt>
                <c:pt idx="2">
                  <c:v>Team2</c:v>
                </c:pt>
                <c:pt idx="3">
                  <c:v>Team4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70.42</c:v>
                </c:pt>
                <c:pt idx="1">
                  <c:v>88.54</c:v>
                </c:pt>
                <c:pt idx="2">
                  <c:v>70.42</c:v>
                </c:pt>
                <c:pt idx="3">
                  <c:v>85.0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32000" y="413999"/>
            <a:ext cx="1152000" cy="19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00" y="1134000"/>
            <a:ext cx="7560000" cy="93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52A4E"/>
                </a:solidFill>
                <a:latin typeface="Malgun Gothic"/>
              </a:rPr>
              <a:t>RAG·온톨로지
정확도 재평가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200" y="2286000"/>
            <a:ext cx="7740000" cy="28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algun Gothic"/>
              </a:rPr>
              <a:t>예상 답안 보정, 함정 질문 처리, 근거 기반 평가 방식 보완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9200" y="2898000"/>
            <a:ext cx="4680000" cy="9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최종 1위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563EB"/>
                </a:solidFill>
                <a:latin typeface="Malgun Gothic"/>
              </a:rPr>
              <a:t>Team1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RAG 하이브리드 구현 효과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2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Team4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4B8A6"/>
                </a:solidFill>
                <a:latin typeface="Malgun Gothic"/>
              </a:rPr>
              <a:t>85.0%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신규 비교 대상 포함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000" y="3401999"/>
            <a:ext cx="1512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Malgun Gothic"/>
              </a:rPr>
              <a:t>평가 평균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000" y="3527999"/>
            <a:ext cx="1584000" cy="31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78.59%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000" y="3851999"/>
            <a:ext cx="1764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v1.2 기준 재산정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000" y="4103999"/>
            <a:ext cx="1692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8000" y="756000"/>
            <a:ext cx="3096000" cy="360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algun Gothic"/>
              </a:rPr>
              <a:t>보정 전 평가는 시스템 간 단순 정확도 비교였다.
보정 후 평가는 ‘근거가 없는 질문을 거절할 수 있는가’, ‘검색 근거를 설명할 수 있는가’, ‘하이브리드 검색의 기여를 추적할 수 있는가’를 함께 보는 평가로 바뀌었다.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6263999"/>
            <a:ext cx="5760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19" b="0">
                <a:solidFill>
                  <a:srgbClr val="64748B"/>
                </a:solidFill>
                <a:latin typeface="Malgun Gothic"/>
              </a:rPr>
              <a:t>Source: 3팀_정확도_비교.xlsx → 4팀_정확도_비교_STD-S정답수정_v1.2_재평가_final.xlsx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평가 체계가 바뀌었다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보정과 함정 문항 처리로 단순 점수 비교에서 서비스 품질 평가로 이동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1">
                <a:solidFill>
                  <a:srgbClr val="FFFFFF"/>
                </a:solidFill>
                <a:latin typeface="Malgun Gothic"/>
              </a:rPr>
              <a:t>구분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4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기존 3팀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2000" y="1080000"/>
            <a:ext cx="442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1">
                <a:solidFill>
                  <a:srgbClr val="FFFFFF"/>
                </a:solidFill>
                <a:latin typeface="Malgun Gothic"/>
              </a:rPr>
              <a:t>v1.2 재평가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입력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4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3팀_정확도_비교.xlsx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2000" y="13608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4팀 평가 결과 + v1.2 정답지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정답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44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초기 예상 답변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2000" y="16416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예상 답변·근거·핵심포함어 보정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STD-S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4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Snowflake RAG 문항으로 채점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2000" y="1922400"/>
            <a:ext cx="442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문서에 없는 함정 질문으로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50" b="0">
                <a:solidFill>
                  <a:srgbClr val="1E293B"/>
                </a:solidFill>
                <a:latin typeface="Malgun Gothic"/>
              </a:rPr>
              <a:t>평가 의미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44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답변 유사도 중심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2000" y="2203200"/>
            <a:ext cx="442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50" b="0">
                <a:solidFill>
                  <a:srgbClr val="1E293B"/>
                </a:solidFill>
                <a:latin typeface="Malgun Gothic"/>
              </a:rPr>
              <a:t>근거 부재 감지 + 답변 정확도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0000" y="3006000"/>
          <a:ext cx="5400000" cy="262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552000" y="3096000"/>
            <a:ext cx="4320000" cy="205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기존 Team0~2 답변 원문은 보존하고, v1.2 기준으로 점수만 재산정했다.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Team4는 ont_platform v4 답변을 추가해 동일 기준으로 비교했다.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정답 자체의 편향과 질문 유도 오류를 보정하면서 평가 목표가 더 현실적인 서비스 검증으로 바뀌었다.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최종 순위는 Team1, Team4, Team0, Team2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Team1은 온톨로지 구현 취지였지만 RAG 하이브리드 구현으로 가장 높은 성능을 보였다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68000" y="1080000"/>
          <a:ext cx="6120000" cy="3851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840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6000" y="1080000"/>
            <a:ext cx="9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최종 정확도</a:t>
            </a:r>
          </a:p>
        </p:txBody>
      </p:sp>
      <p:sp>
        <p:nvSpPr>
          <p:cNvPr id="8" name="Rectangle 7"/>
          <p:cNvSpPr/>
          <p:nvPr/>
        </p:nvSpPr>
        <p:spPr>
          <a:xfrm>
            <a:off x="8748000" y="1080000"/>
            <a:ext cx="28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1">
                <a:solidFill>
                  <a:srgbClr val="FFFFFF"/>
                </a:solidFill>
                <a:latin typeface="Malgun Gothic"/>
              </a:rPr>
              <a:t>해석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6000" y="13608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88.54%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48000" y="13608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온톨로지 단독 취지였으나 RAG 하이브리드가 성능을 끌어올림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6000" y="16416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85.00%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48000" y="16416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ont_platform v4 기준, 함정 질문 거절 능력이 Snowflake 문항에서 강점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40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6000" y="1922400"/>
            <a:ext cx="9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48000" y="1922400"/>
            <a:ext cx="28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순수 RAG로 기준선 역할. 보정 후 도입 고려 수준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0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4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6000" y="2203200"/>
            <a:ext cx="9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70.42%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48000" y="2203200"/>
            <a:ext cx="28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40" b="0">
                <a:solidFill>
                  <a:srgbClr val="1E293B"/>
                </a:solidFill>
                <a:latin typeface="Malgun Gothic"/>
              </a:rPr>
              <a:t>Advanced RAG 문항은 강하지만 관련 없는 질문 차단이 약함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카테고리별 강점은 다르게 나타났다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Advanced RAG는 Team2, Ontology와 Snowflake 함정 대응은 Team1·Team4가 상대적으로 강하다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47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>
                <a:solidFill>
                  <a:srgbClr val="64748B"/>
                </a:solidFill>
                <a:latin typeface="Malgun Gothic"/>
              </a:rPr>
              <a:t>카테고리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5999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8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2000" y="1080000"/>
            <a:ext cx="1116000" cy="1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64748B"/>
                </a:solidFill>
                <a:latin typeface="Malgun Gothic"/>
              </a:rPr>
              <a:t>Team4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999" y="14327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5999" y="13392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88.75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68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91.25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93.75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72000" y="13392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999" y="1821599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5999" y="17280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69.38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68000" y="1728000"/>
            <a:ext cx="1062000" cy="29520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83.75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71.88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72000" y="1728000"/>
            <a:ext cx="1062000" cy="295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74.38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210400"/>
            <a:ext cx="1440000" cy="151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19" b="1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5999" y="2116800"/>
            <a:ext cx="1062000" cy="2952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53.12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68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0000" y="2116800"/>
            <a:ext cx="1062000" cy="295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45.62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72000" y="2116800"/>
            <a:ext cx="1062000" cy="295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</a:rPr>
              <a:t>90.62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808000"/>
            <a:ext cx="5328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Malgun Gothic"/>
              </a:rPr>
              <a:t>카테고리 평균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999" y="3078000"/>
            <a:ext cx="154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1">
                <a:solidFill>
                  <a:srgbClr val="FFFFFF"/>
                </a:solidFill>
                <a:latin typeface="Malgun Gothic"/>
              </a:rPr>
              <a:t>카테고리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31999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1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9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Team4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2000" y="3078000"/>
            <a:ext cx="10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1">
                <a:solidFill>
                  <a:srgbClr val="FFFFFF"/>
                </a:solidFill>
                <a:latin typeface="Malgun Gothic"/>
              </a:rPr>
              <a:t>평균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3999" y="33588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5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88.75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31999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91.25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1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93.75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9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2000" y="33588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90.94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3999" y="3639600"/>
            <a:ext cx="154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Ontology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69.38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31999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83.75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1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71.88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74.38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2000" y="3639600"/>
            <a:ext cx="10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74.85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3999" y="3920400"/>
            <a:ext cx="154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19" b="0">
                <a:solidFill>
                  <a:srgbClr val="1E293B"/>
                </a:solidFill>
                <a:latin typeface="Malgun Gothic"/>
              </a:rPr>
              <a:t>Snowflake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53.12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31999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1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45.62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9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90.62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2000" y="3920400"/>
            <a:ext cx="10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19" b="0">
                <a:solidFill>
                  <a:srgbClr val="1E293B"/>
                </a:solidFill>
                <a:latin typeface="Malgun Gothic"/>
              </a:rPr>
              <a:t>70.00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0000" y="1152000"/>
            <a:ext cx="3600000" cy="28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Team2는 Advanced RAG 특화 질문에서 93.75%로 가장 강했다.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Team1은 전 영역에서 균형적으로 높고, Snowflake 함정 질문 차단도 우수했다.</a:t>
            </a:r>
          </a:p>
          <a:p>
            <a:pPr>
              <a:spcAft>
                <a:spcPts val="400"/>
              </a:spcAft>
            </a:pPr>
            <a:r>
              <a:rPr sz="1220" b="0">
                <a:solidFill>
                  <a:srgbClr val="1E293B"/>
                </a:solidFill>
                <a:latin typeface="Malgun Gothic"/>
              </a:rPr>
              <a:t>• Team4는 Snowflake 함정 문항에서 90.62%로 강하지만 Ontology 문항은 추가 개선 여지가 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팀별 해석은 ‘기술명’보다 실제 동작 기준으로 봐야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평가 명칭과 구현 실제가 달라졌고, 하이브리드 구성에서는 기술별 기여 추적이 필요하다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080000"/>
            <a:ext cx="936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1">
                <a:solidFill>
                  <a:srgbClr val="FFFFFF"/>
                </a:solidFill>
                <a:latin typeface="Malgun Gothic"/>
              </a:rPr>
              <a:t>팀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8000" y="1080000"/>
            <a:ext cx="25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설계/구현 성격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7999" y="1080000"/>
            <a:ext cx="266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강점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6552000" y="1080000"/>
            <a:ext cx="410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1">
                <a:solidFill>
                  <a:srgbClr val="FFFFFF"/>
                </a:solidFill>
                <a:latin typeface="Malgun Gothic"/>
              </a:rPr>
              <a:t>한계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13608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68000" y="13608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순수 RAG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7999" y="13608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기본 검색·생성 기준선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2000" y="13608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관련 없음 감지와 정교한 근거 통제 한계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6416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68000" y="16416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온톨로지 취지 + RAG 하이브리드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7999" y="16416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전체 1위, 균형형 성능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2000" y="16416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온톨로지 단독 효과와 RAG 효과 분리가 필요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1922400"/>
            <a:ext cx="936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68000" y="1922400"/>
            <a:ext cx="25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7999" y="1922400"/>
            <a:ext cx="266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Advanced RAG 문항 최상위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2000" y="1922400"/>
            <a:ext cx="410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유사도 threshold 또는 환각으로 관련 없는 질문 차단 실패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2203200"/>
            <a:ext cx="936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60" b="0">
                <a:solidFill>
                  <a:srgbClr val="1E293B"/>
                </a:solidFill>
                <a:latin typeface="Malgun Gothic"/>
              </a:rPr>
              <a:t>Team4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68000" y="2203200"/>
            <a:ext cx="25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ont_platform v4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7999" y="2203200"/>
            <a:ext cx="266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함정 질문 대응 강함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2000" y="2203200"/>
            <a:ext cx="410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60" b="0">
                <a:solidFill>
                  <a:srgbClr val="1E293B"/>
                </a:solidFill>
                <a:latin typeface="Malgun Gothic"/>
              </a:rPr>
              <a:t>Ontology 문항의 개념·관계 설명 보강 필요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752000"/>
            <a:ext cx="10440000" cy="39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152A4E"/>
                </a:solidFill>
                <a:latin typeface="Malgun Gothic"/>
              </a:rPr>
              <a:t>진짜 비교 포인트는 ‘어떤 시스템이 평균 점수가 높은가’보다 ‘어떤 질문 유형에서 어떤 검색 기술이 실패했는가’다.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STD-S 문항은 Snowflake 성능 문제가 아니라 함정 질문 처리 문제였다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논문에 Snowflake 구현 내용이 없으므로, 정답은 관련 없음/문서 근거 없음의 명시다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6000" y="1080000"/>
            <a:ext cx="10260000" cy="30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algun Gothic"/>
              </a:rPr>
              <a:t>STD-S01 질문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000" y="1350000"/>
            <a:ext cx="10728000" cy="413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E293B"/>
                </a:solidFill>
                <a:latin typeface="Malgun Gothic"/>
              </a:rPr>
              <a:t>Snowflake 기반 RAG 평가에서 문서 저장소와 근거 페이지를 왜 함께 관리해야 하는가?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000" y="1962000"/>
            <a:ext cx="1080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Malgun Gothic"/>
              </a:rPr>
              <a:t>만점 답변의 핵심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999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RAG의 구체 구현은 제공 문서에 없다.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따라서 관련 없음 또는 문서 근거 없음이라고 명시한다.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부가 설명이 없어도 100점, 일반적 RAG 관점 설명을 덧붙여도 100점이다.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2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감점되는 답변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2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관련 없음 표현 없이 Snowflake 기능을 실제 근거처럼 설명한다.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Snowflake 언급 질문인데 문서 부재를 말하지 않는다.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온톨로지/RAG 등 다른 주제로 우회 답변한다.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214000"/>
            <a:ext cx="3060000" cy="19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52A4E"/>
                </a:solidFill>
                <a:latin typeface="Malgun Gothic"/>
              </a:rPr>
              <a:t>실서비스 정책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0000" y="2484000"/>
            <a:ext cx="3240000" cy="187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지원 근거 없음 감지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부분 근거가 있으면 범위 제한 설명</a:t>
            </a:r>
          </a:p>
          <a:p>
            <a:pPr>
              <a:spcAft>
                <a:spcPts val="400"/>
              </a:spcAft>
            </a:pPr>
            <a:r>
              <a:rPr sz="1140" b="0">
                <a:solidFill>
                  <a:srgbClr val="1E293B"/>
                </a:solidFill>
                <a:latin typeface="Malgun Gothic"/>
              </a:rPr>
              <a:t>• 근거 없는 일반지식 생성은 옵션화 또는 차단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1: ‘관련 없음’과 ‘부분 설명 가능’을 분리해야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잘못된 질문이 들어와도 시스템은 무조건 답하지 말고 근거 범위를 먼저 판단해야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4140000" cy="216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algun Gothic"/>
              </a:rPr>
              <a:t>평가/서비스 응답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3999" y="1458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질문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304000" y="1458000"/>
            <a:ext cx="396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응답 원칙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999" y="1458000"/>
            <a:ext cx="3744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점수/서비스 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3999" y="1738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전혀 없음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000" y="17388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관련 없음·근거 없음 명시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999" y="17388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정답 또는 안전 응답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999" y="2019599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질문 일부는 없음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04000" y="2019599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없는 부분은 제외하고 문서 내 근거만 설명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999" y="2019599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부분 정답 + 범위 제한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3999" y="2300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문서에 있음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04000" y="2300400"/>
            <a:ext cx="396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근거와 함께 설명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999" y="2300400"/>
            <a:ext cx="3744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정상 답변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3999" y="2581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일반 지식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581200"/>
            <a:ext cx="396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옵션으로 일반 지식/전문가 관점 분리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999" y="2581200"/>
            <a:ext cx="3744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고급 서비스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0000" y="4824000"/>
            <a:ext cx="900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algun Gothic"/>
              </a:rPr>
              <a:t>핵심은 거절이 아니라 근거 범위의 정직한 표시다.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2: 예상 답변도 편향될 수 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고객이 원하는 것은 문서 복원이 아니라, 문서 기반 답변과 전문가적 보정의 균형일 수 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80000"/>
            <a:ext cx="10440000" cy="43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Malgun Gothic"/>
              </a:rPr>
              <a:t>전문가는 때로 ‘우문현답’을 한다. RAG 서비스도 문서 기반 답변만 고집할지, 문서의 한계를 밝히고 보편적 통용 지식을 덧붙일지 옵션을 가져야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2000" y="1925999"/>
            <a:ext cx="8280000" cy="9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80000" y="2520000"/>
            <a:ext cx="187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1">
                <a:solidFill>
                  <a:srgbClr val="FFFFFF"/>
                </a:solidFill>
                <a:latin typeface="Malgun Gothic"/>
              </a:rPr>
              <a:t>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1999" y="252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답변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7272000" y="2520000"/>
            <a:ext cx="36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1">
                <a:solidFill>
                  <a:srgbClr val="FFFFFF"/>
                </a:solidFill>
                <a:latin typeface="Malgun Gothic"/>
              </a:rPr>
              <a:t>사용 장면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28008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Strict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51999" y="280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제공 문서에 있는 내용만 답변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72000" y="28008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시험/감사/컴플라이언스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3081600"/>
            <a:ext cx="187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Evidence + Caveat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1999" y="308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기반 답변 후 주관성·한계 표시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000" y="3081600"/>
            <a:ext cx="36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의사결정 보고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3362400"/>
            <a:ext cx="187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19" b="0">
                <a:solidFill>
                  <a:srgbClr val="1E293B"/>
                </a:solidFill>
                <a:latin typeface="Malgun Gothic"/>
              </a:rPr>
              <a:t>Expert Expansion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999" y="336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문서 근거와 일반 통용 지식 분리 제시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2000" y="3362400"/>
            <a:ext cx="36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19" b="0">
                <a:solidFill>
                  <a:srgbClr val="1E293B"/>
                </a:solidFill>
                <a:latin typeface="Malgun Gothic"/>
              </a:rPr>
              <a:t>컨설팅/고급 분석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3·4: 정확도는 답변만으로 판단하기 어렵다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여러 논문·여러 견해·여러 검색 후보가 있을수록 검색 품질과 생성 품질을 분리해서 봐야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A580C"/>
                </a:solidFill>
                <a:latin typeface="Malgun Gothic"/>
              </a:rPr>
              <a:t>평가 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정형화된 문제는 답이 하나처럼 보일 수 있다.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여러 논문에서 질문하면 견해 차이와 비슷한 비중의 후보가 동시에 검색된다.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이때 단일 예상 답변과 비교하는 방식은 정확도 평가에 한계가 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40000" y="1116000"/>
            <a:ext cx="3240000" cy="18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Malgun Gothic"/>
              </a:rPr>
              <a:t>분리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1386000"/>
            <a:ext cx="3780000" cy="230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검색이 올바른 문서/페이지/청크를 찾았는가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생성이 검색 근거를 충실히 반영했는가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E293B"/>
                </a:solidFill>
                <a:latin typeface="Malgun Gothic"/>
              </a:rPr>
              <a:t>• 근거 없는 일반화나 환각이 있었는가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608000"/>
            <a:ext cx="10440000" cy="360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52A4E"/>
                </a:solidFill>
                <a:latin typeface="Malgun Gothic"/>
              </a:rPr>
              <a:t>따라서 평가 결과에는 답변 점수뿐 아니라 문서명, 페이지, 청크 ID, 검색 점수, 사용 여부가 함께 남아야 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시사점 5·6: 하이브리드 검색은 관측 가능해야 개선된다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벡터DB, BM25, 온톨로지 검색의 기여를 분리하지 않으면 성능 향상 지점을 찾기 어렵다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1080000"/>
            <a:ext cx="180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1">
                <a:solidFill>
                  <a:srgbClr val="FFFFFF"/>
                </a:solidFill>
                <a:latin typeface="Malgun Gothic"/>
              </a:rPr>
              <a:t>필요 로그</a:t>
            </a:r>
          </a:p>
        </p:txBody>
      </p:sp>
      <p:sp>
        <p:nvSpPr>
          <p:cNvPr id="6" name="Rectangle 5"/>
          <p:cNvSpPr/>
          <p:nvPr/>
        </p:nvSpPr>
        <p:spPr>
          <a:xfrm>
            <a:off x="2268000" y="1080000"/>
            <a:ext cx="3708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왜 필요한가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976000" y="1080000"/>
            <a:ext cx="378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1">
                <a:solidFill>
                  <a:srgbClr val="FFFFFF"/>
                </a:solidFill>
                <a:latin typeface="Malgun Gothic"/>
              </a:rPr>
              <a:t>개선 포인트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000" y="13608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기술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8000" y="13608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어떤 엔진이 근거를 찾았는지 식별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6000" y="13608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벡터/BM25/온톨로지별 튜닝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8000" y="16416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검색 점수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8000" y="16416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threshold 문제와 노이즈 유입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76000" y="16416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유사도 임계값 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000" y="19224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문서·페이지·청크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000" y="19224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답변 근거의 재현성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76000" y="19224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근거 적합성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2203200"/>
            <a:ext cx="180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생성 사용 여부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8000" y="2203200"/>
            <a:ext cx="3708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검색됐지만 사용되지 않은 근거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76000" y="2203200"/>
            <a:ext cx="378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프롬프트/컨텍스트 구성 개선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000" y="2484000"/>
            <a:ext cx="180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880" b="0">
                <a:solidFill>
                  <a:srgbClr val="1E293B"/>
                </a:solidFill>
                <a:latin typeface="Malgun Gothic"/>
              </a:rPr>
              <a:t>엔진 선택 옵션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8000" y="2484000"/>
            <a:ext cx="3708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개별 성능과 조합 성능 분리 측정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6000" y="2484000"/>
            <a:ext cx="378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880" b="0">
                <a:solidFill>
                  <a:srgbClr val="1E293B"/>
                </a:solidFill>
                <a:latin typeface="Malgun Gothic"/>
              </a:rPr>
              <a:t>디버깅과 A/B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0000" y="5094000"/>
            <a:ext cx="9720000" cy="3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2563EB"/>
                </a:solidFill>
                <a:latin typeface="Malgun Gothic"/>
              </a:rPr>
              <a:t>이상적인 하이브리드 답변은 각 검색 기술의 개별 성능이 충분히 높을 때 만들어진다.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78000" y="198000"/>
            <a:ext cx="10800000" cy="378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52A4E"/>
                </a:solidFill>
                <a:latin typeface="Malgun Gothic"/>
              </a:rPr>
              <a:t>향후 평가 프레임워크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8800" y="525600"/>
            <a:ext cx="10620000" cy="22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algun Gothic"/>
              </a:rPr>
              <a:t>정답 보정, 근거 추적, 검색기술별 로그, 응답 모드 분리를 표준으로 가져가야 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000" y="737999"/>
            <a:ext cx="11160000" cy="108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3999" y="1080000"/>
            <a:ext cx="1512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1">
                <a:solidFill>
                  <a:srgbClr val="FFFFFF"/>
                </a:solidFill>
                <a:latin typeface="Malgun Gothic"/>
              </a:rPr>
              <a:t>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평가 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5999" y="1080000"/>
            <a:ext cx="4320000" cy="280800"/>
          </a:xfrm>
          <a:prstGeom prst="rect">
            <a:avLst/>
          </a:prstGeom>
          <a:solidFill>
            <a:srgbClr val="152A4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1">
                <a:solidFill>
                  <a:srgbClr val="FFFFFF"/>
                </a:solidFill>
                <a:latin typeface="Malgun Gothic"/>
              </a:rPr>
              <a:t>산출물</a:t>
            </a:r>
          </a:p>
        </p:txBody>
      </p:sp>
      <p:sp>
        <p:nvSpPr>
          <p:cNvPr id="8" name="Rectangle 7"/>
          <p:cNvSpPr/>
          <p:nvPr/>
        </p:nvSpPr>
        <p:spPr>
          <a:xfrm>
            <a:off x="503999" y="13608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1. 질문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 내/문서 외/부분 근거/일반 지식 필요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5999" y="13608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question_type, support_scope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3999" y="16416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2. 검색 평가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문서·페이지·청크 recall, 검색기술별 hit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5999" y="16416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retrieval_trace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999" y="19224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3. 생성 평가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근거 반영률, 환각, 범위 제한 표현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5999" y="19224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answer_score, hallucination_flag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3999" y="2203200"/>
            <a:ext cx="1512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4. 하이브리드 분석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벡터/BM25/온톨로지별 기여도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35999" y="2203200"/>
            <a:ext cx="4320000" cy="280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engine_contribution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484000"/>
            <a:ext cx="1512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l"/>
            <a:r>
              <a:rPr sz="900" b="0">
                <a:solidFill>
                  <a:srgbClr val="1E293B"/>
                </a:solidFill>
                <a:latin typeface="Malgun Gothic"/>
              </a:rPr>
              <a:t>5. 운영 개선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threshold, reranker, prompt, ontology mapping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5999" y="2484000"/>
            <a:ext cx="4320000" cy="2808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3200" rIns="43200" tIns="25200"/>
          <a:lstStyle/>
          <a:p>
            <a:pPr algn="ctr"/>
            <a:r>
              <a:rPr sz="900" b="0">
                <a:solidFill>
                  <a:srgbClr val="1E293B"/>
                </a:solidFill>
                <a:latin typeface="Malgun Gothic"/>
              </a:rPr>
              <a:t>improvement backlog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4464000"/>
            <a:ext cx="9720000" cy="1007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v1.2 재평가는 점수 보정이 아니라 평가 철학의 보정이다.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Malgun Gothic"/>
              </a:rPr>
              <a:t>• 서비스화 단계에서는 ‘정답을 말하는 능력’과 ‘모르면 모른다고 말하는 능력’을 같은 수준으로 평가해야 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48000" y="6642000"/>
            <a:ext cx="756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Malgun Gothic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8000" y="6642000"/>
            <a:ext cx="4320000" cy="125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Malgun Gothic"/>
              </a:rPr>
              <a:t>Codex evaluation report · v1.2 recalibration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