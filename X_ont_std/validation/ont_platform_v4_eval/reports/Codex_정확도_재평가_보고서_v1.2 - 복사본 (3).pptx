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기존 3팀 평가</c:v>
                </c:pt>
              </c:strCache>
            </c:strRef>
          </c:tx>
          <c:spPr>
            <a:solidFill>
              <a:srgbClr val="94A3B8"/>
            </a:solidFill>
          </c:spPr>
          <c:cat>
            <c:strRef>
              <c:f>Sheet1!$A$2:$A$4</c:f>
              <c:strCache>
                <c:ptCount val="3"/>
                <c:pt idx="0">
                  <c:v>Team0</c:v>
                </c:pt>
                <c:pt idx="1">
                  <c:v>Team1</c:v>
                </c:pt>
                <c:pt idx="2">
                  <c:v>Team2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58.54</c:v>
                </c:pt>
                <c:pt idx="1">
                  <c:v>69.17</c:v>
                </c:pt>
                <c:pt idx="2">
                  <c:v>64.17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v1.2 재평가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Sheet1!$A$2:$A$4</c:f>
              <c:strCache>
                <c:ptCount val="3"/>
                <c:pt idx="0">
                  <c:v>Team0</c:v>
                </c:pt>
                <c:pt idx="1">
                  <c:v>Team1</c:v>
                </c:pt>
                <c:pt idx="2">
                  <c:v>Team2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70.42</c:v>
                </c:pt>
                <c:pt idx="1">
                  <c:v>88.54</c:v>
                </c:pt>
                <c:pt idx="2">
                  <c:v>70.42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정확도 (%)</c:v>
                </c:pt>
              </c:strCache>
            </c:strRef>
          </c:tx>
          <c:dPt>
            <c:idx val="0"/>
            <c:spPr>
              <a:solidFill>
                <a:srgbClr val="F59E0B"/>
              </a:solidFill>
            </c:spPr>
          </c:dPt>
          <c:dPt>
            <c:idx val="1"/>
            <c:spPr>
              <a:solidFill>
                <a:srgbClr val="14B8A6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dPt>
            <c:idx val="3"/>
            <c:spPr>
              <a:solidFill>
                <a:srgbClr val="14B8A6"/>
              </a:solidFill>
            </c:spPr>
          </c:dPt>
          <c:cat>
            <c:strRef>
              <c:f>Sheet1!$A$2:$A$5</c:f>
              <c:strCache>
                <c:ptCount val="4"/>
                <c:pt idx="0">
                  <c:v>Team0</c:v>
                </c:pt>
                <c:pt idx="1">
                  <c:v>Team1</c:v>
                </c:pt>
                <c:pt idx="2">
                  <c:v>Team2</c:v>
                </c:pt>
                <c:pt idx="3">
                  <c:v>Team4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70.42</c:v>
                </c:pt>
                <c:pt idx="1">
                  <c:v>88.54</c:v>
                </c:pt>
                <c:pt idx="2">
                  <c:v>70.42</c:v>
                </c:pt>
                <c:pt idx="3">
                  <c:v>85.0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413999"/>
            <a:ext cx="1152000" cy="19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v1.2 재평가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4800" y="1134000"/>
            <a:ext cx="7560000" cy="93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52A4E"/>
                </a:solidFill>
                <a:latin typeface="Malgun Gothic"/>
              </a:rPr>
              <a:t>RAG·온톨로지
정확도 재평가 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9200" y="2286000"/>
            <a:ext cx="7740000" cy="28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Malgun Gothic"/>
              </a:rPr>
              <a:t>예상 답안 보정, 함정 질문 처리, 근거 기반 평가 방식 보완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9200" y="2898000"/>
            <a:ext cx="4680000" cy="9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0000" y="3401999"/>
            <a:ext cx="1512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Malgun Gothic"/>
              </a:rPr>
              <a:t>Team1 점수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000" y="3527999"/>
            <a:ext cx="1584000" cy="31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2563EB"/>
                </a:solidFill>
                <a:latin typeface="Malgun Gothic"/>
              </a:rPr>
              <a:t>88.54%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" y="3851999"/>
            <a:ext cx="1764000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Malgun Gothic"/>
              </a:rPr>
              <a:t>표면 점수 / 보정 76.04%</a:t>
            </a:r>
          </a:p>
        </p:txBody>
      </p:sp>
      <p:sp>
        <p:nvSpPr>
          <p:cNvPr id="9" name="Rectangle 8"/>
          <p:cNvSpPr/>
          <p:nvPr/>
        </p:nvSpPr>
        <p:spPr>
          <a:xfrm>
            <a:off x="450000" y="4103999"/>
            <a:ext cx="1692000" cy="9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20000" y="3401999"/>
            <a:ext cx="1512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Malgun Gothic"/>
              </a:rPr>
              <a:t>Team4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0000" y="3527999"/>
            <a:ext cx="1584000" cy="31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4B8A6"/>
                </a:solidFill>
                <a:latin typeface="Malgun Gothic"/>
              </a:rPr>
              <a:t>85.0%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0000" y="3851999"/>
            <a:ext cx="1764000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Malgun Gothic"/>
              </a:rPr>
              <a:t>신규 비교 대상 포함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20000" y="4103999"/>
            <a:ext cx="1692000" cy="9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000" y="3401999"/>
            <a:ext cx="1512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Malgun Gothic"/>
              </a:rPr>
              <a:t>평가 평균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000" y="3527999"/>
            <a:ext cx="1584000" cy="31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78.59%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000" y="3851999"/>
            <a:ext cx="1764000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Malgun Gothic"/>
              </a:rPr>
              <a:t>v1.2 기준 재산정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90000" y="4103999"/>
            <a:ext cx="1692000" cy="9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8000" y="756000"/>
            <a:ext cx="3096000" cy="3600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algun Gothic"/>
              </a:rPr>
              <a:t>보정 전 평가는 시스템 간 단순 정확도 비교였다.
보정 후 평가는 ‘근거가 없는 질문을 거절할 수 있는가’, ‘잘못된 출처를 차단할 수 있는가’, ‘검색 근거를 설명할 수 있는가’를 함께 보는 평가로 바뀌었다.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000" y="6263999"/>
            <a:ext cx="5760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Malgun Gothic"/>
              </a:rPr>
              <a:t>Source: 3팀_정확도_비교.xlsx → 4팀_정확도_비교_STD-S정답수정_v1.2_재평가_final.xlsx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평가 체계가 바뀌었다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정답 보정과 함정 문항 처리로 단순 점수 비교에서 서비스 품질 평가로 이동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080000"/>
            <a:ext cx="1512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50" b="1">
                <a:solidFill>
                  <a:srgbClr val="FFFFFF"/>
                </a:solidFill>
                <a:latin typeface="Malgun Gothic"/>
              </a:rPr>
              <a:t>구분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4000" y="1080000"/>
            <a:ext cx="4428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기존 3팀 평가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6372000" y="1080000"/>
            <a:ext cx="4428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v1.2 재평가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360800"/>
            <a:ext cx="151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50" b="0">
                <a:solidFill>
                  <a:srgbClr val="1E293B"/>
                </a:solidFill>
                <a:latin typeface="Malgun Gothic"/>
              </a:rPr>
              <a:t>입력</a:t>
            </a:r>
          </a:p>
        </p:txBody>
      </p:sp>
      <p:sp>
        <p:nvSpPr>
          <p:cNvPr id="9" name="Rectangle 8"/>
          <p:cNvSpPr/>
          <p:nvPr/>
        </p:nvSpPr>
        <p:spPr>
          <a:xfrm>
            <a:off x="1944000" y="1360800"/>
            <a:ext cx="442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3팀_정확도_비교.xlsx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2000" y="1360800"/>
            <a:ext cx="442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4팀 평가 결과 + v1.2 정답지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1641600"/>
            <a:ext cx="151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50" b="0">
                <a:solidFill>
                  <a:srgbClr val="1E293B"/>
                </a:solidFill>
                <a:latin typeface="Malgun Gothic"/>
              </a:rPr>
              <a:t>정답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44000" y="1641600"/>
            <a:ext cx="442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초기 예상 답변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2000" y="1641600"/>
            <a:ext cx="442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예상 답변·근거·핵심포함어 보정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1922400"/>
            <a:ext cx="151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50" b="0">
                <a:solidFill>
                  <a:srgbClr val="1E293B"/>
                </a:solidFill>
                <a:latin typeface="Malgun Gothic"/>
              </a:rPr>
              <a:t>STD-S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44000" y="1922400"/>
            <a:ext cx="442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Snowflake RAG 문항으로 채점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72000" y="1922400"/>
            <a:ext cx="442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문서에 없는 함정 질문으로 처리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2203200"/>
            <a:ext cx="151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50" b="0">
                <a:solidFill>
                  <a:srgbClr val="1E293B"/>
                </a:solidFill>
                <a:latin typeface="Malgun Gothic"/>
              </a:rPr>
              <a:t>평가 의미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44000" y="2203200"/>
            <a:ext cx="442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답변 유사도 중심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72000" y="2203200"/>
            <a:ext cx="442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근거 부재 감지 + 답변 정확도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540000" y="3006000"/>
          <a:ext cx="5400000" cy="2628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552000" y="3096000"/>
            <a:ext cx="4320000" cy="205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기존 Team0~2 답변 원문은 보존하고, v1.2 기준으로 점수만 재산정했다.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Team4는 ont_platform v4 답변을 추가해 동일 기준으로 비교했다.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정답 자체의 편향과 질문 유도 오류를 보정하면서 평가 목표가 더 현실적인 서비스 검증으로 바뀌었다.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표면 순위는 Team1, Team4, Team0, Team2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단, Team1은 wrong-source 반영 시 88.54%에서 76.04%로 보수 보정된다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68000" y="1080000"/>
          <a:ext cx="6120000" cy="38519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6840000" y="1080000"/>
            <a:ext cx="936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40" b="1">
                <a:solidFill>
                  <a:srgbClr val="FFFFFF"/>
                </a:solidFill>
                <a:latin typeface="Malgun Gothic"/>
              </a:rPr>
              <a:t>팀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6000" y="1080000"/>
            <a:ext cx="972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1">
                <a:solidFill>
                  <a:srgbClr val="FFFFFF"/>
                </a:solidFill>
                <a:latin typeface="Malgun Gothic"/>
              </a:rPr>
              <a:t>최종 정확도</a:t>
            </a:r>
          </a:p>
        </p:txBody>
      </p:sp>
      <p:sp>
        <p:nvSpPr>
          <p:cNvPr id="8" name="Rectangle 7"/>
          <p:cNvSpPr/>
          <p:nvPr/>
        </p:nvSpPr>
        <p:spPr>
          <a:xfrm>
            <a:off x="8748000" y="1080000"/>
            <a:ext cx="28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1">
                <a:solidFill>
                  <a:srgbClr val="FFFFFF"/>
                </a:solidFill>
                <a:latin typeface="Malgun Gothic"/>
              </a:rPr>
              <a:t>해석</a:t>
            </a:r>
          </a:p>
        </p:txBody>
      </p:sp>
      <p:sp>
        <p:nvSpPr>
          <p:cNvPr id="9" name="Rectangle 8"/>
          <p:cNvSpPr/>
          <p:nvPr/>
        </p:nvSpPr>
        <p:spPr>
          <a:xfrm>
            <a:off x="6840000" y="1360800"/>
            <a:ext cx="936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40" b="0">
                <a:solidFill>
                  <a:srgbClr val="1E293B"/>
                </a:solidFill>
                <a:latin typeface="Malgun Gothic"/>
              </a:rPr>
              <a:t>Team1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6000" y="1360800"/>
            <a:ext cx="97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88.54% / 보정 76.04%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48000" y="1360800"/>
            <a:ext cx="28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RAG 하이브리드 효과가 보이나, STD-S wrong-source 만점 처리로 과대 산정 가능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40000" y="1641600"/>
            <a:ext cx="93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40" b="0">
                <a:solidFill>
                  <a:srgbClr val="1E293B"/>
                </a:solidFill>
                <a:latin typeface="Malgun Gothic"/>
              </a:rPr>
              <a:t>Team4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6000" y="1641600"/>
            <a:ext cx="97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85.00%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48000" y="1641600"/>
            <a:ext cx="28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ont_platform v4 기준, 함정 질문 거절 능력이 Snowflake 문항에서 강점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40000" y="1922400"/>
            <a:ext cx="936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40" b="0">
                <a:solidFill>
                  <a:srgbClr val="1E293B"/>
                </a:solidFill>
                <a:latin typeface="Malgun Gothic"/>
              </a:rPr>
              <a:t>Team0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6000" y="1922400"/>
            <a:ext cx="97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70.42%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48000" y="1922400"/>
            <a:ext cx="28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순수 RAG로 기준선 역할. 보정 후 도입 고려 수준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40000" y="2203200"/>
            <a:ext cx="93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40" b="0">
                <a:solidFill>
                  <a:srgbClr val="1E293B"/>
                </a:solidFill>
                <a:latin typeface="Malgun Gothic"/>
              </a:rPr>
              <a:t>Team2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6000" y="2203200"/>
            <a:ext cx="97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70.42%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48000" y="2203200"/>
            <a:ext cx="28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Advanced RAG 문항은 강하지만 관련 없는 질문 차단이 약함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카테고리별 강점은 다르게 나타났다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Advanced RAG는 Team2, Ontology와 Snowflake 함정 대응은 Team1·Team4가 상대적으로 강하다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3999" y="1080000"/>
            <a:ext cx="1476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1">
                <a:solidFill>
                  <a:srgbClr val="64748B"/>
                </a:solidFill>
                <a:latin typeface="Malgun Gothic"/>
              </a:rPr>
              <a:t>카테고리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5999" y="1080000"/>
            <a:ext cx="1116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80" b="1">
                <a:solidFill>
                  <a:srgbClr val="64748B"/>
                </a:solidFill>
                <a:latin typeface="Malgun Gothic"/>
              </a:rPr>
              <a:t>Team0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68000" y="1080000"/>
            <a:ext cx="1116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80" b="1">
                <a:solidFill>
                  <a:srgbClr val="64748B"/>
                </a:solidFill>
                <a:latin typeface="Malgun Gothic"/>
              </a:rPr>
              <a:t>Team1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0" y="1080000"/>
            <a:ext cx="1116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80" b="1">
                <a:solidFill>
                  <a:srgbClr val="64748B"/>
                </a:solidFill>
                <a:latin typeface="Malgun Gothic"/>
              </a:rPr>
              <a:t>Team2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72000" y="1080000"/>
            <a:ext cx="1116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80" b="1">
                <a:solidFill>
                  <a:srgbClr val="64748B"/>
                </a:solidFill>
                <a:latin typeface="Malgun Gothic"/>
              </a:rPr>
              <a:t>Team4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3999" y="1432799"/>
            <a:ext cx="1440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1">
                <a:solidFill>
                  <a:srgbClr val="1E293B"/>
                </a:solidFill>
                <a:latin typeface="Malgun Gothic"/>
              </a:rPr>
              <a:t>Advanced RAG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5999" y="1339200"/>
            <a:ext cx="1062000" cy="2952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88.75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68000" y="1339200"/>
            <a:ext cx="1062000" cy="295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91.25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0" y="1339200"/>
            <a:ext cx="1062000" cy="295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93.75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72000" y="1339200"/>
            <a:ext cx="1062000" cy="295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90.00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999" y="1821599"/>
            <a:ext cx="1440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1">
                <a:solidFill>
                  <a:srgbClr val="1E293B"/>
                </a:solidFill>
                <a:latin typeface="Malgun Gothic"/>
              </a:rPr>
              <a:t>Ontology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5999" y="1728000"/>
            <a:ext cx="1062000" cy="2952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69.38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68000" y="1728000"/>
            <a:ext cx="1062000" cy="2952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83.75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0000" y="1728000"/>
            <a:ext cx="1062000" cy="295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71.88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72000" y="1728000"/>
            <a:ext cx="1062000" cy="295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74.38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999" y="2210400"/>
            <a:ext cx="1440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1">
                <a:solidFill>
                  <a:srgbClr val="1E293B"/>
                </a:solidFill>
                <a:latin typeface="Malgun Gothic"/>
              </a:rPr>
              <a:t>Snowflake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5999" y="2116800"/>
            <a:ext cx="1062000" cy="2952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53.12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68000" y="2116800"/>
            <a:ext cx="1062000" cy="295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90.62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0000" y="2116800"/>
            <a:ext cx="1062000" cy="2952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45.62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72000" y="2116800"/>
            <a:ext cx="1062000" cy="295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90.62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3999" y="2808000"/>
            <a:ext cx="5328000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Malgun Gothic"/>
              </a:rPr>
              <a:t>카테고리 평균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3999" y="3078000"/>
            <a:ext cx="1548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19" b="1">
                <a:solidFill>
                  <a:srgbClr val="FFFFFF"/>
                </a:solidFill>
                <a:latin typeface="Malgun Gothic"/>
              </a:rPr>
              <a:t>카테고리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51999" y="3078000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1">
                <a:solidFill>
                  <a:srgbClr val="FFFFFF"/>
                </a:solidFill>
                <a:latin typeface="Malgun Gothic"/>
              </a:rPr>
              <a:t>Team0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31999" y="3078000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1">
                <a:solidFill>
                  <a:srgbClr val="FFFFFF"/>
                </a:solidFill>
                <a:latin typeface="Malgun Gothic"/>
              </a:rPr>
              <a:t>Team1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12000" y="3078000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1">
                <a:solidFill>
                  <a:srgbClr val="FFFFFF"/>
                </a:solidFill>
                <a:latin typeface="Malgun Gothic"/>
              </a:rPr>
              <a:t>Team2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92000" y="3078000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1">
                <a:solidFill>
                  <a:srgbClr val="FFFFFF"/>
                </a:solidFill>
                <a:latin typeface="Malgun Gothic"/>
              </a:rPr>
              <a:t>Team4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72000" y="3078000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1">
                <a:solidFill>
                  <a:srgbClr val="FFFFFF"/>
                </a:solidFill>
                <a:latin typeface="Malgun Gothic"/>
              </a:rPr>
              <a:t>평균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3999" y="3358800"/>
            <a:ext cx="154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19" b="0">
                <a:solidFill>
                  <a:srgbClr val="1E293B"/>
                </a:solidFill>
                <a:latin typeface="Malgun Gothic"/>
              </a:rPr>
              <a:t>Advanced RAG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51999" y="33588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88.75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31999" y="33588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91.25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12000" y="33588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93.75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92000" y="33588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90.00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72000" y="33588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90.94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3999" y="3639600"/>
            <a:ext cx="154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19" b="0">
                <a:solidFill>
                  <a:srgbClr val="1E293B"/>
                </a:solidFill>
                <a:latin typeface="Malgun Gothic"/>
              </a:rPr>
              <a:t>Ontology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51999" y="3639600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69.38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31999" y="3639600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83.75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12000" y="3639600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71.88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0" y="3639600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74.38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72000" y="3639600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74.85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3999" y="3920400"/>
            <a:ext cx="154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19" b="0">
                <a:solidFill>
                  <a:srgbClr val="1E293B"/>
                </a:solidFill>
                <a:latin typeface="Malgun Gothic"/>
              </a:rPr>
              <a:t>Snowflake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51999" y="39204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53.12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31999" y="39204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90.62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12000" y="39204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45.62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92000" y="39204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90.62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72000" y="39204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70.00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80000" y="1152000"/>
            <a:ext cx="3600000" cy="28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20" b="0">
                <a:solidFill>
                  <a:srgbClr val="1E293B"/>
                </a:solidFill>
                <a:latin typeface="Malgun Gothic"/>
              </a:rPr>
              <a:t>• Team2는 Advanced RAG 특화 질문에서 93.75%로 가장 강했다.</a:t>
            </a:r>
          </a:p>
          <a:p>
            <a:pPr>
              <a:spcAft>
                <a:spcPts val="400"/>
              </a:spcAft>
            </a:pPr>
            <a:r>
              <a:rPr sz="1220" b="0">
                <a:solidFill>
                  <a:srgbClr val="1E293B"/>
                </a:solidFill>
                <a:latin typeface="Malgun Gothic"/>
              </a:rPr>
              <a:t>• Team1은 전 영역에서 균형적으로 높고, Snowflake 함정 질문 차단도 우수했다.</a:t>
            </a:r>
          </a:p>
          <a:p>
            <a:pPr>
              <a:spcAft>
                <a:spcPts val="400"/>
              </a:spcAft>
            </a:pPr>
            <a:r>
              <a:rPr sz="1220" b="0">
                <a:solidFill>
                  <a:srgbClr val="1E293B"/>
                </a:solidFill>
                <a:latin typeface="Malgun Gothic"/>
              </a:rPr>
              <a:t>• Team4는 Snowflake 함정 문항에서 90.62%로 강하지만 Ontology 문항은 추가 개선 여지가 있다.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팀별 해석은 ‘기술명’보다 실제 동작 기준으로 봐야 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평가 명칭, 구현 실제, 출처 차단 여부가 모두 다르므로 점수만으로 결론을 내리면 위험하다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080000"/>
            <a:ext cx="936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60" b="1">
                <a:solidFill>
                  <a:srgbClr val="FFFFFF"/>
                </a:solidFill>
                <a:latin typeface="Malgun Gothic"/>
              </a:rPr>
              <a:t>팀</a:t>
            </a:r>
          </a:p>
        </p:txBody>
      </p:sp>
      <p:sp>
        <p:nvSpPr>
          <p:cNvPr id="6" name="Rectangle 5"/>
          <p:cNvSpPr/>
          <p:nvPr/>
        </p:nvSpPr>
        <p:spPr>
          <a:xfrm>
            <a:off x="1368000" y="1080000"/>
            <a:ext cx="252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1">
                <a:solidFill>
                  <a:srgbClr val="FFFFFF"/>
                </a:solidFill>
                <a:latin typeface="Malgun Gothic"/>
              </a:rPr>
              <a:t>설계/구현 성격</a:t>
            </a:r>
          </a:p>
        </p:txBody>
      </p:sp>
      <p:sp>
        <p:nvSpPr>
          <p:cNvPr id="7" name="Rectangle 6"/>
          <p:cNvSpPr/>
          <p:nvPr/>
        </p:nvSpPr>
        <p:spPr>
          <a:xfrm>
            <a:off x="3887999" y="1080000"/>
            <a:ext cx="2664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1">
                <a:solidFill>
                  <a:srgbClr val="FFFFFF"/>
                </a:solidFill>
                <a:latin typeface="Malgun Gothic"/>
              </a:rPr>
              <a:t>강점</a:t>
            </a:r>
          </a:p>
        </p:txBody>
      </p:sp>
      <p:sp>
        <p:nvSpPr>
          <p:cNvPr id="8" name="Rectangle 7"/>
          <p:cNvSpPr/>
          <p:nvPr/>
        </p:nvSpPr>
        <p:spPr>
          <a:xfrm>
            <a:off x="6552000" y="1080000"/>
            <a:ext cx="4104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1">
                <a:solidFill>
                  <a:srgbClr val="FFFFFF"/>
                </a:solidFill>
                <a:latin typeface="Malgun Gothic"/>
              </a:rPr>
              <a:t>한계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1360800"/>
            <a:ext cx="936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60" b="0">
                <a:solidFill>
                  <a:srgbClr val="1E293B"/>
                </a:solidFill>
                <a:latin typeface="Malgun Gothic"/>
              </a:rPr>
              <a:t>Team0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68000" y="1360800"/>
            <a:ext cx="25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순수 RAG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87999" y="1360800"/>
            <a:ext cx="2664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기본 검색·생성 기준선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52000" y="1360800"/>
            <a:ext cx="4104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관련 없음 감지와 정교한 근거 통제 한계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1641600"/>
            <a:ext cx="93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60" b="0">
                <a:solidFill>
                  <a:srgbClr val="1E293B"/>
                </a:solidFill>
                <a:latin typeface="Malgun Gothic"/>
              </a:rPr>
              <a:t>Team1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68000" y="1641600"/>
            <a:ext cx="25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온톨로지 취지 + RAG 하이브리드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7999" y="1641600"/>
            <a:ext cx="266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전체 점수는 1위, 균형형 성능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52000" y="1641600"/>
            <a:ext cx="410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HNIX 중간점검 PPT 등 잘못된 출처를 근거로 사용해 점수 과대 가능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1922400"/>
            <a:ext cx="936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60" b="0">
                <a:solidFill>
                  <a:srgbClr val="1E293B"/>
                </a:solidFill>
                <a:latin typeface="Malgun Gothic"/>
              </a:rPr>
              <a:t>Team2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68000" y="1922400"/>
            <a:ext cx="25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Advanced RAG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7999" y="1922400"/>
            <a:ext cx="2664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Advanced RAG 문항 최상위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2000" y="1922400"/>
            <a:ext cx="4104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STD-S에서 다른 문서/일반론 출력. threshold 또는 환각 가능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" y="2203200"/>
            <a:ext cx="93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60" b="0">
                <a:solidFill>
                  <a:srgbClr val="1E293B"/>
                </a:solidFill>
                <a:latin typeface="Malgun Gothic"/>
              </a:rPr>
              <a:t>Team4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68000" y="2203200"/>
            <a:ext cx="25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ont_platform v4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7999" y="2203200"/>
            <a:ext cx="266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함정 질문 대응 강함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2000" y="2203200"/>
            <a:ext cx="410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Ontology 문항의 개념·관계 설명 보강 필요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3999" y="4752000"/>
            <a:ext cx="10440000" cy="39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152A4E"/>
                </a:solidFill>
                <a:latin typeface="Malgun Gothic"/>
              </a:rPr>
              <a:t>진짜 비교 포인트는 ‘어떤 시스템이 평균 점수가 높은가’보다 ‘어떤 질문 유형에서 어떤 검색 기술이 실패했는가’다.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STD-S 문항은 Snowflake 성능 문제가 아니라 함정 질문 처리 문제였다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논문에 Snowflake 구현 내용이 없으므로, 정답은 관련 없음/문서 근거 없음의 명시다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1080000"/>
            <a:ext cx="10260000" cy="30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algun Gothic"/>
              </a:rPr>
              <a:t>STD-S01 질문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6000" y="1350000"/>
            <a:ext cx="10728000" cy="413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E293B"/>
                </a:solidFill>
                <a:latin typeface="Malgun Gothic"/>
              </a:rPr>
              <a:t>Snowflake 기반 RAG 평가에서 문서 저장소와 근거 페이지를 왜 함께 관리해야 하는가?</a:t>
            </a:r>
          </a:p>
        </p:txBody>
      </p:sp>
      <p:sp>
        <p:nvSpPr>
          <p:cNvPr id="7" name="Rectangle 6"/>
          <p:cNvSpPr/>
          <p:nvPr/>
        </p:nvSpPr>
        <p:spPr>
          <a:xfrm>
            <a:off x="486000" y="1962000"/>
            <a:ext cx="10800000" cy="9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2214000"/>
            <a:ext cx="3060000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Malgun Gothic"/>
              </a:rPr>
              <a:t>만점 답변의 핵심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3999" y="2484000"/>
            <a:ext cx="3240000" cy="187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Snowflake RAG의 구체 구현은 제공 문서에 없다.</a:t>
            </a:r>
          </a:p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따라서 관련 없음 또는 문서 근거 없음이라고 명시한다.</a:t>
            </a:r>
          </a:p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부가 설명이 없어도 100점, 일반적 RAG 관점 설명을 덧붙여도 100점이다.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92000" y="2214000"/>
            <a:ext cx="3060000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580C"/>
                </a:solidFill>
                <a:latin typeface="Malgun Gothic"/>
              </a:rPr>
              <a:t>감점되는 답변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2000" y="2484000"/>
            <a:ext cx="3240000" cy="187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관련 없음 표현 없이 Snowflake 기능을 실제 근거처럼 설명한다.</a:t>
            </a:r>
          </a:p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Snowflake 언급 질문인데 문서 부재를 말하지 않는다.</a:t>
            </a:r>
          </a:p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온톨로지/RAG 등 다른 주제로 우회 답변한다.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0000" y="2214000"/>
            <a:ext cx="3060000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52A4E"/>
                </a:solidFill>
                <a:latin typeface="Malgun Gothic"/>
              </a:rPr>
              <a:t>실서비스 정책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0000" y="2484000"/>
            <a:ext cx="3240000" cy="187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지원 근거 없음 감지</a:t>
            </a:r>
          </a:p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부분 근거가 있으면 범위 제한 설명</a:t>
            </a:r>
          </a:p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근거 없는 일반지식 생성은 옵션화 또는 차단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추가 발견: wrong-source leakage가 있었다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STD-S 함정 질문에서 ‘관련 없음’만 보는 평가는 부족하다. 잘못된 출처를 끌어온 답변도 감점해야 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1080000"/>
            <a:ext cx="10260000" cy="251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algun Gothic"/>
              </a:rPr>
              <a:t>관찰된 현상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1475999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40" b="1">
                <a:solidFill>
                  <a:srgbClr val="FFFFFF"/>
                </a:solidFill>
                <a:latin typeface="Malgun Gothic"/>
              </a:rPr>
              <a:t>대상</a:t>
            </a:r>
          </a:p>
        </p:txBody>
      </p:sp>
      <p:sp>
        <p:nvSpPr>
          <p:cNvPr id="7" name="Rectangle 6"/>
          <p:cNvSpPr/>
          <p:nvPr/>
        </p:nvSpPr>
        <p:spPr>
          <a:xfrm>
            <a:off x="1565999" y="1475999"/>
            <a:ext cx="540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1">
                <a:solidFill>
                  <a:srgbClr val="FFFFFF"/>
                </a:solidFill>
                <a:latin typeface="Malgun Gothic"/>
              </a:rPr>
              <a:t>관찰</a:t>
            </a:r>
          </a:p>
        </p:txBody>
      </p:sp>
      <p:sp>
        <p:nvSpPr>
          <p:cNvPr id="8" name="Rectangle 7"/>
          <p:cNvSpPr/>
          <p:nvPr/>
        </p:nvSpPr>
        <p:spPr>
          <a:xfrm>
            <a:off x="6966000" y="1475999"/>
            <a:ext cx="37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1">
                <a:solidFill>
                  <a:srgbClr val="FFFFFF"/>
                </a:solidFill>
                <a:latin typeface="Malgun Gothic"/>
              </a:rPr>
              <a:t>평가상 의미</a:t>
            </a:r>
          </a:p>
        </p:txBody>
      </p:sp>
      <p:sp>
        <p:nvSpPr>
          <p:cNvPr id="9" name="Rectangle 8"/>
          <p:cNvSpPr/>
          <p:nvPr/>
        </p:nvSpPr>
        <p:spPr>
          <a:xfrm>
            <a:off x="486000" y="17568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40" b="0">
                <a:solidFill>
                  <a:srgbClr val="1E293B"/>
                </a:solidFill>
                <a:latin typeface="Malgun Gothic"/>
              </a:rPr>
              <a:t>Team1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65999" y="1756800"/>
            <a:ext cx="54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Snowflake 직접 근거는 없다고 말한 뒤 HNIX AI Labs 2기 중간점검-v1.2.pptx 내용을 근거처럼 사용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66000" y="1756800"/>
            <a:ext cx="37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관련 없음 표현만으로 만점 처리하면 점수 과대 산정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6000" y="2037600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40" b="0">
                <a:solidFill>
                  <a:srgbClr val="1E293B"/>
                </a:solidFill>
                <a:latin typeface="Malgun Gothic"/>
              </a:rPr>
              <a:t>Team2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65999" y="2037600"/>
            <a:ext cx="54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STD-S-01~08 일부에서 다른 논문/일반론/RDF/온톨로지 내용을 Snowflake 답변처럼 출력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66000" y="2037600"/>
            <a:ext cx="37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문서 범위 차단 실패 또는 환각 가능성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6000" y="23184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40" b="0">
                <a:solidFill>
                  <a:srgbClr val="1E293B"/>
                </a:solidFill>
                <a:latin typeface="Malgun Gothic"/>
              </a:rPr>
              <a:t>평가자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65999" y="2318400"/>
            <a:ext cx="54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wrong-source가 포함되어도 관련 없음 문구가 있으면 100점을 부여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66000" y="2318400"/>
            <a:ext cx="37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judge/evaluator도 출처 검증 로직이 필요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000" y="3780000"/>
            <a:ext cx="9720000" cy="360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DC2626"/>
                </a:solidFill>
                <a:latin typeface="Malgun Gothic"/>
              </a:rPr>
              <a:t>함정 질문의 만점 조건은 ‘관련 없음 명시’뿐 아니라 ‘허용된 평가 문서 밖의 근거를 사용하지 않음’까지 포함해야 한다.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0000" y="4464000"/>
            <a:ext cx="9180000" cy="126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40" b="0">
                <a:solidFill>
                  <a:srgbClr val="1E293B"/>
                </a:solidFill>
                <a:latin typeface="Malgun Gothic"/>
              </a:rPr>
              <a:t>• 출처 문서 whitelist를 두고, 검색·생성·평가 단계에서 모두 검증한다.</a:t>
            </a:r>
          </a:p>
          <a:p>
            <a:pPr>
              <a:spcAft>
                <a:spcPts val="400"/>
              </a:spcAft>
            </a:pPr>
            <a:r>
              <a:rPr sz="1240" b="0">
                <a:solidFill>
                  <a:srgbClr val="1E293B"/>
                </a:solidFill>
                <a:latin typeface="Malgun Gothic"/>
              </a:rPr>
              <a:t>• 답변이 문서 부재를 말하더라도 잘못된 문서 내용을 근거로 확장하면 감점한다.</a:t>
            </a:r>
          </a:p>
          <a:p>
            <a:pPr>
              <a:spcAft>
                <a:spcPts val="400"/>
              </a:spcAft>
            </a:pPr>
            <a:r>
              <a:rPr sz="1240" b="0">
                <a:solidFill>
                  <a:srgbClr val="1E293B"/>
                </a:solidFill>
                <a:latin typeface="Malgun Gothic"/>
              </a:rPr>
              <a:t>• Team1은 STD-S wrong-source 7개 문항을 100→60으로 보수 감점하면 88.54%에서 76.04%로 보정된다.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시사점 1: ‘관련 없음’과 ‘부분 설명 가능’을 분리해야 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잘못된 질문이 들어와도 시스템은 무조건 답하지 말고 근거 범위를 먼저 판단해야 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3999" y="1116000"/>
            <a:ext cx="4140000" cy="21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Malgun Gothic"/>
              </a:rPr>
              <a:t>평가/서비스 응답 정책</a:t>
            </a:r>
          </a:p>
        </p:txBody>
      </p:sp>
      <p:sp>
        <p:nvSpPr>
          <p:cNvPr id="6" name="Rectangle 5"/>
          <p:cNvSpPr/>
          <p:nvPr/>
        </p:nvSpPr>
        <p:spPr>
          <a:xfrm>
            <a:off x="503999" y="1458000"/>
            <a:ext cx="180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1">
                <a:solidFill>
                  <a:srgbClr val="FFFFFF"/>
                </a:solidFill>
                <a:latin typeface="Malgun Gothic"/>
              </a:rPr>
              <a:t>질문 상태</a:t>
            </a:r>
          </a:p>
        </p:txBody>
      </p:sp>
      <p:sp>
        <p:nvSpPr>
          <p:cNvPr id="7" name="Rectangle 6"/>
          <p:cNvSpPr/>
          <p:nvPr/>
        </p:nvSpPr>
        <p:spPr>
          <a:xfrm>
            <a:off x="2304000" y="1458000"/>
            <a:ext cx="396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응답 원칙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999" y="1458000"/>
            <a:ext cx="3744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점수/서비스 의미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3999" y="1738800"/>
            <a:ext cx="18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문서에 전혀 없음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04000" y="1738800"/>
            <a:ext cx="396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관련 없음·근거 없음 명시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999" y="1738800"/>
            <a:ext cx="3744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정답 또는 안전 응답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3999" y="2019599"/>
            <a:ext cx="18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질문 일부는 없음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04000" y="2019599"/>
            <a:ext cx="396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없는 부분은 제외하고 문서 내 근거만 설명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999" y="2019599"/>
            <a:ext cx="374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부분 정답 + 범위 제한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3999" y="2300400"/>
            <a:ext cx="18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문서에 있음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04000" y="2300400"/>
            <a:ext cx="396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문서·페이지·청크 근거와 함께 설명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999" y="2300400"/>
            <a:ext cx="3744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정상 답변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3999" y="2581200"/>
            <a:ext cx="18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일반 지식 필요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04000" y="2581200"/>
            <a:ext cx="396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옵션으로 일반 지식/전문가 관점 분리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999" y="2581200"/>
            <a:ext cx="374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고급 서비스 모드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0000" y="4824000"/>
            <a:ext cx="9000000" cy="360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Malgun Gothic"/>
              </a:rPr>
              <a:t>핵심은 거절이 아니라 근거 범위의 정직한 표시다.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시사점 2: 예상 답변도 편향될 수 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고객이 원하는 것은 문서 복원이 아니라, 문서 기반 답변과 전문가적 보정의 균형일 수 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3999" y="1080000"/>
            <a:ext cx="10440000" cy="43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E293B"/>
                </a:solidFill>
                <a:latin typeface="Malgun Gothic"/>
              </a:rPr>
              <a:t>전문가는 때로 ‘우문현답’을 한다. RAG 서비스도 문서 기반 답변만 고집할지, 문서의 한계를 밝히고 보편적 통용 지식을 덧붙일지 옵션을 가져야 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1872000" y="1925999"/>
            <a:ext cx="8280000" cy="9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0000" y="2520000"/>
            <a:ext cx="1872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19" b="1">
                <a:solidFill>
                  <a:srgbClr val="FFFFFF"/>
                </a:solidFill>
                <a:latin typeface="Malgun Gothic"/>
              </a:rPr>
              <a:t>모드</a:t>
            </a:r>
          </a:p>
        </p:txBody>
      </p:sp>
      <p:sp>
        <p:nvSpPr>
          <p:cNvPr id="8" name="Rectangle 7"/>
          <p:cNvSpPr/>
          <p:nvPr/>
        </p:nvSpPr>
        <p:spPr>
          <a:xfrm>
            <a:off x="2951999" y="2520000"/>
            <a:ext cx="432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19" b="1">
                <a:solidFill>
                  <a:srgbClr val="FFFFFF"/>
                </a:solidFill>
                <a:latin typeface="Malgun Gothic"/>
              </a:rPr>
              <a:t>답변 방식</a:t>
            </a:r>
          </a:p>
        </p:txBody>
      </p:sp>
      <p:sp>
        <p:nvSpPr>
          <p:cNvPr id="9" name="Rectangle 8"/>
          <p:cNvSpPr/>
          <p:nvPr/>
        </p:nvSpPr>
        <p:spPr>
          <a:xfrm>
            <a:off x="7272000" y="2520000"/>
            <a:ext cx="360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19" b="1">
                <a:solidFill>
                  <a:srgbClr val="FFFFFF"/>
                </a:solidFill>
                <a:latin typeface="Malgun Gothic"/>
              </a:rPr>
              <a:t>사용 장면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0000" y="2800800"/>
            <a:ext cx="187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19" b="0">
                <a:solidFill>
                  <a:srgbClr val="1E293B"/>
                </a:solidFill>
                <a:latin typeface="Malgun Gothic"/>
              </a:rPr>
              <a:t>Strict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51999" y="28008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19" b="0">
                <a:solidFill>
                  <a:srgbClr val="1E293B"/>
                </a:solidFill>
                <a:latin typeface="Malgun Gothic"/>
              </a:rPr>
              <a:t>제공 문서에 있는 내용만 답변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72000" y="2800800"/>
            <a:ext cx="36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19" b="0">
                <a:solidFill>
                  <a:srgbClr val="1E293B"/>
                </a:solidFill>
                <a:latin typeface="Malgun Gothic"/>
              </a:rPr>
              <a:t>시험/감사/컴플라이언스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80000" y="3081600"/>
            <a:ext cx="187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19" b="0">
                <a:solidFill>
                  <a:srgbClr val="1E293B"/>
                </a:solidFill>
                <a:latin typeface="Malgun Gothic"/>
              </a:rPr>
              <a:t>Evidence + Caveat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51999" y="3081600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19" b="0">
                <a:solidFill>
                  <a:srgbClr val="1E293B"/>
                </a:solidFill>
                <a:latin typeface="Malgun Gothic"/>
              </a:rPr>
              <a:t>문서 기반 답변 후 주관성·한계 표시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72000" y="3081600"/>
            <a:ext cx="36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19" b="0">
                <a:solidFill>
                  <a:srgbClr val="1E293B"/>
                </a:solidFill>
                <a:latin typeface="Malgun Gothic"/>
              </a:rPr>
              <a:t>의사결정 보고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80000" y="3362400"/>
            <a:ext cx="187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19" b="0">
                <a:solidFill>
                  <a:srgbClr val="1E293B"/>
                </a:solidFill>
                <a:latin typeface="Malgun Gothic"/>
              </a:rPr>
              <a:t>Expert Expansion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999" y="33624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19" b="0">
                <a:solidFill>
                  <a:srgbClr val="1E293B"/>
                </a:solidFill>
                <a:latin typeface="Malgun Gothic"/>
              </a:rPr>
              <a:t>문서 근거와 일반 통용 지식 분리 제시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72000" y="3362400"/>
            <a:ext cx="36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19" b="0">
                <a:solidFill>
                  <a:srgbClr val="1E293B"/>
                </a:solidFill>
                <a:latin typeface="Malgun Gothic"/>
              </a:rPr>
              <a:t>컨설팅/고급 분석 서비스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시사점 3·4: 정확도는 답변만으로 판단하기 어렵다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여러 논문·여러 견해·여러 검색 후보가 있을수록 검색 품질과 생성 품질을 분리해서 봐야 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1116000"/>
            <a:ext cx="3240000" cy="180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580C"/>
                </a:solidFill>
                <a:latin typeface="Malgun Gothic"/>
              </a:rPr>
              <a:t>평가 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386000"/>
            <a:ext cx="3780000" cy="230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정형화된 문제는 답이 하나처럼 보일 수 있다.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여러 논문에서 질문하면 견해 차이와 비슷한 비중의 후보가 동시에 검색된다.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이때 단일 예상 답변과 비교하는 방식은 정확도 평가에 한계가 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40000" y="1116000"/>
            <a:ext cx="3240000" cy="180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Malgun Gothic"/>
              </a:rPr>
              <a:t>분리 측정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0000" y="1386000"/>
            <a:ext cx="3780000" cy="230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검색이 올바른 문서/페이지/청크를 찾았는가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생성이 검색 근거를 충실히 반영했는가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근거 없는 일반화나 환각이 있었는가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4608000"/>
            <a:ext cx="10440000" cy="360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52A4E"/>
                </a:solidFill>
                <a:latin typeface="Malgun Gothic"/>
              </a:rPr>
              <a:t>따라서 평가 결과에는 답변 점수뿐 아니라 문서명, 페이지, 청크 ID, 검색 점수, 사용 여부가 함께 남아야 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시사점 5·6: 하이브리드 검색은 관측 가능해야 개선된다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벡터DB, BM25, 온톨로지 검색의 기여를 분리하지 않으면 성능 향상 지점을 찾기 어렵다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8000" y="1080000"/>
            <a:ext cx="180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80" b="1">
                <a:solidFill>
                  <a:srgbClr val="FFFFFF"/>
                </a:solidFill>
                <a:latin typeface="Malgun Gothic"/>
              </a:rPr>
              <a:t>필요 로그</a:t>
            </a:r>
          </a:p>
        </p:txBody>
      </p:sp>
      <p:sp>
        <p:nvSpPr>
          <p:cNvPr id="6" name="Rectangle 5"/>
          <p:cNvSpPr/>
          <p:nvPr/>
        </p:nvSpPr>
        <p:spPr>
          <a:xfrm>
            <a:off x="2268000" y="1080000"/>
            <a:ext cx="3708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1">
                <a:solidFill>
                  <a:srgbClr val="FFFFFF"/>
                </a:solidFill>
                <a:latin typeface="Malgun Gothic"/>
              </a:rPr>
              <a:t>왜 필요한가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5976000" y="1080000"/>
            <a:ext cx="37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1">
                <a:solidFill>
                  <a:srgbClr val="FFFFFF"/>
                </a:solidFill>
                <a:latin typeface="Malgun Gothic"/>
              </a:rPr>
              <a:t>개선 포인트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000" y="1360800"/>
            <a:ext cx="18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80" b="0">
                <a:solidFill>
                  <a:srgbClr val="1E293B"/>
                </a:solidFill>
                <a:latin typeface="Malgun Gothic"/>
              </a:rPr>
              <a:t>검색 기술</a:t>
            </a:r>
          </a:p>
        </p:txBody>
      </p:sp>
      <p:sp>
        <p:nvSpPr>
          <p:cNvPr id="9" name="Rectangle 8"/>
          <p:cNvSpPr/>
          <p:nvPr/>
        </p:nvSpPr>
        <p:spPr>
          <a:xfrm>
            <a:off x="2268000" y="1360800"/>
            <a:ext cx="370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어떤 엔진이 근거를 찾았는지 식별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76000" y="1360800"/>
            <a:ext cx="37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벡터/BM25/온톨로지별 튜닝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8000" y="1641600"/>
            <a:ext cx="18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80" b="0">
                <a:solidFill>
                  <a:srgbClr val="1E293B"/>
                </a:solidFill>
                <a:latin typeface="Malgun Gothic"/>
              </a:rPr>
              <a:t>검색 점수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68000" y="1641600"/>
            <a:ext cx="370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threshold 문제와 노이즈 유입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76000" y="1641600"/>
            <a:ext cx="37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유사도 임계값 조정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8000" y="1922400"/>
            <a:ext cx="18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80" b="0">
                <a:solidFill>
                  <a:srgbClr val="1E293B"/>
                </a:solidFill>
                <a:latin typeface="Malgun Gothic"/>
              </a:rPr>
              <a:t>문서·페이지·청크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68000" y="1922400"/>
            <a:ext cx="370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답변 근거의 재현성 확보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76000" y="1922400"/>
            <a:ext cx="37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근거 적합성 평가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8000" y="2203200"/>
            <a:ext cx="18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80" b="0">
                <a:solidFill>
                  <a:srgbClr val="1E293B"/>
                </a:solidFill>
                <a:latin typeface="Malgun Gothic"/>
              </a:rPr>
              <a:t>생성 사용 여부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68000" y="2203200"/>
            <a:ext cx="370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검색됐지만 사용되지 않은 근거 파악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76000" y="2203200"/>
            <a:ext cx="37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프롬프트/컨텍스트 구성 개선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000" y="2484000"/>
            <a:ext cx="18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80" b="0">
                <a:solidFill>
                  <a:srgbClr val="1E293B"/>
                </a:solidFill>
                <a:latin typeface="Malgun Gothic"/>
              </a:rPr>
              <a:t>엔진 선택 옵션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68000" y="2484000"/>
            <a:ext cx="370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개별 성능과 조합 성능 분리 측정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76000" y="2484000"/>
            <a:ext cx="37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디버깅과 A/B 테스트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0000" y="5094000"/>
            <a:ext cx="9720000" cy="32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2563EB"/>
                </a:solidFill>
                <a:latin typeface="Malgun Gothic"/>
              </a:rPr>
              <a:t>이상적인 하이브리드 답변은 각 검색 기술의 개별 성능이 충분히 높을 때 만들어진다.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향후 평가 프레임워크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정답 보정, 출처 whitelist, 근거 추적, 검색기술별 로그, 응답 모드 분리를 표준으로 가져가야 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3999" y="1080000"/>
            <a:ext cx="1512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1">
                <a:solidFill>
                  <a:srgbClr val="FFFFFF"/>
                </a:solidFill>
                <a:latin typeface="Malgun Gothic"/>
              </a:rPr>
              <a:t>단계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5999" y="1080000"/>
            <a:ext cx="432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평가 항목</a:t>
            </a:r>
          </a:p>
        </p:txBody>
      </p:sp>
      <p:sp>
        <p:nvSpPr>
          <p:cNvPr id="7" name="Rectangle 6"/>
          <p:cNvSpPr/>
          <p:nvPr/>
        </p:nvSpPr>
        <p:spPr>
          <a:xfrm>
            <a:off x="6335999" y="1080000"/>
            <a:ext cx="432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산출물</a:t>
            </a:r>
          </a:p>
        </p:txBody>
      </p:sp>
      <p:sp>
        <p:nvSpPr>
          <p:cNvPr id="8" name="Rectangle 7"/>
          <p:cNvSpPr/>
          <p:nvPr/>
        </p:nvSpPr>
        <p:spPr>
          <a:xfrm>
            <a:off x="503999" y="1360800"/>
            <a:ext cx="151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1. 질문 분류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5999" y="13608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문서 내/문서 외/부분 근거/일반 지식 필요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5999" y="13608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question_type, support_scope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3999" y="1641600"/>
            <a:ext cx="151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2. 출처 검증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5999" y="1641600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허용 문서 whitelist, wrong-source leakage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5999" y="1641600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source_validity_flag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3999" y="1922400"/>
            <a:ext cx="151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3. 검색 평가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5999" y="19224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문서·페이지·청크 recall, 검색기술별 hit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35999" y="19224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retrieval_trace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3999" y="2203200"/>
            <a:ext cx="151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4. 생성 평가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5999" y="2203200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근거 반영률, 환각, 범위 제한 표현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35999" y="2203200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answer_score, hallucination_flag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3999" y="2484000"/>
            <a:ext cx="151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5. 하이브리드 분석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5999" y="24840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벡터/BM25/온톨로지별 기여도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35999" y="24840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engine_contribution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3999" y="2764800"/>
            <a:ext cx="151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6. 운영 개선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5999" y="2764800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threshold, reranker, prompt, ontology mapping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35999" y="2764800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improvement backlog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000" y="4464000"/>
            <a:ext cx="9720000" cy="1007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</a:rPr>
              <a:t>• v1.2 재평가는 점수 보정이 아니라 평가 철학의 보정이다.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</a:rPr>
              <a:t>• 서비스화 단계에서는 ‘정답을 말하는 능력’과 ‘모르면 모른다고 말하는 능력’을 같은 수준으로 평가해야 한다.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