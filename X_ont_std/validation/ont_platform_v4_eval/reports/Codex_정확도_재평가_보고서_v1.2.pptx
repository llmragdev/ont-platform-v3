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138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D12-415E-8BFF-32A66C9672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76.88</c:v>
                </c:pt>
                <c:pt idx="2">
                  <c:v>72.92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D12-415E-8BFF-32A66C967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8.4064200512209497E-4"/>
          <c:w val="0.66552240740740742"/>
          <c:h val="0.13412899543378995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FEAB-4E09-A209-9668A15D06A4}"/>
              </c:ext>
            </c:extLst>
          </c:dPt>
          <c:dPt>
            <c:idx val="1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FEAB-4E09-A209-9668A15D06A4}"/>
              </c:ext>
            </c:extLst>
          </c:dPt>
          <c:dPt>
            <c:idx val="2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5-FEAB-4E09-A209-9668A15D06A4}"/>
              </c:ext>
            </c:extLst>
          </c:dPt>
          <c:dPt>
            <c:idx val="3"/>
            <c:invertIfNegative val="1"/>
            <c:bubble3D val="0"/>
            <c:spPr>
              <a:solidFill>
                <a:srgbClr val="14B8A6"/>
              </a:solidFill>
            </c:spPr>
            <c:extLst>
              <c:ext xmlns:c16="http://schemas.microsoft.com/office/drawing/2014/chart" uri="{C3380CC4-5D6E-409C-BE32-E72D297353CC}">
                <c16:uniqueId val="{00000007-FEAB-4E09-A209-9668A15D06A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  <c:pt idx="3">
                  <c:v>Team4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76.88</c:v>
                </c:pt>
                <c:pt idx="2">
                  <c:v>72.92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AB-4E09-A209-9668A15D06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2000" y="413999"/>
            <a:ext cx="1152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Malgun Gothic"/>
              </a:rPr>
              <a:t>v1.2 </a:t>
            </a:r>
            <a:r>
              <a:rPr sz="850" b="1" dirty="0" err="1">
                <a:solidFill>
                  <a:srgbClr val="FFFFFF"/>
                </a:solidFill>
                <a:latin typeface="Malgun Gothic"/>
              </a:rPr>
              <a:t>재평가</a:t>
            </a:r>
            <a:endParaRPr sz="8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3347070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dirty="0" err="1">
                <a:solidFill>
                  <a:srgbClr val="152A4E"/>
                </a:solidFill>
                <a:latin typeface="Malgun Gothic"/>
              </a:rPr>
              <a:t>RAG·온톨로지</a:t>
            </a:r>
            <a:r>
              <a:rPr sz="3000" b="1" dirty="0">
                <a:solidFill>
                  <a:srgbClr val="152A4E"/>
                </a:solidFill>
                <a:latin typeface="Malgun Gothic"/>
              </a:rPr>
              <a:t>
</a:t>
            </a:r>
            <a:r>
              <a:rPr sz="3000" b="1" dirty="0" err="1">
                <a:solidFill>
                  <a:srgbClr val="152A4E"/>
                </a:solidFill>
                <a:latin typeface="Malgun Gothic"/>
              </a:rPr>
              <a:t>정확도</a:t>
            </a:r>
            <a:r>
              <a:rPr sz="30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30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sz="30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3000" b="1" dirty="0" err="1">
                <a:solidFill>
                  <a:srgbClr val="152A4E"/>
                </a:solidFill>
                <a:latin typeface="Malgun Gothic"/>
              </a:rPr>
              <a:t>보고서</a:t>
            </a:r>
            <a:endParaRPr sz="30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19" b="0" dirty="0">
                <a:solidFill>
                  <a:srgbClr val="64748B"/>
                </a:solidFill>
                <a:latin typeface="Malgun Gothic"/>
              </a:rPr>
              <a:t>Source: 3팀_정확도_비교.xlsx → 4팀_정확도_비교_STD-S정답수정_v1.2_재평가_final.xlsx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6404-35AA-B178-F25A-875F26D6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0C91FE-B066-BC93-BE1F-CDA1366D304A}"/>
              </a:ext>
            </a:extLst>
          </p:cNvPr>
          <p:cNvSpPr txBox="1"/>
          <p:nvPr/>
        </p:nvSpPr>
        <p:spPr>
          <a:xfrm>
            <a:off x="378000" y="198000"/>
            <a:ext cx="641201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개요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76818-885A-DA84-4EBD-D63B2CD5C180}"/>
              </a:ext>
            </a:extLst>
          </p:cNvPr>
          <p:cNvSpPr txBox="1"/>
          <p:nvPr/>
        </p:nvSpPr>
        <p:spPr>
          <a:xfrm>
            <a:off x="388800" y="525600"/>
            <a:ext cx="5450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dirty="0">
                <a:solidFill>
                  <a:srgbClr val="64748B"/>
                </a:solidFill>
                <a:latin typeface="Malgun Gothic"/>
              </a:rPr>
              <a:t>-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D51DD-F17E-537F-69DA-30606C40DF4A}"/>
              </a:ext>
            </a:extLst>
          </p:cNvPr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5BF9C-8DB7-D568-69BD-C96D0595D380}"/>
              </a:ext>
            </a:extLst>
          </p:cNvPr>
          <p:cNvSpPr txBox="1"/>
          <p:nvPr/>
        </p:nvSpPr>
        <p:spPr>
          <a:xfrm>
            <a:off x="503999" y="1080000"/>
            <a:ext cx="932902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800" b="1" dirty="0">
                <a:solidFill>
                  <a:srgbClr val="1E293B"/>
                </a:solidFill>
                <a:latin typeface="Malgun Gothic"/>
              </a:rPr>
              <a:t>-</a:t>
            </a:r>
            <a:endParaRPr sz="1800" b="1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8E524A-465F-C843-CF0D-C3EFDFB8D845}"/>
              </a:ext>
            </a:extLst>
          </p:cNvPr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90F300-6AE2-8E1C-4581-C05BD5A9E440}"/>
              </a:ext>
            </a:extLst>
          </p:cNvPr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5B5913-B3E3-836D-F5C4-3D835E4F07F7}"/>
              </a:ext>
            </a:extLst>
          </p:cNvPr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0230" y="1479408"/>
            <a:ext cx="7662790" cy="41857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전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평가는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시스템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간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단순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정확도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비교였다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.
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평가는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근거가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질문을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거절할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’, ‘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잘못된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출처를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차단할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있는가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’, ‘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근거를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설명할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수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있는가’를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함께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보는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평가로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Malgun Gothic"/>
              </a:rPr>
              <a:t>바뀌었다</a:t>
            </a:r>
            <a:r>
              <a:rPr sz="1600" dirty="0">
                <a:solidFill>
                  <a:srgbClr val="1E293B"/>
                </a:solidFill>
                <a:latin typeface="Malgun Gothic"/>
              </a:rPr>
              <a:t>.</a:t>
            </a:r>
            <a:endParaRPr lang="en-US" sz="1600" dirty="0">
              <a:solidFill>
                <a:srgbClr val="1E293B"/>
              </a:solidFill>
              <a:latin typeface="Malgun Gothic"/>
            </a:endParaRPr>
          </a:p>
          <a:p>
            <a:pPr algn="l"/>
            <a:endParaRPr lang="en-US" sz="16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en-US" sz="1600" dirty="0">
                <a:solidFill>
                  <a:srgbClr val="1E293B"/>
                </a:solidFill>
                <a:latin typeface="Malgun Gothic"/>
              </a:rPr>
              <a:t>3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조는 조장 협의를 통해 온톨로지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&amp; RAG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벤치마크 평가에서는 제외하였고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,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별도 테크니컬 인사이트 도출 예정 </a:t>
            </a:r>
            <a:endParaRPr lang="en-US" sz="1600" dirty="0">
              <a:solidFill>
                <a:srgbClr val="1E293B"/>
              </a:solidFill>
              <a:latin typeface="Malgun Gothic"/>
            </a:endParaRPr>
          </a:p>
          <a:p>
            <a:pPr algn="l"/>
            <a:endParaRPr lang="en-US" sz="16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조와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2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 외에 가상의 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(0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, 4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)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를 포함하여 비교 평가 직관성을 높였다 </a:t>
            </a:r>
            <a:endParaRPr lang="en-US" altLang="ko-KR" sz="1600" dirty="0">
              <a:solidFill>
                <a:srgbClr val="1E293B"/>
              </a:solidFill>
              <a:latin typeface="Malgun Gothic"/>
            </a:endParaRPr>
          </a:p>
          <a:p>
            <a:pPr algn="l"/>
            <a:endParaRPr lang="en-US" altLang="ko-KR" sz="16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평가 참여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 algn="l"/>
            <a:r>
              <a:rPr lang="en-US" sz="1600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온톨로지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사실상 온톨로지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+RAG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함께 사용한 하이브리드 방식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)</a:t>
            </a:r>
          </a:p>
          <a:p>
            <a:pPr algn="l"/>
            <a:r>
              <a:rPr lang="en-US" sz="1600" dirty="0">
                <a:solidFill>
                  <a:srgbClr val="1E293B"/>
                </a:solidFill>
                <a:latin typeface="Malgun Gothic"/>
              </a:rPr>
              <a:t>2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Advanced RAG </a:t>
            </a:r>
          </a:p>
          <a:p>
            <a:pPr algn="l"/>
            <a:endParaRPr lang="en-US" sz="1600" dirty="0">
              <a:solidFill>
                <a:srgbClr val="1E293B"/>
              </a:solidFill>
              <a:latin typeface="Malgun Gothic"/>
            </a:endParaRPr>
          </a:p>
          <a:p>
            <a:pPr algn="l"/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추가 가상의 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</a:t>
            </a:r>
          </a:p>
          <a:p>
            <a:pPr algn="l"/>
            <a:r>
              <a:rPr lang="en-US" sz="160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순수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RAG</a:t>
            </a:r>
          </a:p>
          <a:p>
            <a:pPr algn="l"/>
            <a:r>
              <a:rPr lang="en-US" sz="1600" dirty="0">
                <a:solidFill>
                  <a:srgbClr val="1E293B"/>
                </a:solidFill>
                <a:latin typeface="Malgun Gothic"/>
              </a:rPr>
              <a:t>4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: 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하이브리드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RAG (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온톨로지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+</a:t>
            </a:r>
            <a:r>
              <a:rPr lang="ko-KR" altLang="en-US" sz="1600" dirty="0">
                <a:solidFill>
                  <a:srgbClr val="1E293B"/>
                </a:solidFill>
                <a:latin typeface="Malgun Gothic"/>
              </a:rPr>
              <a:t>전통 </a:t>
            </a:r>
            <a:r>
              <a:rPr lang="en-US" altLang="ko-KR" sz="1600" dirty="0">
                <a:solidFill>
                  <a:srgbClr val="1E293B"/>
                </a:solidFill>
                <a:latin typeface="Malgun Gothic"/>
              </a:rPr>
              <a:t>RAG)</a:t>
            </a:r>
            <a:endParaRPr sz="1600" dirty="0">
              <a:solidFill>
                <a:srgbClr val="1E293B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76712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dirty="0" err="1">
                <a:solidFill>
                  <a:srgbClr val="64748B"/>
                </a:solidFill>
                <a:latin typeface="Malgun Gothic"/>
              </a:rPr>
              <a:t>정답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보정과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함정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문항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처리로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단순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점수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비교에서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서비스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품질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평가로</a:t>
            </a:r>
            <a:r>
              <a:rPr sz="1050" b="0" dirty="0">
                <a:solidFill>
                  <a:srgbClr val="64748B"/>
                </a:solidFill>
                <a:latin typeface="Malgun Gothic"/>
              </a:rPr>
              <a:t> </a:t>
            </a:r>
            <a:r>
              <a:rPr sz="1050" b="0" dirty="0" err="1">
                <a:solidFill>
                  <a:srgbClr val="64748B"/>
                </a:solidFill>
                <a:latin typeface="Malgun Gothic"/>
              </a:rPr>
              <a:t>이동</a:t>
            </a:r>
            <a:endParaRPr sz="1050" b="0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1" dirty="0" err="1">
                <a:solidFill>
                  <a:srgbClr val="FFFFFF"/>
                </a:solidFill>
                <a:latin typeface="Malgun Gothic"/>
              </a:rPr>
              <a:t>기존</a:t>
            </a:r>
            <a:r>
              <a:rPr sz="950" b="1" dirty="0">
                <a:solidFill>
                  <a:srgbClr val="FFFFFF"/>
                </a:solidFill>
                <a:latin typeface="Malgun Gothic"/>
              </a:rPr>
              <a:t> 3팀 </a:t>
            </a:r>
            <a:r>
              <a:rPr sz="950" b="1" dirty="0" err="1">
                <a:solidFill>
                  <a:srgbClr val="FFFFFF"/>
                </a:solidFill>
                <a:latin typeface="Malgun Gothic"/>
              </a:rPr>
              <a:t>평가</a:t>
            </a:r>
            <a:endParaRPr sz="9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 dirty="0">
                <a:solidFill>
                  <a:srgbClr val="1E293B"/>
                </a:solidFill>
                <a:latin typeface="Malgun Gothic"/>
              </a:rPr>
              <a:t>Snowflake RAG </a:t>
            </a:r>
            <a:r>
              <a:rPr lang="ko-KR" altLang="en-US" sz="950" dirty="0">
                <a:solidFill>
                  <a:srgbClr val="1E293B"/>
                </a:solidFill>
                <a:latin typeface="Malgun Gothic"/>
              </a:rPr>
              <a:t>관련 질의의 예상 답변에 심각한 오류 있었음</a:t>
            </a:r>
            <a:endParaRPr sz="95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321768"/>
              </p:ext>
            </p:extLst>
          </p:nvPr>
        </p:nvGraphicFramePr>
        <p:xfrm>
          <a:off x="539999" y="3005999"/>
          <a:ext cx="6079741" cy="3195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1999" y="3096000"/>
            <a:ext cx="5045425" cy="178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기존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en-US" sz="1200" b="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가상의 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), 1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,  2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조의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답변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원문은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보존하고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, </a:t>
            </a:r>
            <a:endParaRPr lang="en-US"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/>
              </a:rPr>
              <a:t>   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v1.2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기준으로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정답보정과 함정 문항 처리 개선 후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점수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재산정했다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endParaRPr lang="en-US"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4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조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는 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가상의 하이브리드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1200" b="0" dirty="0">
                <a:solidFill>
                  <a:srgbClr val="1E293B"/>
                </a:solidFill>
                <a:latin typeface="Malgun Gothic"/>
              </a:rPr>
              <a:t>기술 기반의 가상의 조이며</a:t>
            </a:r>
            <a:r>
              <a:rPr lang="en-US" altLang="ko-KR" sz="1200" b="0" dirty="0">
                <a:solidFill>
                  <a:srgbClr val="1E293B"/>
                </a:solidFill>
                <a:latin typeface="Malgun Gothic"/>
              </a:rPr>
              <a:t>, 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/>
              </a:rPr>
              <a:t> 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동일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기준으로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비교했다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  <a:endParaRPr lang="en-US"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endParaRPr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정답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자체의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편향과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유도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오류를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보정하면서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평가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목표가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더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현실적인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서비스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검증으로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바뀌었다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9707209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 err="1">
                <a:solidFill>
                  <a:srgbClr val="152A4E"/>
                </a:solidFill>
                <a:latin typeface="Malgun Gothic"/>
              </a:rPr>
              <a:t>최종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152A4E"/>
                </a:solidFill>
                <a:latin typeface="Malgun Gothic"/>
              </a:rPr>
              <a:t>순위는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4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,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 하이브리드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)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1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2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</a:t>
            </a:r>
            <a:r>
              <a:rPr sz="25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lang="en-US" sz="2500" b="1" dirty="0">
                <a:solidFill>
                  <a:srgbClr val="152A4E"/>
                </a:solidFill>
                <a:latin typeface="Malgun Gothic"/>
              </a:rPr>
              <a:t>0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조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(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가상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순수</a:t>
            </a:r>
            <a:r>
              <a:rPr lang="en-US" altLang="ko-KR" sz="2500" b="1" dirty="0">
                <a:solidFill>
                  <a:srgbClr val="152A4E"/>
                </a:solidFill>
                <a:latin typeface="Malgun Gothic"/>
              </a:rPr>
              <a:t> RAG)</a:t>
            </a:r>
            <a:r>
              <a:rPr lang="ko-KR" altLang="en-US" sz="2500" b="1" dirty="0">
                <a:solidFill>
                  <a:srgbClr val="152A4E"/>
                </a:solidFill>
                <a:latin typeface="Malgun Gothic"/>
              </a:rPr>
              <a:t> </a:t>
            </a:r>
            <a:endParaRPr sz="25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Team1 wrong-source 감점과 Team2 STD-S-05 보정을 모두 반영한 최종 점수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en-US" sz="840" b="0" dirty="0">
                <a:solidFill>
                  <a:srgbClr val="1E293B"/>
                </a:solidFill>
                <a:latin typeface="Malgun Gothic"/>
              </a:rPr>
              <a:t>4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조 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가상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)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검색단계에서 온톨로지와 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RAG 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하이브리드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en-US" sz="840" b="0" dirty="0">
                <a:solidFill>
                  <a:srgbClr val="1E293B"/>
                </a:solidFill>
                <a:latin typeface="Malgun Gothic"/>
              </a:rPr>
              <a:t>1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조 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(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온톨로지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)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76.88%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효과는 있으나, STD-S wrong-source 7문항 감점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en-US" sz="840" b="0" dirty="0">
                <a:solidFill>
                  <a:srgbClr val="1E293B"/>
                </a:solidFill>
                <a:latin typeface="Malgun Gothic"/>
              </a:rPr>
              <a:t>2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조 </a:t>
            </a:r>
            <a:r>
              <a:rPr lang="en-US" altLang="ko-KR" sz="840" b="0" dirty="0">
                <a:solidFill>
                  <a:srgbClr val="1E293B"/>
                </a:solidFill>
                <a:latin typeface="Malgun Gothic"/>
              </a:rPr>
              <a:t>(advanced RAG)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72.92%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 dirty="0">
                <a:solidFill>
                  <a:srgbClr val="1E293B"/>
                </a:solidFill>
                <a:latin typeface="Malgun Gothic"/>
              </a:rPr>
              <a:t>Advanced RAG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문항은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강하고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STD-S-05는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적절했으나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, </a:t>
            </a:r>
            <a:endParaRPr lang="en-US" sz="840" b="0" dirty="0">
              <a:solidFill>
                <a:srgbClr val="1E293B"/>
              </a:solidFill>
              <a:latin typeface="Malgun Gothic"/>
            </a:endParaRPr>
          </a:p>
          <a:p>
            <a:r>
              <a:rPr sz="840" b="0" dirty="0" err="1">
                <a:solidFill>
                  <a:srgbClr val="1E293B"/>
                </a:solidFill>
                <a:latin typeface="Malgun Gothic"/>
              </a:rPr>
              <a:t>다른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STD-S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차단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한계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존재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lang="en-US" sz="840" b="0" dirty="0">
                <a:solidFill>
                  <a:srgbClr val="1E293B"/>
                </a:solidFill>
                <a:latin typeface="Malgun Gothic"/>
              </a:rPr>
              <a:t>0</a:t>
            </a:r>
            <a:r>
              <a:rPr lang="ko-KR" altLang="en-US" sz="840" b="0" dirty="0">
                <a:solidFill>
                  <a:srgbClr val="1E293B"/>
                </a:solidFill>
                <a:latin typeface="Malgun Gothic"/>
              </a:rPr>
              <a:t>조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r>
              <a:rPr sz="840" b="0" dirty="0" err="1">
                <a:solidFill>
                  <a:srgbClr val="1E293B"/>
                </a:solidFill>
                <a:latin typeface="Malgun Gothic"/>
              </a:rPr>
              <a:t>순수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RAG로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기준선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역할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.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보정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후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도입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고려</a:t>
            </a:r>
            <a:r>
              <a:rPr sz="8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840" b="0" dirty="0" err="1">
                <a:solidFill>
                  <a:srgbClr val="1E293B"/>
                </a:solidFill>
                <a:latin typeface="Malgun Gothic"/>
              </a:rPr>
              <a:t>수준</a:t>
            </a:r>
            <a:endParaRPr sz="84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Team2, Ontology와 Snowflake 함정 대응은 Team1·Team4가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2709" y="1080000"/>
            <a:ext cx="522580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80" b="1" dirty="0">
                <a:solidFill>
                  <a:srgbClr val="64748B"/>
                </a:solidFill>
                <a:latin typeface="Malgun Gothic"/>
              </a:rPr>
              <a:t>0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조 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7033" y="1080000"/>
            <a:ext cx="177934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80" b="1" dirty="0">
                <a:solidFill>
                  <a:srgbClr val="64748B"/>
                </a:solidFill>
                <a:latin typeface="Malgun Gothic"/>
              </a:rPr>
              <a:t>1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조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033" y="1080000"/>
            <a:ext cx="177934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80" b="1" dirty="0">
                <a:solidFill>
                  <a:srgbClr val="64748B"/>
                </a:solidFill>
                <a:latin typeface="Malgun Gothic"/>
              </a:rPr>
              <a:t>2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조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88749" y="1080000"/>
            <a:ext cx="482504" cy="135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80" b="1" dirty="0">
                <a:solidFill>
                  <a:srgbClr val="64748B"/>
                </a:solidFill>
                <a:latin typeface="Malgun Gothic"/>
              </a:rPr>
              <a:t>4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조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(</a:t>
            </a:r>
            <a:r>
              <a:rPr lang="ko-KR" altLang="en-US" sz="880" b="1" dirty="0">
                <a:solidFill>
                  <a:srgbClr val="64748B"/>
                </a:solidFill>
                <a:latin typeface="Malgun Gothic"/>
              </a:rPr>
              <a:t>가상</a:t>
            </a:r>
            <a:r>
              <a:rPr lang="en-US" altLang="ko-KR" sz="880" b="1" dirty="0">
                <a:solidFill>
                  <a:srgbClr val="64748B"/>
                </a:solidFill>
                <a:latin typeface="Malgun Gothic"/>
              </a:rPr>
              <a:t>)</a:t>
            </a:r>
            <a:endParaRPr sz="880" b="1" dirty="0">
              <a:solidFill>
                <a:srgbClr val="64748B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55.62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55.62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63.12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9999" y="1152000"/>
            <a:ext cx="4308001" cy="1229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Team2는 Advanced RAG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특화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질문에서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93.75%로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가장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Team1은 전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영역에서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균형적으로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높고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, Snowflake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질문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차단도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우수했다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20" b="0" dirty="0">
                <a:solidFill>
                  <a:srgbClr val="1E293B"/>
                </a:solidFill>
                <a:latin typeface="Malgun Gothic"/>
              </a:rPr>
              <a:t>• Team4는 Snowflake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함정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문항에서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90.62%로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강하지만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Ontology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문항은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추가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개선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여지가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20" b="0" dirty="0" err="1">
                <a:solidFill>
                  <a:srgbClr val="1E293B"/>
                </a:solidFill>
                <a:latin typeface="Malgun Gothic"/>
              </a:rPr>
              <a:t>있다</a:t>
            </a:r>
            <a:r>
              <a:rPr sz="122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전체 점수는 1위,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사용해 점수 과대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최상위, STD-S-05는 적절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다수 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8" y="4751999"/>
            <a:ext cx="10919651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 err="1">
                <a:solidFill>
                  <a:srgbClr val="152A4E"/>
                </a:solidFill>
                <a:latin typeface="Malgun Gothic"/>
              </a:rPr>
              <a:t>진짜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비교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포인트는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시스템이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평균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점수가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높은가’보다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질문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유형에서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어떤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검색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기술이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152A4E"/>
                </a:solidFill>
                <a:latin typeface="Malgun Gothic"/>
              </a:rPr>
              <a:t>실패했는가’다</a:t>
            </a:r>
            <a:r>
              <a:rPr sz="1900" b="1" dirty="0">
                <a:solidFill>
                  <a:srgbClr val="152A4E"/>
                </a:solidFill>
                <a:latin typeface="Malgun Gothic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8" y="2484000"/>
            <a:ext cx="3515552" cy="979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RAG의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구현은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제공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따라서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또는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없음이라고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명시한다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없어도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100점,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일반적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RAG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관점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덧붙여도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34500"/>
            <a:ext cx="3316900" cy="9797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관련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표현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없이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기능을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실제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근거처럼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설명한다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Snowflake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언급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질문인데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부재를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말하지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않는다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14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온톨로지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/RAG 등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다른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주제로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우회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140" b="0" dirty="0" err="1">
                <a:solidFill>
                  <a:srgbClr val="1E293B"/>
                </a:solidFill>
                <a:latin typeface="Malgun Gothic"/>
              </a:rPr>
              <a:t>답변한다</a:t>
            </a:r>
            <a:r>
              <a:rPr sz="1140" b="0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추가 발견: wrong-source leakage가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중간점검-v1.2.pptx 내용을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STD-S-05는 문서 내 명확한 정보가 없다고 제한해 적절했으나, 다른 STD-S 일부에서 다른 논문/일반론/RDF/온톨로지 내용을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56000"/>
            <a:ext cx="9037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dirty="0" err="1">
                <a:solidFill>
                  <a:srgbClr val="DC2626"/>
                </a:solidFill>
                <a:latin typeface="Malgun Gothic"/>
              </a:rPr>
              <a:t>함정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질문의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만점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조건은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관련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없음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명시’뿐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아니라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‘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허용된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평가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문서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밖의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근거를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사용하지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않음’까지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포함해야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 </a:t>
            </a:r>
            <a:r>
              <a:rPr sz="1900" b="1" dirty="0" err="1">
                <a:solidFill>
                  <a:srgbClr val="DC2626"/>
                </a:solidFill>
                <a:latin typeface="Malgun Gothic"/>
              </a:rPr>
              <a:t>한다</a:t>
            </a:r>
            <a:r>
              <a:rPr sz="1900" b="1" dirty="0">
                <a:solidFill>
                  <a:srgbClr val="DC2626"/>
                </a:solidFill>
                <a:latin typeface="Malgun Gothic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464000"/>
            <a:ext cx="9180000" cy="126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출처 문서 whitelist를 두고, 검색·생성·평가 단계에서 모두 검증한다.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답변이 문서 부재를 말하더라도 잘못된 문서 내용을 근거로 확장하면 감점한다.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Team1은 STD-S wrong-source 7개 문항을 100→60으로 감점하여 최종 76.88%로 반영했다.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932902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dirty="0" err="1">
                <a:solidFill>
                  <a:srgbClr val="1E293B"/>
                </a:solidFill>
                <a:latin typeface="Malgun Gothic"/>
              </a:rPr>
              <a:t>전문가는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때로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우문현답’을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. RAG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서비스도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기반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답변만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고집할지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,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문서의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한계를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밝히고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보편적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통용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지식을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덧붙일지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옵션을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가져야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E293B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E293B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5100" y="1116000"/>
            <a:ext cx="3240000" cy="18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6200" y="1386000"/>
            <a:ext cx="3780000" cy="230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검색이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올바른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문서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/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페이지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/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청크를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찾았는가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생성이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근거를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충실히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반영했는가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1E293B"/>
                </a:solidFill>
                <a:latin typeface="Malgun Gothic"/>
              </a:rPr>
              <a:t>•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근거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없는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일반화나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환각이</a:t>
            </a:r>
            <a:r>
              <a:rPr sz="1200" b="0" dirty="0">
                <a:solidFill>
                  <a:srgbClr val="1E293B"/>
                </a:solidFill>
                <a:latin typeface="Malgun Gothic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Malgun Gothic"/>
              </a:rPr>
              <a:t>있었는가</a:t>
            </a:r>
            <a:endParaRPr sz="1200" b="0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208" y="4608000"/>
            <a:ext cx="11307584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152A4E"/>
                </a:solidFill>
                <a:latin typeface="Malgun Gothic"/>
              </a:rPr>
              <a:t>따라서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평가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결과에는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답변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점수뿐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아니라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문서명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페이지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청크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ID,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검색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점수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,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사용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여부가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함께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남아야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152A4E"/>
                </a:solidFill>
                <a:latin typeface="Malgun Gothic"/>
              </a:rPr>
              <a:t>한다</a:t>
            </a:r>
            <a:r>
              <a:rPr sz="1800" b="1" dirty="0">
                <a:solidFill>
                  <a:srgbClr val="152A4E"/>
                </a:solidFill>
                <a:latin typeface="Malgun Gothic"/>
              </a:rPr>
              <a:t>.</a:t>
            </a:r>
            <a:endParaRPr lang="en-US" sz="1800" b="1" dirty="0">
              <a:solidFill>
                <a:srgbClr val="152A4E"/>
              </a:solidFill>
              <a:latin typeface="Malgun Gothic"/>
            </a:endParaRPr>
          </a:p>
          <a:p>
            <a:pPr algn="ctr"/>
            <a:r>
              <a:rPr lang="en-US" b="1" dirty="0">
                <a:solidFill>
                  <a:srgbClr val="152A4E"/>
                </a:solidFill>
                <a:latin typeface="Malgun Gothic"/>
              </a:rPr>
              <a:t> </a:t>
            </a:r>
            <a:r>
              <a:rPr lang="ko-KR" altLang="en-US" b="1" dirty="0">
                <a:solidFill>
                  <a:srgbClr val="152A4E"/>
                </a:solidFill>
                <a:latin typeface="Malgun Gothic"/>
              </a:rPr>
              <a:t>또한 해당 도메인 전문가의 정성적 평가가 포함되어야 한다</a:t>
            </a:r>
            <a:endParaRPr sz="1800" b="1" dirty="0">
              <a:solidFill>
                <a:srgbClr val="152A4E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3200" tIns="25200" rIns="43200" rtlCol="0" anchor="ctr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1BB502-5553-4B3E-A738-7FAA7EB92CB3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1637</Words>
  <Application>Microsoft Office PowerPoint</Application>
  <PresentationFormat>와이드스크린</PresentationFormat>
  <Paragraphs>287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최남규</cp:lastModifiedBy>
  <cp:revision>10</cp:revision>
  <dcterms:created xsi:type="dcterms:W3CDTF">2013-01-27T09:14:16Z</dcterms:created>
  <dcterms:modified xsi:type="dcterms:W3CDTF">2026-06-09T01:48:49Z</dcterms:modified>
  <cp:category/>
</cp:coreProperties>
</file>