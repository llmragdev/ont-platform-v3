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기존 3팀 평가</c:v>
                </c:pt>
              </c:strCache>
            </c:strRef>
          </c:tx>
          <c:spPr>
            <a:solidFill>
              <a:srgbClr val="94A3B8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0조</c:v>
                </c:pt>
                <c:pt idx="1">
                  <c:v>1조</c:v>
                </c:pt>
                <c:pt idx="2">
                  <c:v>2조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58.54</c:v>
                </c:pt>
                <c:pt idx="1">
                  <c:v>69.17</c:v>
                </c:pt>
                <c:pt idx="2">
                  <c:v>64.17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D9C-4146-A8C0-9056140603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답변 보정후 산정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0조</c:v>
                </c:pt>
                <c:pt idx="1">
                  <c:v>1조</c:v>
                </c:pt>
                <c:pt idx="2">
                  <c:v>2조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70.42</c:v>
                </c:pt>
                <c:pt idx="1">
                  <c:v>88.54</c:v>
                </c:pt>
                <c:pt idx="2">
                  <c:v>70.42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D9C-4146-A8C0-9056140603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1-1C7A-43C1-840F-DC847B77845D}"/>
              </c:ext>
            </c:extLst>
          </c:dPt>
          <c:dPt>
            <c:idx val="1"/>
            <c:invertIfNegative val="1"/>
            <c:bubble3D val="0"/>
            <c:spPr>
              <a:solidFill>
                <a:srgbClr val="14B8A6"/>
              </a:solidFill>
            </c:spPr>
            <c:extLst>
              <c:ext xmlns:c16="http://schemas.microsoft.com/office/drawing/2014/chart" uri="{C3380CC4-5D6E-409C-BE32-E72D297353CC}">
                <c16:uniqueId val="{00000003-1C7A-43C1-840F-DC847B77845D}"/>
              </c:ext>
            </c:extLst>
          </c:dPt>
          <c:dPt>
            <c:idx val="2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5-1C7A-43C1-840F-DC847B77845D}"/>
              </c:ext>
            </c:extLst>
          </c:dPt>
          <c:dPt>
            <c:idx val="3"/>
            <c:invertIfNegative val="1"/>
            <c:bubble3D val="0"/>
            <c:spPr>
              <a:solidFill>
                <a:srgbClr val="14B8A6"/>
              </a:solidFill>
            </c:spPr>
            <c:extLst>
              <c:ext xmlns:c16="http://schemas.microsoft.com/office/drawing/2014/chart" uri="{C3380CC4-5D6E-409C-BE32-E72D297353CC}">
                <c16:uniqueId val="{00000007-1C7A-43C1-840F-DC847B77845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0조</c:v>
                </c:pt>
                <c:pt idx="1">
                  <c:v>1조</c:v>
                </c:pt>
                <c:pt idx="2">
                  <c:v>2조</c:v>
                </c:pt>
                <c:pt idx="3">
                  <c:v>4조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70.42</c:v>
                </c:pt>
                <c:pt idx="1">
                  <c:v>88.54</c:v>
                </c:pt>
                <c:pt idx="2">
                  <c:v>70.42</c:v>
                </c:pt>
                <c:pt idx="3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C7A-43C1-840F-DC847B77845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2000" y="413999"/>
            <a:ext cx="1440000" cy="19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답변 보정후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1134000"/>
            <a:ext cx="7560000" cy="936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52A4E"/>
                </a:solidFill>
                <a:latin typeface="Malgun Gothic"/>
              </a:rPr>
              <a:t>AI Lab 2기 중간평가
API 정확도 리뷰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9200" y="2286000"/>
            <a:ext cx="7740000" cy="28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algun Gothic"/>
              </a:rPr>
              <a:t>예상 답안 보정, 함정 질문 처리, 근거 기반 평가 방식 보완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9200" y="2898000"/>
            <a:ext cx="4680000" cy="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000" y="3330000"/>
            <a:ext cx="5246629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100" b="1" dirty="0">
                <a:solidFill>
                  <a:srgbClr val="152A4E"/>
                </a:solidFill>
                <a:latin typeface="Malgun Gothic"/>
              </a:rPr>
              <a:t>- </a:t>
            </a:r>
            <a:r>
              <a:rPr sz="2100" b="1" dirty="0" err="1">
                <a:solidFill>
                  <a:srgbClr val="152A4E"/>
                </a:solidFill>
                <a:latin typeface="Malgun Gothic"/>
              </a:rPr>
              <a:t>보정</a:t>
            </a:r>
            <a:r>
              <a:rPr sz="2100" b="1" dirty="0">
                <a:solidFill>
                  <a:srgbClr val="152A4E"/>
                </a:solidFill>
                <a:latin typeface="Malgun Gothic"/>
              </a:rPr>
              <a:t> 전 </a:t>
            </a:r>
            <a:r>
              <a:rPr sz="2100" b="1" dirty="0" err="1">
                <a:solidFill>
                  <a:srgbClr val="152A4E"/>
                </a:solidFill>
                <a:latin typeface="Malgun Gothic"/>
              </a:rPr>
              <a:t>평가</a:t>
            </a:r>
            <a:r>
              <a:rPr lang="en-US" sz="2100" b="1" dirty="0">
                <a:solidFill>
                  <a:srgbClr val="152A4E"/>
                </a:solidFill>
                <a:latin typeface="Malgun Gothic"/>
              </a:rPr>
              <a:t>:</a:t>
            </a:r>
            <a:r>
              <a:rPr sz="21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100" b="1" dirty="0" err="1">
                <a:solidFill>
                  <a:srgbClr val="152A4E"/>
                </a:solidFill>
                <a:latin typeface="Malgun Gothic"/>
              </a:rPr>
              <a:t>시스템</a:t>
            </a:r>
            <a:r>
              <a:rPr sz="2100" b="1" dirty="0">
                <a:solidFill>
                  <a:srgbClr val="152A4E"/>
                </a:solidFill>
                <a:latin typeface="Malgun Gothic"/>
              </a:rPr>
              <a:t> 간 </a:t>
            </a:r>
            <a:r>
              <a:rPr sz="2100" b="1" dirty="0" err="1">
                <a:solidFill>
                  <a:srgbClr val="152A4E"/>
                </a:solidFill>
                <a:latin typeface="Malgun Gothic"/>
              </a:rPr>
              <a:t>정확도</a:t>
            </a:r>
            <a:r>
              <a:rPr sz="21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lang="ko-KR" altLang="en-US" sz="2100" b="1" dirty="0">
                <a:solidFill>
                  <a:srgbClr val="152A4E"/>
                </a:solidFill>
                <a:latin typeface="Malgun Gothic"/>
              </a:rPr>
              <a:t>위주 평가</a:t>
            </a:r>
            <a:endParaRPr sz="21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0000" y="3870000"/>
            <a:ext cx="68652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buFontTx/>
              <a:buChar char="-"/>
            </a:pPr>
            <a:r>
              <a:rPr sz="1800" dirty="0" err="1">
                <a:solidFill>
                  <a:srgbClr val="1E293B"/>
                </a:solidFill>
                <a:latin typeface="Malgun Gothic"/>
              </a:rPr>
              <a:t>보정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후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평가</a:t>
            </a:r>
            <a:r>
              <a:rPr lang="en-US" sz="1800" dirty="0">
                <a:solidFill>
                  <a:srgbClr val="1E293B"/>
                </a:solidFill>
                <a:latin typeface="Malgun Gothic"/>
              </a:rPr>
              <a:t>: </a:t>
            </a:r>
          </a:p>
          <a:p>
            <a:pPr algn="l"/>
            <a:r>
              <a:rPr lang="en-US" sz="1800" dirty="0">
                <a:solidFill>
                  <a:srgbClr val="1E293B"/>
                </a:solidFill>
                <a:latin typeface="Malgun Gothic"/>
              </a:rPr>
              <a:t>  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‘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근거가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없는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질문을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거절할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수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있는가</a:t>
            </a:r>
            <a:r>
              <a:rPr lang="en-US" sz="1800" dirty="0">
                <a:solidFill>
                  <a:srgbClr val="1E293B"/>
                </a:solidFill>
                <a:latin typeface="Malgun Gothic"/>
              </a:rPr>
              <a:t>’</a:t>
            </a:r>
          </a:p>
          <a:p>
            <a:pPr algn="l"/>
            <a:r>
              <a:rPr lang="en-US" dirty="0">
                <a:solidFill>
                  <a:srgbClr val="1E293B"/>
                </a:solidFill>
                <a:latin typeface="Malgun Gothic"/>
              </a:rPr>
              <a:t>  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‘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잘못된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출처를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차단할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수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있는가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’ </a:t>
            </a:r>
            <a:endParaRPr lang="en-US" sz="1800" dirty="0">
              <a:solidFill>
                <a:srgbClr val="1E293B"/>
              </a:solidFill>
              <a:latin typeface="Malgun Gothic"/>
            </a:endParaRPr>
          </a:p>
          <a:p>
            <a:pPr algn="l"/>
            <a:r>
              <a:rPr lang="en-US" dirty="0">
                <a:solidFill>
                  <a:srgbClr val="1E293B"/>
                </a:solidFill>
                <a:latin typeface="Malgun Gothic"/>
              </a:rPr>
              <a:t>   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‘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검색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근거를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설명할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수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있는가’를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함께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보는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1E293B"/>
                </a:solidFill>
                <a:latin typeface="Malgun Gothic"/>
              </a:rPr>
              <a:t>평가로</a:t>
            </a:r>
            <a:r>
              <a:rPr sz="18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lang="ko-KR" altLang="en-US" sz="1800" dirty="0">
                <a:solidFill>
                  <a:srgbClr val="1E293B"/>
                </a:solidFill>
                <a:latin typeface="Malgun Gothic"/>
              </a:rPr>
              <a:t>변환 中</a:t>
            </a:r>
            <a:endParaRPr sz="180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1399" y="1080000"/>
            <a:ext cx="4605867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 err="1">
                <a:solidFill>
                  <a:srgbClr val="00B050"/>
                </a:solidFill>
                <a:latin typeface="Malgun Gothic"/>
              </a:rPr>
              <a:t>이번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리뷰는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순위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발표보다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평가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기준의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보정과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서비스화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시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고려해야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할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근거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통제</a:t>
            </a:r>
            <a:r>
              <a:rPr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Malgun Gothic"/>
              </a:rPr>
              <a:t>원칙</a:t>
            </a:r>
            <a:r>
              <a:rPr lang="en-US"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lang="ko-KR" altLang="en-US" sz="1800" dirty="0">
                <a:solidFill>
                  <a:srgbClr val="00B050"/>
                </a:solidFill>
                <a:latin typeface="Malgun Gothic"/>
              </a:rPr>
              <a:t>및 시사점</a:t>
            </a:r>
            <a:r>
              <a:rPr lang="en-US" sz="1800" dirty="0">
                <a:solidFill>
                  <a:srgbClr val="00B050"/>
                </a:solidFill>
                <a:latin typeface="Malgun Gothic"/>
              </a:rPr>
              <a:t> </a:t>
            </a:r>
            <a:r>
              <a:rPr lang="ko-KR" altLang="en-US" sz="1800" dirty="0">
                <a:solidFill>
                  <a:srgbClr val="00B050"/>
                </a:solidFill>
                <a:latin typeface="Malgun Gothic"/>
              </a:rPr>
              <a:t>도출</a:t>
            </a:r>
            <a:endParaRPr sz="1800" dirty="0">
              <a:solidFill>
                <a:srgbClr val="00B050"/>
              </a:solidFill>
              <a:latin typeface="Malgun Gothi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80000" y="3600000"/>
            <a:ext cx="1368000" cy="1980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핵심 관점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3941999"/>
            <a:ext cx="3323026" cy="15029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근거</a:t>
            </a:r>
            <a:r>
              <a:rPr sz="135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없는</a:t>
            </a:r>
            <a:r>
              <a:rPr sz="135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질문</a:t>
            </a:r>
            <a:r>
              <a:rPr sz="135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거절</a:t>
            </a:r>
            <a:endParaRPr sz="135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sz="135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잘못된</a:t>
            </a:r>
            <a:r>
              <a:rPr sz="135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출처</a:t>
            </a:r>
            <a:r>
              <a:rPr sz="135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차단</a:t>
            </a:r>
            <a:endParaRPr sz="135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sz="135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검색</a:t>
            </a:r>
            <a:r>
              <a:rPr sz="135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근거</a:t>
            </a:r>
            <a:r>
              <a:rPr sz="135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설명</a:t>
            </a:r>
            <a:r>
              <a:rPr sz="135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350" b="0" dirty="0" err="1">
                <a:solidFill>
                  <a:srgbClr val="1E293B"/>
                </a:solidFill>
                <a:latin typeface="Malgun Gothic"/>
              </a:rPr>
              <a:t>가능성</a:t>
            </a:r>
            <a:endParaRPr lang="en-US" sz="135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lang="en-US" altLang="ko-KR" sz="135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lang="ko-KR" altLang="en-US" sz="1350" dirty="0">
                <a:solidFill>
                  <a:srgbClr val="1E293B"/>
                </a:solidFill>
                <a:latin typeface="Malgun Gothic"/>
              </a:rPr>
              <a:t>가상의 조 </a:t>
            </a:r>
            <a:r>
              <a:rPr lang="en-US" altLang="ko-KR" sz="1350" dirty="0">
                <a:solidFill>
                  <a:srgbClr val="1E293B"/>
                </a:solidFill>
                <a:latin typeface="Malgun Gothic"/>
              </a:rPr>
              <a:t>0</a:t>
            </a:r>
            <a:r>
              <a:rPr lang="ko-KR" altLang="en-US" sz="1350" dirty="0">
                <a:solidFill>
                  <a:srgbClr val="1E293B"/>
                </a:solidFill>
                <a:latin typeface="Malgun Gothic"/>
              </a:rPr>
              <a:t>조</a:t>
            </a:r>
            <a:r>
              <a:rPr lang="en-US" altLang="ko-KR" sz="1350" dirty="0">
                <a:solidFill>
                  <a:srgbClr val="1E293B"/>
                </a:solidFill>
                <a:latin typeface="Malgun Gothic"/>
              </a:rPr>
              <a:t>, 4</a:t>
            </a:r>
            <a:r>
              <a:rPr lang="ko-KR" altLang="en-US" sz="1350" dirty="0">
                <a:solidFill>
                  <a:srgbClr val="1E293B"/>
                </a:solidFill>
                <a:latin typeface="Malgun Gothic"/>
              </a:rPr>
              <a:t>조 포함하여 기준점 제시</a:t>
            </a:r>
          </a:p>
          <a:p>
            <a:pPr>
              <a:spcAft>
                <a:spcPts val="400"/>
              </a:spcAft>
            </a:pPr>
            <a:endParaRPr lang="en-US" sz="135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endParaRPr sz="135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2000" y="6263999"/>
            <a:ext cx="5760000" cy="1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Source: AI Lab 2기 중간평가 API 정확도 산정(답변 보정전/후).xlsx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평가 참여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415177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64748B"/>
                </a:solidFill>
                <a:latin typeface="Malgun Gothic"/>
              </a:rPr>
              <a:t>1조·2조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외에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가상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비교군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0조·4조를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포함해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비교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평가의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직관성</a:t>
            </a:r>
            <a:r>
              <a:rPr lang="en-US"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lang="ko-KR" altLang="en-US" sz="1050" b="0" dirty="0">
                <a:solidFill>
                  <a:srgbClr val="64748B"/>
                </a:solidFill>
                <a:latin typeface="Malgun Gothic"/>
              </a:rPr>
              <a:t>향상</a:t>
            </a:r>
            <a:endParaRPr sz="1050" b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6000" y="1098000"/>
            <a:ext cx="111600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 dirty="0">
                <a:solidFill>
                  <a:srgbClr val="152A4E"/>
                </a:solidFill>
                <a:latin typeface="Malgun Gothic"/>
              </a:rPr>
              <a:t>1</a:t>
            </a:r>
            <a:r>
              <a:rPr lang="ko-KR" altLang="en-US" sz="1700" b="1" dirty="0">
                <a:solidFill>
                  <a:srgbClr val="152A4E"/>
                </a:solidFill>
                <a:latin typeface="Malgun Gothic"/>
              </a:rPr>
              <a:t>조의 온톨로지와 </a:t>
            </a:r>
            <a:r>
              <a:rPr lang="en-US" altLang="ko-KR" sz="1700" b="1" dirty="0">
                <a:solidFill>
                  <a:srgbClr val="152A4E"/>
                </a:solidFill>
                <a:latin typeface="Malgun Gothic"/>
              </a:rPr>
              <a:t>2</a:t>
            </a:r>
            <a:r>
              <a:rPr lang="ko-KR" altLang="en-US" sz="1700" b="1" dirty="0">
                <a:solidFill>
                  <a:srgbClr val="152A4E"/>
                </a:solidFill>
                <a:latin typeface="Malgun Gothic"/>
              </a:rPr>
              <a:t>조의 </a:t>
            </a:r>
            <a:r>
              <a:rPr lang="en-US" altLang="ko-KR" sz="1700" b="1" dirty="0">
                <a:solidFill>
                  <a:srgbClr val="152A4E"/>
                </a:solidFill>
                <a:latin typeface="Malgun Gothic"/>
              </a:rPr>
              <a:t>advanced RAG</a:t>
            </a:r>
            <a:r>
              <a:rPr lang="ko-KR" altLang="en-US" sz="1700" b="1" dirty="0">
                <a:solidFill>
                  <a:srgbClr val="152A4E"/>
                </a:solidFill>
                <a:latin typeface="Malgun Gothic"/>
              </a:rPr>
              <a:t>의 </a:t>
            </a:r>
            <a:r>
              <a:rPr lang="en-US" altLang="ko-KR" sz="1700" b="1" dirty="0">
                <a:solidFill>
                  <a:srgbClr val="152A4E"/>
                </a:solidFill>
                <a:latin typeface="Malgun Gothic"/>
              </a:rPr>
              <a:t>API </a:t>
            </a:r>
            <a:r>
              <a:rPr lang="ko-KR" altLang="en-US" sz="1700" b="1" dirty="0">
                <a:solidFill>
                  <a:srgbClr val="152A4E"/>
                </a:solidFill>
                <a:latin typeface="Malgun Gothic"/>
              </a:rPr>
              <a:t>정확도 벤치마크</a:t>
            </a:r>
            <a:endParaRPr lang="en-US" sz="1700" b="1" dirty="0">
              <a:solidFill>
                <a:srgbClr val="152A4E"/>
              </a:solidFill>
              <a:latin typeface="Malgun Gothic"/>
            </a:endParaRPr>
          </a:p>
          <a:p>
            <a:pPr algn="l"/>
            <a:r>
              <a:rPr sz="1700" b="1" dirty="0">
                <a:solidFill>
                  <a:srgbClr val="152A4E"/>
                </a:solidFill>
                <a:latin typeface="Malgun Gothic"/>
              </a:rPr>
              <a:t>3조는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조장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협의를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통해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온톨로지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&amp; RAG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벤치마크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평가에서는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제외</a:t>
            </a:r>
            <a:r>
              <a:rPr lang="en-US" sz="1700" b="1" dirty="0">
                <a:solidFill>
                  <a:srgbClr val="152A4E"/>
                </a:solidFill>
                <a:latin typeface="Malgun Gothic"/>
              </a:rPr>
              <a:t> (</a:t>
            </a:r>
            <a:r>
              <a:rPr lang="ko-KR" altLang="en-US" sz="1700" b="1" dirty="0">
                <a:solidFill>
                  <a:srgbClr val="152A4E"/>
                </a:solidFill>
                <a:latin typeface="Malgun Gothic"/>
              </a:rPr>
              <a:t>이후</a:t>
            </a:r>
            <a:r>
              <a:rPr lang="en-US" altLang="ko-KR" sz="1700" b="1" dirty="0">
                <a:solidFill>
                  <a:srgbClr val="152A4E"/>
                </a:solidFill>
                <a:latin typeface="Malgun Gothic"/>
              </a:rPr>
              <a:t>,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별도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테크니컬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인사이트를</a:t>
            </a:r>
            <a:r>
              <a:rPr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152A4E"/>
                </a:solidFill>
                <a:latin typeface="Malgun Gothic"/>
              </a:rPr>
              <a:t>도출</a:t>
            </a:r>
            <a:r>
              <a:rPr lang="en-US" sz="17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lang="ko-KR" altLang="en-US" sz="1700" b="1" dirty="0">
                <a:solidFill>
                  <a:srgbClr val="152A4E"/>
                </a:solidFill>
                <a:latin typeface="Malgun Gothic"/>
              </a:rPr>
              <a:t>예정</a:t>
            </a:r>
            <a:r>
              <a:rPr lang="en-US" altLang="ko-KR" sz="1700" b="1" dirty="0">
                <a:solidFill>
                  <a:srgbClr val="152A4E"/>
                </a:solidFill>
                <a:latin typeface="Malgun Gothic"/>
              </a:rPr>
              <a:t>) </a:t>
            </a:r>
            <a:endParaRPr sz="17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6000" y="1638000"/>
            <a:ext cx="1062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2000" y="1925999"/>
            <a:ext cx="3600000" cy="216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algun Gothic"/>
              </a:rPr>
              <a:t>평가 참여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522000" y="2250000"/>
            <a:ext cx="144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4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2000" y="2250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40" b="1">
                <a:solidFill>
                  <a:srgbClr val="FFFFFF"/>
                </a:solidFill>
                <a:latin typeface="Malgun Gothic"/>
              </a:rPr>
              <a:t>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1999" y="2250000"/>
            <a:ext cx="73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40" b="1">
                <a:solidFill>
                  <a:srgbClr val="FFFFFF"/>
                </a:solidFill>
                <a:latin typeface="Malgun Gothic"/>
              </a:rPr>
              <a:t>구성/해석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2000" y="2530800"/>
            <a:ext cx="144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40" b="0">
                <a:solidFill>
                  <a:srgbClr val="1E293B"/>
                </a:solidFill>
                <a:latin typeface="Malgun Gothic"/>
              </a:rPr>
              <a:t>실제 참여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2000" y="2530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40" b="0">
                <a:solidFill>
                  <a:srgbClr val="1E293B"/>
                </a:solidFill>
                <a:latin typeface="Malgun Gothic"/>
              </a:rPr>
              <a:t>1조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1999" y="2530800"/>
            <a:ext cx="73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40" b="0">
                <a:solidFill>
                  <a:srgbClr val="1E293B"/>
                </a:solidFill>
                <a:latin typeface="Malgun Gothic"/>
              </a:rPr>
              <a:t>온톨로지. 사실상 온톨로지+RAG를 함께 사용한 하이브리드 방식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2000" y="2811600"/>
            <a:ext cx="144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40" b="0">
                <a:solidFill>
                  <a:srgbClr val="1E293B"/>
                </a:solidFill>
                <a:latin typeface="Malgun Gothic"/>
              </a:rPr>
              <a:t>실제 참여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2000" y="2811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40" b="0">
                <a:solidFill>
                  <a:srgbClr val="1E293B"/>
                </a:solidFill>
                <a:latin typeface="Malgun Gothic"/>
              </a:rPr>
              <a:t>2조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41999" y="2811600"/>
            <a:ext cx="73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40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2000" y="3092400"/>
            <a:ext cx="144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40" b="0">
                <a:solidFill>
                  <a:srgbClr val="1E293B"/>
                </a:solidFill>
                <a:latin typeface="Malgun Gothic"/>
              </a:rPr>
              <a:t>가상 비교군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2000" y="3092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40" b="0">
                <a:solidFill>
                  <a:srgbClr val="1E293B"/>
                </a:solidFill>
                <a:latin typeface="Malgun Gothic"/>
              </a:rPr>
              <a:t>0조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41999" y="3092400"/>
            <a:ext cx="73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40" b="0">
                <a:solidFill>
                  <a:srgbClr val="1E293B"/>
                </a:solidFill>
                <a:latin typeface="Malgun Gothic"/>
              </a:rPr>
              <a:t>순수 RAG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2000" y="3373200"/>
            <a:ext cx="144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40" b="0">
                <a:solidFill>
                  <a:srgbClr val="1E293B"/>
                </a:solidFill>
                <a:latin typeface="Malgun Gothic"/>
              </a:rPr>
              <a:t>가상 비교군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2000" y="33732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40" b="0">
                <a:solidFill>
                  <a:srgbClr val="1E293B"/>
                </a:solidFill>
                <a:latin typeface="Malgun Gothic"/>
              </a:rPr>
              <a:t>4조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1999" y="3373200"/>
            <a:ext cx="73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40" b="0">
                <a:solidFill>
                  <a:srgbClr val="1E293B"/>
                </a:solidFill>
                <a:latin typeface="Malgun Gothic"/>
              </a:rPr>
              <a:t>하이브리드 RAG. 온톨로지+전통 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4300" y="4923402"/>
            <a:ext cx="7442033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dirty="0" err="1">
                <a:solidFill>
                  <a:srgbClr val="1E293B"/>
                </a:solidFill>
                <a:latin typeface="Malgun Gothic"/>
              </a:rPr>
              <a:t>가상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lang="ko-KR" altLang="en-US" sz="1800" b="1" dirty="0">
                <a:solidFill>
                  <a:srgbClr val="1E293B"/>
                </a:solidFill>
                <a:latin typeface="Malgun Gothic"/>
              </a:rPr>
              <a:t>조를 참여시켜</a:t>
            </a:r>
            <a:r>
              <a:rPr lang="en-US" altLang="ko-KR" sz="1800" b="1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순수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RAG와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하이브리드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RAG의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기준선</a:t>
            </a:r>
            <a:r>
              <a:rPr lang="ko-KR" altLang="en-US" sz="1800" b="1" dirty="0">
                <a:solidFill>
                  <a:srgbClr val="1E293B"/>
                </a:solidFill>
                <a:latin typeface="Malgun Gothic"/>
              </a:rPr>
              <a:t>을 통해 </a:t>
            </a:r>
            <a:endParaRPr lang="en-US" altLang="ko-KR" sz="1800" b="1" dirty="0">
              <a:solidFill>
                <a:srgbClr val="1E293B"/>
              </a:solidFill>
              <a:latin typeface="Malgun Gothic"/>
            </a:endParaRPr>
          </a:p>
          <a:p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1</a:t>
            </a:r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조와 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2</a:t>
            </a:r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조 절대 평가 가이드라인 제시</a:t>
            </a:r>
            <a:endParaRPr sz="1800" b="1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6192401" cy="3847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52A4E"/>
                </a:solidFill>
                <a:latin typeface="Malgun Gothic"/>
              </a:rPr>
              <a:t>평가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체계</a:t>
            </a:r>
            <a:r>
              <a:rPr lang="en-US"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개선 </a:t>
            </a:r>
            <a:r>
              <a:rPr lang="en-US" altLang="ko-KR" sz="2500" b="1" dirty="0">
                <a:solidFill>
                  <a:srgbClr val="152A4E"/>
                </a:solidFill>
                <a:latin typeface="Malgun Gothic"/>
              </a:rPr>
              <a:t>– 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답변 보정 후 평가에 반영</a:t>
            </a:r>
            <a:endParaRPr sz="25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정답 보정과 함정 문항 처리로 단순 점수 비교에서 서비스 품질 평가로 이동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151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4000" y="1080000"/>
            <a:ext cx="442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답변 보정전 산정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2000" y="1080000"/>
            <a:ext cx="442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답변 보정후 산정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3608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입력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4000" y="13608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AI Lab API 정확도 산정(답변 보정전)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2000" y="13608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AI Lab API 정확도 산정(답변 보정후)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6416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정답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4000" y="16416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초기 예상 답변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2000" y="16416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예상 답변·근거·핵심포함어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9224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STD-S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4000" y="19224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Snowflake RAG 문항으로 채점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2000" y="19224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문서에 없는 함정 질문으로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2032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평가 의미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44000" y="22032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답변 유사도 중심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2000" y="22032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근거 부재 감지 + 답변 정확도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40000" y="3006000"/>
          <a:ext cx="5400000" cy="26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252002" y="3096000"/>
            <a:ext cx="5285998" cy="22570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00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기존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lang="en-US" sz="2000" b="0" dirty="0">
                <a:solidFill>
                  <a:srgbClr val="1E293B"/>
                </a:solidFill>
                <a:latin typeface="Malgun Gothic"/>
              </a:rPr>
              <a:t>1</a:t>
            </a:r>
            <a:r>
              <a:rPr lang="ko-KR" altLang="en-US" sz="2000" b="0" dirty="0">
                <a:solidFill>
                  <a:srgbClr val="1E293B"/>
                </a:solidFill>
                <a:latin typeface="Malgun Gothic"/>
              </a:rPr>
              <a:t>조</a:t>
            </a:r>
            <a:r>
              <a:rPr lang="en-US" altLang="ko-KR" sz="200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2조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답변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원문은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보존하고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답변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보정후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기준으로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점수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재산정</a:t>
            </a:r>
            <a:r>
              <a:rPr lang="en-US" sz="2000" b="0" dirty="0">
                <a:solidFill>
                  <a:srgbClr val="1E293B"/>
                </a:solidFill>
                <a:latin typeface="Malgun Gothic"/>
              </a:rPr>
              <a:t> (</a:t>
            </a:r>
            <a:r>
              <a:rPr lang="ko-KR" altLang="en-US" sz="2000" b="0" dirty="0">
                <a:solidFill>
                  <a:srgbClr val="1E293B"/>
                </a:solidFill>
                <a:latin typeface="Malgun Gothic"/>
              </a:rPr>
              <a:t>가상의 </a:t>
            </a:r>
            <a:r>
              <a:rPr lang="en-US" altLang="ko-KR" sz="2000" b="0" dirty="0">
                <a:solidFill>
                  <a:srgbClr val="1E293B"/>
                </a:solidFill>
                <a:latin typeface="Malgun Gothic"/>
              </a:rPr>
              <a:t>0</a:t>
            </a:r>
            <a:r>
              <a:rPr lang="ko-KR" altLang="en-US" sz="2000" b="0" dirty="0">
                <a:solidFill>
                  <a:srgbClr val="1E293B"/>
                </a:solidFill>
                <a:latin typeface="Malgun Gothic"/>
              </a:rPr>
              <a:t>조 포함</a:t>
            </a:r>
            <a:r>
              <a:rPr lang="en-US" altLang="ko-KR" sz="2000" b="0" dirty="0">
                <a:solidFill>
                  <a:srgbClr val="1E293B"/>
                </a:solidFill>
                <a:latin typeface="Malgun Gothic"/>
              </a:rPr>
              <a:t>)</a:t>
            </a:r>
            <a:endParaRPr sz="200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sz="200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lang="ko-KR" altLang="en-US" sz="2000" b="0" dirty="0">
                <a:solidFill>
                  <a:srgbClr val="1E293B"/>
                </a:solidFill>
                <a:latin typeface="Malgun Gothic"/>
              </a:rPr>
              <a:t>추가로 가상의 </a:t>
            </a:r>
            <a:r>
              <a:rPr lang="en-US" altLang="ko-KR" sz="2000" b="0" dirty="0">
                <a:solidFill>
                  <a:srgbClr val="1E293B"/>
                </a:solidFill>
                <a:latin typeface="Malgun Gothic"/>
              </a:rPr>
              <a:t>4</a:t>
            </a:r>
            <a:r>
              <a:rPr lang="ko-KR" altLang="en-US" sz="2000" b="0" dirty="0">
                <a:solidFill>
                  <a:srgbClr val="1E293B"/>
                </a:solidFill>
                <a:latin typeface="Malgun Gothic"/>
              </a:rPr>
              <a:t>조</a:t>
            </a:r>
            <a:r>
              <a:rPr lang="en-US" altLang="ko-KR" sz="2000" b="0" dirty="0">
                <a:solidFill>
                  <a:srgbClr val="1E293B"/>
                </a:solidFill>
                <a:latin typeface="Malgun Gothic"/>
              </a:rPr>
              <a:t>(</a:t>
            </a:r>
            <a:r>
              <a:rPr lang="ko-KR" altLang="en-US" sz="2000" b="0" dirty="0">
                <a:solidFill>
                  <a:srgbClr val="1E293B"/>
                </a:solidFill>
                <a:latin typeface="Malgun Gothic"/>
              </a:rPr>
              <a:t>하이브리드 </a:t>
            </a:r>
            <a:r>
              <a:rPr lang="en-US" altLang="ko-KR" sz="2000" b="0" dirty="0">
                <a:solidFill>
                  <a:srgbClr val="1E293B"/>
                </a:solidFill>
                <a:latin typeface="Malgun Gothic"/>
              </a:rPr>
              <a:t>RAG)</a:t>
            </a:r>
            <a:r>
              <a:rPr lang="ko-KR" altLang="en-US" sz="2000" b="0" dirty="0">
                <a:solidFill>
                  <a:srgbClr val="1E293B"/>
                </a:solidFill>
                <a:latin typeface="Malgun Gothic"/>
              </a:rPr>
              <a:t>를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추가해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동일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기준으로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비교</a:t>
            </a:r>
            <a:endParaRPr sz="200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sz="200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정답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자체의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편향과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질문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유도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오류를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보정하면서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평가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목표가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더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현실적인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서비스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2000" b="0" dirty="0" err="1">
                <a:solidFill>
                  <a:srgbClr val="1E293B"/>
                </a:solidFill>
                <a:latin typeface="Malgun Gothic"/>
              </a:rPr>
              <a:t>검증으로</a:t>
            </a:r>
            <a:r>
              <a:rPr sz="20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lang="ko-KR" altLang="en-US" sz="2000" dirty="0">
                <a:solidFill>
                  <a:srgbClr val="1E293B"/>
                </a:solidFill>
                <a:latin typeface="Malgun Gothic"/>
              </a:rPr>
              <a:t>보완</a:t>
            </a:r>
            <a:endParaRPr sz="12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8319585" cy="3847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조별 순위 산정</a:t>
            </a:r>
            <a:r>
              <a:rPr lang="en-US" altLang="ko-KR" sz="2500" b="1" dirty="0">
                <a:solidFill>
                  <a:srgbClr val="152A4E"/>
                </a:solidFill>
                <a:latin typeface="Malgun Gothic"/>
              </a:rPr>
              <a:t>: 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4조</a:t>
            </a:r>
            <a:r>
              <a:rPr lang="en-US" sz="2500" b="1" dirty="0">
                <a:solidFill>
                  <a:srgbClr val="152A4E"/>
                </a:solidFill>
                <a:latin typeface="Malgun Gothic"/>
              </a:rPr>
              <a:t>(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가상의 조</a:t>
            </a:r>
            <a:r>
              <a:rPr lang="en-US" altLang="ko-KR" sz="2500" b="1" dirty="0">
                <a:solidFill>
                  <a:srgbClr val="152A4E"/>
                </a:solidFill>
                <a:latin typeface="Malgun Gothic"/>
              </a:rPr>
              <a:t>)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, 1조, 2조, 0조</a:t>
            </a:r>
            <a:r>
              <a:rPr lang="en-US" sz="2500" b="1" dirty="0">
                <a:solidFill>
                  <a:srgbClr val="152A4E"/>
                </a:solidFill>
                <a:latin typeface="Malgun Gothic"/>
              </a:rPr>
              <a:t>(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가상의 조</a:t>
            </a:r>
            <a:r>
              <a:rPr lang="en-US" altLang="ko-KR" sz="2500" b="1" dirty="0">
                <a:solidFill>
                  <a:srgbClr val="152A4E"/>
                </a:solidFill>
                <a:latin typeface="Malgun Gothic"/>
              </a:rPr>
              <a:t>)</a:t>
            </a:r>
            <a:endParaRPr sz="25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1조 wrong-source 감점과 2조 STD-S-05 보정을 모두 반영한 최종 점수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68000" y="1080000"/>
          <a:ext cx="6120000" cy="3851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840000" y="1080000"/>
            <a:ext cx="93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lang="ko-KR" altLang="en-US" sz="840" b="1" dirty="0">
                <a:solidFill>
                  <a:srgbClr val="FFFFFF"/>
                </a:solidFill>
                <a:latin typeface="Malgun Gothic"/>
              </a:rPr>
              <a:t>조</a:t>
            </a:r>
            <a:endParaRPr sz="84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6000" y="1080000"/>
            <a:ext cx="97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최종 정확도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8748000" y="1080000"/>
            <a:ext cx="28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해석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0" y="13608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0" dirty="0">
                <a:solidFill>
                  <a:srgbClr val="1E293B"/>
                </a:solidFill>
                <a:latin typeface="Malgun Gothic"/>
              </a:rPr>
              <a:t>4조</a:t>
            </a:r>
            <a:r>
              <a:rPr lang="en-US" sz="840" b="0" dirty="0">
                <a:solidFill>
                  <a:srgbClr val="1E293B"/>
                </a:solidFill>
                <a:latin typeface="Malgun Gothic"/>
              </a:rPr>
              <a:t> (</a:t>
            </a:r>
            <a:r>
              <a:rPr lang="ko-KR" altLang="en-US" sz="840" b="0" dirty="0">
                <a:solidFill>
                  <a:srgbClr val="1E293B"/>
                </a:solidFill>
                <a:latin typeface="Malgun Gothic"/>
              </a:rPr>
              <a:t>가상의 조</a:t>
            </a:r>
            <a:r>
              <a:rPr lang="en-US" altLang="ko-KR" sz="840" b="0" dirty="0">
                <a:solidFill>
                  <a:srgbClr val="1E293B"/>
                </a:solidFill>
                <a:latin typeface="Malgun Gothic"/>
              </a:rPr>
              <a:t>)</a:t>
            </a:r>
            <a:endParaRPr sz="84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76000" y="1360800"/>
            <a:ext cx="9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85.00%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48000" y="1360800"/>
            <a:ext cx="28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lang="ko-KR" altLang="en-US" sz="840" dirty="0">
                <a:solidFill>
                  <a:srgbClr val="1E293B"/>
                </a:solidFill>
                <a:latin typeface="Malgun Gothic"/>
              </a:rPr>
              <a:t>온톨로지와 </a:t>
            </a:r>
            <a:r>
              <a:rPr lang="en-US" altLang="ko-KR" sz="840" dirty="0">
                <a:solidFill>
                  <a:srgbClr val="1E293B"/>
                </a:solidFill>
                <a:latin typeface="Malgun Gothic"/>
              </a:rPr>
              <a:t>RAG</a:t>
            </a:r>
            <a:r>
              <a:rPr lang="ko-KR" altLang="en-US" sz="840" dirty="0">
                <a:solidFill>
                  <a:srgbClr val="1E293B"/>
                </a:solidFill>
                <a:latin typeface="Malgun Gothic"/>
              </a:rPr>
              <a:t>를 하이브리드로 하는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함정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질문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거절과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출처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제한에서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가장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안정적</a:t>
            </a:r>
            <a:endParaRPr sz="84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40000" y="16416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1조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6000" y="1641600"/>
            <a:ext cx="9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76.88%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48000" y="1641600"/>
            <a:ext cx="28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RAG 하이브리드 효과는 있으나, STD-S wrong-source 7문항 감점 반영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40000" y="19224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2조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6000" y="1922400"/>
            <a:ext cx="9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72.92%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48000" y="1922400"/>
            <a:ext cx="28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Advanced RAG 문항은 강하고 STD-S-05는 적절했으나, 다른 STD-S 차단 한계 존재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40000" y="22032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0" dirty="0">
                <a:solidFill>
                  <a:srgbClr val="1E293B"/>
                </a:solidFill>
                <a:latin typeface="Malgun Gothic"/>
              </a:rPr>
              <a:t>0조</a:t>
            </a:r>
            <a:r>
              <a:rPr lang="en-US" sz="840" b="0" dirty="0">
                <a:solidFill>
                  <a:srgbClr val="1E293B"/>
                </a:solidFill>
                <a:latin typeface="Malgun Gothic"/>
              </a:rPr>
              <a:t> (</a:t>
            </a:r>
            <a:r>
              <a:rPr lang="ko-KR" altLang="en-US" sz="840" b="0" dirty="0">
                <a:solidFill>
                  <a:srgbClr val="1E293B"/>
                </a:solidFill>
                <a:latin typeface="Malgun Gothic"/>
              </a:rPr>
              <a:t>가상의 조</a:t>
            </a:r>
            <a:r>
              <a:rPr lang="en-US" altLang="ko-KR" sz="840" b="0" dirty="0">
                <a:solidFill>
                  <a:srgbClr val="1E293B"/>
                </a:solidFill>
                <a:latin typeface="Malgun Gothic"/>
              </a:rPr>
              <a:t>)</a:t>
            </a:r>
            <a:endParaRPr sz="84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76000" y="2203200"/>
            <a:ext cx="9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70.42%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48000" y="2203200"/>
            <a:ext cx="28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순수 RAG로 기준선 역할. 보정 후 도입 고려 수준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카테고리별 강점은 다르게 나타났다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604492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64748B"/>
                </a:solidFill>
                <a:latin typeface="Malgun Gothic"/>
              </a:rPr>
              <a:t>Advanced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RAG는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2조,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Ontology와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Snowflake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함정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대응은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1조·4조</a:t>
            </a:r>
            <a:r>
              <a:rPr lang="en-US" sz="1050" b="0" dirty="0">
                <a:solidFill>
                  <a:srgbClr val="64748B"/>
                </a:solidFill>
                <a:latin typeface="Malgun Gothic"/>
              </a:rPr>
              <a:t>(</a:t>
            </a:r>
            <a:r>
              <a:rPr lang="ko-KR" altLang="en-US" sz="1050" b="0" dirty="0">
                <a:solidFill>
                  <a:srgbClr val="64748B"/>
                </a:solidFill>
                <a:latin typeface="Malgun Gothic"/>
              </a:rPr>
              <a:t>가상의 조</a:t>
            </a:r>
            <a:r>
              <a:rPr lang="en-US" altLang="ko-KR" sz="1050" b="0" dirty="0">
                <a:solidFill>
                  <a:srgbClr val="64748B"/>
                </a:solidFill>
                <a:latin typeface="Malgun Gothic"/>
              </a:rPr>
              <a:t>)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가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상대적으로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강하다</a:t>
            </a:r>
            <a:endParaRPr sz="1050" b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3999" y="1080000"/>
            <a:ext cx="1476000" cy="1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64748B"/>
                </a:solidFill>
                <a:latin typeface="Malgun Gothic"/>
              </a:rPr>
              <a:t>카테고리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12709" y="1080000"/>
            <a:ext cx="522580" cy="13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80" b="1" dirty="0">
                <a:solidFill>
                  <a:srgbClr val="64748B"/>
                </a:solidFill>
                <a:latin typeface="Malgun Gothic"/>
              </a:rPr>
              <a:t>0조</a:t>
            </a:r>
            <a:r>
              <a:rPr lang="en-US" sz="880" b="1" dirty="0">
                <a:solidFill>
                  <a:srgbClr val="64748B"/>
                </a:solidFill>
                <a:latin typeface="Malgun Gothic"/>
              </a:rPr>
              <a:t> (</a:t>
            </a:r>
            <a:r>
              <a:rPr lang="ko-KR" altLang="en-US" sz="880" b="1" dirty="0">
                <a:solidFill>
                  <a:srgbClr val="64748B"/>
                </a:solidFill>
                <a:latin typeface="Malgun Gothic"/>
              </a:rPr>
              <a:t>가상</a:t>
            </a:r>
            <a:r>
              <a:rPr lang="en-US" altLang="ko-KR" sz="880" b="1" dirty="0">
                <a:solidFill>
                  <a:srgbClr val="64748B"/>
                </a:solidFill>
                <a:latin typeface="Malgun Gothic"/>
              </a:rPr>
              <a:t>)</a:t>
            </a:r>
            <a:endParaRPr sz="880" b="1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68000" y="1080000"/>
            <a:ext cx="1116000" cy="1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1조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080000"/>
            <a:ext cx="1116000" cy="1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2조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8710" y="1080000"/>
            <a:ext cx="522580" cy="13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80" b="1" dirty="0">
                <a:solidFill>
                  <a:srgbClr val="64748B"/>
                </a:solidFill>
                <a:latin typeface="Malgun Gothic"/>
              </a:rPr>
              <a:t>4조</a:t>
            </a:r>
            <a:r>
              <a:rPr lang="en-US" sz="880" b="1" dirty="0">
                <a:solidFill>
                  <a:srgbClr val="64748B"/>
                </a:solidFill>
                <a:latin typeface="Malgun Gothic"/>
              </a:rPr>
              <a:t> (</a:t>
            </a:r>
            <a:r>
              <a:rPr lang="ko-KR" altLang="en-US" sz="880" b="1" dirty="0">
                <a:solidFill>
                  <a:srgbClr val="64748B"/>
                </a:solidFill>
                <a:latin typeface="Malgun Gothic"/>
              </a:rPr>
              <a:t>가상</a:t>
            </a:r>
            <a:r>
              <a:rPr lang="en-US" altLang="ko-KR" sz="880" b="1" dirty="0">
                <a:solidFill>
                  <a:srgbClr val="64748B"/>
                </a:solidFill>
                <a:latin typeface="Malgun Gothic"/>
              </a:rPr>
              <a:t>)</a:t>
            </a:r>
            <a:endParaRPr sz="880" b="1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3999" y="1432799"/>
            <a:ext cx="1440000" cy="15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5999" y="1339200"/>
            <a:ext cx="1062000" cy="295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88.75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68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91.25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93.75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72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1821599"/>
            <a:ext cx="1440000" cy="15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Ontology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5999" y="17280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69.38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68000" y="1728000"/>
            <a:ext cx="1062000" cy="295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83.75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0" y="1728000"/>
            <a:ext cx="1062000" cy="295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71.88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72000" y="1728000"/>
            <a:ext cx="1062000" cy="295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74.38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2210400"/>
            <a:ext cx="1440000" cy="15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Snowflake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5999" y="21168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53.12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68000" y="21168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90.62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0" y="2116800"/>
            <a:ext cx="1062000" cy="295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45.62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72000" y="21168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3248267"/>
            <a:ext cx="5328000" cy="19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algun Gothic"/>
              </a:rPr>
              <a:t>카테고리 평균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999" y="3518267"/>
            <a:ext cx="154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19" b="1">
                <a:solidFill>
                  <a:srgbClr val="FFFFFF"/>
                </a:solidFill>
                <a:latin typeface="Malgun Gothic"/>
              </a:rPr>
              <a:t>카테고리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1999" y="3518267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1" dirty="0">
                <a:solidFill>
                  <a:srgbClr val="FFFFFF"/>
                </a:solidFill>
                <a:latin typeface="Malgun Gothic"/>
              </a:rPr>
              <a:t>0조</a:t>
            </a:r>
            <a:r>
              <a:rPr lang="en-US" sz="819" b="1" dirty="0">
                <a:solidFill>
                  <a:srgbClr val="FFFFFF"/>
                </a:solidFill>
                <a:latin typeface="Malgun Gothic"/>
              </a:rPr>
              <a:t> (</a:t>
            </a:r>
            <a:r>
              <a:rPr lang="ko-KR" altLang="en-US" sz="819" b="1" dirty="0">
                <a:solidFill>
                  <a:srgbClr val="FFFFFF"/>
                </a:solidFill>
                <a:latin typeface="Malgun Gothic"/>
              </a:rPr>
              <a:t>가상</a:t>
            </a:r>
            <a:r>
              <a:rPr lang="en-US" altLang="ko-KR" sz="819" b="1" dirty="0">
                <a:solidFill>
                  <a:srgbClr val="FFFFFF"/>
                </a:solidFill>
                <a:latin typeface="Malgun Gothic"/>
              </a:rPr>
              <a:t>)</a:t>
            </a:r>
            <a:endParaRPr sz="819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31999" y="3518267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1조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12000" y="3518267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2조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92000" y="3518267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1" dirty="0">
                <a:solidFill>
                  <a:srgbClr val="FFFFFF"/>
                </a:solidFill>
                <a:latin typeface="Malgun Gothic"/>
              </a:rPr>
              <a:t>4조</a:t>
            </a:r>
            <a:r>
              <a:rPr lang="en-US" sz="819" b="1" dirty="0">
                <a:solidFill>
                  <a:srgbClr val="FFFFFF"/>
                </a:solidFill>
                <a:latin typeface="Malgun Gothic"/>
              </a:rPr>
              <a:t> (</a:t>
            </a:r>
            <a:r>
              <a:rPr lang="ko-KR" altLang="en-US" sz="819" b="1" dirty="0">
                <a:solidFill>
                  <a:srgbClr val="FFFFFF"/>
                </a:solidFill>
                <a:latin typeface="Malgun Gothic"/>
              </a:rPr>
              <a:t>가상</a:t>
            </a:r>
            <a:r>
              <a:rPr lang="en-US" altLang="ko-KR" sz="819" b="1" dirty="0">
                <a:solidFill>
                  <a:srgbClr val="FFFFFF"/>
                </a:solidFill>
                <a:latin typeface="Malgun Gothic"/>
              </a:rPr>
              <a:t>)</a:t>
            </a:r>
            <a:endParaRPr sz="819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72000" y="3518267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평균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3999" y="3799067"/>
            <a:ext cx="154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1999" y="37990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88.75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31999" y="37990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91.25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12000" y="37990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93.75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92000" y="37990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2000" y="37990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90.94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3999" y="4079867"/>
            <a:ext cx="15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Ontology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1999" y="4079867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69.38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31999" y="4079867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83.75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12000" y="4079867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71.88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0" y="4079867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74.38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72000" y="4079867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74.85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3999" y="4360667"/>
            <a:ext cx="154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Snowflake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1999" y="43606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53.12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31999" y="43606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90.62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12000" y="43606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45.62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92000" y="43606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90.62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72000" y="4360667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70.00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79999" y="1152000"/>
            <a:ext cx="4010811" cy="2031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20" b="0" dirty="0">
                <a:solidFill>
                  <a:srgbClr val="1E293B"/>
                </a:solidFill>
                <a:latin typeface="Malgun Gothic"/>
              </a:rPr>
              <a:t>• 2조는 Advanced RAG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특화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질문에서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93.75%로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가장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강했다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220" b="0" dirty="0">
                <a:solidFill>
                  <a:srgbClr val="1E293B"/>
                </a:solidFill>
                <a:latin typeface="Malgun Gothic"/>
              </a:rPr>
              <a:t>• 1조는 전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영역에서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균형적으로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높았지만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wrong-source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보정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후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순위가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낮아졌다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22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lang="ko-KR" altLang="en-US" sz="1220" b="0" dirty="0">
                <a:solidFill>
                  <a:srgbClr val="1E293B"/>
                </a:solidFill>
                <a:latin typeface="Malgun Gothic"/>
              </a:rPr>
              <a:t>하이브리드 </a:t>
            </a:r>
            <a:r>
              <a:rPr lang="en-US" altLang="ko-KR" sz="1220" b="0" dirty="0">
                <a:solidFill>
                  <a:srgbClr val="1E293B"/>
                </a:solidFill>
                <a:latin typeface="Malgun Gothic"/>
              </a:rPr>
              <a:t>RAG,</a:t>
            </a:r>
            <a:r>
              <a:rPr lang="ko-KR" altLang="en-US"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4조</a:t>
            </a:r>
            <a:r>
              <a:rPr lang="en-US" sz="1220" b="0" dirty="0">
                <a:solidFill>
                  <a:srgbClr val="1E293B"/>
                </a:solidFill>
                <a:latin typeface="Malgun Gothic"/>
              </a:rPr>
              <a:t>(</a:t>
            </a:r>
            <a:r>
              <a:rPr lang="ko-KR" altLang="en-US" sz="1220" b="0" dirty="0">
                <a:solidFill>
                  <a:srgbClr val="1E293B"/>
                </a:solidFill>
                <a:latin typeface="Malgun Gothic"/>
              </a:rPr>
              <a:t>가상의 조</a:t>
            </a:r>
            <a:r>
              <a:rPr lang="en-US" altLang="ko-KR" sz="1220" b="0" dirty="0">
                <a:solidFill>
                  <a:srgbClr val="1E293B"/>
                </a:solidFill>
                <a:latin typeface="Malgun Gothic"/>
              </a:rPr>
              <a:t>)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는 Snowflake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함정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문항에서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90.62%로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강하지만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Ontology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문항은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추가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개선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여지가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있다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.</a:t>
            </a:r>
            <a:endParaRPr lang="en-US" sz="122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lang="en-US" altLang="ko-KR" sz="122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lang="ko-KR" altLang="en-US" sz="1220" dirty="0">
                <a:solidFill>
                  <a:srgbClr val="1E293B"/>
                </a:solidFill>
                <a:latin typeface="Malgun Gothic"/>
              </a:rPr>
              <a:t>순수 </a:t>
            </a:r>
            <a:r>
              <a:rPr lang="en-US" altLang="ko-KR" sz="1220" dirty="0">
                <a:solidFill>
                  <a:srgbClr val="1E293B"/>
                </a:solidFill>
                <a:latin typeface="Malgun Gothic"/>
              </a:rPr>
              <a:t>RAG, 0</a:t>
            </a:r>
            <a:r>
              <a:rPr lang="ko-KR" altLang="en-US" sz="1220" dirty="0">
                <a:solidFill>
                  <a:srgbClr val="1E293B"/>
                </a:solidFill>
                <a:latin typeface="Malgun Gothic"/>
              </a:rPr>
              <a:t>조</a:t>
            </a:r>
            <a:r>
              <a:rPr lang="en-US" altLang="ko-KR" sz="1220" dirty="0">
                <a:solidFill>
                  <a:srgbClr val="1E293B"/>
                </a:solidFill>
                <a:latin typeface="Malgun Gothic"/>
              </a:rPr>
              <a:t>(</a:t>
            </a:r>
            <a:r>
              <a:rPr lang="ko-KR" altLang="en-US" sz="1220" dirty="0">
                <a:solidFill>
                  <a:srgbClr val="1E293B"/>
                </a:solidFill>
                <a:latin typeface="Malgun Gothic"/>
              </a:rPr>
              <a:t>가상의 조</a:t>
            </a:r>
            <a:r>
              <a:rPr lang="en-US" altLang="ko-KR" sz="1220" dirty="0">
                <a:solidFill>
                  <a:srgbClr val="1E293B"/>
                </a:solidFill>
                <a:latin typeface="Malgun Gothic"/>
              </a:rPr>
              <a:t>)</a:t>
            </a:r>
            <a:r>
              <a:rPr lang="ko-KR" altLang="en-US" sz="1220" dirty="0">
                <a:solidFill>
                  <a:srgbClr val="1E293B"/>
                </a:solidFill>
                <a:latin typeface="Malgun Gothic"/>
              </a:rPr>
              <a:t>는 </a:t>
            </a:r>
            <a:r>
              <a:rPr lang="en-US" altLang="ko-KR" sz="1220" dirty="0">
                <a:solidFill>
                  <a:srgbClr val="1E293B"/>
                </a:solidFill>
                <a:latin typeface="Malgun Gothic"/>
              </a:rPr>
              <a:t>Advanced RAG </a:t>
            </a:r>
            <a:r>
              <a:rPr lang="ko-KR" altLang="en-US" sz="1220" dirty="0">
                <a:solidFill>
                  <a:srgbClr val="1E293B"/>
                </a:solidFill>
                <a:latin typeface="Malgun Gothic"/>
              </a:rPr>
              <a:t>특화 질문에서 크게 뒤지지 않았으나</a:t>
            </a:r>
            <a:r>
              <a:rPr lang="en-US" altLang="ko-KR" sz="1220" dirty="0">
                <a:solidFill>
                  <a:srgbClr val="1E293B"/>
                </a:solidFill>
                <a:latin typeface="Malgun Gothic"/>
              </a:rPr>
              <a:t>, ontology </a:t>
            </a:r>
            <a:r>
              <a:rPr lang="ko-KR" altLang="en-US" sz="1220" dirty="0">
                <a:solidFill>
                  <a:srgbClr val="1E293B"/>
                </a:solidFill>
                <a:latin typeface="Malgun Gothic"/>
              </a:rPr>
              <a:t>문항에서는 상대적으로 저조한 결과를 보였다</a:t>
            </a:r>
            <a:r>
              <a:rPr lang="en-US" altLang="ko-KR" sz="1220" dirty="0">
                <a:solidFill>
                  <a:srgbClr val="1E293B"/>
                </a:solidFill>
                <a:latin typeface="Malgun Gothic"/>
              </a:rPr>
              <a:t>.  </a:t>
            </a:r>
            <a:endParaRPr sz="122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팀별 해석은 ‘기술명’보다 실제 동작 기준으로 봐야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평가 명칭, 구현 실제, 출처 차단 여부가 모두 다르므로 점수만으로 결론을 내리면 위험하다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93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60" b="1">
                <a:solidFill>
                  <a:srgbClr val="FFFFFF"/>
                </a:solidFill>
                <a:latin typeface="Malgun Gothic"/>
              </a:rPr>
              <a:t>팀</a:t>
            </a:r>
          </a:p>
        </p:txBody>
      </p:sp>
      <p:sp>
        <p:nvSpPr>
          <p:cNvPr id="6" name="Rectangle 5"/>
          <p:cNvSpPr/>
          <p:nvPr/>
        </p:nvSpPr>
        <p:spPr>
          <a:xfrm>
            <a:off x="1368000" y="1080000"/>
            <a:ext cx="25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설계/구현 성격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7999" y="1080000"/>
            <a:ext cx="266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강점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2000" y="1080000"/>
            <a:ext cx="410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3608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60" b="0" dirty="0">
                <a:solidFill>
                  <a:srgbClr val="1E293B"/>
                </a:solidFill>
                <a:latin typeface="Malgun Gothic"/>
              </a:rPr>
              <a:t>0조</a:t>
            </a:r>
            <a:r>
              <a:rPr lang="en-US" sz="860" b="0" dirty="0">
                <a:solidFill>
                  <a:srgbClr val="1E293B"/>
                </a:solidFill>
                <a:latin typeface="Malgun Gothic"/>
              </a:rPr>
              <a:t> (</a:t>
            </a:r>
            <a:r>
              <a:rPr lang="ko-KR" altLang="en-US" sz="860" b="0" dirty="0">
                <a:solidFill>
                  <a:srgbClr val="1E293B"/>
                </a:solidFill>
                <a:latin typeface="Malgun Gothic"/>
              </a:rPr>
              <a:t>가상</a:t>
            </a:r>
            <a:r>
              <a:rPr lang="en-US" altLang="ko-KR" sz="860" b="0" dirty="0">
                <a:solidFill>
                  <a:srgbClr val="1E293B"/>
                </a:solidFill>
                <a:latin typeface="Malgun Gothic"/>
              </a:rPr>
              <a:t>)</a:t>
            </a:r>
            <a:endParaRPr sz="86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68000" y="1360800"/>
            <a:ext cx="25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순수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7999" y="1360800"/>
            <a:ext cx="266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기본 검색·생성 기준선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2000" y="1360800"/>
            <a:ext cx="410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 dirty="0" err="1">
                <a:solidFill>
                  <a:srgbClr val="1E293B"/>
                </a:solidFill>
                <a:latin typeface="Malgun Gothic"/>
              </a:rPr>
              <a:t>관련</a:t>
            </a:r>
            <a:r>
              <a:rPr sz="86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60" b="0" dirty="0" err="1">
                <a:solidFill>
                  <a:srgbClr val="1E293B"/>
                </a:solidFill>
                <a:latin typeface="Malgun Gothic"/>
              </a:rPr>
              <a:t>없음</a:t>
            </a:r>
            <a:r>
              <a:rPr sz="86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60" b="0" dirty="0" err="1">
                <a:solidFill>
                  <a:srgbClr val="1E293B"/>
                </a:solidFill>
                <a:latin typeface="Malgun Gothic"/>
              </a:rPr>
              <a:t>감지와</a:t>
            </a:r>
            <a:r>
              <a:rPr sz="86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60" b="0" dirty="0" err="1">
                <a:solidFill>
                  <a:srgbClr val="1E293B"/>
                </a:solidFill>
                <a:latin typeface="Malgun Gothic"/>
              </a:rPr>
              <a:t>정교한</a:t>
            </a:r>
            <a:r>
              <a:rPr sz="86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60" b="0" dirty="0" err="1">
                <a:solidFill>
                  <a:srgbClr val="1E293B"/>
                </a:solidFill>
                <a:latin typeface="Malgun Gothic"/>
              </a:rPr>
              <a:t>근거</a:t>
            </a:r>
            <a:r>
              <a:rPr sz="86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60" b="0" dirty="0" err="1">
                <a:solidFill>
                  <a:srgbClr val="1E293B"/>
                </a:solidFill>
                <a:latin typeface="Malgun Gothic"/>
              </a:rPr>
              <a:t>통제</a:t>
            </a:r>
            <a:r>
              <a:rPr sz="86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60" b="0" dirty="0" err="1">
                <a:solidFill>
                  <a:srgbClr val="1E293B"/>
                </a:solidFill>
                <a:latin typeface="Malgun Gothic"/>
              </a:rPr>
              <a:t>한계</a:t>
            </a:r>
            <a:endParaRPr sz="86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000" y="16416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1조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8000" y="1641600"/>
            <a:ext cx="25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온톨로지 취지 + RAG 하이브리드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7999" y="1641600"/>
            <a:ext cx="266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하이브리드 효과와 균형형 성능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2000" y="1641600"/>
            <a:ext cx="410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HNIX 중간점검 PPT 등 잘못된 출처를 근거로 사용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19224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2조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68000" y="1922400"/>
            <a:ext cx="25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7999" y="1922400"/>
            <a:ext cx="266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Advanced RAG 문항 최상위, STD-S-05는 적절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2000" y="1922400"/>
            <a:ext cx="410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다수 STD-S에서 다른 문서/일반론 출력. threshold 또는 환각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22032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r>
              <a:rPr sz="860" b="0" dirty="0">
                <a:solidFill>
                  <a:srgbClr val="1E293B"/>
                </a:solidFill>
                <a:latin typeface="Malgun Gothic"/>
              </a:rPr>
              <a:t>4조</a:t>
            </a:r>
            <a:r>
              <a:rPr lang="en-US" sz="86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lang="en-US" altLang="ko-KR" sz="860" dirty="0">
                <a:solidFill>
                  <a:srgbClr val="1E293B"/>
                </a:solidFill>
                <a:latin typeface="Malgun Gothic"/>
              </a:rPr>
              <a:t>(</a:t>
            </a:r>
            <a:r>
              <a:rPr lang="ko-KR" altLang="en-US" sz="860" dirty="0">
                <a:solidFill>
                  <a:srgbClr val="1E293B"/>
                </a:solidFill>
                <a:latin typeface="Malgun Gothic"/>
              </a:rPr>
              <a:t>가상</a:t>
            </a:r>
            <a:r>
              <a:rPr lang="en-US" altLang="ko-KR" sz="860" dirty="0">
                <a:solidFill>
                  <a:srgbClr val="1E293B"/>
                </a:solidFill>
                <a:latin typeface="Malgun Gothic"/>
              </a:rPr>
              <a:t>)</a:t>
            </a:r>
            <a:endParaRPr sz="86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368000" y="2203200"/>
            <a:ext cx="25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ont_platform v4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7999" y="2203200"/>
            <a:ext cx="266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함정 질문 대응 강함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2000" y="2203200"/>
            <a:ext cx="410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Ontology 문항의 개념·관계 설명 보강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4752000"/>
            <a:ext cx="8817801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152A4E"/>
                </a:solidFill>
                <a:latin typeface="Malgun Gothic"/>
              </a:rPr>
              <a:t>진짜 비교 포인트는 ‘어떤 시스템이 평균 점수가 높은가’보다 ‘어떤 질문 유형에서 어떤 검색 기술이 실패했는가’다.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STD-S 문항은 Snowflake 성능 문제가 아니라 함정 질문 처리 문제였다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논문에 Snowflake 구현 내용이 없으므로, 정답은 관련 없음/문서 근거 없음의 명시다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260000" cy="306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STD-S01 질문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000" y="1350000"/>
            <a:ext cx="10728000" cy="413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E293B"/>
                </a:solidFill>
                <a:latin typeface="Malgun Gothic"/>
              </a:rPr>
              <a:t>Snowflake 기반 RAG 평가에서 문서 저장소와 근거 페이지를 왜 함께 관리해야 하는가?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000" y="1962000"/>
            <a:ext cx="1080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3999" y="2214000"/>
            <a:ext cx="3060000" cy="19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algun Gothic"/>
              </a:rPr>
              <a:t>만점 답변의 핵심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8" y="2484000"/>
            <a:ext cx="3420001" cy="9797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Snowflake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RAG의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구체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구현은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제공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문서에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없다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따라서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관련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없음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또는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문서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근거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없음이라고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명시한다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부가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설명이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없어도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100점,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일반적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RAG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관점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설명을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덧붙여도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100점이다.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2000" y="2214000"/>
            <a:ext cx="3060000" cy="19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Malgun Gothic"/>
              </a:rPr>
              <a:t>감점되는 답변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2000" y="2484000"/>
            <a:ext cx="2999400" cy="11551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관련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없음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표현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없이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Snowflake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기능을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실제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근거처럼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설명한다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Snowflake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언급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질문인데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문서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부재를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말하지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않는다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온톨로지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/RAG 등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다른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주제로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우회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답변한다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214000"/>
            <a:ext cx="3060000" cy="19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52A4E"/>
                </a:solidFill>
                <a:latin typeface="Malgun Gothic"/>
              </a:rPr>
              <a:t>실서비스 정책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000" y="2484000"/>
            <a:ext cx="3240000" cy="187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지원 근거 없음 감지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부분 근거가 있으면 범위 제한 설명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근거 없는 일반지식 생성은 옵션화 또는 차단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5132815" cy="3847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52A4E"/>
                </a:solidFill>
                <a:latin typeface="Malgun Gothic"/>
              </a:rPr>
              <a:t>추가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발견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: 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잘못된 출처의 참조</a:t>
            </a:r>
            <a:r>
              <a:rPr lang="en-US"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존재</a:t>
            </a:r>
            <a:endParaRPr sz="25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STD-S 함정 질문에서 ‘관련 없음’만 보는 평가는 부족하다. 잘못된 출처를 끌어온 답변도 감점해야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260000" cy="251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관찰된 현상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1475999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대상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565999" y="1475999"/>
            <a:ext cx="54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관찰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6000" y="1475999"/>
            <a:ext cx="37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평가상 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000" y="1756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1조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65999" y="1756800"/>
            <a:ext cx="54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Snowflake 직접 근거는 없다고 말한 뒤 HNIX AI Labs 2기 중간점검 자료를 근거처럼 사용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66000" y="17568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관련 없음 표현만으로 만점 처리하면 점수 과대 산정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6000" y="2037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2조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65999" y="2037600"/>
            <a:ext cx="54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STD-S-05는 문서 내 명확한 정보가 없다고 제한해 적절했으나, 다른 STD-S 일부에서 다른 논문/일반론/RDF/온톨로지 내용을 출력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6000" y="20376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문서 범위 차단 실패 또는 환각 가능성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6000" y="2318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평가자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65999" y="2318400"/>
            <a:ext cx="54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wrong-source가 포함되어도 관련 없음 문구가 있으면 100점을 부여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6000" y="23184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judge/evaluator도 출처 검증 로직이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3780000"/>
            <a:ext cx="91800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dirty="0" err="1">
                <a:solidFill>
                  <a:srgbClr val="DC2626"/>
                </a:solidFill>
                <a:latin typeface="Malgun Gothic"/>
              </a:rPr>
              <a:t>함정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질문의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만점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조건은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‘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관련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없음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명시’뿐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아니라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‘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허용된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평가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문서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밖의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근거를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사용하지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않음’까지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포함해야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한다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4915575"/>
            <a:ext cx="8444619" cy="911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4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출처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문서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whitelist를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두고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검색·생성·평가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단계에서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모두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검증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24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답변이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문서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부재를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말하더라도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잘못된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문서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내용을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근거로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확장하면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감점</a:t>
            </a:r>
            <a:endParaRPr sz="124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sz="1240" b="0" dirty="0">
                <a:solidFill>
                  <a:srgbClr val="1E293B"/>
                </a:solidFill>
                <a:latin typeface="Malgun Gothic"/>
              </a:rPr>
              <a:t>• 1조는 </a:t>
            </a:r>
            <a:r>
              <a:rPr lang="ko-KR" altLang="en-US" sz="1240" b="0" dirty="0">
                <a:solidFill>
                  <a:srgbClr val="1E293B"/>
                </a:solidFill>
                <a:latin typeface="Malgun Gothic"/>
              </a:rPr>
              <a:t>잘못된 출처 참조한 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7개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문항을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100→60으로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감점하여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최종</a:t>
            </a:r>
            <a:r>
              <a:rPr sz="1240" b="0" dirty="0">
                <a:solidFill>
                  <a:srgbClr val="1E293B"/>
                </a:solidFill>
                <a:latin typeface="Malgun Gothic"/>
              </a:rPr>
              <a:t> 76.88%로 </a:t>
            </a:r>
            <a:r>
              <a:rPr sz="1240" b="0" dirty="0" err="1">
                <a:solidFill>
                  <a:srgbClr val="1E293B"/>
                </a:solidFill>
                <a:latin typeface="Malgun Gothic"/>
              </a:rPr>
              <a:t>반영</a:t>
            </a:r>
            <a:endParaRPr lang="en-US" sz="124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• </a:t>
            </a:r>
            <a:r>
              <a:rPr lang="ko-KR" altLang="ko-KR" sz="1200" dirty="0">
                <a:solidFill>
                  <a:srgbClr val="FF0000"/>
                </a:solidFill>
                <a:latin typeface="+mn-ea"/>
              </a:rPr>
              <a:t>과거 </a:t>
            </a:r>
            <a:r>
              <a:rPr lang="ko-KR" altLang="ko-KR" sz="1200" dirty="0" err="1">
                <a:solidFill>
                  <a:srgbClr val="FF0000"/>
                </a:solidFill>
                <a:latin typeface="+mn-ea"/>
              </a:rPr>
              <a:t>문서·기억</a:t>
            </a:r>
            <a:r>
              <a:rPr lang="ko-KR" altLang="ko-KR" sz="1200" dirty="0">
                <a:solidFill>
                  <a:srgbClr val="FF0000"/>
                </a:solidFill>
                <a:latin typeface="+mn-ea"/>
              </a:rPr>
              <a:t> 기반 답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변과 카테고리 외 탐색을 통제하지 않으면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정답처럼 보이는 답변도 잘못된 근거로 오염될 수 있음</a:t>
            </a:r>
            <a:endParaRPr sz="124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1: ‘관련 없음’과 ‘부분 설명 가능’을 분리해야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잘못된 질문이 들어와도 시스템은 무조건 답하지 말고 근거 범위를 먼저 판단해야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3999" y="1116000"/>
            <a:ext cx="4140000" cy="216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Malgun Gothic"/>
              </a:rPr>
              <a:t>평가/서비스 응답 정책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999" y="1458000"/>
            <a:ext cx="18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질문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4000" y="1458000"/>
            <a:ext cx="396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응답 원칙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999" y="1458000"/>
            <a:ext cx="374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점수/서비스 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9" y="17388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문서에 전혀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4000" y="1738800"/>
            <a:ext cx="396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관련 없음·근거 없음 명시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999" y="1738800"/>
            <a:ext cx="374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정답 또는 안전 응답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999" y="2019599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질문 일부는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000" y="2019599"/>
            <a:ext cx="396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없는 부분은 제외하고 문서 내 근거만 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999" y="2019599"/>
            <a:ext cx="374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부분 정답 + 범위 제한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23004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문서에 있음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04000" y="2300400"/>
            <a:ext cx="396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문서·페이지·청크 근거와 함께 설명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999" y="2300400"/>
            <a:ext cx="374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정상 답변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999" y="2581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일반 지식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000" y="2581200"/>
            <a:ext cx="396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옵션으로 일반 지식/전문가 관점 분리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999" y="2581200"/>
            <a:ext cx="374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고급 서비스 모드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652" y="4824000"/>
            <a:ext cx="9986708" cy="3385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ko-KR" altLang="en-US" sz="2200" b="1" dirty="0">
                <a:solidFill>
                  <a:srgbClr val="2563EB"/>
                </a:solidFill>
                <a:latin typeface="Malgun Gothic"/>
              </a:rPr>
              <a:t>좋은 답변은 </a:t>
            </a:r>
            <a:r>
              <a:rPr lang="ko-KR" altLang="en-US" sz="2200" b="1" dirty="0" err="1">
                <a:solidFill>
                  <a:srgbClr val="2563EB"/>
                </a:solidFill>
                <a:latin typeface="Malgun Gothic"/>
              </a:rPr>
              <a:t>아느</a:t>
            </a:r>
            <a:r>
              <a:rPr lang="ko-KR" altLang="en-US" sz="2200" b="1" dirty="0">
                <a:solidFill>
                  <a:srgbClr val="2563EB"/>
                </a:solidFill>
                <a:latin typeface="Malgun Gothic"/>
              </a:rPr>
              <a:t> 척하지 않고</a:t>
            </a:r>
            <a:r>
              <a:rPr lang="en-US" altLang="ko-KR" sz="2200" b="1" dirty="0">
                <a:solidFill>
                  <a:srgbClr val="2563EB"/>
                </a:solidFill>
                <a:latin typeface="Malgun Gothic"/>
              </a:rPr>
              <a:t>, </a:t>
            </a:r>
            <a:r>
              <a:rPr lang="ko-KR" altLang="en-US" sz="2200" b="1" dirty="0">
                <a:solidFill>
                  <a:srgbClr val="2563EB"/>
                </a:solidFill>
                <a:latin typeface="Malgun Gothic"/>
              </a:rPr>
              <a:t>문서에 있는 부분과 없는 부분을 나눠 설명한다</a:t>
            </a:r>
            <a:r>
              <a:rPr sz="2200" b="1" dirty="0">
                <a:solidFill>
                  <a:srgbClr val="2563EB"/>
                </a:solidFill>
                <a:latin typeface="Malgun Gothic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52A4E"/>
                </a:solidFill>
                <a:latin typeface="Malgun Gothic"/>
              </a:rPr>
              <a:t>시사점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2: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예상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답변도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편향될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수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있다</a:t>
            </a:r>
            <a:endParaRPr sz="25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dirty="0" err="1">
                <a:solidFill>
                  <a:srgbClr val="64748B"/>
                </a:solidFill>
                <a:latin typeface="Malgun Gothic"/>
              </a:rPr>
              <a:t>고객이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원하는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것은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문서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복원이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아니라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,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문서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기반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답변과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전문가적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보정의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균형일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수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있다</a:t>
            </a:r>
            <a:endParaRPr sz="1050" b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3999" y="1080000"/>
            <a:ext cx="977211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dirty="0" err="1">
                <a:solidFill>
                  <a:srgbClr val="1E293B"/>
                </a:solidFill>
                <a:latin typeface="Malgun Gothic"/>
              </a:rPr>
              <a:t>전문가는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때로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‘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우문현답’을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한다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. RAG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서비스도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문서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기반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답변만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고집할지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, </a:t>
            </a:r>
            <a:endParaRPr lang="en-US" sz="1800" b="1" dirty="0">
              <a:solidFill>
                <a:srgbClr val="1E293B"/>
              </a:solidFill>
              <a:latin typeface="Malgun Gothic"/>
            </a:endParaRPr>
          </a:p>
          <a:p>
            <a:r>
              <a:rPr sz="1800" b="1" dirty="0" err="1">
                <a:solidFill>
                  <a:srgbClr val="1E293B"/>
                </a:solidFill>
                <a:latin typeface="Malgun Gothic"/>
              </a:rPr>
              <a:t>문서의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한계를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밝히고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보편적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통용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지식을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덧붙일지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옵션을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가져야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한다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2000" y="1925999"/>
            <a:ext cx="828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80000" y="2520000"/>
            <a:ext cx="187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19" b="1">
                <a:solidFill>
                  <a:srgbClr val="FFFFFF"/>
                </a:solidFill>
                <a:latin typeface="Malgun Gothic"/>
              </a:rPr>
              <a:t>모드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2951999" y="252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Malgun Gothic"/>
              </a:rPr>
              <a:t>답변 방식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7272000" y="2520000"/>
            <a:ext cx="36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Malgun Gothic"/>
              </a:rPr>
              <a:t>사용 장면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2800800"/>
            <a:ext cx="18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Strict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1999" y="280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제공 문서에 있는 내용만 답변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72000" y="2800800"/>
            <a:ext cx="36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시험/감사/컴플라이언스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0000" y="3081600"/>
            <a:ext cx="18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Evidence + Caveat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1999" y="308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문서 기반 답변 후 주관성·한계 표시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72000" y="3081600"/>
            <a:ext cx="36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의사결정 보고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" y="3362400"/>
            <a:ext cx="18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Expert Expansion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999" y="336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문서 근거와 일반 통용 지식 분리 제시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2000" y="3362400"/>
            <a:ext cx="36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컨설팅/고급 분석 서비스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7BCF78-8EB7-A237-8087-52D895FB13A2}"/>
              </a:ext>
            </a:extLst>
          </p:cNvPr>
          <p:cNvSpPr txBox="1"/>
          <p:nvPr/>
        </p:nvSpPr>
        <p:spPr>
          <a:xfrm>
            <a:off x="711533" y="4015263"/>
            <a:ext cx="11160001" cy="22108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사례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: </a:t>
            </a:r>
            <a:r>
              <a:rPr lang="en-US" sz="1300" dirty="0">
                <a:solidFill>
                  <a:srgbClr val="1E293B"/>
                </a:solidFill>
                <a:latin typeface="Malgun Gothic"/>
              </a:rPr>
              <a:t>STD-O-02</a:t>
            </a:r>
          </a:p>
          <a:p>
            <a:pPr>
              <a:spcAft>
                <a:spcPts val="400"/>
              </a:spcAft>
            </a:pP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- 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제공 문서는 “정형 데이터는 온톨로지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비정형 데이터는 </a:t>
            </a:r>
            <a:r>
              <a:rPr lang="ko-KR" altLang="en-US" sz="1300" dirty="0" err="1">
                <a:solidFill>
                  <a:srgbClr val="1E293B"/>
                </a:solidFill>
                <a:latin typeface="Malgun Gothic"/>
              </a:rPr>
              <a:t>지식그래프”로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 구분한다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- 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하지만 최근 실무에서는 지식그래프를 온톨로지를 구현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·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탐색하는 기술로 보는 경우도 많다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endParaRPr lang="en-US" altLang="ko-KR" sz="130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∴ 따라서 실제 서비스는 문서 기반 답변과 실무 통용 관점을 구분해 함께 제시할 수 있어야 한다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E293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→</a:t>
            </a:r>
            <a:r>
              <a:rPr lang="en-US" sz="13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다른 답변 예시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: </a:t>
            </a:r>
          </a:p>
          <a:p>
            <a:pPr>
              <a:spcAft>
                <a:spcPts val="400"/>
              </a:spcAft>
            </a:pP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       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제공 문서 기준으로는 온톨로지와 지식그래프를 역할별로 구분해 설명할 수 있다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       다만 실무적으로는 지식그래프가 온톨로지를 구현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·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탐색하는 기술로 사용되는 경우도 있으므로</a:t>
            </a: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두 개념은 대립 </a:t>
            </a:r>
            <a:r>
              <a:rPr lang="ko-KR" altLang="en-US" sz="1300" dirty="0" err="1">
                <a:solidFill>
                  <a:srgbClr val="1E293B"/>
                </a:solidFill>
                <a:latin typeface="Malgun Gothic"/>
              </a:rPr>
              <a:t>관계라기보다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 </a:t>
            </a:r>
            <a:endParaRPr lang="en-US" altLang="ko-KR" sz="130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lang="en-US" altLang="ko-KR" sz="1300" dirty="0">
                <a:solidFill>
                  <a:srgbClr val="1E293B"/>
                </a:solidFill>
                <a:latin typeface="Malgun Gothic"/>
              </a:rPr>
              <a:t>       </a:t>
            </a:r>
            <a:r>
              <a:rPr lang="ko-KR" altLang="en-US" sz="1300" dirty="0">
                <a:solidFill>
                  <a:srgbClr val="1E293B"/>
                </a:solidFill>
                <a:latin typeface="Malgun Gothic"/>
              </a:rPr>
              <a:t>상호 보완 관계로 이해하는 것이 적절하다</a:t>
            </a:r>
            <a:endParaRPr lang="en-US" sz="1300" b="0" dirty="0">
              <a:solidFill>
                <a:srgbClr val="1E293B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52A4E"/>
                </a:solidFill>
                <a:latin typeface="Malgun Gothic"/>
              </a:rPr>
              <a:t>시사점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3·4: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정확도는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답변만으로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판단하기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어렵다</a:t>
            </a:r>
            <a:endParaRPr sz="25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여러 논문·여러 견해·여러 검색 후보가 있을수록 검색 품질과 생성 품질을 분리해서 봐야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" y="2089672"/>
            <a:ext cx="3240000" cy="1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Malgun Gothic"/>
              </a:rPr>
              <a:t>평가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359672"/>
            <a:ext cx="3981200" cy="10259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정형화된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문제는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답이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하나처럼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보일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수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있다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여러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논문에서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질문하면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견해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차이와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비슷한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비중의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후보가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동시에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검색된다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이때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단일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예상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답변과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비교하는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방식은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정확도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평가에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한계가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있다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0000" y="2089672"/>
            <a:ext cx="3240000" cy="1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algun Gothic"/>
              </a:rPr>
              <a:t>분리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0" y="2351205"/>
            <a:ext cx="3780000" cy="230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검색이 올바른 문서/페이지/청크를 찾았는가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생성이 검색 근거를 충실히 반영했는가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근거 없는 일반화나 환각이 있었는가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588329"/>
            <a:ext cx="10047366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ko-KR" b="1" dirty="0"/>
              <a:t>정확한 평가를 위해서는 도메인 전문가의 참여가 권장된다.</a:t>
            </a:r>
            <a:br>
              <a:rPr lang="ko-KR" altLang="ko-KR" dirty="0"/>
            </a:br>
            <a:r>
              <a:rPr lang="ko-KR" altLang="ko-KR" b="1" dirty="0"/>
              <a:t>또한 답변 점수뿐 아니라 </a:t>
            </a:r>
            <a:r>
              <a:rPr lang="ko-KR" altLang="ko-KR" b="1" dirty="0" err="1"/>
              <a:t>문서명</a:t>
            </a:r>
            <a:r>
              <a:rPr lang="ko-KR" altLang="ko-KR" b="1" dirty="0"/>
              <a:t>, 페이지, </a:t>
            </a:r>
            <a:r>
              <a:rPr lang="ko-KR" altLang="ko-KR" b="1" dirty="0" err="1"/>
              <a:t>청크</a:t>
            </a:r>
            <a:r>
              <a:rPr lang="ko-KR" altLang="ko-KR" b="1" dirty="0"/>
              <a:t> ID, 검색 점수, 실제 사용 여부를 함께 기록해야 한다.</a:t>
            </a:r>
            <a:endParaRPr sz="18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D0777F-E93D-8161-5828-10C310E6B676}"/>
              </a:ext>
            </a:extLst>
          </p:cNvPr>
          <p:cNvSpPr txBox="1"/>
          <p:nvPr/>
        </p:nvSpPr>
        <p:spPr>
          <a:xfrm>
            <a:off x="503999" y="1080000"/>
            <a:ext cx="11160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시사점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3: </a:t>
            </a:r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다중 문서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.</a:t>
            </a:r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다중 견해 질문은 단일 예상 답변과의 유사도만으로 평가하기 어렵다</a:t>
            </a:r>
            <a:endParaRPr lang="en-US" altLang="ko-KR" b="1" dirty="0">
              <a:solidFill>
                <a:srgbClr val="1E293B"/>
              </a:solidFill>
              <a:latin typeface="Malgun Gothic"/>
            </a:endParaRPr>
          </a:p>
          <a:p>
            <a:r>
              <a:rPr lang="ko-KR" altLang="en-US" sz="1800" b="1" dirty="0">
                <a:solidFill>
                  <a:srgbClr val="1E293B"/>
                </a:solidFill>
                <a:latin typeface="Malgun Gothic"/>
              </a:rPr>
              <a:t>시사점</a:t>
            </a:r>
            <a:r>
              <a:rPr lang="en-US" altLang="ko-KR" sz="1800" b="1" dirty="0">
                <a:solidFill>
                  <a:srgbClr val="1E293B"/>
                </a:solidFill>
                <a:latin typeface="Malgun Gothic"/>
              </a:rPr>
              <a:t>4: </a:t>
            </a:r>
            <a:r>
              <a:rPr lang="ko-KR" altLang="en-US" sz="1800" b="1" dirty="0">
                <a:solidFill>
                  <a:srgbClr val="1E293B"/>
                </a:solidFill>
                <a:latin typeface="Malgun Gothic"/>
              </a:rPr>
              <a:t>답변 정확도는 검색된 문서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, </a:t>
            </a:r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페이지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, </a:t>
            </a:r>
            <a:r>
              <a:rPr lang="ko-KR" altLang="en-US" b="1" dirty="0" err="1">
                <a:solidFill>
                  <a:srgbClr val="1E293B"/>
                </a:solidFill>
                <a:latin typeface="Malgun Gothic"/>
              </a:rPr>
              <a:t>청크의</a:t>
            </a:r>
            <a:r>
              <a:rPr lang="ko-KR" altLang="en-US" b="1" dirty="0">
                <a:solidFill>
                  <a:srgbClr val="1E293B"/>
                </a:solidFill>
                <a:latin typeface="Malgun Gothic"/>
              </a:rPr>
              <a:t> 적합성과 생성 답변의 근거 반영률을 함께 봐야 한다</a:t>
            </a:r>
            <a:r>
              <a:rPr lang="en-US" altLang="ko-KR" b="1" dirty="0">
                <a:solidFill>
                  <a:srgbClr val="1E293B"/>
                </a:solidFill>
                <a:latin typeface="Malgun Gothic"/>
              </a:rPr>
              <a:t>. </a:t>
            </a:r>
            <a:endParaRPr sz="1800" b="1" dirty="0">
              <a:solidFill>
                <a:srgbClr val="1E293B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5·6: 하이브리드 검색은 관측 가능해야 개선된다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벡터DB, BM25, 온톨로지 검색의 기여를 분리하지 않으면 성능 향상 지점을 찾기 어렵다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68000" y="2654802"/>
            <a:ext cx="18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80" b="1">
                <a:solidFill>
                  <a:srgbClr val="FFFFFF"/>
                </a:solidFill>
                <a:latin typeface="Malgun Gothic"/>
              </a:rPr>
              <a:t>필요 로그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8000" y="2654802"/>
            <a:ext cx="370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왜 필요한가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976000" y="2654802"/>
            <a:ext cx="37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개선 포인트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2935602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검색 기술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8000" y="2935602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어떤 엔진이 근거를 찾았는지 식별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6000" y="2935602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벡터/BM25/온톨로지별 튜닝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" y="3216402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검색 점수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8000" y="3216402"/>
            <a:ext cx="370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threshold 문제와 노이즈 유입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76000" y="3216402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유사도 임계값 조정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" y="3497202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문서·페이지·청크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8000" y="3497202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답변 근거의 재현성 확보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76000" y="3497202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근거 적합성 평가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" y="3778002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생성 사용 여부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8000" y="3778002"/>
            <a:ext cx="370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검색됐지만 사용되지 않은 근거 파악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76000" y="3778002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프롬프트/컨텍스트 구성 개선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" y="4058802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엔진 선택 옵션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8000" y="4058802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개별 성능과 조합 성능 분리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6000" y="4058802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디버깅과 A/B 테스트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000" y="5094000"/>
            <a:ext cx="9720000" cy="324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2563EB"/>
                </a:solidFill>
                <a:latin typeface="Malgun Gothic"/>
              </a:rPr>
              <a:t>이상적인 하이브리드 답변은 각 검색 기술의 개별 성능이 충분히 높을 때 만들어진다.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51FF9F-C2C6-F727-0882-F1ABCA5C4CC8}"/>
              </a:ext>
            </a:extLst>
          </p:cNvPr>
          <p:cNvSpPr txBox="1"/>
          <p:nvPr/>
        </p:nvSpPr>
        <p:spPr>
          <a:xfrm>
            <a:off x="503999" y="1080000"/>
            <a:ext cx="111600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ko-KR" b="1" dirty="0"/>
              <a:t>시사점 5. 검색 근거의 출처 기술을 기록해야 한다</a:t>
            </a:r>
            <a:br>
              <a:rPr lang="ko-KR" altLang="ko-KR" dirty="0"/>
            </a:br>
            <a:r>
              <a:rPr lang="en-US" altLang="ko-KR" dirty="0"/>
              <a:t> - </a:t>
            </a:r>
            <a:r>
              <a:rPr lang="ko-KR" altLang="ko-KR" dirty="0"/>
              <a:t>답변에 사용된 </a:t>
            </a:r>
            <a:r>
              <a:rPr lang="ko-KR" altLang="ko-KR" dirty="0" err="1"/>
              <a:t>청크가</a:t>
            </a:r>
            <a:r>
              <a:rPr lang="ko-KR" altLang="ko-KR" dirty="0"/>
              <a:t> </a:t>
            </a:r>
            <a:r>
              <a:rPr lang="ko-KR" altLang="ko-KR" dirty="0" err="1"/>
              <a:t>벡터DB</a:t>
            </a:r>
            <a:r>
              <a:rPr lang="ko-KR" altLang="ko-KR" dirty="0"/>
              <a:t>, BM25, 온톨로지 중 어떤 경로로 검색되었는지 남겨야 한다.</a:t>
            </a:r>
          </a:p>
          <a:p>
            <a:r>
              <a:rPr lang="ko-KR" altLang="ko-KR" b="1" dirty="0"/>
              <a:t>시사점 6. 검색엔진별 성능을 분리해 봐야 한다</a:t>
            </a:r>
            <a:br>
              <a:rPr lang="ko-KR" altLang="ko-KR" dirty="0"/>
            </a:br>
            <a:r>
              <a:rPr lang="en-US" altLang="ko-KR" dirty="0"/>
              <a:t> - </a:t>
            </a:r>
            <a:r>
              <a:rPr lang="ko-KR" altLang="ko-KR" dirty="0"/>
              <a:t>개별 검색엔진의 성능을 따로 측정하고 선택 실행할 수 있어야 디버깅과 성능 개선 포인트를 찾기 쉽다.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향후 평가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정답 보정, 출처 whitelist, 근거 추적, 검색기술별 로그, 응답 모드 분리를 표준으로 가져가야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3999" y="1080000"/>
            <a:ext cx="151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5999" y="108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평가 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5999" y="108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산출물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999" y="13608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1. 질문 분류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5999" y="136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 내/문서 외/부분 근거/일반 지식 필요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5999" y="136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question_type, support_scope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6416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2. 출처 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5999" y="164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허용 문서 whitelist, wrong-source leakage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5999" y="164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source_validity_flag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999" y="19224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3. 검색 평가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5999" y="192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문서·페이지·청크 recall, 검색기술별 hit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5999" y="192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retrieval_trace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999" y="22032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4. 생성 평가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5999" y="22032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근거 반영률, 환각, 범위 제한 표현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5999" y="22032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answer_score, hallucination_flag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999" y="24840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5. 하이브리드 분석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5999" y="24840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벡터/BM25/온톨로지별 기여도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5999" y="24840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engine_contribution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999" y="27648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6. 운영 개선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5999" y="27648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threshold, reranker, prompt, ontology mapping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5999" y="27648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improvement backlog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4464000"/>
            <a:ext cx="9720000" cy="1007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답변 보정후 산정은 점수 보정이 아니라 평가 철학의 보정이다.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서비스화 단계에서는 ‘정답을 말하는 능력’과 ‘모르면 모른다고 말하는 능력’을 같은 수준으로 평가해야 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1996</Words>
  <Application>Microsoft Office PowerPoint</Application>
  <PresentationFormat>와이드스크린</PresentationFormat>
  <Paragraphs>314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최남규</cp:lastModifiedBy>
  <cp:revision>34</cp:revision>
  <dcterms:created xsi:type="dcterms:W3CDTF">2013-01-27T09:14:16Z</dcterms:created>
  <dcterms:modified xsi:type="dcterms:W3CDTF">2026-06-09T04:24:54Z</dcterms:modified>
  <cp:category/>
</cp:coreProperties>
</file>